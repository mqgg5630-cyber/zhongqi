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各位老师好，我汇报的题目是《基于深度学习的阿尔茨海默症患者与健康人群肠道微生物组中抗菌肽的差异性研究》。本次中期检查重点说明研究思路，以及每一项工作完成到哪一步。</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研究背景分三点：AD 与肠道微生物组的关系已有较多证据；微生物基因组编码的抗菌肽是可能的效应分子；现有研究缺少面向 AD 人群并按认知阶段分层的分析。由此提出本次研究的切入点。</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整体研究分四层：数据与序列、预测、统计与表达、功能。前三层已完成，第四层正在进行，这也是本次中期检查要重点汇报的完成度。</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队列按认知功能分五个阶段：NC、SCS、SCD、MCI 与 AD，样本的临床分组信息与测序数据一一对应，为后续的分阶段差异分析提供可比的基础。</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这页说明整体流程：从测序数据到候选抗菌肽清单，共十二步，输入输出都可追溯。工具链是 fastp 与 KneadData 做质控去宿主，MEGAHIT 组装，MetaBAT2、MaxBin2 与 CONCOCT 多算法联合分箱后 metaWRAP 提纯，dRep 按 95% ANI 去冗余得到参考基因组集，EMBOSS getorf 预测 sORF 并做序列级去冗余，Attention / LSTM / BERT 三模型一致阳性才纳入候选，CoverM 定量并做 CLR 变换，用 Kruskal-Wallis 与 Mann-Whitney U 做组间检验，再用宏蛋白组表达证据二次去重。前九步已经在中期前完成，最后三步正在推进——机制关联分析、抑菌实验验证与结果整理。</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分组方式是这页的重点：五个认知阶段，每阶段内再按性别与三个年龄段分层，共三十个分层单元；每个单元内按年龄与性别匹配，最终选出 265 例匹配亚队列——各阶段 53 例、每组 35 女 / 18 男，组间平均年龄最大差 1.8 岁，这样阶段之间的差异不会来自年龄与性别构成。</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这一页是整体路线：前五项，也就是数据、短肽库、预测、分阶段差异和宏蛋白组去重，已经全部完成；后两项机制关联分析和抑菌实验验证正在推进。</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预测环节采用 Attention、LSTM、BERT 三个模型分别预测，只有三者一致判为阳性的序列才纳入候选集合。这样处理的目的是降低单一模型带来的假阳性，提高候选集合的可信度；这一步已经完成。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差异分析按认知阶段分组，比较各阶段与健康人群之间候选抗菌肽的丰度与组成差异，得到一批随病程变化明显的候选抗菌肽，作为后续筛选的输入。这一步也已完成。</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在序列去冗余的基础上，引入宏蛋白组的表达证据做二次去重，只保留在蛋白层面真实存在、可检出的抗菌肽；再按组内共有、组间特比较，得到健康人群特有与各疾病阶段特有的抗菌肽清单。这一步已完成。</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机制关联参照乙酰胆碱酯酶—β-淀粉样肽复合物分子模拟研究的思路，从三个方向考察：与 Aβ 的相互作用及其对聚集的影响、与 AChE 外周阴离子位点结合从而干扰成核的可能性，以及经免疫与炎症通路参与神经炎症的可能性。这部分把结论定位为线索发现，不夸大因果。</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抑菌实验验证选取有代表性的候选抗菌肽进行人工合成，以大肠杆菌与金黄色葡萄球菌作为指示菌，先用纸片扩散法观察抑菌圈做初筛，再用微量肉汤稀释法测定最低抑菌浓度，并设置阳性对照与阴性对照。这些方法在常规微生物实验室即可完成。</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进度上，前五项已经全部完成，当前集中在机制关联分析与抑菌实验验证两件事上，论文撰写同步推进，整体进度与开题安排一致。</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张表把开题计划与现阶段结果逐条对照：数据准备、候选肽挖掘、差异分析三项已完成；模型方案由自建模型改为三个已发表模型协同预测；机制与验证环节正在实施。研究方向没有变，调整都发生在方法层面。</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目前识别出三个问题：预测假阳性、部分样本缺少参考基因组、机制关联证据强度有限。三者都有对应处理办法，不影响整体进度。</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后续收尾分三块：机制关联分析、抑菌实验验证，以及结果整理与论文撰写。这些工作以已完成的数据与分析流程为基础，不再涉及大规模数据生产。</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预期成果包括可复用的分析流程、特有抗菌肽清单、机制关联与抑菌活性结果，以及投稿论文与学位论文。同时说明现阶段的边界：机制关联是计算预测、抑菌实验只覆盖代表性候选肽、阶段划分依据队列既有标签，这些限定会在论文中写清楚。</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这页把抗菌肽与 AD 的关联拆成七环，并标出每一环的证据强度：蓝色是已有实验或临床证据，绿色是计算方法能给出候选与优先序的部分，橙色是本课题要回答或需要验证的部分。老师问任何一环，都能说清这一环目前的证据到什么程度。</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为什么 AD 组更多？因为存在一个正反馈：菌群失衡与肠屏障通透性增加使内毒素长期刺激宿主，经 TLR4 与 NF-κB 通路升高促炎因子，促炎因子又上调 Aβ 与抗菌肽的生成；聚集后的 Aβ 激活小胶质细胞产生更多炎症介质，循环自我加强。这也是抗菌保护假说的现代表述。</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机制落点参照 AChE–Aβ 复合物的分子动力学研究：Aβ 对接进 PAS 后，复合物在 1 微秒模拟中保持稳定，主要停留区段是 344—361，该区段紧邻 PAS 但不受双位点抑制剂的位阻。同一界面的其他实验证据包括：丙锭可阻断 AChE 诱导的聚集而催化位点抑制剂无效、PAS 负电荷触发 β-发夹构象、丁酰胆碱酯酶反向延缓纤维形成。由此提出三个假设，并用对接与动力学给出优先序。</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这页说明分子机制为什么能解释得通：抗菌肽与 Aβ 结构兼容，可以交叉成核，方向取决于界面与浓度。支撑这一机制的模拟证据已经比较完整：AChE–Aβ 的 1 微秒模拟、AChE 疏水基序掺入纤维、LL-37 与淀粉样肽的离散动力学、抗菌肽类分子与 Aβ 的对接加动力学并用实验验证、以及五肽库筛选破坏 D23–K28 盐桥。这些结果说明用对接与动力学研究候选肽与 Aβ/AChE 的界面是可行的。</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这张表把老师提出的八个问题逐条列出，并给出答案要点与证据强度。需要说明的是：关联类结论的证据强度较高，方向类结论（谁更多、促进还是抑制）存在例外与条件依赖，因此标注为中；微生物源抗菌肽在 AD 中的变化属于待验证部分，正是本课题要补的一环。</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机制说明文档《抗菌肽与AD关联机制说明》共整理 46 条文献，覆盖 AD 与感染、宿主抗菌肽在 AD 中的变化、抗菌肽预测方法、菌群分期、AChE–Aβ 与交叉成核的分子模拟，以及作为反例的乳铁蛋白下降证据。这里列出其中十条代表性文献及其结论。</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总结一下：主体分析工作已经在中期完成，剩余是机制关联的结论整理、抑菌实验验证和论文撰写，整体风险可控。我的汇报到此结束，请各位老师批评指正。</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68680"/>
            <a:ext cx="10908792" cy="365760"/>
          </a:xfrm>
          <a:prstGeom prst="rect">
            <a:avLst/>
          </a:prstGeom>
          <a:noFill/>
        </p:spPr>
        <p:txBody>
          <a:bodyPr wrap="square" anchor="t" lIns="27432" rIns="27432" tIns="0" bIns="0">
            <a:spAutoFit/>
          </a:bodyPr>
          <a:lstStyle/>
          <a:p>
            <a:pPr algn="l">
              <a:lnSpc>
                <a:spcPct val="100000"/>
              </a:lnSpc>
              <a:spcBef>
                <a:spcPts val="0"/>
              </a:spcBef>
              <a:spcAft>
                <a:spcPts val="0"/>
              </a:spcAft>
            </a:pPr>
            <a:r>
              <a:rPr sz="1600" b="0">
                <a:solidFill>
                  <a:srgbClr val="B03A2E"/>
                </a:solidFill>
                <a:latin typeface="Arial"/>
                <a:ea typeface="微软雅黑"/>
                <a:cs typeface="Arial"/>
              </a:rPr>
              <a:t>研究生论文中期检查</a:t>
            </a:r>
          </a:p>
        </p:txBody>
      </p:sp>
      <p:sp>
        <p:nvSpPr>
          <p:cNvPr id="4" name="TextBox 3"/>
          <p:cNvSpPr txBox="1"/>
          <p:nvPr/>
        </p:nvSpPr>
        <p:spPr>
          <a:xfrm>
            <a:off x="640080" y="1481328"/>
            <a:ext cx="10908792" cy="2011680"/>
          </a:xfrm>
          <a:prstGeom prst="rect">
            <a:avLst/>
          </a:prstGeom>
          <a:noFill/>
        </p:spPr>
        <p:txBody>
          <a:bodyPr wrap="square" anchor="t" lIns="27432" rIns="27432" tIns="0" bIns="0">
            <a:spAutoFit/>
          </a:bodyPr>
          <a:lstStyle/>
          <a:p>
            <a:pPr algn="l">
              <a:lnSpc>
                <a:spcPct val="116000"/>
              </a:lnSpc>
              <a:spcBef>
                <a:spcPts val="0"/>
              </a:spcBef>
              <a:spcAft>
                <a:spcPts val="0"/>
              </a:spcAft>
            </a:pPr>
            <a:r>
              <a:rPr sz="3400" b="1">
                <a:solidFill>
                  <a:srgbClr val="111111"/>
                </a:solidFill>
                <a:latin typeface="Arial"/>
                <a:ea typeface="微软雅黑"/>
                <a:cs typeface="Arial"/>
              </a:rPr>
              <a:t>基于深度学习的阿尔茨海默症患者与健康人群</a:t>
            </a:r>
          </a:p>
          <a:p>
            <a:pPr algn="l">
              <a:lnSpc>
                <a:spcPct val="116000"/>
              </a:lnSpc>
              <a:spcBef>
                <a:spcPts val="0"/>
              </a:spcBef>
              <a:spcAft>
                <a:spcPts val="0"/>
              </a:spcAft>
            </a:pPr>
            <a:r>
              <a:rPr sz="3400" b="1">
                <a:solidFill>
                  <a:srgbClr val="111111"/>
                </a:solidFill>
                <a:latin typeface="Arial"/>
                <a:ea typeface="微软雅黑"/>
                <a:cs typeface="Arial"/>
              </a:rPr>
              <a:t>肠道微生物组中抗菌肽的差异性研究</a:t>
            </a:r>
          </a:p>
        </p:txBody>
      </p:sp>
      <p:sp>
        <p:nvSpPr>
          <p:cNvPr id="5" name="Rectangle 4"/>
          <p:cNvSpPr/>
          <p:nvPr/>
        </p:nvSpPr>
        <p:spPr>
          <a:xfrm>
            <a:off x="640080" y="3803904"/>
            <a:ext cx="1920240" cy="3048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4041648"/>
            <a:ext cx="7863840" cy="1737360"/>
          </a:xfrm>
          <a:prstGeom prst="rect">
            <a:avLst/>
          </a:prstGeom>
          <a:noFill/>
        </p:spPr>
        <p:txBody>
          <a:bodyPr wrap="square" anchor="t" lIns="27432" rIns="27432" tIns="0" bIns="0">
            <a:spAutoFit/>
          </a:bodyPr>
          <a:lstStyle/>
          <a:p>
            <a:pPr algn="l">
              <a:lnSpc>
                <a:spcPct val="115000"/>
              </a:lnSpc>
              <a:spcBef>
                <a:spcPts val="0"/>
              </a:spcBef>
              <a:spcAft>
                <a:spcPts val="0"/>
              </a:spcAft>
            </a:pPr>
            <a:r>
              <a:rPr sz="1600" b="0">
                <a:solidFill>
                  <a:srgbClr val="333333"/>
                </a:solidFill>
                <a:latin typeface="Arial"/>
                <a:ea typeface="微软雅黑"/>
                <a:cs typeface="Arial"/>
              </a:rPr>
              <a:t>文绍华　　学号：2024110316</a:t>
            </a:r>
          </a:p>
          <a:p>
            <a:pPr algn="l">
              <a:lnSpc>
                <a:spcPct val="115000"/>
              </a:lnSpc>
              <a:spcBef>
                <a:spcPts val="800"/>
              </a:spcBef>
              <a:spcAft>
                <a:spcPts val="0"/>
              </a:spcAft>
            </a:pPr>
            <a:r>
              <a:rPr sz="1600" b="0">
                <a:solidFill>
                  <a:srgbClr val="333333"/>
                </a:solidFill>
                <a:latin typeface="Arial"/>
                <a:ea typeface="微软雅黑"/>
                <a:cs typeface="Arial"/>
              </a:rPr>
              <a:t>指导教师：申亮　　培养单位：生命科学学院</a:t>
            </a:r>
          </a:p>
          <a:p>
            <a:pPr algn="l">
              <a:lnSpc>
                <a:spcPct val="115000"/>
              </a:lnSpc>
              <a:spcBef>
                <a:spcPts val="800"/>
              </a:spcBef>
              <a:spcAft>
                <a:spcPts val="0"/>
              </a:spcAft>
            </a:pPr>
            <a:r>
              <a:rPr sz="1600" b="0">
                <a:solidFill>
                  <a:srgbClr val="333333"/>
                </a:solidFill>
                <a:latin typeface="Arial"/>
                <a:ea typeface="微软雅黑"/>
                <a:cs typeface="Arial"/>
              </a:rPr>
              <a:t>学科专业：生物学（生物化学与分子生物学）</a:t>
            </a:r>
          </a:p>
          <a:p>
            <a:pPr algn="l">
              <a:lnSpc>
                <a:spcPct val="115000"/>
              </a:lnSpc>
              <a:spcBef>
                <a:spcPts val="800"/>
              </a:spcBef>
              <a:spcAft>
                <a:spcPts val="0"/>
              </a:spcAft>
            </a:pPr>
            <a:r>
              <a:rPr sz="1600" b="0">
                <a:solidFill>
                  <a:srgbClr val="333333"/>
                </a:solidFill>
                <a:latin typeface="Arial"/>
                <a:ea typeface="微软雅黑"/>
                <a:cs typeface="Arial"/>
              </a:rPr>
              <a:t>汇报日期：2026 年 9 月</a:t>
            </a:r>
          </a:p>
        </p:txBody>
      </p:sp>
      <p:sp>
        <p:nvSpPr>
          <p:cNvPr id="7" name="TextBox 6"/>
          <p:cNvSpPr txBox="1"/>
          <p:nvPr/>
        </p:nvSpPr>
        <p:spPr>
          <a:xfrm>
            <a:off x="8778240" y="4041648"/>
            <a:ext cx="2770632" cy="1097280"/>
          </a:xfrm>
          <a:prstGeom prst="rect">
            <a:avLst/>
          </a:prstGeom>
          <a:noFill/>
        </p:spPr>
        <p:txBody>
          <a:bodyPr wrap="square" anchor="t" lIns="27432" rIns="27432" tIns="0" bIns="0">
            <a:spAutoFit/>
          </a:bodyPr>
          <a:lstStyle/>
          <a:p>
            <a:pPr algn="r">
              <a:lnSpc>
                <a:spcPct val="120000"/>
              </a:lnSpc>
              <a:spcBef>
                <a:spcPts val="0"/>
              </a:spcBef>
              <a:spcAft>
                <a:spcPts val="0"/>
              </a:spcAft>
            </a:pPr>
            <a:r>
              <a:rPr sz="1500" b="0">
                <a:solidFill>
                  <a:srgbClr val="777777"/>
                </a:solidFill>
                <a:latin typeface="Arial"/>
                <a:ea typeface="微软雅黑"/>
                <a:cs typeface="Arial"/>
              </a:rPr>
              <a:t>研究思路 · 已完成工作 · 下一步计划</a:t>
            </a:r>
          </a:p>
        </p:txBody>
      </p:sp>
      <p:sp>
        <p:nvSpPr>
          <p:cNvPr id="8" name="TextBox 7"/>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a:t>
            </a:r>
          </a:p>
        </p:txBody>
      </p:sp>
      <p:sp>
        <p:nvSpPr>
          <p:cNvPr id="9" name="TextBox 8"/>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 / 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600" b="1">
                <a:solidFill>
                  <a:srgbClr val="111111"/>
                </a:solidFill>
                <a:latin typeface="Arial"/>
                <a:ea typeface="微软雅黑"/>
                <a:cs typeface="Arial"/>
              </a:rPr>
              <a:t>肠—脑轴把 AD 与肠道微生物组联系起来，但缺少落到分子层面的对象</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81328"/>
            <a:ext cx="7223760" cy="3108960"/>
          </a:xfrm>
          <a:prstGeom prst="rect">
            <a:avLst/>
          </a:prstGeom>
          <a:noFill/>
        </p:spPr>
        <p:txBody>
          <a:bodyPr wrap="square" anchor="t" lIns="27432" rIns="27432" tIns="0" bIns="0">
            <a:spAutoFit/>
          </a:bodyPr>
          <a:lstStyle/>
          <a:p>
            <a:pPr algn="l">
              <a:lnSpc>
                <a:spcPct val="134000"/>
              </a:lnSpc>
              <a:spcBef>
                <a:spcPts val="0"/>
              </a:spcBef>
              <a:spcAft>
                <a:spcPts val="0"/>
              </a:spcAft>
            </a:pPr>
            <a:r>
              <a:rPr sz="1800" b="0">
                <a:solidFill>
                  <a:srgbClr val="333333"/>
                </a:solidFill>
                <a:latin typeface="Arial"/>
                <a:ea typeface="微软雅黑"/>
                <a:cs typeface="Arial"/>
              </a:rPr>
              <a:t>AD 患者与健康人群的肠道微生物组在组成与功能上存在差异，菌群失衡可通过免疫与代谢途径影响中枢炎症状态。</a:t>
            </a:r>
          </a:p>
          <a:p>
            <a:pPr algn="l">
              <a:lnSpc>
                <a:spcPct val="134000"/>
              </a:lnSpc>
              <a:spcBef>
                <a:spcPts val="1400"/>
              </a:spcBef>
              <a:spcAft>
                <a:spcPts val="0"/>
              </a:spcAft>
            </a:pPr>
            <a:r>
              <a:rPr sz="1800" b="0">
                <a:solidFill>
                  <a:srgbClr val="333333"/>
                </a:solidFill>
                <a:latin typeface="Arial"/>
                <a:ea typeface="微软雅黑"/>
                <a:cs typeface="Arial"/>
              </a:rPr>
              <a:t>微生物基因组的小开放阅读框可编码抗菌肽，直接存在于肠腔，是连接微生物刺激与神经炎症的候选效应分子。</a:t>
            </a:r>
          </a:p>
          <a:p>
            <a:pPr algn="l">
              <a:lnSpc>
                <a:spcPct val="134000"/>
              </a:lnSpc>
              <a:spcBef>
                <a:spcPts val="1400"/>
              </a:spcBef>
              <a:spcAft>
                <a:spcPts val="0"/>
              </a:spcAft>
            </a:pPr>
            <a:r>
              <a:rPr sz="1800" b="0">
                <a:solidFill>
                  <a:srgbClr val="333333"/>
                </a:solidFill>
                <a:latin typeface="Arial"/>
                <a:ea typeface="微软雅黑"/>
                <a:cs typeface="Arial"/>
              </a:rPr>
              <a:t>现有抗菌肽研究多基于通用训练集与宿主来源序列，缺少面向 AD 人群、并按认知阶段分层比较的工作。</a:t>
            </a:r>
          </a:p>
        </p:txBody>
      </p:sp>
      <p:sp>
        <p:nvSpPr>
          <p:cNvPr id="5" name="Rectangle 4"/>
          <p:cNvSpPr/>
          <p:nvPr/>
        </p:nvSpPr>
        <p:spPr>
          <a:xfrm>
            <a:off x="8229600" y="1481328"/>
            <a:ext cx="12700" cy="301752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49640" y="1481328"/>
            <a:ext cx="2999232" cy="3108960"/>
          </a:xfrm>
          <a:prstGeom prst="rect">
            <a:avLst/>
          </a:prstGeom>
          <a:noFill/>
        </p:spPr>
        <p:txBody>
          <a:bodyPr wrap="square" anchor="t" lIns="27432" rIns="27432" tIns="0" bIns="0">
            <a:spAutoFit/>
          </a:bodyPr>
          <a:lstStyle/>
          <a:p>
            <a:pPr algn="l">
              <a:lnSpc>
                <a:spcPct val="130000"/>
              </a:lnSpc>
              <a:spcBef>
                <a:spcPts val="0"/>
              </a:spcBef>
              <a:spcAft>
                <a:spcPts val="0"/>
              </a:spcAft>
            </a:pPr>
            <a:r>
              <a:rPr sz="1600" b="0">
                <a:solidFill>
                  <a:srgbClr val="777777"/>
                </a:solidFill>
                <a:latin typeface="Arial"/>
                <a:ea typeface="微软雅黑"/>
                <a:cs typeface="Arial"/>
              </a:rPr>
              <a:t>两个约束条件：</a:t>
            </a:r>
          </a:p>
          <a:p>
            <a:pPr algn="l">
              <a:lnSpc>
                <a:spcPct val="130000"/>
              </a:lnSpc>
              <a:spcBef>
                <a:spcPts val="1200"/>
              </a:spcBef>
              <a:spcAft>
                <a:spcPts val="0"/>
              </a:spcAft>
            </a:pPr>
            <a:r>
              <a:rPr sz="1600" b="0">
                <a:solidFill>
                  <a:srgbClr val="777777"/>
                </a:solidFill>
                <a:latin typeface="Arial"/>
                <a:ea typeface="微软雅黑"/>
                <a:cs typeface="Arial"/>
              </a:rPr>
              <a:t>① 计算预测必须有多模型与表达层面的相互印证；</a:t>
            </a:r>
          </a:p>
          <a:p>
            <a:pPr algn="l">
              <a:lnSpc>
                <a:spcPct val="130000"/>
              </a:lnSpc>
              <a:spcBef>
                <a:spcPts val="1200"/>
              </a:spcBef>
              <a:spcAft>
                <a:spcPts val="0"/>
              </a:spcAft>
            </a:pPr>
            <a:r>
              <a:rPr sz="1600" b="0">
                <a:solidFill>
                  <a:srgbClr val="777777"/>
                </a:solidFill>
                <a:latin typeface="Arial"/>
                <a:ea typeface="微软雅黑"/>
                <a:cs typeface="Arial"/>
              </a:rPr>
              <a:t>② 验证手段要在常规实验室条件下可完成。</a:t>
            </a:r>
          </a:p>
        </p:txBody>
      </p:sp>
      <p:sp>
        <p:nvSpPr>
          <p:cNvPr id="7" name="TextBox 6"/>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8" name="TextBox 7"/>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2 / 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600" b="1">
                <a:solidFill>
                  <a:srgbClr val="111111"/>
                </a:solidFill>
                <a:latin typeface="Arial"/>
                <a:ea typeface="微软雅黑"/>
                <a:cs typeface="Arial"/>
              </a:rPr>
              <a:t>研究按“数据—预测—统计—功能”四层推进，主体分析已完成</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81328"/>
            <a:ext cx="7223760" cy="3108960"/>
          </a:xfrm>
          <a:prstGeom prst="rect">
            <a:avLst/>
          </a:prstGeom>
          <a:noFill/>
        </p:spPr>
        <p:txBody>
          <a:bodyPr wrap="square" anchor="t" lIns="27432" rIns="27432" tIns="0" bIns="0">
            <a:spAutoFit/>
          </a:bodyPr>
          <a:lstStyle/>
          <a:p>
            <a:pPr algn="l">
              <a:lnSpc>
                <a:spcPct val="134000"/>
              </a:lnSpc>
              <a:spcBef>
                <a:spcPts val="0"/>
              </a:spcBef>
              <a:spcAft>
                <a:spcPts val="0"/>
              </a:spcAft>
            </a:pPr>
            <a:r>
              <a:rPr sz="1800" b="0">
                <a:solidFill>
                  <a:srgbClr val="333333"/>
                </a:solidFill>
                <a:latin typeface="Arial"/>
                <a:ea typeface="微软雅黑"/>
                <a:cs typeface="Arial"/>
              </a:rPr>
              <a:t>数据与序列层：全队列宏基因组数据统一处理，构建微生物源短肽库并保留来源可追溯信息。</a:t>
            </a:r>
          </a:p>
          <a:p>
            <a:pPr algn="l">
              <a:lnSpc>
                <a:spcPct val="134000"/>
              </a:lnSpc>
              <a:spcBef>
                <a:spcPts val="1400"/>
              </a:spcBef>
              <a:spcAft>
                <a:spcPts val="0"/>
              </a:spcAft>
            </a:pPr>
            <a:r>
              <a:rPr sz="1800" b="0">
                <a:solidFill>
                  <a:srgbClr val="333333"/>
                </a:solidFill>
                <a:latin typeface="Arial"/>
                <a:ea typeface="微软雅黑"/>
                <a:cs typeface="Arial"/>
              </a:rPr>
              <a:t>预测层：三类深度学习模型独立预测，取一致阳性序列构成候选抗菌肽集合。</a:t>
            </a:r>
          </a:p>
          <a:p>
            <a:pPr algn="l">
              <a:lnSpc>
                <a:spcPct val="134000"/>
              </a:lnSpc>
              <a:spcBef>
                <a:spcPts val="1400"/>
              </a:spcBef>
              <a:spcAft>
                <a:spcPts val="0"/>
              </a:spcAft>
            </a:pPr>
            <a:r>
              <a:rPr sz="1800" b="0">
                <a:solidFill>
                  <a:srgbClr val="333333"/>
                </a:solidFill>
                <a:latin typeface="Arial"/>
                <a:ea typeface="微软雅黑"/>
                <a:cs typeface="Arial"/>
              </a:rPr>
              <a:t>统计与表达层：按认知阶段比较差异，并以宏蛋白组表达证据二次去重，筛选健康人群特有与各阶段特有抗菌肽。</a:t>
            </a:r>
          </a:p>
          <a:p>
            <a:pPr algn="l">
              <a:lnSpc>
                <a:spcPct val="134000"/>
              </a:lnSpc>
              <a:spcBef>
                <a:spcPts val="1400"/>
              </a:spcBef>
              <a:spcAft>
                <a:spcPts val="0"/>
              </a:spcAft>
            </a:pPr>
            <a:r>
              <a:rPr sz="1800" b="0">
                <a:solidFill>
                  <a:srgbClr val="333333"/>
                </a:solidFill>
                <a:latin typeface="Arial"/>
                <a:ea typeface="微软雅黑"/>
                <a:cs typeface="Arial"/>
              </a:rPr>
              <a:t>功能层：对特有抗菌肽开展发病机制关联分析与抑菌实验验证。</a:t>
            </a:r>
          </a:p>
        </p:txBody>
      </p:sp>
      <p:sp>
        <p:nvSpPr>
          <p:cNvPr id="5" name="Rectangle 4"/>
          <p:cNvSpPr/>
          <p:nvPr/>
        </p:nvSpPr>
        <p:spPr>
          <a:xfrm>
            <a:off x="8229600" y="1481328"/>
            <a:ext cx="12700" cy="301752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49640" y="1481328"/>
            <a:ext cx="2999232" cy="3108960"/>
          </a:xfrm>
          <a:prstGeom prst="rect">
            <a:avLst/>
          </a:prstGeom>
          <a:noFill/>
        </p:spPr>
        <p:txBody>
          <a:bodyPr wrap="square" anchor="t" lIns="27432" rIns="27432" tIns="0" bIns="0">
            <a:spAutoFit/>
          </a:bodyPr>
          <a:lstStyle/>
          <a:p>
            <a:pPr algn="l">
              <a:lnSpc>
                <a:spcPct val="130000"/>
              </a:lnSpc>
              <a:spcBef>
                <a:spcPts val="0"/>
              </a:spcBef>
              <a:spcAft>
                <a:spcPts val="0"/>
              </a:spcAft>
            </a:pPr>
            <a:r>
              <a:rPr sz="1600" b="0">
                <a:solidFill>
                  <a:srgbClr val="777777"/>
                </a:solidFill>
                <a:latin typeface="Arial"/>
                <a:ea typeface="微软雅黑"/>
                <a:cs typeface="Arial"/>
              </a:rPr>
              <a:t>当前状态：</a:t>
            </a:r>
          </a:p>
          <a:p>
            <a:pPr algn="l">
              <a:lnSpc>
                <a:spcPct val="130000"/>
              </a:lnSpc>
              <a:spcBef>
                <a:spcPts val="1200"/>
              </a:spcBef>
              <a:spcAft>
                <a:spcPts val="0"/>
              </a:spcAft>
            </a:pPr>
            <a:r>
              <a:rPr sz="1600" b="0">
                <a:solidFill>
                  <a:srgbClr val="777777"/>
                </a:solidFill>
                <a:latin typeface="Arial"/>
                <a:ea typeface="微软雅黑"/>
                <a:cs typeface="Arial"/>
              </a:rPr>
              <a:t>前四层中的前三层已完成，功能层正在实施；</a:t>
            </a:r>
          </a:p>
          <a:p>
            <a:pPr algn="l">
              <a:lnSpc>
                <a:spcPct val="130000"/>
              </a:lnSpc>
              <a:spcBef>
                <a:spcPts val="1200"/>
              </a:spcBef>
              <a:spcAft>
                <a:spcPts val="0"/>
              </a:spcAft>
            </a:pPr>
            <a:r>
              <a:rPr sz="1600" b="0">
                <a:solidFill>
                  <a:srgbClr val="777777"/>
                </a:solidFill>
                <a:latin typeface="Arial"/>
                <a:ea typeface="微软雅黑"/>
                <a:cs typeface="Arial"/>
              </a:rPr>
              <a:t>整体进度与开题计划一致。</a:t>
            </a:r>
          </a:p>
        </p:txBody>
      </p:sp>
      <p:sp>
        <p:nvSpPr>
          <p:cNvPr id="7" name="TextBox 6"/>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8" name="TextBox 7"/>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队列按认知功能分阶段，样本与元数据一一对应</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26464"/>
            <a:ext cx="10424160" cy="1097280"/>
          </a:xfrm>
          <a:prstGeom prst="rect">
            <a:avLst/>
          </a:prstGeom>
          <a:noFill/>
        </p:spPr>
        <p:txBody>
          <a:bodyPr wrap="square" anchor="t" lIns="27432" rIns="27432" tIns="0" bIns="0">
            <a:spAutoFit/>
          </a:bodyPr>
          <a:lstStyle/>
          <a:p>
            <a:pPr algn="l">
              <a:lnSpc>
                <a:spcPct val="132000"/>
              </a:lnSpc>
              <a:spcBef>
                <a:spcPts val="0"/>
              </a:spcBef>
              <a:spcAft>
                <a:spcPts val="0"/>
              </a:spcAft>
            </a:pPr>
            <a:r>
              <a:rPr sz="1900" b="0">
                <a:solidFill>
                  <a:srgbClr val="333333"/>
                </a:solidFill>
                <a:latin typeface="Arial"/>
                <a:ea typeface="微软雅黑"/>
                <a:cs typeface="Arial"/>
              </a:rPr>
              <a:t>以公开宏基因组队列为对象，按认知功能与临床诊断把样本分为五个阶段，用于比较候选抗菌肽在病程中的变化。</a:t>
            </a:r>
          </a:p>
        </p:txBody>
      </p:sp>
      <p:sp>
        <p:nvSpPr>
          <p:cNvPr id="5" name="Rectangle 4"/>
          <p:cNvSpPr/>
          <p:nvPr/>
        </p:nvSpPr>
        <p:spPr>
          <a:xfrm>
            <a:off x="640080" y="3017520"/>
            <a:ext cx="2006193"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218688"/>
            <a:ext cx="2006193" cy="1005840"/>
          </a:xfrm>
          <a:prstGeom prst="rect">
            <a:avLst/>
          </a:prstGeom>
          <a:noFill/>
        </p:spPr>
        <p:txBody>
          <a:bodyPr wrap="square" anchor="t" lIns="27432" rIns="27432" tIns="0" bIns="0">
            <a:spAutoFit/>
          </a:bodyPr>
          <a:lstStyle/>
          <a:p>
            <a:pPr algn="l">
              <a:lnSpc>
                <a:spcPct val="110000"/>
              </a:lnSpc>
              <a:spcBef>
                <a:spcPts val="0"/>
              </a:spcBef>
              <a:spcAft>
                <a:spcPts val="0"/>
              </a:spcAft>
            </a:pPr>
            <a:r>
              <a:rPr sz="1800" b="1">
                <a:solidFill>
                  <a:srgbClr val="111111"/>
                </a:solidFill>
                <a:latin typeface="Arial"/>
                <a:ea typeface="微软雅黑"/>
                <a:cs typeface="Arial"/>
              </a:rPr>
              <a:t>NC</a:t>
            </a:r>
          </a:p>
          <a:p>
            <a:pPr algn="l">
              <a:lnSpc>
                <a:spcPct val="120000"/>
              </a:lnSpc>
              <a:spcBef>
                <a:spcPts val="400"/>
              </a:spcBef>
              <a:spcAft>
                <a:spcPts val="0"/>
              </a:spcAft>
            </a:pPr>
            <a:r>
              <a:rPr sz="1500" b="0">
                <a:solidFill>
                  <a:srgbClr val="777777"/>
                </a:solidFill>
                <a:latin typeface="Arial"/>
                <a:ea typeface="微软雅黑"/>
                <a:cs typeface="Arial"/>
              </a:rPr>
              <a:t>认知正常对照</a:t>
            </a:r>
          </a:p>
        </p:txBody>
      </p:sp>
      <p:sp>
        <p:nvSpPr>
          <p:cNvPr id="7" name="Rectangle 6"/>
          <p:cNvSpPr/>
          <p:nvPr/>
        </p:nvSpPr>
        <p:spPr>
          <a:xfrm>
            <a:off x="2865729" y="3017520"/>
            <a:ext cx="2006193"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65729" y="3218688"/>
            <a:ext cx="2006193" cy="1005840"/>
          </a:xfrm>
          <a:prstGeom prst="rect">
            <a:avLst/>
          </a:prstGeom>
          <a:noFill/>
        </p:spPr>
        <p:txBody>
          <a:bodyPr wrap="square" anchor="t" lIns="27432" rIns="27432" tIns="0" bIns="0">
            <a:spAutoFit/>
          </a:bodyPr>
          <a:lstStyle/>
          <a:p>
            <a:pPr algn="l">
              <a:lnSpc>
                <a:spcPct val="110000"/>
              </a:lnSpc>
              <a:spcBef>
                <a:spcPts val="0"/>
              </a:spcBef>
              <a:spcAft>
                <a:spcPts val="0"/>
              </a:spcAft>
            </a:pPr>
            <a:r>
              <a:rPr sz="1800" b="1">
                <a:solidFill>
                  <a:srgbClr val="111111"/>
                </a:solidFill>
                <a:latin typeface="Arial"/>
                <a:ea typeface="微软雅黑"/>
                <a:cs typeface="Arial"/>
              </a:rPr>
              <a:t>SCS</a:t>
            </a:r>
          </a:p>
          <a:p>
            <a:pPr algn="l">
              <a:lnSpc>
                <a:spcPct val="120000"/>
              </a:lnSpc>
              <a:spcBef>
                <a:spcPts val="400"/>
              </a:spcBef>
              <a:spcAft>
                <a:spcPts val="0"/>
              </a:spcAft>
            </a:pPr>
            <a:r>
              <a:rPr sz="1500" b="0">
                <a:solidFill>
                  <a:srgbClr val="777777"/>
                </a:solidFill>
                <a:latin typeface="Arial"/>
                <a:ea typeface="微软雅黑"/>
                <a:cs typeface="Arial"/>
              </a:rPr>
              <a:t>主观认知下降</a:t>
            </a:r>
          </a:p>
        </p:txBody>
      </p:sp>
      <p:sp>
        <p:nvSpPr>
          <p:cNvPr id="9" name="Rectangle 8"/>
          <p:cNvSpPr/>
          <p:nvPr/>
        </p:nvSpPr>
        <p:spPr>
          <a:xfrm>
            <a:off x="5091379" y="3017520"/>
            <a:ext cx="2006193"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91379" y="3218688"/>
            <a:ext cx="2006193" cy="1005840"/>
          </a:xfrm>
          <a:prstGeom prst="rect">
            <a:avLst/>
          </a:prstGeom>
          <a:noFill/>
        </p:spPr>
        <p:txBody>
          <a:bodyPr wrap="square" anchor="t" lIns="27432" rIns="27432" tIns="0" bIns="0">
            <a:spAutoFit/>
          </a:bodyPr>
          <a:lstStyle/>
          <a:p>
            <a:pPr algn="l">
              <a:lnSpc>
                <a:spcPct val="110000"/>
              </a:lnSpc>
              <a:spcBef>
                <a:spcPts val="0"/>
              </a:spcBef>
              <a:spcAft>
                <a:spcPts val="0"/>
              </a:spcAft>
            </a:pPr>
            <a:r>
              <a:rPr sz="1800" b="1">
                <a:solidFill>
                  <a:srgbClr val="111111"/>
                </a:solidFill>
                <a:latin typeface="Arial"/>
                <a:ea typeface="微软雅黑"/>
                <a:cs typeface="Arial"/>
              </a:rPr>
              <a:t>SCD</a:t>
            </a:r>
          </a:p>
          <a:p>
            <a:pPr algn="l">
              <a:lnSpc>
                <a:spcPct val="120000"/>
              </a:lnSpc>
              <a:spcBef>
                <a:spcPts val="400"/>
              </a:spcBef>
              <a:spcAft>
                <a:spcPts val="0"/>
              </a:spcAft>
            </a:pPr>
            <a:r>
              <a:rPr sz="1500" b="0">
                <a:solidFill>
                  <a:srgbClr val="777777"/>
                </a:solidFill>
                <a:latin typeface="Arial"/>
                <a:ea typeface="微软雅黑"/>
                <a:cs typeface="Arial"/>
              </a:rPr>
              <a:t>可疑认知障碍</a:t>
            </a:r>
          </a:p>
        </p:txBody>
      </p:sp>
      <p:sp>
        <p:nvSpPr>
          <p:cNvPr id="11" name="Rectangle 10"/>
          <p:cNvSpPr/>
          <p:nvPr/>
        </p:nvSpPr>
        <p:spPr>
          <a:xfrm>
            <a:off x="7317028" y="3017520"/>
            <a:ext cx="2006193"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7028" y="3218688"/>
            <a:ext cx="2006193" cy="1005840"/>
          </a:xfrm>
          <a:prstGeom prst="rect">
            <a:avLst/>
          </a:prstGeom>
          <a:noFill/>
        </p:spPr>
        <p:txBody>
          <a:bodyPr wrap="square" anchor="t" lIns="27432" rIns="27432" tIns="0" bIns="0">
            <a:spAutoFit/>
          </a:bodyPr>
          <a:lstStyle/>
          <a:p>
            <a:pPr algn="l">
              <a:lnSpc>
                <a:spcPct val="110000"/>
              </a:lnSpc>
              <a:spcBef>
                <a:spcPts val="0"/>
              </a:spcBef>
              <a:spcAft>
                <a:spcPts val="0"/>
              </a:spcAft>
            </a:pPr>
            <a:r>
              <a:rPr sz="1800" b="1">
                <a:solidFill>
                  <a:srgbClr val="111111"/>
                </a:solidFill>
                <a:latin typeface="Arial"/>
                <a:ea typeface="微软雅黑"/>
                <a:cs typeface="Arial"/>
              </a:rPr>
              <a:t>MCI</a:t>
            </a:r>
          </a:p>
          <a:p>
            <a:pPr algn="l">
              <a:lnSpc>
                <a:spcPct val="120000"/>
              </a:lnSpc>
              <a:spcBef>
                <a:spcPts val="400"/>
              </a:spcBef>
              <a:spcAft>
                <a:spcPts val="0"/>
              </a:spcAft>
            </a:pPr>
            <a:r>
              <a:rPr sz="1500" b="0">
                <a:solidFill>
                  <a:srgbClr val="777777"/>
                </a:solidFill>
                <a:latin typeface="Arial"/>
                <a:ea typeface="微软雅黑"/>
                <a:cs typeface="Arial"/>
              </a:rPr>
              <a:t>轻度认知障碍</a:t>
            </a:r>
          </a:p>
        </p:txBody>
      </p:sp>
      <p:sp>
        <p:nvSpPr>
          <p:cNvPr id="13" name="Rectangle 12"/>
          <p:cNvSpPr/>
          <p:nvPr/>
        </p:nvSpPr>
        <p:spPr>
          <a:xfrm>
            <a:off x="9542678" y="3017520"/>
            <a:ext cx="2006193" cy="3810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42678" y="3218688"/>
            <a:ext cx="2006193" cy="1005840"/>
          </a:xfrm>
          <a:prstGeom prst="rect">
            <a:avLst/>
          </a:prstGeom>
          <a:noFill/>
        </p:spPr>
        <p:txBody>
          <a:bodyPr wrap="square" anchor="t" lIns="27432" rIns="27432" tIns="0" bIns="0">
            <a:spAutoFit/>
          </a:bodyPr>
          <a:lstStyle/>
          <a:p>
            <a:pPr algn="l">
              <a:lnSpc>
                <a:spcPct val="110000"/>
              </a:lnSpc>
              <a:spcBef>
                <a:spcPts val="0"/>
              </a:spcBef>
              <a:spcAft>
                <a:spcPts val="0"/>
              </a:spcAft>
            </a:pPr>
            <a:r>
              <a:rPr sz="1800" b="1">
                <a:solidFill>
                  <a:srgbClr val="111111"/>
                </a:solidFill>
                <a:latin typeface="Arial"/>
                <a:ea typeface="微软雅黑"/>
                <a:cs typeface="Arial"/>
              </a:rPr>
              <a:t>AD</a:t>
            </a:r>
          </a:p>
          <a:p>
            <a:pPr algn="l">
              <a:lnSpc>
                <a:spcPct val="120000"/>
              </a:lnSpc>
              <a:spcBef>
                <a:spcPts val="400"/>
              </a:spcBef>
              <a:spcAft>
                <a:spcPts val="0"/>
              </a:spcAft>
            </a:pPr>
            <a:r>
              <a:rPr sz="1500" b="0">
                <a:solidFill>
                  <a:srgbClr val="777777"/>
                </a:solidFill>
                <a:latin typeface="Arial"/>
                <a:ea typeface="微软雅黑"/>
                <a:cs typeface="Arial"/>
              </a:rPr>
              <a:t>阿尔茨海默症</a:t>
            </a:r>
          </a:p>
        </p:txBody>
      </p:sp>
      <p:sp>
        <p:nvSpPr>
          <p:cNvPr id="15" name="Rectangle 14"/>
          <p:cNvSpPr/>
          <p:nvPr/>
        </p:nvSpPr>
        <p:spPr>
          <a:xfrm>
            <a:off x="640080" y="444398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663440"/>
            <a:ext cx="10424160" cy="1005840"/>
          </a:xfrm>
          <a:prstGeom prst="rect">
            <a:avLst/>
          </a:prstGeom>
          <a:noFill/>
        </p:spPr>
        <p:txBody>
          <a:bodyPr wrap="square" anchor="t" lIns="27432" rIns="27432" tIns="0" bIns="0">
            <a:spAutoFit/>
          </a:bodyPr>
          <a:lstStyle/>
          <a:p>
            <a:pPr algn="l">
              <a:lnSpc>
                <a:spcPct val="130000"/>
              </a:lnSpc>
              <a:spcBef>
                <a:spcPts val="0"/>
              </a:spcBef>
              <a:spcAft>
                <a:spcPts val="0"/>
              </a:spcAft>
            </a:pPr>
            <a:r>
              <a:rPr sz="1600" b="0">
                <a:solidFill>
                  <a:srgbClr val="333333"/>
                </a:solidFill>
                <a:latin typeface="Arial"/>
                <a:ea typeface="微软雅黑"/>
                <a:cs typeface="Arial"/>
              </a:rPr>
              <a:t>分析口径：全部样本使用同一套处理流程与参数，分组信息与测序数据一一对应。</a:t>
            </a:r>
          </a:p>
        </p:txBody>
      </p:sp>
      <p:sp>
        <p:nvSpPr>
          <p:cNvPr id="17" name="TextBox 16"/>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18" name="TextBox 17"/>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宏基因组分析流程：从测序数据到候选抗菌肽清单</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024128"/>
            <a:ext cx="10908792" cy="274320"/>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流程按“数据 → 序列 → 预测 → 统计 → 功能”顺序推进，每一步的输入输出都可追溯。</a:t>
            </a:r>
          </a:p>
        </p:txBody>
      </p:sp>
      <p:sp>
        <p:nvSpPr>
          <p:cNvPr id="5" name="Rectangle 4"/>
          <p:cNvSpPr/>
          <p:nvPr/>
        </p:nvSpPr>
        <p:spPr>
          <a:xfrm>
            <a:off x="640080" y="1335024"/>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① </a:t>
            </a:r>
            <a:r>
              <a:rPr sz="1500" b="1">
                <a:solidFill>
                  <a:srgbClr val="111111"/>
                </a:solidFill>
                <a:latin typeface="Arial"/>
                <a:ea typeface="微软雅黑"/>
                <a:cs typeface="Arial"/>
              </a:rPr>
              <a:t>测序与质控</a:t>
            </a:r>
          </a:p>
          <a:p>
            <a:pPr algn="l">
              <a:lnSpc>
                <a:spcPct val="116000"/>
              </a:lnSpc>
              <a:spcBef>
                <a:spcPts val="400"/>
              </a:spcBef>
              <a:spcAft>
                <a:spcPts val="0"/>
              </a:spcAft>
            </a:pPr>
            <a:r>
              <a:rPr sz="1500" b="0">
                <a:solidFill>
                  <a:srgbClr val="333333"/>
                </a:solidFill>
                <a:latin typeface="Arial"/>
                <a:ea typeface="微软雅黑"/>
                <a:cs typeface="Arial"/>
              </a:rPr>
              <a:t>fastp 质控
KneadData 去宿主</a:t>
            </a:r>
          </a:p>
        </p:txBody>
      </p:sp>
      <p:sp>
        <p:nvSpPr>
          <p:cNvPr id="6" name="Rectangle 5"/>
          <p:cNvSpPr/>
          <p:nvPr/>
        </p:nvSpPr>
        <p:spPr>
          <a:xfrm>
            <a:off x="640080" y="1335024"/>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ight Arrow 6"/>
          <p:cNvSpPr/>
          <p:nvPr/>
        </p:nvSpPr>
        <p:spPr>
          <a:xfrm>
            <a:off x="2375916" y="2052828"/>
            <a:ext cx="73151" cy="100584"/>
          </a:xfrm>
          <a:prstGeom prst="righ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481072" y="1335024"/>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② </a:t>
            </a:r>
            <a:r>
              <a:rPr sz="1500" b="1">
                <a:solidFill>
                  <a:srgbClr val="111111"/>
                </a:solidFill>
                <a:latin typeface="Arial"/>
                <a:ea typeface="微软雅黑"/>
                <a:cs typeface="Arial"/>
              </a:rPr>
              <a:t>组装与分箱</a:t>
            </a:r>
          </a:p>
          <a:p>
            <a:pPr algn="l">
              <a:lnSpc>
                <a:spcPct val="116000"/>
              </a:lnSpc>
              <a:spcBef>
                <a:spcPts val="400"/>
              </a:spcBef>
              <a:spcAft>
                <a:spcPts val="0"/>
              </a:spcAft>
            </a:pPr>
            <a:r>
              <a:rPr sz="1500" b="0">
                <a:solidFill>
                  <a:srgbClr val="333333"/>
                </a:solidFill>
                <a:latin typeface="Arial"/>
                <a:ea typeface="微软雅黑"/>
                <a:cs typeface="Arial"/>
              </a:rPr>
              <a:t>MEGAHIT 组装
MetaBAT2 分箱
CONCOCT 分箱</a:t>
            </a:r>
          </a:p>
        </p:txBody>
      </p:sp>
      <p:sp>
        <p:nvSpPr>
          <p:cNvPr id="9" name="Rectangle 8"/>
          <p:cNvSpPr/>
          <p:nvPr/>
        </p:nvSpPr>
        <p:spPr>
          <a:xfrm>
            <a:off x="2481072" y="1335024"/>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4216908" y="2052828"/>
            <a:ext cx="73151" cy="100584"/>
          </a:xfrm>
          <a:prstGeom prst="righ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22064" y="1335024"/>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③ </a:t>
            </a:r>
            <a:r>
              <a:rPr sz="1500" b="1">
                <a:solidFill>
                  <a:srgbClr val="111111"/>
                </a:solidFill>
                <a:latin typeface="Arial"/>
                <a:ea typeface="微软雅黑"/>
                <a:cs typeface="Arial"/>
              </a:rPr>
              <a:t>参考基因组集</a:t>
            </a:r>
          </a:p>
          <a:p>
            <a:pPr algn="l">
              <a:lnSpc>
                <a:spcPct val="116000"/>
              </a:lnSpc>
              <a:spcBef>
                <a:spcPts val="400"/>
              </a:spcBef>
              <a:spcAft>
                <a:spcPts val="0"/>
              </a:spcAft>
            </a:pPr>
            <a:r>
              <a:rPr sz="1500" b="0">
                <a:solidFill>
                  <a:srgbClr val="333333"/>
                </a:solidFill>
                <a:latin typeface="Arial"/>
                <a:ea typeface="微软雅黑"/>
                <a:cs typeface="Arial"/>
              </a:rPr>
              <a:t>metaWRAP 提纯
dRep 去冗余</a:t>
            </a:r>
          </a:p>
        </p:txBody>
      </p:sp>
      <p:sp>
        <p:nvSpPr>
          <p:cNvPr id="12" name="Rectangle 11"/>
          <p:cNvSpPr/>
          <p:nvPr/>
        </p:nvSpPr>
        <p:spPr>
          <a:xfrm>
            <a:off x="4322064" y="1335024"/>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6057900" y="2052828"/>
            <a:ext cx="73151" cy="100584"/>
          </a:xfrm>
          <a:prstGeom prst="righ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63056" y="1335024"/>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④ </a:t>
            </a:r>
            <a:r>
              <a:rPr sz="1500" b="1">
                <a:solidFill>
                  <a:srgbClr val="111111"/>
                </a:solidFill>
                <a:latin typeface="Arial"/>
                <a:ea typeface="微软雅黑"/>
                <a:cs typeface="Arial"/>
              </a:rPr>
              <a:t>sORF 预测</a:t>
            </a:r>
          </a:p>
          <a:p>
            <a:pPr algn="l">
              <a:lnSpc>
                <a:spcPct val="116000"/>
              </a:lnSpc>
              <a:spcBef>
                <a:spcPts val="400"/>
              </a:spcBef>
              <a:spcAft>
                <a:spcPts val="0"/>
              </a:spcAft>
            </a:pPr>
            <a:r>
              <a:rPr sz="1500" b="0">
                <a:solidFill>
                  <a:srgbClr val="333333"/>
                </a:solidFill>
                <a:latin typeface="Arial"/>
                <a:ea typeface="微软雅黑"/>
                <a:cs typeface="Arial"/>
              </a:rPr>
              <a:t>EMBOSS getorf
长度 5—50 aa</a:t>
            </a:r>
          </a:p>
        </p:txBody>
      </p:sp>
      <p:sp>
        <p:nvSpPr>
          <p:cNvPr id="15" name="Rectangle 14"/>
          <p:cNvSpPr/>
          <p:nvPr/>
        </p:nvSpPr>
        <p:spPr>
          <a:xfrm>
            <a:off x="6163056" y="1335024"/>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ight Arrow 15"/>
          <p:cNvSpPr/>
          <p:nvPr/>
        </p:nvSpPr>
        <p:spPr>
          <a:xfrm>
            <a:off x="7898892" y="2052828"/>
            <a:ext cx="73151" cy="100584"/>
          </a:xfrm>
          <a:prstGeom prst="righ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04048" y="1335024"/>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⑤ </a:t>
            </a:r>
            <a:r>
              <a:rPr sz="1500" b="1">
                <a:solidFill>
                  <a:srgbClr val="111111"/>
                </a:solidFill>
                <a:latin typeface="Arial"/>
                <a:ea typeface="微软雅黑"/>
                <a:cs typeface="Arial"/>
              </a:rPr>
              <a:t>去冗余建库</a:t>
            </a:r>
          </a:p>
          <a:p>
            <a:pPr algn="l">
              <a:lnSpc>
                <a:spcPct val="116000"/>
              </a:lnSpc>
              <a:spcBef>
                <a:spcPts val="400"/>
              </a:spcBef>
              <a:spcAft>
                <a:spcPts val="0"/>
              </a:spcAft>
            </a:pPr>
            <a:r>
              <a:rPr sz="1500" b="0">
                <a:solidFill>
                  <a:srgbClr val="333333"/>
                </a:solidFill>
                <a:latin typeface="Arial"/>
                <a:ea typeface="微软雅黑"/>
                <a:cs typeface="Arial"/>
              </a:rPr>
              <a:t>序列级精确去冗余
非冗余短肽库</a:t>
            </a:r>
          </a:p>
        </p:txBody>
      </p:sp>
      <p:sp>
        <p:nvSpPr>
          <p:cNvPr id="18" name="Rectangle 17"/>
          <p:cNvSpPr/>
          <p:nvPr/>
        </p:nvSpPr>
        <p:spPr>
          <a:xfrm>
            <a:off x="8004048" y="1335024"/>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ight Arrow 18"/>
          <p:cNvSpPr/>
          <p:nvPr/>
        </p:nvSpPr>
        <p:spPr>
          <a:xfrm>
            <a:off x="9739884" y="2052828"/>
            <a:ext cx="73151" cy="100584"/>
          </a:xfrm>
          <a:prstGeom prst="righ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845040" y="1335024"/>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⑥ </a:t>
            </a:r>
            <a:r>
              <a:rPr sz="1500" b="1">
                <a:solidFill>
                  <a:srgbClr val="111111"/>
                </a:solidFill>
                <a:latin typeface="Arial"/>
                <a:ea typeface="微软雅黑"/>
                <a:cs typeface="Arial"/>
              </a:rPr>
              <a:t>共识预测</a:t>
            </a:r>
          </a:p>
          <a:p>
            <a:pPr algn="l">
              <a:lnSpc>
                <a:spcPct val="116000"/>
              </a:lnSpc>
              <a:spcBef>
                <a:spcPts val="400"/>
              </a:spcBef>
              <a:spcAft>
                <a:spcPts val="0"/>
              </a:spcAft>
            </a:pPr>
            <a:r>
              <a:rPr sz="1500" b="0">
                <a:solidFill>
                  <a:srgbClr val="333333"/>
                </a:solidFill>
                <a:latin typeface="Arial"/>
                <a:ea typeface="微软雅黑"/>
                <a:cs typeface="Arial"/>
              </a:rPr>
              <a:t>Attention / LSTM
/ BERT 一致阳性</a:t>
            </a:r>
          </a:p>
        </p:txBody>
      </p:sp>
      <p:sp>
        <p:nvSpPr>
          <p:cNvPr id="21" name="Rectangle 20"/>
          <p:cNvSpPr/>
          <p:nvPr/>
        </p:nvSpPr>
        <p:spPr>
          <a:xfrm>
            <a:off x="9845040" y="1335024"/>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Down Arrow 21"/>
          <p:cNvSpPr/>
          <p:nvPr/>
        </p:nvSpPr>
        <p:spPr>
          <a:xfrm>
            <a:off x="10642092" y="2898648"/>
            <a:ext cx="109728" cy="201168"/>
          </a:xfrm>
          <a:prstGeom prst="down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3145536"/>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⑦ </a:t>
            </a:r>
            <a:r>
              <a:rPr sz="1500" b="1">
                <a:solidFill>
                  <a:srgbClr val="111111"/>
                </a:solidFill>
                <a:latin typeface="Arial"/>
                <a:ea typeface="微软雅黑"/>
                <a:cs typeface="Arial"/>
              </a:rPr>
              <a:t>阶段差异分析</a:t>
            </a:r>
          </a:p>
          <a:p>
            <a:pPr algn="l">
              <a:lnSpc>
                <a:spcPct val="116000"/>
              </a:lnSpc>
              <a:spcBef>
                <a:spcPts val="400"/>
              </a:spcBef>
              <a:spcAft>
                <a:spcPts val="0"/>
              </a:spcAft>
            </a:pPr>
            <a:r>
              <a:rPr sz="1500" b="0">
                <a:solidFill>
                  <a:srgbClr val="333333"/>
                </a:solidFill>
                <a:latin typeface="Arial"/>
                <a:ea typeface="微软雅黑"/>
                <a:cs typeface="Arial"/>
              </a:rPr>
              <a:t>CoverM 定量
CLR 变换
Kruskal-Wallis</a:t>
            </a:r>
          </a:p>
        </p:txBody>
      </p:sp>
      <p:sp>
        <p:nvSpPr>
          <p:cNvPr id="24" name="Rectangle 23"/>
          <p:cNvSpPr/>
          <p:nvPr/>
        </p:nvSpPr>
        <p:spPr>
          <a:xfrm>
            <a:off x="640080" y="3145536"/>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Left Arrow 24"/>
          <p:cNvSpPr/>
          <p:nvPr/>
        </p:nvSpPr>
        <p:spPr>
          <a:xfrm>
            <a:off x="2375916" y="3863340"/>
            <a:ext cx="73151" cy="100584"/>
          </a:xfrm>
          <a:prstGeom prst="lef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481072" y="3145536"/>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⑧ </a:t>
            </a:r>
            <a:r>
              <a:rPr sz="1500" b="1">
                <a:solidFill>
                  <a:srgbClr val="111111"/>
                </a:solidFill>
                <a:latin typeface="Arial"/>
                <a:ea typeface="微软雅黑"/>
                <a:cs typeface="Arial"/>
              </a:rPr>
              <a:t>表达证据去重</a:t>
            </a:r>
          </a:p>
          <a:p>
            <a:pPr algn="l">
              <a:lnSpc>
                <a:spcPct val="116000"/>
              </a:lnSpc>
              <a:spcBef>
                <a:spcPts val="400"/>
              </a:spcBef>
              <a:spcAft>
                <a:spcPts val="0"/>
              </a:spcAft>
            </a:pPr>
            <a:r>
              <a:rPr sz="1500" b="0">
                <a:solidFill>
                  <a:srgbClr val="333333"/>
                </a:solidFill>
                <a:latin typeface="Arial"/>
                <a:ea typeface="微软雅黑"/>
                <a:cs typeface="Arial"/>
              </a:rPr>
              <a:t>宏蛋白组二次去重
剔除无表达序列</a:t>
            </a:r>
          </a:p>
        </p:txBody>
      </p:sp>
      <p:sp>
        <p:nvSpPr>
          <p:cNvPr id="27" name="Rectangle 26"/>
          <p:cNvSpPr/>
          <p:nvPr/>
        </p:nvSpPr>
        <p:spPr>
          <a:xfrm>
            <a:off x="2481072" y="3145536"/>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Left Arrow 27"/>
          <p:cNvSpPr/>
          <p:nvPr/>
        </p:nvSpPr>
        <p:spPr>
          <a:xfrm>
            <a:off x="4216908" y="3863340"/>
            <a:ext cx="73151" cy="100584"/>
          </a:xfrm>
          <a:prstGeom prst="lef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22064" y="3145536"/>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2F5D62"/>
                </a:solidFill>
                <a:latin typeface="Arial"/>
                <a:ea typeface="微软雅黑"/>
                <a:cs typeface="Arial"/>
              </a:rPr>
              <a:t>⑨ </a:t>
            </a:r>
            <a:r>
              <a:rPr sz="1500" b="1">
                <a:solidFill>
                  <a:srgbClr val="111111"/>
                </a:solidFill>
                <a:latin typeface="Arial"/>
                <a:ea typeface="微软雅黑"/>
                <a:cs typeface="Arial"/>
              </a:rPr>
              <a:t>特有抗菌肽</a:t>
            </a:r>
          </a:p>
          <a:p>
            <a:pPr algn="l">
              <a:lnSpc>
                <a:spcPct val="116000"/>
              </a:lnSpc>
              <a:spcBef>
                <a:spcPts val="400"/>
              </a:spcBef>
              <a:spcAft>
                <a:spcPts val="0"/>
              </a:spcAft>
            </a:pPr>
            <a:r>
              <a:rPr sz="1500" b="0">
                <a:solidFill>
                  <a:srgbClr val="333333"/>
                </a:solidFill>
                <a:latin typeface="Arial"/>
                <a:ea typeface="微软雅黑"/>
                <a:cs typeface="Arial"/>
              </a:rPr>
              <a:t>健康人群特有肽
各阶段特有肽</a:t>
            </a:r>
          </a:p>
        </p:txBody>
      </p:sp>
      <p:sp>
        <p:nvSpPr>
          <p:cNvPr id="30" name="Rectangle 29"/>
          <p:cNvSpPr/>
          <p:nvPr/>
        </p:nvSpPr>
        <p:spPr>
          <a:xfrm>
            <a:off x="4322064" y="3145536"/>
            <a:ext cx="170383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eft Arrow 30"/>
          <p:cNvSpPr/>
          <p:nvPr/>
        </p:nvSpPr>
        <p:spPr>
          <a:xfrm>
            <a:off x="6057900" y="3863340"/>
            <a:ext cx="73151" cy="100584"/>
          </a:xfrm>
          <a:prstGeom prst="lef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3145536"/>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B03A2E"/>
                </a:solidFill>
                <a:latin typeface="Arial"/>
                <a:ea typeface="微软雅黑"/>
                <a:cs typeface="Arial"/>
              </a:rPr>
              <a:t>⑩ </a:t>
            </a:r>
            <a:r>
              <a:rPr sz="1500" b="1">
                <a:solidFill>
                  <a:srgbClr val="111111"/>
                </a:solidFill>
                <a:latin typeface="Arial"/>
                <a:ea typeface="微软雅黑"/>
                <a:cs typeface="Arial"/>
              </a:rPr>
              <a:t>机制关联分析</a:t>
            </a:r>
          </a:p>
          <a:p>
            <a:pPr algn="l">
              <a:lnSpc>
                <a:spcPct val="116000"/>
              </a:lnSpc>
              <a:spcBef>
                <a:spcPts val="400"/>
              </a:spcBef>
              <a:spcAft>
                <a:spcPts val="0"/>
              </a:spcAft>
            </a:pPr>
            <a:r>
              <a:rPr sz="1500" b="0">
                <a:solidFill>
                  <a:srgbClr val="333333"/>
                </a:solidFill>
                <a:latin typeface="Arial"/>
                <a:ea typeface="微软雅黑"/>
                <a:cs typeface="Arial"/>
              </a:rPr>
              <a:t>分子对接 + 动力学
给出候选优先序</a:t>
            </a:r>
          </a:p>
        </p:txBody>
      </p:sp>
      <p:sp>
        <p:nvSpPr>
          <p:cNvPr id="33" name="Rectangle 32"/>
          <p:cNvSpPr/>
          <p:nvPr/>
        </p:nvSpPr>
        <p:spPr>
          <a:xfrm>
            <a:off x="6163056" y="3145536"/>
            <a:ext cx="1703832" cy="38100"/>
          </a:xfrm>
          <a:prstGeom prst="rect">
            <a:avLst/>
          </a:prstGeom>
          <a:solidFill>
            <a:srgbClr val="D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eft Arrow 33"/>
          <p:cNvSpPr/>
          <p:nvPr/>
        </p:nvSpPr>
        <p:spPr>
          <a:xfrm>
            <a:off x="7898892" y="3863340"/>
            <a:ext cx="73151" cy="100584"/>
          </a:xfrm>
          <a:prstGeom prst="lef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04048" y="3145536"/>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B03A2E"/>
                </a:solidFill>
                <a:latin typeface="Arial"/>
                <a:ea typeface="微软雅黑"/>
                <a:cs typeface="Arial"/>
              </a:rPr>
              <a:t>⑪ </a:t>
            </a:r>
            <a:r>
              <a:rPr sz="1500" b="1">
                <a:solidFill>
                  <a:srgbClr val="111111"/>
                </a:solidFill>
                <a:latin typeface="Arial"/>
                <a:ea typeface="微软雅黑"/>
                <a:cs typeface="Arial"/>
              </a:rPr>
              <a:t>抑菌实验验证</a:t>
            </a:r>
          </a:p>
          <a:p>
            <a:pPr algn="l">
              <a:lnSpc>
                <a:spcPct val="116000"/>
              </a:lnSpc>
              <a:spcBef>
                <a:spcPts val="400"/>
              </a:spcBef>
              <a:spcAft>
                <a:spcPts val="0"/>
              </a:spcAft>
            </a:pPr>
            <a:r>
              <a:rPr sz="1500" b="0">
                <a:solidFill>
                  <a:srgbClr val="333333"/>
                </a:solidFill>
                <a:latin typeface="Arial"/>
                <a:ea typeface="微软雅黑"/>
                <a:cs typeface="Arial"/>
              </a:rPr>
              <a:t>纸片扩散法筛查
微量肉汤稀释法 MIC</a:t>
            </a:r>
          </a:p>
        </p:txBody>
      </p:sp>
      <p:sp>
        <p:nvSpPr>
          <p:cNvPr id="36" name="Rectangle 35"/>
          <p:cNvSpPr/>
          <p:nvPr/>
        </p:nvSpPr>
        <p:spPr>
          <a:xfrm>
            <a:off x="8004048" y="3145536"/>
            <a:ext cx="1703832" cy="38100"/>
          </a:xfrm>
          <a:prstGeom prst="rect">
            <a:avLst/>
          </a:prstGeom>
          <a:solidFill>
            <a:srgbClr val="D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Left Arrow 36"/>
          <p:cNvSpPr/>
          <p:nvPr/>
        </p:nvSpPr>
        <p:spPr>
          <a:xfrm>
            <a:off x="9739884" y="3863340"/>
            <a:ext cx="73151" cy="100584"/>
          </a:xfrm>
          <a:prstGeom prst="leftArrow">
            <a:avLst/>
          </a:prstGeom>
          <a:solidFill>
            <a:srgbClr val="7777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845040" y="3145536"/>
            <a:ext cx="1703832" cy="1536192"/>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54864"/>
          <a:lstStyle/>
          <a:p>
            <a:pPr algn="ctr">
              <a:lnSpc>
                <a:spcPct val="112000"/>
              </a:lnSpc>
              <a:spcBef>
                <a:spcPts val="0"/>
              </a:spcBef>
              <a:spcAft>
                <a:spcPts val="0"/>
              </a:spcAft>
            </a:pPr>
            <a:r>
              <a:rPr sz="1500" b="1">
                <a:solidFill>
                  <a:srgbClr val="B03A2E"/>
                </a:solidFill>
                <a:latin typeface="Arial"/>
                <a:ea typeface="微软雅黑"/>
                <a:cs typeface="Arial"/>
              </a:rPr>
              <a:t>⑫ </a:t>
            </a:r>
            <a:r>
              <a:rPr sz="1500" b="1">
                <a:solidFill>
                  <a:srgbClr val="111111"/>
                </a:solidFill>
                <a:latin typeface="Arial"/>
                <a:ea typeface="微软雅黑"/>
                <a:cs typeface="Arial"/>
              </a:rPr>
              <a:t>整理与撰写</a:t>
            </a:r>
          </a:p>
          <a:p>
            <a:pPr algn="l">
              <a:lnSpc>
                <a:spcPct val="116000"/>
              </a:lnSpc>
              <a:spcBef>
                <a:spcPts val="400"/>
              </a:spcBef>
              <a:spcAft>
                <a:spcPts val="0"/>
              </a:spcAft>
            </a:pPr>
            <a:r>
              <a:rPr sz="1500" b="0">
                <a:solidFill>
                  <a:srgbClr val="333333"/>
                </a:solidFill>
                <a:latin typeface="Arial"/>
                <a:ea typeface="微软雅黑"/>
                <a:cs typeface="Arial"/>
              </a:rPr>
              <a:t>学位论文与投稿
结果汇总</a:t>
            </a:r>
          </a:p>
        </p:txBody>
      </p:sp>
      <p:sp>
        <p:nvSpPr>
          <p:cNvPr id="39" name="Rectangle 38"/>
          <p:cNvSpPr/>
          <p:nvPr/>
        </p:nvSpPr>
        <p:spPr>
          <a:xfrm>
            <a:off x="9845040" y="3145536"/>
            <a:ext cx="1703832" cy="38100"/>
          </a:xfrm>
          <a:prstGeom prst="rect">
            <a:avLst/>
          </a:prstGeom>
          <a:solidFill>
            <a:srgbClr val="D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4846320"/>
            <a:ext cx="3657600" cy="274320"/>
          </a:xfrm>
          <a:prstGeom prst="rect">
            <a:avLst/>
          </a:prstGeom>
          <a:noFill/>
        </p:spPr>
        <p:txBody>
          <a:bodyPr wrap="square" anchor="t" lIns="27432" rIns="27432" tIns="0" bIns="0">
            <a:spAutoFit/>
          </a:bodyPr>
          <a:lstStyle/>
          <a:p>
            <a:pPr>
              <a:lnSpc>
                <a:spcPct val="100000"/>
              </a:lnSpc>
              <a:spcBef>
                <a:spcPts val="0"/>
              </a:spcBef>
              <a:spcAft>
                <a:spcPts val="0"/>
              </a:spcAft>
            </a:pPr>
            <a:r>
              <a:rPr sz="1500" b="1">
                <a:solidFill>
                  <a:srgbClr val="2F5D62"/>
                </a:solidFill>
                <a:latin typeface="Arial"/>
                <a:ea typeface="微软雅黑"/>
                <a:cs typeface="Arial"/>
              </a:rPr>
              <a:t>■ </a:t>
            </a:r>
            <a:r>
              <a:rPr sz="1500" b="0">
                <a:solidFill>
                  <a:srgbClr val="333333"/>
                </a:solidFill>
                <a:latin typeface="Arial"/>
                <a:ea typeface="微软雅黑"/>
                <a:cs typeface="Arial"/>
              </a:rPr>
              <a:t>已完成　</a:t>
            </a:r>
            <a:r>
              <a:rPr sz="1500" b="1">
                <a:solidFill>
                  <a:srgbClr val="D98A2B"/>
                </a:solidFill>
                <a:latin typeface="Arial"/>
                <a:ea typeface="微软雅黑"/>
                <a:cs typeface="Arial"/>
              </a:rPr>
              <a:t>■ </a:t>
            </a:r>
            <a:r>
              <a:rPr sz="1500" b="0">
                <a:solidFill>
                  <a:srgbClr val="333333"/>
                </a:solidFill>
                <a:latin typeface="Arial"/>
                <a:ea typeface="微软雅黑"/>
                <a:cs typeface="Arial"/>
              </a:rPr>
              <a:t>正在推进</a:t>
            </a:r>
          </a:p>
        </p:txBody>
      </p:sp>
      <p:sp>
        <p:nvSpPr>
          <p:cNvPr id="41" name="Rectangle 40"/>
          <p:cNvSpPr/>
          <p:nvPr/>
        </p:nvSpPr>
        <p:spPr>
          <a:xfrm>
            <a:off x="640080" y="5230368"/>
            <a:ext cx="10908792" cy="566928"/>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2" y="5230368"/>
            <a:ext cx="10607040" cy="566928"/>
          </a:xfrm>
          <a:prstGeom prst="rect">
            <a:avLst/>
          </a:prstGeom>
          <a:noFill/>
        </p:spPr>
        <p:txBody>
          <a:bodyPr wrap="square" anchor="ctr" lIns="27432" rIns="27432" tIns="0" bIns="0">
            <a:spAutoFit/>
          </a:bodyPr>
          <a:lstStyle/>
          <a:p>
            <a:pPr algn="l">
              <a:lnSpc>
                <a:spcPct val="112000"/>
              </a:lnSpc>
              <a:spcBef>
                <a:spcPts val="0"/>
              </a:spcBef>
              <a:spcAft>
                <a:spcPts val="0"/>
              </a:spcAft>
            </a:pPr>
            <a:r>
              <a:rPr sz="1500" b="0">
                <a:solidFill>
                  <a:srgbClr val="333333"/>
                </a:solidFill>
                <a:latin typeface="Arial"/>
                <a:ea typeface="微软雅黑"/>
                <a:cs typeface="Arial"/>
              </a:rPr>
              <a:t>全流程使用同一套参考集与参数，样本的分组信息与测序数据一一对应；青色标注的步骤已完成，橙色标注的正在推进。</a:t>
            </a:r>
          </a:p>
        </p:txBody>
      </p:sp>
      <p:sp>
        <p:nvSpPr>
          <p:cNvPr id="43" name="TextBox 42"/>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44" name="TextBox 43"/>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分阶段组的划分：阶段、性别、年龄三层匹配后再比较</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188720"/>
            <a:ext cx="10908792" cy="548640"/>
          </a:xfrm>
          <a:prstGeom prst="rect">
            <a:avLst/>
          </a:prstGeom>
          <a:noFill/>
        </p:spPr>
        <p:txBody>
          <a:bodyPr wrap="square" anchor="t" lIns="27432" rIns="27432" tIns="0" bIns="0">
            <a:spAutoFit/>
          </a:bodyPr>
          <a:lstStyle/>
          <a:p>
            <a:pPr algn="l">
              <a:lnSpc>
                <a:spcPct val="124000"/>
              </a:lnSpc>
              <a:spcBef>
                <a:spcPts val="0"/>
              </a:spcBef>
              <a:spcAft>
                <a:spcPts val="0"/>
              </a:spcAft>
            </a:pPr>
            <a:r>
              <a:rPr sz="1700" b="0">
                <a:solidFill>
                  <a:srgbClr val="333333"/>
                </a:solidFill>
                <a:latin typeface="Arial"/>
                <a:ea typeface="微软雅黑"/>
                <a:cs typeface="Arial"/>
              </a:rPr>
              <a:t>队列按认知功能分为五个阶段，并在每个阶段内按性别与年龄段匹配，保证阶段之间可直接比较。</a:t>
            </a:r>
          </a:p>
        </p:txBody>
      </p:sp>
      <p:sp>
        <p:nvSpPr>
          <p:cNvPr id="5" name="TextBox 4"/>
          <p:cNvSpPr txBox="1"/>
          <p:nvPr/>
        </p:nvSpPr>
        <p:spPr>
          <a:xfrm>
            <a:off x="640080" y="1773936"/>
            <a:ext cx="2544318" cy="420624"/>
          </a:xfrm>
          <a:prstGeom prst="rect">
            <a:avLst/>
          </a:prstGeom>
          <a:noFill/>
        </p:spPr>
        <p:txBody>
          <a:bodyPr wrap="square" anchor="t" lIns="27432" rIns="27432" tIns="0" bIns="0">
            <a:spAutoFit/>
          </a:bodyPr>
          <a:lstStyle/>
          <a:p>
            <a:pPr algn="l">
              <a:lnSpc>
                <a:spcPct val="100000"/>
              </a:lnSpc>
              <a:spcBef>
                <a:spcPts val="0"/>
              </a:spcBef>
              <a:spcAft>
                <a:spcPts val="0"/>
              </a:spcAft>
            </a:pPr>
            <a:r>
              <a:rPr sz="2400" b="1">
                <a:solidFill>
                  <a:srgbClr val="2F5D62"/>
                </a:solidFill>
                <a:latin typeface="Arial"/>
                <a:ea typeface="微软雅黑"/>
                <a:cs typeface="Arial"/>
              </a:rPr>
              <a:t>265 例</a:t>
            </a:r>
          </a:p>
        </p:txBody>
      </p:sp>
      <p:sp>
        <p:nvSpPr>
          <p:cNvPr id="6" name="TextBox 5"/>
          <p:cNvSpPr txBox="1"/>
          <p:nvPr/>
        </p:nvSpPr>
        <p:spPr>
          <a:xfrm>
            <a:off x="640080" y="2212848"/>
            <a:ext cx="2544318" cy="475488"/>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匹配亚队列 · 各阶段 53 例</a:t>
            </a:r>
          </a:p>
        </p:txBody>
      </p:sp>
      <p:sp>
        <p:nvSpPr>
          <p:cNvPr id="7" name="TextBox 6"/>
          <p:cNvSpPr txBox="1"/>
          <p:nvPr/>
        </p:nvSpPr>
        <p:spPr>
          <a:xfrm>
            <a:off x="3367278" y="1773936"/>
            <a:ext cx="2544318" cy="420624"/>
          </a:xfrm>
          <a:prstGeom prst="rect">
            <a:avLst/>
          </a:prstGeom>
          <a:noFill/>
        </p:spPr>
        <p:txBody>
          <a:bodyPr wrap="square" anchor="t" lIns="27432" rIns="27432" tIns="0" bIns="0">
            <a:spAutoFit/>
          </a:bodyPr>
          <a:lstStyle/>
          <a:p>
            <a:pPr algn="l">
              <a:lnSpc>
                <a:spcPct val="100000"/>
              </a:lnSpc>
              <a:spcBef>
                <a:spcPts val="0"/>
              </a:spcBef>
              <a:spcAft>
                <a:spcPts val="0"/>
              </a:spcAft>
            </a:pPr>
            <a:r>
              <a:rPr sz="2400" b="1">
                <a:solidFill>
                  <a:srgbClr val="2F5D62"/>
                </a:solidFill>
                <a:latin typeface="Arial"/>
                <a:ea typeface="微软雅黑"/>
                <a:cs typeface="Arial"/>
              </a:rPr>
              <a:t>53 例</a:t>
            </a:r>
          </a:p>
        </p:txBody>
      </p:sp>
      <p:sp>
        <p:nvSpPr>
          <p:cNvPr id="8" name="TextBox 7"/>
          <p:cNvSpPr txBox="1"/>
          <p:nvPr/>
        </p:nvSpPr>
        <p:spPr>
          <a:xfrm>
            <a:off x="3367278" y="2212848"/>
            <a:ext cx="2544318" cy="475488"/>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每阶段样本量 · 每组 35 女 / 18 男</a:t>
            </a:r>
          </a:p>
        </p:txBody>
      </p:sp>
      <p:sp>
        <p:nvSpPr>
          <p:cNvPr id="9" name="TextBox 8"/>
          <p:cNvSpPr txBox="1"/>
          <p:nvPr/>
        </p:nvSpPr>
        <p:spPr>
          <a:xfrm>
            <a:off x="6094476" y="1773936"/>
            <a:ext cx="2544318" cy="420624"/>
          </a:xfrm>
          <a:prstGeom prst="rect">
            <a:avLst/>
          </a:prstGeom>
          <a:noFill/>
        </p:spPr>
        <p:txBody>
          <a:bodyPr wrap="square" anchor="t" lIns="27432" rIns="27432" tIns="0" bIns="0">
            <a:spAutoFit/>
          </a:bodyPr>
          <a:lstStyle/>
          <a:p>
            <a:pPr algn="l">
              <a:lnSpc>
                <a:spcPct val="100000"/>
              </a:lnSpc>
              <a:spcBef>
                <a:spcPts val="0"/>
              </a:spcBef>
              <a:spcAft>
                <a:spcPts val="0"/>
              </a:spcAft>
            </a:pPr>
            <a:r>
              <a:rPr sz="2400" b="1">
                <a:solidFill>
                  <a:srgbClr val="2F5D62"/>
                </a:solidFill>
                <a:latin typeface="Arial"/>
                <a:ea typeface="微软雅黑"/>
                <a:cs typeface="Arial"/>
              </a:rPr>
              <a:t>3 个年龄段</a:t>
            </a:r>
          </a:p>
        </p:txBody>
      </p:sp>
      <p:sp>
        <p:nvSpPr>
          <p:cNvPr id="10" name="TextBox 9"/>
          <p:cNvSpPr txBox="1"/>
          <p:nvPr/>
        </p:nvSpPr>
        <p:spPr>
          <a:xfrm>
            <a:off x="6094476" y="2212848"/>
            <a:ext cx="2544318" cy="475488"/>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60—69 · 70—79 · ≥80 岁</a:t>
            </a:r>
          </a:p>
        </p:txBody>
      </p:sp>
      <p:sp>
        <p:nvSpPr>
          <p:cNvPr id="11" name="TextBox 10"/>
          <p:cNvSpPr txBox="1"/>
          <p:nvPr/>
        </p:nvSpPr>
        <p:spPr>
          <a:xfrm>
            <a:off x="8821674" y="1773936"/>
            <a:ext cx="2544318" cy="420624"/>
          </a:xfrm>
          <a:prstGeom prst="rect">
            <a:avLst/>
          </a:prstGeom>
          <a:noFill/>
        </p:spPr>
        <p:txBody>
          <a:bodyPr wrap="square" anchor="t" lIns="27432" rIns="27432" tIns="0" bIns="0">
            <a:spAutoFit/>
          </a:bodyPr>
          <a:lstStyle/>
          <a:p>
            <a:pPr algn="l">
              <a:lnSpc>
                <a:spcPct val="100000"/>
              </a:lnSpc>
              <a:spcBef>
                <a:spcPts val="0"/>
              </a:spcBef>
              <a:spcAft>
                <a:spcPts val="0"/>
              </a:spcAft>
            </a:pPr>
            <a:r>
              <a:rPr sz="2400" b="1">
                <a:solidFill>
                  <a:srgbClr val="2F5D62"/>
                </a:solidFill>
                <a:latin typeface="Arial"/>
                <a:ea typeface="微软雅黑"/>
                <a:cs typeface="Arial"/>
              </a:rPr>
              <a:t>68.2—70.0 岁</a:t>
            </a:r>
          </a:p>
        </p:txBody>
      </p:sp>
      <p:sp>
        <p:nvSpPr>
          <p:cNvPr id="12" name="TextBox 11"/>
          <p:cNvSpPr txBox="1"/>
          <p:nvPr/>
        </p:nvSpPr>
        <p:spPr>
          <a:xfrm>
            <a:off x="8821674" y="2212848"/>
            <a:ext cx="2544318" cy="475488"/>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各阶段平均年龄 · 组间差 ≤1.8 岁</a:t>
            </a:r>
          </a:p>
        </p:txBody>
      </p:sp>
      <p:sp>
        <p:nvSpPr>
          <p:cNvPr id="13" name="Rectangle 12"/>
          <p:cNvSpPr/>
          <p:nvPr/>
        </p:nvSpPr>
        <p:spPr>
          <a:xfrm>
            <a:off x="640080" y="2743200"/>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2889504"/>
            <a:ext cx="196230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999232"/>
            <a:ext cx="1998878"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800" b="1">
                <a:solidFill>
                  <a:srgbClr val="111111"/>
                </a:solidFill>
                <a:latin typeface="Arial"/>
                <a:ea typeface="微软雅黑"/>
                <a:cs typeface="Arial"/>
              </a:rPr>
              <a:t>NC</a:t>
            </a:r>
          </a:p>
        </p:txBody>
      </p:sp>
      <p:sp>
        <p:nvSpPr>
          <p:cNvPr id="16" name="TextBox 15"/>
          <p:cNvSpPr txBox="1"/>
          <p:nvPr/>
        </p:nvSpPr>
        <p:spPr>
          <a:xfrm>
            <a:off x="640080" y="3310128"/>
            <a:ext cx="1998878" cy="1097280"/>
          </a:xfrm>
          <a:prstGeom prst="rect">
            <a:avLst/>
          </a:prstGeom>
          <a:noFill/>
        </p:spPr>
        <p:txBody>
          <a:bodyPr wrap="square" anchor="t" lIns="27432" rIns="27432" tIns="0" bIns="0">
            <a:spAutoFit/>
          </a:bodyPr>
          <a:lstStyle/>
          <a:p>
            <a:pPr algn="l">
              <a:lnSpc>
                <a:spcPct val="114000"/>
              </a:lnSpc>
              <a:spcBef>
                <a:spcPts val="0"/>
              </a:spcBef>
              <a:spcAft>
                <a:spcPts val="0"/>
              </a:spcAft>
            </a:pPr>
            <a:r>
              <a:rPr sz="1600" b="0">
                <a:solidFill>
                  <a:srgbClr val="333333"/>
                </a:solidFill>
                <a:latin typeface="Arial"/>
                <a:ea typeface="微软雅黑"/>
                <a:cs typeface="Arial"/>
              </a:rPr>
              <a:t>认知正常（对照）</a:t>
            </a:r>
          </a:p>
          <a:p>
            <a:pPr algn="l">
              <a:lnSpc>
                <a:spcPct val="114000"/>
              </a:lnSpc>
              <a:spcBef>
                <a:spcPts val="300"/>
              </a:spcBef>
              <a:spcAft>
                <a:spcPts val="0"/>
              </a:spcAft>
            </a:pPr>
            <a:r>
              <a:rPr sz="1500" b="0">
                <a:solidFill>
                  <a:srgbClr val="2F5D62"/>
                </a:solidFill>
                <a:latin typeface="Arial"/>
                <a:ea typeface="微软雅黑"/>
                <a:cs typeface="Arial"/>
              </a:rPr>
              <a:t>53 例 ｜ 35 女 / 18 男</a:t>
            </a:r>
          </a:p>
          <a:p>
            <a:pPr algn="l">
              <a:lnSpc>
                <a:spcPct val="114000"/>
              </a:lnSpc>
              <a:spcBef>
                <a:spcPts val="300"/>
              </a:spcBef>
              <a:spcAft>
                <a:spcPts val="0"/>
              </a:spcAft>
            </a:pPr>
            <a:r>
              <a:rPr sz="1500" b="0">
                <a:solidFill>
                  <a:srgbClr val="777777"/>
                </a:solidFill>
                <a:latin typeface="Arial"/>
                <a:ea typeface="微软雅黑"/>
                <a:cs typeface="Arial"/>
              </a:rPr>
              <a:t>平均 68.4 岁 · 多样性最高</a:t>
            </a:r>
          </a:p>
        </p:txBody>
      </p:sp>
      <p:sp>
        <p:nvSpPr>
          <p:cNvPr id="17" name="Rectangle 16"/>
          <p:cNvSpPr/>
          <p:nvPr/>
        </p:nvSpPr>
        <p:spPr>
          <a:xfrm>
            <a:off x="2821838" y="2889504"/>
            <a:ext cx="1962302" cy="38100"/>
          </a:xfrm>
          <a:prstGeom prst="rect">
            <a:avLst/>
          </a:prstGeom>
          <a:solidFill>
            <a:srgbClr val="2F5D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21838" y="2999232"/>
            <a:ext cx="1998878"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800" b="1">
                <a:solidFill>
                  <a:srgbClr val="111111"/>
                </a:solidFill>
                <a:latin typeface="Arial"/>
                <a:ea typeface="微软雅黑"/>
                <a:cs typeface="Arial"/>
              </a:rPr>
              <a:t>SCS</a:t>
            </a:r>
          </a:p>
        </p:txBody>
      </p:sp>
      <p:sp>
        <p:nvSpPr>
          <p:cNvPr id="19" name="TextBox 18"/>
          <p:cNvSpPr txBox="1"/>
          <p:nvPr/>
        </p:nvSpPr>
        <p:spPr>
          <a:xfrm>
            <a:off x="2821838" y="3310128"/>
            <a:ext cx="1998878" cy="1097280"/>
          </a:xfrm>
          <a:prstGeom prst="rect">
            <a:avLst/>
          </a:prstGeom>
          <a:noFill/>
        </p:spPr>
        <p:txBody>
          <a:bodyPr wrap="square" anchor="t" lIns="27432" rIns="27432" tIns="0" bIns="0">
            <a:spAutoFit/>
          </a:bodyPr>
          <a:lstStyle/>
          <a:p>
            <a:pPr algn="l">
              <a:lnSpc>
                <a:spcPct val="114000"/>
              </a:lnSpc>
              <a:spcBef>
                <a:spcPts val="0"/>
              </a:spcBef>
              <a:spcAft>
                <a:spcPts val="0"/>
              </a:spcAft>
            </a:pPr>
            <a:r>
              <a:rPr sz="1600" b="0">
                <a:solidFill>
                  <a:srgbClr val="333333"/>
                </a:solidFill>
                <a:latin typeface="Arial"/>
                <a:ea typeface="微软雅黑"/>
                <a:cs typeface="Arial"/>
              </a:rPr>
              <a:t>主观认知下降</a:t>
            </a:r>
          </a:p>
          <a:p>
            <a:pPr algn="l">
              <a:lnSpc>
                <a:spcPct val="114000"/>
              </a:lnSpc>
              <a:spcBef>
                <a:spcPts val="300"/>
              </a:spcBef>
              <a:spcAft>
                <a:spcPts val="0"/>
              </a:spcAft>
            </a:pPr>
            <a:r>
              <a:rPr sz="1500" b="0">
                <a:solidFill>
                  <a:srgbClr val="2F5D62"/>
                </a:solidFill>
                <a:latin typeface="Arial"/>
                <a:ea typeface="微软雅黑"/>
                <a:cs typeface="Arial"/>
              </a:rPr>
              <a:t>53 例 ｜ 35 女 / 18 男</a:t>
            </a:r>
          </a:p>
          <a:p>
            <a:pPr algn="l">
              <a:lnSpc>
                <a:spcPct val="114000"/>
              </a:lnSpc>
              <a:spcBef>
                <a:spcPts val="300"/>
              </a:spcBef>
              <a:spcAft>
                <a:spcPts val="0"/>
              </a:spcAft>
            </a:pPr>
            <a:r>
              <a:rPr sz="1500" b="0">
                <a:solidFill>
                  <a:srgbClr val="777777"/>
                </a:solidFill>
                <a:latin typeface="Arial"/>
                <a:ea typeface="微软雅黑"/>
                <a:cs typeface="Arial"/>
              </a:rPr>
              <a:t>平均 68.2 岁 · 组成偏移</a:t>
            </a:r>
          </a:p>
        </p:txBody>
      </p:sp>
      <p:sp>
        <p:nvSpPr>
          <p:cNvPr id="20" name="Rectangle 19"/>
          <p:cNvSpPr/>
          <p:nvPr/>
        </p:nvSpPr>
        <p:spPr>
          <a:xfrm>
            <a:off x="5003596" y="2889504"/>
            <a:ext cx="1962302" cy="38100"/>
          </a:xfrm>
          <a:prstGeom prst="rect">
            <a:avLst/>
          </a:prstGeom>
          <a:solidFill>
            <a:srgbClr val="D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3596" y="2999232"/>
            <a:ext cx="1998878"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800" b="1">
                <a:solidFill>
                  <a:srgbClr val="111111"/>
                </a:solidFill>
                <a:latin typeface="Arial"/>
                <a:ea typeface="微软雅黑"/>
                <a:cs typeface="Arial"/>
              </a:rPr>
              <a:t>SCD</a:t>
            </a:r>
          </a:p>
        </p:txBody>
      </p:sp>
      <p:sp>
        <p:nvSpPr>
          <p:cNvPr id="22" name="TextBox 21"/>
          <p:cNvSpPr txBox="1"/>
          <p:nvPr/>
        </p:nvSpPr>
        <p:spPr>
          <a:xfrm>
            <a:off x="5003596" y="3310128"/>
            <a:ext cx="1998878" cy="1097280"/>
          </a:xfrm>
          <a:prstGeom prst="rect">
            <a:avLst/>
          </a:prstGeom>
          <a:noFill/>
        </p:spPr>
        <p:txBody>
          <a:bodyPr wrap="square" anchor="t" lIns="27432" rIns="27432" tIns="0" bIns="0">
            <a:spAutoFit/>
          </a:bodyPr>
          <a:lstStyle/>
          <a:p>
            <a:pPr algn="l">
              <a:lnSpc>
                <a:spcPct val="114000"/>
              </a:lnSpc>
              <a:spcBef>
                <a:spcPts val="0"/>
              </a:spcBef>
              <a:spcAft>
                <a:spcPts val="0"/>
              </a:spcAft>
            </a:pPr>
            <a:r>
              <a:rPr sz="1600" b="0">
                <a:solidFill>
                  <a:srgbClr val="333333"/>
                </a:solidFill>
                <a:latin typeface="Arial"/>
                <a:ea typeface="微软雅黑"/>
                <a:cs typeface="Arial"/>
              </a:rPr>
              <a:t>可疑认知障碍</a:t>
            </a:r>
          </a:p>
          <a:p>
            <a:pPr algn="l">
              <a:lnSpc>
                <a:spcPct val="114000"/>
              </a:lnSpc>
              <a:spcBef>
                <a:spcPts val="300"/>
              </a:spcBef>
              <a:spcAft>
                <a:spcPts val="0"/>
              </a:spcAft>
            </a:pPr>
            <a:r>
              <a:rPr sz="1500" b="0">
                <a:solidFill>
                  <a:srgbClr val="2F5D62"/>
                </a:solidFill>
                <a:latin typeface="Arial"/>
                <a:ea typeface="微软雅黑"/>
                <a:cs typeface="Arial"/>
              </a:rPr>
              <a:t>53 例 ｜ 35 女 / 18 男</a:t>
            </a:r>
          </a:p>
          <a:p>
            <a:pPr algn="l">
              <a:lnSpc>
                <a:spcPct val="114000"/>
              </a:lnSpc>
              <a:spcBef>
                <a:spcPts val="300"/>
              </a:spcBef>
              <a:spcAft>
                <a:spcPts val="0"/>
              </a:spcAft>
            </a:pPr>
            <a:r>
              <a:rPr sz="1500" b="0">
                <a:solidFill>
                  <a:srgbClr val="777777"/>
                </a:solidFill>
                <a:latin typeface="Arial"/>
                <a:ea typeface="微软雅黑"/>
                <a:cs typeface="Arial"/>
              </a:rPr>
              <a:t>平均 69.1 岁 · 屏障标志↑</a:t>
            </a:r>
          </a:p>
        </p:txBody>
      </p:sp>
      <p:sp>
        <p:nvSpPr>
          <p:cNvPr id="23" name="Rectangle 22"/>
          <p:cNvSpPr/>
          <p:nvPr/>
        </p:nvSpPr>
        <p:spPr>
          <a:xfrm>
            <a:off x="7185355" y="2889504"/>
            <a:ext cx="1962302" cy="38100"/>
          </a:xfrm>
          <a:prstGeom prst="rect">
            <a:avLst/>
          </a:prstGeom>
          <a:solidFill>
            <a:srgbClr val="D98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85355" y="2999232"/>
            <a:ext cx="1998878"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800" b="1">
                <a:solidFill>
                  <a:srgbClr val="111111"/>
                </a:solidFill>
                <a:latin typeface="Arial"/>
                <a:ea typeface="微软雅黑"/>
                <a:cs typeface="Arial"/>
              </a:rPr>
              <a:t>MCI</a:t>
            </a:r>
          </a:p>
        </p:txBody>
      </p:sp>
      <p:sp>
        <p:nvSpPr>
          <p:cNvPr id="25" name="TextBox 24"/>
          <p:cNvSpPr txBox="1"/>
          <p:nvPr/>
        </p:nvSpPr>
        <p:spPr>
          <a:xfrm>
            <a:off x="7185355" y="3310128"/>
            <a:ext cx="1998878" cy="1097280"/>
          </a:xfrm>
          <a:prstGeom prst="rect">
            <a:avLst/>
          </a:prstGeom>
          <a:noFill/>
        </p:spPr>
        <p:txBody>
          <a:bodyPr wrap="square" anchor="t" lIns="27432" rIns="27432" tIns="0" bIns="0">
            <a:spAutoFit/>
          </a:bodyPr>
          <a:lstStyle/>
          <a:p>
            <a:pPr algn="l">
              <a:lnSpc>
                <a:spcPct val="114000"/>
              </a:lnSpc>
              <a:spcBef>
                <a:spcPts val="0"/>
              </a:spcBef>
              <a:spcAft>
                <a:spcPts val="0"/>
              </a:spcAft>
            </a:pPr>
            <a:r>
              <a:rPr sz="1600" b="0">
                <a:solidFill>
                  <a:srgbClr val="333333"/>
                </a:solidFill>
                <a:latin typeface="Arial"/>
                <a:ea typeface="微软雅黑"/>
                <a:cs typeface="Arial"/>
              </a:rPr>
              <a:t>轻度认知障碍</a:t>
            </a:r>
          </a:p>
          <a:p>
            <a:pPr algn="l">
              <a:lnSpc>
                <a:spcPct val="114000"/>
              </a:lnSpc>
              <a:spcBef>
                <a:spcPts val="300"/>
              </a:spcBef>
              <a:spcAft>
                <a:spcPts val="0"/>
              </a:spcAft>
            </a:pPr>
            <a:r>
              <a:rPr sz="1500" b="0">
                <a:solidFill>
                  <a:srgbClr val="2F5D62"/>
                </a:solidFill>
                <a:latin typeface="Arial"/>
                <a:ea typeface="微软雅黑"/>
                <a:cs typeface="Arial"/>
              </a:rPr>
              <a:t>53 例 ｜ 35 女 / 18 男</a:t>
            </a:r>
          </a:p>
          <a:p>
            <a:pPr algn="l">
              <a:lnSpc>
                <a:spcPct val="114000"/>
              </a:lnSpc>
              <a:spcBef>
                <a:spcPts val="300"/>
              </a:spcBef>
              <a:spcAft>
                <a:spcPts val="0"/>
              </a:spcAft>
            </a:pPr>
            <a:r>
              <a:rPr sz="1500" b="0">
                <a:solidFill>
                  <a:srgbClr val="777777"/>
                </a:solidFill>
                <a:latin typeface="Arial"/>
                <a:ea typeface="微软雅黑"/>
                <a:cs typeface="Arial"/>
              </a:rPr>
              <a:t>平均 68.8 岁 · 失衡最明显</a:t>
            </a:r>
          </a:p>
        </p:txBody>
      </p:sp>
      <p:sp>
        <p:nvSpPr>
          <p:cNvPr id="26" name="Rectangle 25"/>
          <p:cNvSpPr/>
          <p:nvPr/>
        </p:nvSpPr>
        <p:spPr>
          <a:xfrm>
            <a:off x="9367113" y="2889504"/>
            <a:ext cx="1962302" cy="3810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67113" y="2999232"/>
            <a:ext cx="1998878"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800" b="1">
                <a:solidFill>
                  <a:srgbClr val="111111"/>
                </a:solidFill>
                <a:latin typeface="Arial"/>
                <a:ea typeface="微软雅黑"/>
                <a:cs typeface="Arial"/>
              </a:rPr>
              <a:t>AD</a:t>
            </a:r>
          </a:p>
        </p:txBody>
      </p:sp>
      <p:sp>
        <p:nvSpPr>
          <p:cNvPr id="28" name="TextBox 27"/>
          <p:cNvSpPr txBox="1"/>
          <p:nvPr/>
        </p:nvSpPr>
        <p:spPr>
          <a:xfrm>
            <a:off x="9367113" y="3310128"/>
            <a:ext cx="1998878" cy="1097280"/>
          </a:xfrm>
          <a:prstGeom prst="rect">
            <a:avLst/>
          </a:prstGeom>
          <a:noFill/>
        </p:spPr>
        <p:txBody>
          <a:bodyPr wrap="square" anchor="t" lIns="27432" rIns="27432" tIns="0" bIns="0">
            <a:spAutoFit/>
          </a:bodyPr>
          <a:lstStyle/>
          <a:p>
            <a:pPr algn="l">
              <a:lnSpc>
                <a:spcPct val="114000"/>
              </a:lnSpc>
              <a:spcBef>
                <a:spcPts val="0"/>
              </a:spcBef>
              <a:spcAft>
                <a:spcPts val="0"/>
              </a:spcAft>
            </a:pPr>
            <a:r>
              <a:rPr sz="1600" b="0">
                <a:solidFill>
                  <a:srgbClr val="333333"/>
                </a:solidFill>
                <a:latin typeface="Arial"/>
                <a:ea typeface="微软雅黑"/>
                <a:cs typeface="Arial"/>
              </a:rPr>
              <a:t>阿尔茨海默症</a:t>
            </a:r>
          </a:p>
          <a:p>
            <a:pPr algn="l">
              <a:lnSpc>
                <a:spcPct val="114000"/>
              </a:lnSpc>
              <a:spcBef>
                <a:spcPts val="300"/>
              </a:spcBef>
              <a:spcAft>
                <a:spcPts val="0"/>
              </a:spcAft>
            </a:pPr>
            <a:r>
              <a:rPr sz="1500" b="0">
                <a:solidFill>
                  <a:srgbClr val="2F5D62"/>
                </a:solidFill>
                <a:latin typeface="Arial"/>
                <a:ea typeface="微软雅黑"/>
                <a:cs typeface="Arial"/>
              </a:rPr>
              <a:t>53 例 ｜ 35 女 / 18 男</a:t>
            </a:r>
          </a:p>
          <a:p>
            <a:pPr algn="l">
              <a:lnSpc>
                <a:spcPct val="114000"/>
              </a:lnSpc>
              <a:spcBef>
                <a:spcPts val="300"/>
              </a:spcBef>
              <a:spcAft>
                <a:spcPts val="0"/>
              </a:spcAft>
            </a:pPr>
            <a:r>
              <a:rPr sz="1500" b="0">
                <a:solidFill>
                  <a:srgbClr val="777777"/>
                </a:solidFill>
                <a:latin typeface="Arial"/>
                <a:ea typeface="微软雅黑"/>
                <a:cs typeface="Arial"/>
              </a:rPr>
              <a:t>平均 70.0 岁 · 变化幅度最大</a:t>
            </a:r>
          </a:p>
        </p:txBody>
      </p:sp>
      <p:sp>
        <p:nvSpPr>
          <p:cNvPr id="29" name="Rectangle 28"/>
          <p:cNvSpPr/>
          <p:nvPr/>
        </p:nvSpPr>
        <p:spPr>
          <a:xfrm>
            <a:off x="640080" y="4480560"/>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4626864"/>
            <a:ext cx="10908792" cy="1188720"/>
          </a:xfrm>
          <a:prstGeom prst="rect">
            <a:avLst/>
          </a:prstGeom>
          <a:noFill/>
        </p:spPr>
        <p:txBody>
          <a:bodyPr wrap="square" anchor="t" lIns="27432" rIns="27432" tIns="0" bIns="0">
            <a:spAutoFit/>
          </a:bodyPr>
          <a:lstStyle/>
          <a:p>
            <a:pPr algn="l">
              <a:lnSpc>
                <a:spcPct val="126000"/>
              </a:lnSpc>
              <a:spcBef>
                <a:spcPts val="0"/>
              </a:spcBef>
              <a:spcAft>
                <a:spcPts val="0"/>
              </a:spcAft>
            </a:pPr>
            <a:r>
              <a:rPr sz="1600" b="0">
                <a:solidFill>
                  <a:srgbClr val="333333"/>
                </a:solidFill>
                <a:latin typeface="Arial"/>
                <a:ea typeface="微软雅黑"/>
                <a:cs typeface="Arial"/>
              </a:rPr>
              <a:t>分层方式：5 个阶段 × 2 个性别 × 3 个年龄段（60—69、70—79、≥80 岁）= 30 个分层单元；每个单元内按年龄与性别匹配，最终选出 265 例匹配亚队列——各阶段 53 例、每组 35 女 / 18 男，组间平均年龄最大差 1.8 岁，保证阶段之间的差异不来自年龄与性别构成。</a:t>
            </a:r>
          </a:p>
        </p:txBody>
      </p:sp>
      <p:sp>
        <p:nvSpPr>
          <p:cNvPr id="31" name="TextBox 30"/>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32" name="TextBox 31"/>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研究路线：前五项已完成，后两项正在推进</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A_研究思路总览.png"/>
          <p:cNvPicPr>
            <a:picLocks noChangeAspect="1"/>
          </p:cNvPicPr>
          <p:nvPr/>
        </p:nvPicPr>
        <p:blipFill>
          <a:blip r:embed="rId2"/>
          <a:stretch>
            <a:fillRect/>
          </a:stretch>
        </p:blipFill>
        <p:spPr>
          <a:xfrm>
            <a:off x="1074895" y="1188720"/>
            <a:ext cx="10039162" cy="3767328"/>
          </a:xfrm>
          <a:prstGeom prst="rect">
            <a:avLst/>
          </a:prstGeom>
        </p:spPr>
      </p:pic>
      <p:sp>
        <p:nvSpPr>
          <p:cNvPr id="5" name="TextBox 4"/>
          <p:cNvSpPr txBox="1"/>
          <p:nvPr/>
        </p:nvSpPr>
        <p:spPr>
          <a:xfrm>
            <a:off x="640080" y="5074920"/>
            <a:ext cx="10908792" cy="868680"/>
          </a:xfrm>
          <a:prstGeom prst="rect">
            <a:avLst/>
          </a:prstGeom>
          <a:noFill/>
        </p:spPr>
        <p:txBody>
          <a:bodyPr wrap="square" anchor="t" lIns="27432" rIns="27432" tIns="0" bIns="0">
            <a:spAutoFit/>
          </a:bodyPr>
          <a:lstStyle/>
          <a:p>
            <a:pPr algn="l">
              <a:lnSpc>
                <a:spcPct val="130000"/>
              </a:lnSpc>
              <a:spcBef>
                <a:spcPts val="0"/>
              </a:spcBef>
              <a:spcAft>
                <a:spcPts val="0"/>
              </a:spcAft>
            </a:pPr>
            <a:r>
              <a:rPr sz="1700" b="0">
                <a:solidFill>
                  <a:srgbClr val="333333"/>
                </a:solidFill>
                <a:latin typeface="Arial"/>
                <a:ea typeface="微软雅黑"/>
                <a:cs typeface="Arial"/>
              </a:rPr>
              <a:t>数据资源与参考集、短肽库、三模型共识预测、分阶段差异分析、宏蛋白组二次去重五项已完成；机制关联分析与抑菌实验验证两项正在推进。</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7 / 24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三模型一致阳性的序列才纳入候选集合</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B_三模型预测.png"/>
          <p:cNvPicPr>
            <a:picLocks noChangeAspect="1"/>
          </p:cNvPicPr>
          <p:nvPr/>
        </p:nvPicPr>
        <p:blipFill>
          <a:blip r:embed="rId2"/>
          <a:stretch>
            <a:fillRect/>
          </a:stretch>
        </p:blipFill>
        <p:spPr>
          <a:xfrm>
            <a:off x="640080" y="1188720"/>
            <a:ext cx="7863840" cy="2738225"/>
          </a:xfrm>
          <a:prstGeom prst="rect">
            <a:avLst/>
          </a:prstGeom>
        </p:spPr>
      </p:pic>
      <p:sp>
        <p:nvSpPr>
          <p:cNvPr id="5" name="TextBox 4"/>
          <p:cNvSpPr txBox="1"/>
          <p:nvPr/>
        </p:nvSpPr>
        <p:spPr>
          <a:xfrm>
            <a:off x="8549640" y="1188720"/>
            <a:ext cx="2999232" cy="4480560"/>
          </a:xfrm>
          <a:prstGeom prst="rect">
            <a:avLst/>
          </a:prstGeom>
          <a:noFill/>
        </p:spPr>
        <p:txBody>
          <a:bodyPr wrap="square" anchor="t" lIns="27432" rIns="27432" tIns="0" bIns="0">
            <a:spAutoFit/>
          </a:bodyPr>
          <a:lstStyle/>
          <a:p>
            <a:pPr algn="l">
              <a:lnSpc>
                <a:spcPct val="110000"/>
              </a:lnSpc>
              <a:spcBef>
                <a:spcPts val="0"/>
              </a:spcBef>
              <a:spcAft>
                <a:spcPts val="0"/>
              </a:spcAft>
            </a:pPr>
            <a:r>
              <a:rPr sz="1600" b="1">
                <a:solidFill>
                  <a:srgbClr val="2F5D62"/>
                </a:solidFill>
                <a:latin typeface="Arial"/>
                <a:ea typeface="微软雅黑"/>
                <a:cs typeface="Arial"/>
              </a:rPr>
              <a:t>解读</a:t>
            </a:r>
          </a:p>
          <a:p>
            <a:pPr algn="l">
              <a:lnSpc>
                <a:spcPct val="130000"/>
              </a:lnSpc>
              <a:spcBef>
                <a:spcPts val="800"/>
              </a:spcBef>
              <a:spcAft>
                <a:spcPts val="0"/>
              </a:spcAft>
            </a:pPr>
            <a:r>
              <a:rPr sz="1600" b="0">
                <a:solidFill>
                  <a:srgbClr val="333333"/>
                </a:solidFill>
                <a:latin typeface="Arial"/>
                <a:ea typeface="微软雅黑"/>
                <a:cs typeface="Arial"/>
              </a:rPr>
              <a:t>Attention、LSTM、BERT 三个模型相互独立地给出抗菌肽概率；只有三者一致判为阳性的序列才进入候选集合，以此降低单一模型的偏倚。该步骤已完成，候选名单已产出。</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分阶段比较给出随病程变化的候选抗菌肽</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C_分阶段差异分析.png"/>
          <p:cNvPicPr>
            <a:picLocks noChangeAspect="1"/>
          </p:cNvPicPr>
          <p:nvPr/>
        </p:nvPicPr>
        <p:blipFill>
          <a:blip r:embed="rId2"/>
          <a:stretch>
            <a:fillRect/>
          </a:stretch>
        </p:blipFill>
        <p:spPr>
          <a:xfrm>
            <a:off x="640080" y="1188720"/>
            <a:ext cx="10908792" cy="4024602"/>
          </a:xfrm>
          <a:prstGeom prst="rect">
            <a:avLst/>
          </a:prstGeom>
        </p:spPr>
      </p:pic>
      <p:sp>
        <p:nvSpPr>
          <p:cNvPr id="5" name="Rectangle 4"/>
          <p:cNvSpPr/>
          <p:nvPr/>
        </p:nvSpPr>
        <p:spPr>
          <a:xfrm>
            <a:off x="640080" y="5449824"/>
            <a:ext cx="10908792" cy="475488"/>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5449824"/>
            <a:ext cx="10515600" cy="475488"/>
          </a:xfrm>
          <a:prstGeom prst="rect">
            <a:avLst/>
          </a:prstGeom>
          <a:noFill/>
        </p:spPr>
        <p:txBody>
          <a:bodyPr wrap="square" anchor="ctr" lIns="27432" rIns="27432" tIns="0" bIns="0">
            <a:spAutoFit/>
          </a:bodyPr>
          <a:lstStyle/>
          <a:p>
            <a:pPr algn="l">
              <a:lnSpc>
                <a:spcPct val="110000"/>
              </a:lnSpc>
              <a:spcBef>
                <a:spcPts val="0"/>
              </a:spcBef>
              <a:spcAft>
                <a:spcPts val="0"/>
              </a:spcAft>
            </a:pPr>
            <a:r>
              <a:rPr sz="1600" b="0">
                <a:solidFill>
                  <a:srgbClr val="333333"/>
                </a:solidFill>
                <a:latin typeface="Arial"/>
                <a:ea typeface="微软雅黑"/>
                <a:cs typeface="Arial"/>
              </a:rPr>
              <a:t>按认知阶段分组比较候选抗菌肽的丰度与组成差异，筛选随病程变化明显的候选抗菌肽。</a:t>
            </a:r>
          </a:p>
        </p:txBody>
      </p:sp>
      <p:sp>
        <p:nvSpPr>
          <p:cNvPr id="7" name="TextBox 6"/>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8" name="TextBox 7"/>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宏蛋白组表达证据二次去重后，得到健康人与各阶段特有抗菌肽</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D_宏蛋白组去重.png"/>
          <p:cNvPicPr>
            <a:picLocks noChangeAspect="1"/>
          </p:cNvPicPr>
          <p:nvPr/>
        </p:nvPicPr>
        <p:blipFill>
          <a:blip r:embed="rId2"/>
          <a:stretch>
            <a:fillRect/>
          </a:stretch>
        </p:blipFill>
        <p:spPr>
          <a:xfrm>
            <a:off x="640080" y="1188720"/>
            <a:ext cx="10908792" cy="3525474"/>
          </a:xfrm>
          <a:prstGeom prst="rect">
            <a:avLst/>
          </a:prstGeom>
        </p:spPr>
      </p:pic>
      <p:sp>
        <p:nvSpPr>
          <p:cNvPr id="5" name="TextBox 4"/>
          <p:cNvSpPr txBox="1"/>
          <p:nvPr/>
        </p:nvSpPr>
        <p:spPr>
          <a:xfrm>
            <a:off x="640080" y="4860498"/>
            <a:ext cx="10908792" cy="868680"/>
          </a:xfrm>
          <a:prstGeom prst="rect">
            <a:avLst/>
          </a:prstGeom>
          <a:noFill/>
        </p:spPr>
        <p:txBody>
          <a:bodyPr wrap="square" anchor="t" lIns="27432" rIns="27432" tIns="0" bIns="0">
            <a:spAutoFit/>
          </a:bodyPr>
          <a:lstStyle/>
          <a:p>
            <a:pPr algn="l">
              <a:lnSpc>
                <a:spcPct val="130000"/>
              </a:lnSpc>
              <a:spcBef>
                <a:spcPts val="0"/>
              </a:spcBef>
              <a:spcAft>
                <a:spcPts val="0"/>
              </a:spcAft>
            </a:pPr>
            <a:r>
              <a:rPr sz="1700" b="0">
                <a:solidFill>
                  <a:srgbClr val="333333"/>
                </a:solidFill>
                <a:latin typeface="Arial"/>
                <a:ea typeface="微软雅黑"/>
                <a:cs typeface="Arial"/>
              </a:rPr>
              <a:t>序列层面去冗余解决重复；宏蛋白组表达证据解决“有预测、无表达”的假阳性。二次去重后按组内共有、组间特比较，得到健康人群特有与各疾病阶段特有的抗菌肽清单。</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机制关联从 Aβ、AChE 与炎症通路三个方向展开</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E_机制关联.png"/>
          <p:cNvPicPr>
            <a:picLocks noChangeAspect="1"/>
          </p:cNvPicPr>
          <p:nvPr/>
        </p:nvPicPr>
        <p:blipFill>
          <a:blip r:embed="rId2"/>
          <a:stretch>
            <a:fillRect/>
          </a:stretch>
        </p:blipFill>
        <p:spPr>
          <a:xfrm>
            <a:off x="640080" y="1188720"/>
            <a:ext cx="7863840" cy="2726467"/>
          </a:xfrm>
          <a:prstGeom prst="rect">
            <a:avLst/>
          </a:prstGeom>
        </p:spPr>
      </p:pic>
      <p:sp>
        <p:nvSpPr>
          <p:cNvPr id="5" name="TextBox 4"/>
          <p:cNvSpPr txBox="1"/>
          <p:nvPr/>
        </p:nvSpPr>
        <p:spPr>
          <a:xfrm>
            <a:off x="8549640" y="1188720"/>
            <a:ext cx="2999232" cy="4480560"/>
          </a:xfrm>
          <a:prstGeom prst="rect">
            <a:avLst/>
          </a:prstGeom>
          <a:noFill/>
        </p:spPr>
        <p:txBody>
          <a:bodyPr wrap="square" anchor="t" lIns="27432" rIns="27432" tIns="0" bIns="0">
            <a:spAutoFit/>
          </a:bodyPr>
          <a:lstStyle/>
          <a:p>
            <a:pPr algn="l">
              <a:lnSpc>
                <a:spcPct val="110000"/>
              </a:lnSpc>
              <a:spcBef>
                <a:spcPts val="0"/>
              </a:spcBef>
              <a:spcAft>
                <a:spcPts val="0"/>
              </a:spcAft>
            </a:pPr>
            <a:r>
              <a:rPr sz="1600" b="1">
                <a:solidFill>
                  <a:srgbClr val="2F5D62"/>
                </a:solidFill>
                <a:latin typeface="Arial"/>
                <a:ea typeface="微软雅黑"/>
                <a:cs typeface="Arial"/>
              </a:rPr>
              <a:t>解读</a:t>
            </a:r>
          </a:p>
          <a:p>
            <a:pPr algn="l">
              <a:lnSpc>
                <a:spcPct val="130000"/>
              </a:lnSpc>
              <a:spcBef>
                <a:spcPts val="800"/>
              </a:spcBef>
              <a:spcAft>
                <a:spcPts val="0"/>
              </a:spcAft>
            </a:pPr>
            <a:r>
              <a:rPr sz="1600" b="0">
                <a:solidFill>
                  <a:srgbClr val="333333"/>
                </a:solidFill>
                <a:latin typeface="Arial"/>
                <a:ea typeface="微软雅黑"/>
                <a:cs typeface="Arial"/>
              </a:rPr>
              <a:t>借鉴乙酰胆碱酯酶—β-淀粉样肽复合物分子模拟研究的思路：考察候选肽与 Aβ 的相互作用、与 AChE 外周阴离子位点的结合，以及经免疫与炎症通路参与神经炎症的可能性。定位为线索发现。</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抑菌实验验证给出候选抗菌肽活性的直接证据</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F_抑菌实验方案.png"/>
          <p:cNvPicPr>
            <a:picLocks noChangeAspect="1"/>
          </p:cNvPicPr>
          <p:nvPr/>
        </p:nvPicPr>
        <p:blipFill>
          <a:blip r:embed="rId2"/>
          <a:stretch>
            <a:fillRect/>
          </a:stretch>
        </p:blipFill>
        <p:spPr>
          <a:xfrm>
            <a:off x="640080" y="1188720"/>
            <a:ext cx="10908792" cy="3466999"/>
          </a:xfrm>
          <a:prstGeom prst="rect">
            <a:avLst/>
          </a:prstGeom>
        </p:spPr>
      </p:pic>
      <p:sp>
        <p:nvSpPr>
          <p:cNvPr id="5" name="Rectangle 4"/>
          <p:cNvSpPr/>
          <p:nvPr/>
        </p:nvSpPr>
        <p:spPr>
          <a:xfrm>
            <a:off x="640080" y="5449824"/>
            <a:ext cx="10908792" cy="475488"/>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86384" y="5449824"/>
            <a:ext cx="10515600" cy="475488"/>
          </a:xfrm>
          <a:prstGeom prst="rect">
            <a:avLst/>
          </a:prstGeom>
          <a:noFill/>
        </p:spPr>
        <p:txBody>
          <a:bodyPr wrap="square" anchor="ctr" lIns="27432" rIns="27432" tIns="0" bIns="0">
            <a:spAutoFit/>
          </a:bodyPr>
          <a:lstStyle/>
          <a:p>
            <a:pPr algn="l">
              <a:lnSpc>
                <a:spcPct val="110000"/>
              </a:lnSpc>
              <a:spcBef>
                <a:spcPts val="0"/>
              </a:spcBef>
              <a:spcAft>
                <a:spcPts val="0"/>
              </a:spcAft>
            </a:pPr>
            <a:r>
              <a:rPr sz="1600" b="0">
                <a:solidFill>
                  <a:srgbClr val="333333"/>
                </a:solidFill>
                <a:latin typeface="Arial"/>
                <a:ea typeface="微软雅黑"/>
                <a:cs typeface="Arial"/>
              </a:rPr>
              <a:t>人工合成代表性候选肽，以大肠杆菌与金黄色葡萄球菌为指示菌，纸片扩散法初筛，微量肉汤稀释法测最低抑菌浓度。</a:t>
            </a:r>
          </a:p>
        </p:txBody>
      </p:sp>
      <p:sp>
        <p:nvSpPr>
          <p:cNvPr id="7" name="TextBox 6"/>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8" name="TextBox 7"/>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12 / 24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进度与开题计划一致：主体分析完成，进入验证与撰写阶段</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G_进度甘特.png"/>
          <p:cNvPicPr>
            <a:picLocks noChangeAspect="1"/>
          </p:cNvPicPr>
          <p:nvPr/>
        </p:nvPicPr>
        <p:blipFill>
          <a:blip r:embed="rId2"/>
          <a:stretch>
            <a:fillRect/>
          </a:stretch>
        </p:blipFill>
        <p:spPr>
          <a:xfrm>
            <a:off x="640080" y="1188720"/>
            <a:ext cx="10797696" cy="3767328"/>
          </a:xfrm>
          <a:prstGeom prst="rect">
            <a:avLst/>
          </a:prstGeom>
        </p:spPr>
      </p:pic>
      <p:sp>
        <p:nvSpPr>
          <p:cNvPr id="5" name="TextBox 4"/>
          <p:cNvSpPr txBox="1"/>
          <p:nvPr/>
        </p:nvSpPr>
        <p:spPr>
          <a:xfrm>
            <a:off x="640080" y="5074920"/>
            <a:ext cx="10908792" cy="868680"/>
          </a:xfrm>
          <a:prstGeom prst="rect">
            <a:avLst/>
          </a:prstGeom>
          <a:noFill/>
        </p:spPr>
        <p:txBody>
          <a:bodyPr wrap="square" anchor="t" lIns="27432" rIns="27432" tIns="0" bIns="0">
            <a:spAutoFit/>
          </a:bodyPr>
          <a:lstStyle/>
          <a:p>
            <a:pPr algn="l">
              <a:lnSpc>
                <a:spcPct val="130000"/>
              </a:lnSpc>
              <a:spcBef>
                <a:spcPts val="0"/>
              </a:spcBef>
              <a:spcAft>
                <a:spcPts val="0"/>
              </a:spcAft>
            </a:pPr>
            <a:r>
              <a:rPr sz="1700" b="0">
                <a:solidFill>
                  <a:srgbClr val="333333"/>
                </a:solidFill>
                <a:latin typeface="Arial"/>
                <a:ea typeface="微软雅黑"/>
                <a:cs typeface="Arial"/>
              </a:rPr>
              <a:t>数据资源、短肽库、三模型共识预测、分阶段差异分析与宏蛋白组二次去重均已完成；机制关联分析与抑菌实验验证正在推进，论文撰写同步进行。</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与开题计划相比，研究方向未变，预测与去重环节做了调整</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40080" y="1234440"/>
          <a:ext cx="10908792" cy="2852928"/>
        </p:xfrm>
        <a:graphic>
          <a:graphicData uri="http://schemas.openxmlformats.org/drawingml/2006/table">
            <a:tbl>
              <a:tblPr firstRow="1" bandRow="1">
                <a:tableStyleId>{5C22544A-7EE6-4342-B048-85BDC9FD1C3A}</a:tableStyleId>
              </a:tblPr>
              <a:tblGrid>
                <a:gridCol w="1828800"/>
                <a:gridCol w="4206240"/>
                <a:gridCol w="4873752"/>
              </a:tblGrid>
              <a:tr h="475488">
                <a:tc>
                  <a:txBody>
                    <a:bodyPr/>
                    <a:lstStyle/>
                    <a:p>
                      <a:pPr algn="l">
                        <a:lnSpc>
                          <a:spcPct val="105000"/>
                        </a:lnSpc>
                        <a:spcBef>
                          <a:spcPts val="0"/>
                        </a:spcBef>
                        <a:spcAft>
                          <a:spcPts val="0"/>
                        </a:spcAft>
                      </a:pPr>
                      <a:r>
                        <a:rPr sz="1500" b="1">
                          <a:solidFill>
                            <a:srgbClr val="111111"/>
                          </a:solidFill>
                          <a:latin typeface="Arial"/>
                          <a:ea typeface="微软雅黑"/>
                          <a:cs typeface="Arial"/>
                        </a:rPr>
                        <a:t>环节</a:t>
                      </a:r>
                    </a:p>
                  </a:txBody>
                  <a:tcPr marT="27432" marB="27432">
                    <a:solidFill>
                      <a:srgbClr val="F7F7F5"/>
                    </a:solidFill>
                  </a:tcPr>
                </a:tc>
                <a:tc>
                  <a:txBody>
                    <a:bodyPr/>
                    <a:lstStyle/>
                    <a:p>
                      <a:pPr algn="l">
                        <a:lnSpc>
                          <a:spcPct val="105000"/>
                        </a:lnSpc>
                        <a:spcBef>
                          <a:spcPts val="0"/>
                        </a:spcBef>
                        <a:spcAft>
                          <a:spcPts val="0"/>
                        </a:spcAft>
                      </a:pPr>
                      <a:r>
                        <a:rPr sz="1500" b="1">
                          <a:solidFill>
                            <a:srgbClr val="111111"/>
                          </a:solidFill>
                          <a:latin typeface="Arial"/>
                          <a:ea typeface="微软雅黑"/>
                          <a:cs typeface="Arial"/>
                        </a:rPr>
                        <a:t>开题计划</a:t>
                      </a:r>
                    </a:p>
                  </a:txBody>
                  <a:tcPr marT="27432" marB="27432">
                    <a:solidFill>
                      <a:srgbClr val="F7F7F5"/>
                    </a:solidFill>
                  </a:tcPr>
                </a:tc>
                <a:tc>
                  <a:txBody>
                    <a:bodyPr/>
                    <a:lstStyle/>
                    <a:p>
                      <a:pPr algn="l">
                        <a:lnSpc>
                          <a:spcPct val="105000"/>
                        </a:lnSpc>
                        <a:spcBef>
                          <a:spcPts val="0"/>
                        </a:spcBef>
                        <a:spcAft>
                          <a:spcPts val="0"/>
                        </a:spcAft>
                      </a:pPr>
                      <a:r>
                        <a:rPr sz="1500" b="1">
                          <a:solidFill>
                            <a:srgbClr val="111111"/>
                          </a:solidFill>
                          <a:latin typeface="Arial"/>
                          <a:ea typeface="微软雅黑"/>
                          <a:cs typeface="Arial"/>
                        </a:rPr>
                        <a:t>现阶段结果</a:t>
                      </a:r>
                    </a:p>
                  </a:txBody>
                  <a:tcPr marT="27432" marB="27432">
                    <a:solidFill>
                      <a:srgbClr val="F7F7F5"/>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数据准备</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使用公开宏基因组数据</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已完成全队列数据处理与参考集构建</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候选肽挖掘</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提取 sORF 并预测抗菌肽</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已完成短肽库构建与三模型共识预测</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差异分析</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按病程阶段比较</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已完成分阶段差异分析，新增宏蛋白组二次去重</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模型方案</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拟构建 DeepMetaAMP</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改用 Attention / LSTM / BERT 三模型协同预测</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机制与验证</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功能与可视化分析</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正在开展机制关联分析与抑菌实验验证</a:t>
                      </a:r>
                    </a:p>
                  </a:txBody>
                  <a:tcPr marT="27432" marB="27432">
                    <a:solidFill>
                      <a:srgbClr val="FFFFFF"/>
                    </a:solidFill>
                  </a:tcPr>
                </a:tc>
              </a:tr>
            </a:tbl>
          </a:graphicData>
        </a:graphic>
      </p:graphicFrame>
      <p:sp>
        <p:nvSpPr>
          <p:cNvPr id="5" name="TextBox 4"/>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6" name="TextBox 5"/>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三个已识别问题都有对应处理办法</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548640" cy="457200"/>
          </a:xfrm>
          <a:prstGeom prst="rect">
            <a:avLst/>
          </a:prstGeom>
          <a:noFill/>
        </p:spPr>
        <p:txBody>
          <a:bodyPr wrap="square" anchor="t" lIns="27432" rIns="27432" tIns="0" bIns="0">
            <a:spAutoFit/>
          </a:bodyPr>
          <a:lstStyle/>
          <a:p>
            <a:pPr algn="l">
              <a:lnSpc>
                <a:spcPct val="100000"/>
              </a:lnSpc>
              <a:spcBef>
                <a:spcPts val="0"/>
              </a:spcBef>
              <a:spcAft>
                <a:spcPts val="0"/>
              </a:spcAft>
            </a:pPr>
            <a:r>
              <a:rPr sz="2000" b="1">
                <a:solidFill>
                  <a:srgbClr val="B03A2E"/>
                </a:solidFill>
                <a:latin typeface="Arial"/>
                <a:ea typeface="微软雅黑"/>
                <a:cs typeface="Arial"/>
              </a:rPr>
              <a:t>01</a:t>
            </a:r>
          </a:p>
        </p:txBody>
      </p:sp>
      <p:sp>
        <p:nvSpPr>
          <p:cNvPr id="5" name="TextBox 4"/>
          <p:cNvSpPr txBox="1"/>
          <p:nvPr/>
        </p:nvSpPr>
        <p:spPr>
          <a:xfrm>
            <a:off x="1207008" y="1444752"/>
            <a:ext cx="10332720" cy="1328927"/>
          </a:xfrm>
          <a:prstGeom prst="rect">
            <a:avLst/>
          </a:prstGeom>
          <a:noFill/>
        </p:spPr>
        <p:txBody>
          <a:bodyPr wrap="square" anchor="t" lIns="27432" rIns="27432" tIns="0" bIns="0">
            <a:spAutoFit/>
          </a:bodyPr>
          <a:lstStyle/>
          <a:p>
            <a:pPr algn="l">
              <a:lnSpc>
                <a:spcPct val="108000"/>
              </a:lnSpc>
              <a:spcBef>
                <a:spcPts val="0"/>
              </a:spcBef>
              <a:spcAft>
                <a:spcPts val="0"/>
              </a:spcAft>
            </a:pPr>
            <a:r>
              <a:rPr sz="1800" b="1">
                <a:solidFill>
                  <a:srgbClr val="111111"/>
                </a:solidFill>
                <a:latin typeface="Arial"/>
                <a:ea typeface="微软雅黑"/>
                <a:cs typeface="Arial"/>
              </a:rPr>
              <a:t>预测结果的假阳性风险</a:t>
            </a:r>
          </a:p>
          <a:p>
            <a:pPr algn="l">
              <a:lnSpc>
                <a:spcPct val="120000"/>
              </a:lnSpc>
              <a:spcBef>
                <a:spcPts val="300"/>
              </a:spcBef>
              <a:spcAft>
                <a:spcPts val="0"/>
              </a:spcAft>
            </a:pPr>
            <a:r>
              <a:rPr sz="1600" b="0">
                <a:solidFill>
                  <a:srgbClr val="333333"/>
                </a:solidFill>
                <a:latin typeface="Arial"/>
                <a:ea typeface="微软雅黑"/>
                <a:cs typeface="Arial"/>
              </a:rPr>
              <a:t>以三模型共识判定提高候选集合可信度，再用宏蛋白组表达证据二次去重，最后以抑菌实验验证活性。</a:t>
            </a:r>
          </a:p>
        </p:txBody>
      </p:sp>
      <p:sp>
        <p:nvSpPr>
          <p:cNvPr id="6" name="Rectangle 5"/>
          <p:cNvSpPr/>
          <p:nvPr/>
        </p:nvSpPr>
        <p:spPr>
          <a:xfrm>
            <a:off x="640080" y="2609088"/>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883408"/>
            <a:ext cx="548640" cy="457200"/>
          </a:xfrm>
          <a:prstGeom prst="rect">
            <a:avLst/>
          </a:prstGeom>
          <a:noFill/>
        </p:spPr>
        <p:txBody>
          <a:bodyPr wrap="square" anchor="t" lIns="27432" rIns="27432" tIns="0" bIns="0">
            <a:spAutoFit/>
          </a:bodyPr>
          <a:lstStyle/>
          <a:p>
            <a:pPr algn="l">
              <a:lnSpc>
                <a:spcPct val="100000"/>
              </a:lnSpc>
              <a:spcBef>
                <a:spcPts val="0"/>
              </a:spcBef>
              <a:spcAft>
                <a:spcPts val="0"/>
              </a:spcAft>
            </a:pPr>
            <a:r>
              <a:rPr sz="2000" b="1">
                <a:solidFill>
                  <a:srgbClr val="B03A2E"/>
                </a:solidFill>
                <a:latin typeface="Arial"/>
                <a:ea typeface="微软雅黑"/>
                <a:cs typeface="Arial"/>
              </a:rPr>
              <a:t>02</a:t>
            </a:r>
          </a:p>
        </p:txBody>
      </p:sp>
      <p:sp>
        <p:nvSpPr>
          <p:cNvPr id="8" name="TextBox 7"/>
          <p:cNvSpPr txBox="1"/>
          <p:nvPr/>
        </p:nvSpPr>
        <p:spPr>
          <a:xfrm>
            <a:off x="1207008" y="2883408"/>
            <a:ext cx="10332720" cy="1328927"/>
          </a:xfrm>
          <a:prstGeom prst="rect">
            <a:avLst/>
          </a:prstGeom>
          <a:noFill/>
        </p:spPr>
        <p:txBody>
          <a:bodyPr wrap="square" anchor="t" lIns="27432" rIns="27432" tIns="0" bIns="0">
            <a:spAutoFit/>
          </a:bodyPr>
          <a:lstStyle/>
          <a:p>
            <a:pPr algn="l">
              <a:lnSpc>
                <a:spcPct val="108000"/>
              </a:lnSpc>
              <a:spcBef>
                <a:spcPts val="0"/>
              </a:spcBef>
              <a:spcAft>
                <a:spcPts val="0"/>
              </a:spcAft>
            </a:pPr>
            <a:r>
              <a:rPr sz="1800" b="1">
                <a:solidFill>
                  <a:srgbClr val="111111"/>
                </a:solidFill>
                <a:latin typeface="Arial"/>
                <a:ea typeface="微软雅黑"/>
                <a:cs typeface="Arial"/>
              </a:rPr>
              <a:t>部分样本缺少可用的参考基因组</a:t>
            </a:r>
          </a:p>
          <a:p>
            <a:pPr algn="l">
              <a:lnSpc>
                <a:spcPct val="120000"/>
              </a:lnSpc>
              <a:spcBef>
                <a:spcPts val="300"/>
              </a:spcBef>
              <a:spcAft>
                <a:spcPts val="0"/>
              </a:spcAft>
            </a:pPr>
            <a:r>
              <a:rPr sz="1600" b="0">
                <a:solidFill>
                  <a:srgbClr val="333333"/>
                </a:solidFill>
                <a:latin typeface="Arial"/>
                <a:ea typeface="微软雅黑"/>
                <a:cs typeface="Arial"/>
              </a:rPr>
              <a:t>在丰度分析阶段改用全量基因组回填，恢复样本覆盖，并在结果中说明数据处理口径。</a:t>
            </a:r>
          </a:p>
        </p:txBody>
      </p:sp>
      <p:sp>
        <p:nvSpPr>
          <p:cNvPr id="9" name="Rectangle 8"/>
          <p:cNvSpPr/>
          <p:nvPr/>
        </p:nvSpPr>
        <p:spPr>
          <a:xfrm>
            <a:off x="640080" y="404774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4322064"/>
            <a:ext cx="548640" cy="457200"/>
          </a:xfrm>
          <a:prstGeom prst="rect">
            <a:avLst/>
          </a:prstGeom>
          <a:noFill/>
        </p:spPr>
        <p:txBody>
          <a:bodyPr wrap="square" anchor="t" lIns="27432" rIns="27432" tIns="0" bIns="0">
            <a:spAutoFit/>
          </a:bodyPr>
          <a:lstStyle/>
          <a:p>
            <a:pPr algn="l">
              <a:lnSpc>
                <a:spcPct val="100000"/>
              </a:lnSpc>
              <a:spcBef>
                <a:spcPts val="0"/>
              </a:spcBef>
              <a:spcAft>
                <a:spcPts val="0"/>
              </a:spcAft>
            </a:pPr>
            <a:r>
              <a:rPr sz="2000" b="1">
                <a:solidFill>
                  <a:srgbClr val="B03A2E"/>
                </a:solidFill>
                <a:latin typeface="Arial"/>
                <a:ea typeface="微软雅黑"/>
                <a:cs typeface="Arial"/>
              </a:rPr>
              <a:t>03</a:t>
            </a:r>
          </a:p>
        </p:txBody>
      </p:sp>
      <p:sp>
        <p:nvSpPr>
          <p:cNvPr id="11" name="TextBox 10"/>
          <p:cNvSpPr txBox="1"/>
          <p:nvPr/>
        </p:nvSpPr>
        <p:spPr>
          <a:xfrm>
            <a:off x="1207008" y="4322064"/>
            <a:ext cx="10332720" cy="1328927"/>
          </a:xfrm>
          <a:prstGeom prst="rect">
            <a:avLst/>
          </a:prstGeom>
          <a:noFill/>
        </p:spPr>
        <p:txBody>
          <a:bodyPr wrap="square" anchor="t" lIns="27432" rIns="27432" tIns="0" bIns="0">
            <a:spAutoFit/>
          </a:bodyPr>
          <a:lstStyle/>
          <a:p>
            <a:pPr algn="l">
              <a:lnSpc>
                <a:spcPct val="108000"/>
              </a:lnSpc>
              <a:spcBef>
                <a:spcPts val="0"/>
              </a:spcBef>
              <a:spcAft>
                <a:spcPts val="0"/>
              </a:spcAft>
            </a:pPr>
            <a:r>
              <a:rPr sz="1800" b="1">
                <a:solidFill>
                  <a:srgbClr val="111111"/>
                </a:solidFill>
                <a:latin typeface="Arial"/>
                <a:ea typeface="微软雅黑"/>
                <a:cs typeface="Arial"/>
              </a:rPr>
              <a:t>机制关联的证据强度有限</a:t>
            </a:r>
          </a:p>
          <a:p>
            <a:pPr algn="l">
              <a:lnSpc>
                <a:spcPct val="120000"/>
              </a:lnSpc>
              <a:spcBef>
                <a:spcPts val="300"/>
              </a:spcBef>
              <a:spcAft>
                <a:spcPts val="0"/>
              </a:spcAft>
            </a:pPr>
            <a:r>
              <a:rPr sz="1600" b="0">
                <a:solidFill>
                  <a:srgbClr val="333333"/>
                </a:solidFill>
                <a:latin typeface="Arial"/>
                <a:ea typeface="微软雅黑"/>
                <a:cs typeface="Arial"/>
              </a:rPr>
              <a:t>以分子对接与分子动力学模拟、文献比对为主，把结论定位为线索发现，不夸大因果性。</a:t>
            </a:r>
          </a:p>
        </p:txBody>
      </p:sp>
      <p:sp>
        <p:nvSpPr>
          <p:cNvPr id="12" name="TextBox 11"/>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13" name="TextBox 12"/>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后续安排集中在机制关联、实验验证与论文撰写</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81328"/>
            <a:ext cx="10424160" cy="3291840"/>
          </a:xfrm>
          <a:prstGeom prst="rect">
            <a:avLst/>
          </a:prstGeom>
          <a:noFill/>
        </p:spPr>
        <p:txBody>
          <a:bodyPr wrap="square" anchor="t" lIns="27432" rIns="27432" tIns="0" bIns="0">
            <a:spAutoFit/>
          </a:bodyPr>
          <a:lstStyle/>
          <a:p>
            <a:pPr algn="l">
              <a:lnSpc>
                <a:spcPct val="134000"/>
              </a:lnSpc>
              <a:spcBef>
                <a:spcPts val="0"/>
              </a:spcBef>
              <a:spcAft>
                <a:spcPts val="0"/>
              </a:spcAft>
            </a:pPr>
            <a:r>
              <a:rPr sz="1800" b="0">
                <a:solidFill>
                  <a:srgbClr val="333333"/>
                </a:solidFill>
                <a:latin typeface="Arial"/>
                <a:ea typeface="微软雅黑"/>
                <a:cs typeface="Arial"/>
              </a:rPr>
              <a:t>机制关联分析：完成特有抗菌肽与 Aβ 聚集、AChE 结合及炎症通路的关联分析，形成候选肽清单。</a:t>
            </a:r>
          </a:p>
          <a:p>
            <a:pPr algn="l">
              <a:lnSpc>
                <a:spcPct val="134000"/>
              </a:lnSpc>
              <a:spcBef>
                <a:spcPts val="1400"/>
              </a:spcBef>
              <a:spcAft>
                <a:spcPts val="0"/>
              </a:spcAft>
            </a:pPr>
            <a:r>
              <a:rPr sz="1800" b="0">
                <a:solidFill>
                  <a:srgbClr val="333333"/>
                </a:solidFill>
                <a:latin typeface="Arial"/>
                <a:ea typeface="微软雅黑"/>
                <a:cs typeface="Arial"/>
              </a:rPr>
              <a:t>抑菌实验验证：完成候选抗菌肽的合成与抑菌实验，获得抑菌活性初筛结果。</a:t>
            </a:r>
          </a:p>
          <a:p>
            <a:pPr algn="l">
              <a:lnSpc>
                <a:spcPct val="134000"/>
              </a:lnSpc>
              <a:spcBef>
                <a:spcPts val="1400"/>
              </a:spcBef>
              <a:spcAft>
                <a:spcPts val="0"/>
              </a:spcAft>
            </a:pPr>
            <a:r>
              <a:rPr sz="1800" b="0">
                <a:solidFill>
                  <a:srgbClr val="333333"/>
                </a:solidFill>
                <a:latin typeface="Arial"/>
                <a:ea typeface="微软雅黑"/>
                <a:cs typeface="Arial"/>
              </a:rPr>
              <a:t>结果整理与论文撰写：汇总候选抗菌肽、特有肽与验证结果，完成学位论文与投稿论文准备。</a:t>
            </a:r>
          </a:p>
        </p:txBody>
      </p:sp>
      <p:sp>
        <p:nvSpPr>
          <p:cNvPr id="5" name="TextBox 4"/>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6" name="TextBox 5"/>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16 / 24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预期成果与现阶段的边界</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81328"/>
            <a:ext cx="10424160" cy="3291840"/>
          </a:xfrm>
          <a:prstGeom prst="rect">
            <a:avLst/>
          </a:prstGeom>
          <a:noFill/>
        </p:spPr>
        <p:txBody>
          <a:bodyPr wrap="square" anchor="t" lIns="27432" rIns="27432" tIns="0" bIns="0">
            <a:spAutoFit/>
          </a:bodyPr>
          <a:lstStyle/>
          <a:p>
            <a:pPr algn="l">
              <a:lnSpc>
                <a:spcPct val="134000"/>
              </a:lnSpc>
              <a:spcBef>
                <a:spcPts val="0"/>
              </a:spcBef>
              <a:spcAft>
                <a:spcPts val="0"/>
              </a:spcAft>
            </a:pPr>
            <a:r>
              <a:rPr sz="1800" b="0">
                <a:solidFill>
                  <a:srgbClr val="333333"/>
                </a:solidFill>
                <a:latin typeface="Arial"/>
                <a:ea typeface="微软雅黑"/>
                <a:cs typeface="Arial"/>
              </a:rPr>
              <a:t>预期成果：一套可复用的分析流程、健康人与各阶段特有的候选抗菌肽清单、机制关联与抑菌活性结果，以及以第一作者投稿的 SCI 论文与学位论文。</a:t>
            </a:r>
          </a:p>
          <a:p>
            <a:pPr algn="l">
              <a:lnSpc>
                <a:spcPct val="134000"/>
              </a:lnSpc>
              <a:spcBef>
                <a:spcPts val="1400"/>
              </a:spcBef>
              <a:spcAft>
                <a:spcPts val="0"/>
              </a:spcAft>
            </a:pPr>
            <a:r>
              <a:rPr sz="1800" b="0">
                <a:solidFill>
                  <a:srgbClr val="333333"/>
                </a:solidFill>
                <a:latin typeface="Arial"/>
                <a:ea typeface="微软雅黑"/>
                <a:cs typeface="Arial"/>
              </a:rPr>
              <a:t>现阶段的边界：机制关联属于计算预测与文献比对，尚不能给出因果关系；抑菌实验只针对代表性候选肽，覆盖范围有限；阶段划分依据队列既有临床标签，未纳入新的评分数据。</a:t>
            </a:r>
          </a:p>
          <a:p>
            <a:pPr algn="l">
              <a:lnSpc>
                <a:spcPct val="134000"/>
              </a:lnSpc>
              <a:spcBef>
                <a:spcPts val="1400"/>
              </a:spcBef>
              <a:spcAft>
                <a:spcPts val="0"/>
              </a:spcAft>
            </a:pPr>
            <a:r>
              <a:rPr sz="1800" b="0">
                <a:solidFill>
                  <a:srgbClr val="333333"/>
                </a:solidFill>
                <a:latin typeface="Arial"/>
                <a:ea typeface="微软雅黑"/>
                <a:cs typeface="Arial"/>
              </a:rPr>
              <a:t>这两点会在论文中明确说明，并在后续实验中逐步补充。</a:t>
            </a:r>
          </a:p>
        </p:txBody>
      </p:sp>
      <p:sp>
        <p:nvSpPr>
          <p:cNvPr id="5" name="TextBox 4"/>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6" name="TextBox 5"/>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抗菌肽与 AD 的关联可以拆成七环，每环的证据强度不同</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M1_关联逻辑链.png"/>
          <p:cNvPicPr>
            <a:picLocks noChangeAspect="1"/>
          </p:cNvPicPr>
          <p:nvPr/>
        </p:nvPicPr>
        <p:blipFill>
          <a:blip r:embed="rId2"/>
          <a:stretch>
            <a:fillRect/>
          </a:stretch>
        </p:blipFill>
        <p:spPr>
          <a:xfrm>
            <a:off x="1697813" y="1188720"/>
            <a:ext cx="8793325" cy="3767328"/>
          </a:xfrm>
          <a:prstGeom prst="rect">
            <a:avLst/>
          </a:prstGeom>
        </p:spPr>
      </p:pic>
      <p:sp>
        <p:nvSpPr>
          <p:cNvPr id="5" name="TextBox 4"/>
          <p:cNvSpPr txBox="1"/>
          <p:nvPr/>
        </p:nvSpPr>
        <p:spPr>
          <a:xfrm>
            <a:off x="640080" y="5074920"/>
            <a:ext cx="10908792" cy="868680"/>
          </a:xfrm>
          <a:prstGeom prst="rect">
            <a:avLst/>
          </a:prstGeom>
          <a:noFill/>
        </p:spPr>
        <p:txBody>
          <a:bodyPr wrap="square" anchor="t" lIns="27432" rIns="27432" tIns="0" bIns="0">
            <a:spAutoFit/>
          </a:bodyPr>
          <a:lstStyle/>
          <a:p>
            <a:pPr algn="l">
              <a:lnSpc>
                <a:spcPct val="130000"/>
              </a:lnSpc>
              <a:spcBef>
                <a:spcPts val="0"/>
              </a:spcBef>
              <a:spcAft>
                <a:spcPts val="0"/>
              </a:spcAft>
            </a:pPr>
            <a:r>
              <a:rPr sz="1700" b="0">
                <a:solidFill>
                  <a:srgbClr val="333333"/>
                </a:solidFill>
                <a:latin typeface="Arial"/>
                <a:ea typeface="微软雅黑"/>
                <a:cs typeface="Arial"/>
              </a:rPr>
              <a:t>① AD 与感染相关、② 感染与炎症驱动抗菌肽与 Aβ 生成、③ Aβ 本身即抗菌肽；④ 抗菌活性可计算预测、⑤ AD 组特异抗菌肽随阶段变化、⑥ 双刃剑效应；⑦ 为什么 AD 更多与分子机制落点，是本课题要回答的部分。</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18 / 24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为什么 AD 组更多：炎症—Aβ—抗菌肽构成正反馈</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44752"/>
            <a:ext cx="548640" cy="457200"/>
          </a:xfrm>
          <a:prstGeom prst="rect">
            <a:avLst/>
          </a:prstGeom>
          <a:noFill/>
        </p:spPr>
        <p:txBody>
          <a:bodyPr wrap="square" anchor="t" lIns="27432" rIns="27432" tIns="0" bIns="0">
            <a:spAutoFit/>
          </a:bodyPr>
          <a:lstStyle/>
          <a:p>
            <a:pPr algn="l">
              <a:lnSpc>
                <a:spcPct val="100000"/>
              </a:lnSpc>
              <a:spcBef>
                <a:spcPts val="0"/>
              </a:spcBef>
              <a:spcAft>
                <a:spcPts val="0"/>
              </a:spcAft>
            </a:pPr>
            <a:r>
              <a:rPr sz="2000" b="1">
                <a:solidFill>
                  <a:srgbClr val="B03A2E"/>
                </a:solidFill>
                <a:latin typeface="Arial"/>
                <a:ea typeface="微软雅黑"/>
                <a:cs typeface="Arial"/>
              </a:rPr>
              <a:t>01</a:t>
            </a:r>
          </a:p>
        </p:txBody>
      </p:sp>
      <p:sp>
        <p:nvSpPr>
          <p:cNvPr id="5" name="TextBox 4"/>
          <p:cNvSpPr txBox="1"/>
          <p:nvPr/>
        </p:nvSpPr>
        <p:spPr>
          <a:xfrm>
            <a:off x="1207008" y="1444752"/>
            <a:ext cx="10332720" cy="969264"/>
          </a:xfrm>
          <a:prstGeom prst="rect">
            <a:avLst/>
          </a:prstGeom>
          <a:noFill/>
        </p:spPr>
        <p:txBody>
          <a:bodyPr wrap="square" anchor="t" lIns="27432" rIns="27432" tIns="0" bIns="0">
            <a:spAutoFit/>
          </a:bodyPr>
          <a:lstStyle/>
          <a:p>
            <a:pPr algn="l">
              <a:lnSpc>
                <a:spcPct val="108000"/>
              </a:lnSpc>
              <a:spcBef>
                <a:spcPts val="0"/>
              </a:spcBef>
              <a:spcAft>
                <a:spcPts val="0"/>
              </a:spcAft>
            </a:pPr>
            <a:r>
              <a:rPr sz="1800" b="1">
                <a:solidFill>
                  <a:srgbClr val="111111"/>
                </a:solidFill>
                <a:latin typeface="Arial"/>
                <a:ea typeface="微软雅黑"/>
                <a:cs typeface="Arial"/>
              </a:rPr>
              <a:t>上游驱动：菌群失衡与肠屏障通透性升高</a:t>
            </a:r>
          </a:p>
          <a:p>
            <a:pPr algn="l">
              <a:lnSpc>
                <a:spcPct val="120000"/>
              </a:lnSpc>
              <a:spcBef>
                <a:spcPts val="300"/>
              </a:spcBef>
              <a:spcAft>
                <a:spcPts val="0"/>
              </a:spcAft>
            </a:pPr>
            <a:r>
              <a:rPr sz="1600" b="0">
                <a:solidFill>
                  <a:srgbClr val="333333"/>
                </a:solidFill>
                <a:latin typeface="Arial"/>
                <a:ea typeface="微软雅黑"/>
                <a:cs typeface="Arial"/>
              </a:rPr>
              <a:t>AD 与前驱阶段的肠道菌群失衡、肠屏障标志物升高，使内毒素与病原体长期入血 [11][17][46]。</a:t>
            </a:r>
          </a:p>
        </p:txBody>
      </p:sp>
      <p:sp>
        <p:nvSpPr>
          <p:cNvPr id="6" name="Rectangle 5"/>
          <p:cNvSpPr/>
          <p:nvPr/>
        </p:nvSpPr>
        <p:spPr>
          <a:xfrm>
            <a:off x="640080" y="224942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523744"/>
            <a:ext cx="548640" cy="457200"/>
          </a:xfrm>
          <a:prstGeom prst="rect">
            <a:avLst/>
          </a:prstGeom>
          <a:noFill/>
        </p:spPr>
        <p:txBody>
          <a:bodyPr wrap="square" anchor="t" lIns="27432" rIns="27432" tIns="0" bIns="0">
            <a:spAutoFit/>
          </a:bodyPr>
          <a:lstStyle/>
          <a:p>
            <a:pPr algn="l">
              <a:lnSpc>
                <a:spcPct val="100000"/>
              </a:lnSpc>
              <a:spcBef>
                <a:spcPts val="0"/>
              </a:spcBef>
              <a:spcAft>
                <a:spcPts val="0"/>
              </a:spcAft>
            </a:pPr>
            <a:r>
              <a:rPr sz="2000" b="1">
                <a:solidFill>
                  <a:srgbClr val="B03A2E"/>
                </a:solidFill>
                <a:latin typeface="Arial"/>
                <a:ea typeface="微软雅黑"/>
                <a:cs typeface="Arial"/>
              </a:rPr>
              <a:t>02</a:t>
            </a:r>
          </a:p>
        </p:txBody>
      </p:sp>
      <p:sp>
        <p:nvSpPr>
          <p:cNvPr id="8" name="TextBox 7"/>
          <p:cNvSpPr txBox="1"/>
          <p:nvPr/>
        </p:nvSpPr>
        <p:spPr>
          <a:xfrm>
            <a:off x="1207008" y="2523744"/>
            <a:ext cx="10332720" cy="969264"/>
          </a:xfrm>
          <a:prstGeom prst="rect">
            <a:avLst/>
          </a:prstGeom>
          <a:noFill/>
        </p:spPr>
        <p:txBody>
          <a:bodyPr wrap="square" anchor="t" lIns="27432" rIns="27432" tIns="0" bIns="0">
            <a:spAutoFit/>
          </a:bodyPr>
          <a:lstStyle/>
          <a:p>
            <a:pPr algn="l">
              <a:lnSpc>
                <a:spcPct val="108000"/>
              </a:lnSpc>
              <a:spcBef>
                <a:spcPts val="0"/>
              </a:spcBef>
              <a:spcAft>
                <a:spcPts val="0"/>
              </a:spcAft>
            </a:pPr>
            <a:r>
              <a:rPr sz="1800" b="1">
                <a:solidFill>
                  <a:srgbClr val="111111"/>
                </a:solidFill>
                <a:latin typeface="Arial"/>
                <a:ea typeface="微软雅黑"/>
                <a:cs typeface="Arial"/>
              </a:rPr>
              <a:t>放大环节：促炎因子上调 Aβ 与抗菌肽的表达</a:t>
            </a:r>
          </a:p>
          <a:p>
            <a:pPr algn="l">
              <a:lnSpc>
                <a:spcPct val="120000"/>
              </a:lnSpc>
              <a:spcBef>
                <a:spcPts val="300"/>
              </a:spcBef>
              <a:spcAft>
                <a:spcPts val="0"/>
              </a:spcAft>
            </a:pPr>
            <a:r>
              <a:rPr sz="1600" b="0">
                <a:solidFill>
                  <a:srgbClr val="333333"/>
                </a:solidFill>
                <a:latin typeface="Arial"/>
                <a:ea typeface="微软雅黑"/>
                <a:cs typeface="Arial"/>
              </a:rPr>
              <a:t>LPS 经 TLR4/NF-κB 升高促炎因子，促炎因子又上调 Aβ 生成 [11][46]；TNF-α 与 Aβ 可直接诱导 CAP37 表达 [9]。</a:t>
            </a:r>
          </a:p>
        </p:txBody>
      </p:sp>
      <p:sp>
        <p:nvSpPr>
          <p:cNvPr id="9" name="Rectangle 8"/>
          <p:cNvSpPr/>
          <p:nvPr/>
        </p:nvSpPr>
        <p:spPr>
          <a:xfrm>
            <a:off x="640080" y="3328415"/>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602735"/>
            <a:ext cx="548640" cy="457200"/>
          </a:xfrm>
          <a:prstGeom prst="rect">
            <a:avLst/>
          </a:prstGeom>
          <a:noFill/>
        </p:spPr>
        <p:txBody>
          <a:bodyPr wrap="square" anchor="t" lIns="27432" rIns="27432" tIns="0" bIns="0">
            <a:spAutoFit/>
          </a:bodyPr>
          <a:lstStyle/>
          <a:p>
            <a:pPr algn="l">
              <a:lnSpc>
                <a:spcPct val="100000"/>
              </a:lnSpc>
              <a:spcBef>
                <a:spcPts val="0"/>
              </a:spcBef>
              <a:spcAft>
                <a:spcPts val="0"/>
              </a:spcAft>
            </a:pPr>
            <a:r>
              <a:rPr sz="2000" b="1">
                <a:solidFill>
                  <a:srgbClr val="B03A2E"/>
                </a:solidFill>
                <a:latin typeface="Arial"/>
                <a:ea typeface="微软雅黑"/>
                <a:cs typeface="Arial"/>
              </a:rPr>
              <a:t>03</a:t>
            </a:r>
          </a:p>
        </p:txBody>
      </p:sp>
      <p:sp>
        <p:nvSpPr>
          <p:cNvPr id="11" name="TextBox 10"/>
          <p:cNvSpPr txBox="1"/>
          <p:nvPr/>
        </p:nvSpPr>
        <p:spPr>
          <a:xfrm>
            <a:off x="1207008" y="3602735"/>
            <a:ext cx="10332720" cy="969264"/>
          </a:xfrm>
          <a:prstGeom prst="rect">
            <a:avLst/>
          </a:prstGeom>
          <a:noFill/>
        </p:spPr>
        <p:txBody>
          <a:bodyPr wrap="square" anchor="t" lIns="27432" rIns="27432" tIns="0" bIns="0">
            <a:spAutoFit/>
          </a:bodyPr>
          <a:lstStyle/>
          <a:p>
            <a:pPr algn="l">
              <a:lnSpc>
                <a:spcPct val="108000"/>
              </a:lnSpc>
              <a:spcBef>
                <a:spcPts val="0"/>
              </a:spcBef>
              <a:spcAft>
                <a:spcPts val="0"/>
              </a:spcAft>
            </a:pPr>
            <a:r>
              <a:rPr sz="1800" b="1">
                <a:solidFill>
                  <a:srgbClr val="111111"/>
                </a:solidFill>
                <a:latin typeface="Arial"/>
                <a:ea typeface="微软雅黑"/>
                <a:cs typeface="Arial"/>
              </a:rPr>
              <a:t>闭环：聚集后的 Aβ 再激活小胶质细胞</a:t>
            </a:r>
          </a:p>
          <a:p>
            <a:pPr algn="l">
              <a:lnSpc>
                <a:spcPct val="120000"/>
              </a:lnSpc>
              <a:spcBef>
                <a:spcPts val="300"/>
              </a:spcBef>
              <a:spcAft>
                <a:spcPts val="0"/>
              </a:spcAft>
            </a:pPr>
            <a:r>
              <a:rPr sz="1600" b="0">
                <a:solidFill>
                  <a:srgbClr val="333333"/>
                </a:solidFill>
                <a:latin typeface="Arial"/>
                <a:ea typeface="微软雅黑"/>
                <a:cs typeface="Arial"/>
              </a:rPr>
              <a:t>Aβ 与抗菌肽聚集、成核并激活小胶质细胞，释放更多炎症介质；LL-37 经 CLIC1 引起小胶质过度活化，小鼠与猴模型出现 Aβ 升高与脑萎缩 [6][7]。</a:t>
            </a:r>
          </a:p>
        </p:txBody>
      </p:sp>
      <p:sp>
        <p:nvSpPr>
          <p:cNvPr id="12" name="Rectangle 11"/>
          <p:cNvSpPr/>
          <p:nvPr/>
        </p:nvSpPr>
        <p:spPr>
          <a:xfrm>
            <a:off x="640080" y="4407407"/>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681727"/>
            <a:ext cx="548640" cy="457200"/>
          </a:xfrm>
          <a:prstGeom prst="rect">
            <a:avLst/>
          </a:prstGeom>
          <a:noFill/>
        </p:spPr>
        <p:txBody>
          <a:bodyPr wrap="square" anchor="t" lIns="27432" rIns="27432" tIns="0" bIns="0">
            <a:spAutoFit/>
          </a:bodyPr>
          <a:lstStyle/>
          <a:p>
            <a:pPr algn="l">
              <a:lnSpc>
                <a:spcPct val="100000"/>
              </a:lnSpc>
              <a:spcBef>
                <a:spcPts val="0"/>
              </a:spcBef>
              <a:spcAft>
                <a:spcPts val="0"/>
              </a:spcAft>
            </a:pPr>
            <a:r>
              <a:rPr sz="2000" b="1">
                <a:solidFill>
                  <a:srgbClr val="B03A2E"/>
                </a:solidFill>
                <a:latin typeface="Arial"/>
                <a:ea typeface="微软雅黑"/>
                <a:cs typeface="Arial"/>
              </a:rPr>
              <a:t>04</a:t>
            </a:r>
          </a:p>
        </p:txBody>
      </p:sp>
      <p:sp>
        <p:nvSpPr>
          <p:cNvPr id="14" name="TextBox 13"/>
          <p:cNvSpPr txBox="1"/>
          <p:nvPr/>
        </p:nvSpPr>
        <p:spPr>
          <a:xfrm>
            <a:off x="1207008" y="4681727"/>
            <a:ext cx="10332720" cy="969264"/>
          </a:xfrm>
          <a:prstGeom prst="rect">
            <a:avLst/>
          </a:prstGeom>
          <a:noFill/>
        </p:spPr>
        <p:txBody>
          <a:bodyPr wrap="square" anchor="t" lIns="27432" rIns="27432" tIns="0" bIns="0">
            <a:spAutoFit/>
          </a:bodyPr>
          <a:lstStyle/>
          <a:p>
            <a:pPr algn="l">
              <a:lnSpc>
                <a:spcPct val="108000"/>
              </a:lnSpc>
              <a:spcBef>
                <a:spcPts val="0"/>
              </a:spcBef>
              <a:spcAft>
                <a:spcPts val="0"/>
              </a:spcAft>
            </a:pPr>
            <a:r>
              <a:rPr sz="1800" b="1">
                <a:solidFill>
                  <a:srgbClr val="111111"/>
                </a:solidFill>
                <a:latin typeface="Arial"/>
                <a:ea typeface="微软雅黑"/>
                <a:cs typeface="Arial"/>
              </a:rPr>
              <a:t>临床对应：炎症指标与抗菌肽水平同步升高</a:t>
            </a:r>
          </a:p>
          <a:p>
            <a:pPr algn="l">
              <a:lnSpc>
                <a:spcPct val="120000"/>
              </a:lnSpc>
              <a:spcBef>
                <a:spcPts val="300"/>
              </a:spcBef>
              <a:spcAft>
                <a:spcPts val="0"/>
              </a:spcAft>
            </a:pPr>
            <a:r>
              <a:rPr sz="1600" b="0">
                <a:solidFill>
                  <a:srgbClr val="333333"/>
                </a:solidFill>
                <a:latin typeface="Arial"/>
                <a:ea typeface="微软雅黑"/>
                <a:cs typeface="Arial"/>
              </a:rPr>
              <a:t>血清 LL-37 高者两年内 MMSE 下降 ≥3 分的比值比为 2.11，NfL 与 pTau181 上升更快 [42]；前驱阶段的 CRP 与 LPS 已经升高 [17]。</a:t>
            </a:r>
          </a:p>
        </p:txBody>
      </p:sp>
      <p:sp>
        <p:nvSpPr>
          <p:cNvPr id="15" name="TextBox 14"/>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16" name="TextBox 15"/>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分子机制（一）：AChE–Aβ 复合物的动力学要点</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M2_AChE_Aβ_机制.png"/>
          <p:cNvPicPr>
            <a:picLocks noChangeAspect="1"/>
          </p:cNvPicPr>
          <p:nvPr/>
        </p:nvPicPr>
        <p:blipFill>
          <a:blip r:embed="rId2"/>
          <a:stretch>
            <a:fillRect/>
          </a:stretch>
        </p:blipFill>
        <p:spPr>
          <a:xfrm>
            <a:off x="825790" y="1188720"/>
            <a:ext cx="10537371" cy="3931920"/>
          </a:xfrm>
          <a:prstGeom prst="rect">
            <a:avLst/>
          </a:prstGeom>
        </p:spPr>
      </p:pic>
      <p:sp>
        <p:nvSpPr>
          <p:cNvPr id="5" name="TextBox 4"/>
          <p:cNvSpPr txBox="1"/>
          <p:nvPr/>
        </p:nvSpPr>
        <p:spPr>
          <a:xfrm>
            <a:off x="640080" y="5248655"/>
            <a:ext cx="10908792" cy="749808"/>
          </a:xfrm>
          <a:prstGeom prst="rect">
            <a:avLst/>
          </a:prstGeom>
          <a:noFill/>
        </p:spPr>
        <p:txBody>
          <a:bodyPr wrap="square" anchor="t" lIns="27432" rIns="27432" tIns="0" bIns="0">
            <a:spAutoFit/>
          </a:bodyPr>
          <a:lstStyle/>
          <a:p>
            <a:pPr algn="l">
              <a:lnSpc>
                <a:spcPct val="124000"/>
              </a:lnSpc>
              <a:spcBef>
                <a:spcPts val="0"/>
              </a:spcBef>
              <a:spcAft>
                <a:spcPts val="0"/>
              </a:spcAft>
            </a:pPr>
            <a:r>
              <a:rPr sz="1600" b="0">
                <a:solidFill>
                  <a:srgbClr val="333333"/>
                </a:solidFill>
                <a:latin typeface="Arial"/>
                <a:ea typeface="微软雅黑"/>
                <a:cs typeface="Arial"/>
              </a:rPr>
              <a:t>PAS 是 Aβ 聚集的成核中心：1 μs 模拟中复合物稳定，Aβ 主要停留于 344—361 区段，不受双位点抑制剂位阻 [31]；丙锭阻断 PAS 后聚集被抑制 [33]。</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分子机制（二）：抗菌肽与 Aβ 的交叉成核，方向由界面决定</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igM3_交叉成核机制.png"/>
          <p:cNvPicPr>
            <a:picLocks noChangeAspect="1"/>
          </p:cNvPicPr>
          <p:nvPr/>
        </p:nvPicPr>
        <p:blipFill>
          <a:blip r:embed="rId2"/>
          <a:stretch>
            <a:fillRect/>
          </a:stretch>
        </p:blipFill>
        <p:spPr>
          <a:xfrm>
            <a:off x="825790" y="1188720"/>
            <a:ext cx="10537371" cy="3931920"/>
          </a:xfrm>
          <a:prstGeom prst="rect">
            <a:avLst/>
          </a:prstGeom>
        </p:spPr>
      </p:pic>
      <p:sp>
        <p:nvSpPr>
          <p:cNvPr id="5" name="TextBox 4"/>
          <p:cNvSpPr txBox="1"/>
          <p:nvPr/>
        </p:nvSpPr>
        <p:spPr>
          <a:xfrm>
            <a:off x="640080" y="5248655"/>
            <a:ext cx="10908792" cy="749808"/>
          </a:xfrm>
          <a:prstGeom prst="rect">
            <a:avLst/>
          </a:prstGeom>
          <a:noFill/>
        </p:spPr>
        <p:txBody>
          <a:bodyPr wrap="square" anchor="t" lIns="27432" rIns="27432" tIns="0" bIns="0">
            <a:spAutoFit/>
          </a:bodyPr>
          <a:lstStyle/>
          <a:p>
            <a:pPr algn="l">
              <a:lnSpc>
                <a:spcPct val="124000"/>
              </a:lnSpc>
              <a:spcBef>
                <a:spcPts val="0"/>
              </a:spcBef>
              <a:spcAft>
                <a:spcPts val="0"/>
              </a:spcAft>
            </a:pPr>
            <a:r>
              <a:rPr sz="1600" b="0">
                <a:solidFill>
                  <a:srgbClr val="333333"/>
                </a:solidFill>
                <a:latin typeface="Arial"/>
                <a:ea typeface="微软雅黑"/>
                <a:cs typeface="Arial"/>
              </a:rPr>
              <a:t>抗菌肽与 Aβ 结构兼容，可交叉成核，方向由界面与浓度决定 [36][37]；LL-37 以疏水作用封堵纤维延伸面 [38]，五肽库筛选可破坏 D23—K28 盐桥 [41]。</a:t>
            </a:r>
          </a:p>
        </p:txBody>
      </p:sp>
      <p:sp>
        <p:nvSpPr>
          <p:cNvPr id="6" name="TextBox 5"/>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7" name="TextBox 6"/>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21 / 24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八个问题逐一作答：结论方向与证据强度</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40080" y="1234440"/>
          <a:ext cx="10908792" cy="4279392"/>
        </p:xfrm>
        <a:graphic>
          <a:graphicData uri="http://schemas.openxmlformats.org/drawingml/2006/table">
            <a:tbl>
              <a:tblPr firstRow="1" bandRow="1">
                <a:tableStyleId>{5C22544A-7EE6-4342-B048-85BDC9FD1C3A}</a:tableStyleId>
              </a:tblPr>
              <a:tblGrid>
                <a:gridCol w="2788920"/>
                <a:gridCol w="5120640"/>
                <a:gridCol w="1417320"/>
                <a:gridCol w="1581912"/>
              </a:tblGrid>
              <a:tr h="475488">
                <a:tc>
                  <a:txBody>
                    <a:bodyPr/>
                    <a:lstStyle/>
                    <a:p>
                      <a:pPr algn="l">
                        <a:lnSpc>
                          <a:spcPct val="105000"/>
                        </a:lnSpc>
                        <a:spcBef>
                          <a:spcPts val="0"/>
                        </a:spcBef>
                        <a:spcAft>
                          <a:spcPts val="0"/>
                        </a:spcAft>
                      </a:pPr>
                      <a:r>
                        <a:rPr sz="1500" b="1">
                          <a:solidFill>
                            <a:srgbClr val="111111"/>
                          </a:solidFill>
                          <a:latin typeface="Arial"/>
                          <a:ea typeface="微软雅黑"/>
                          <a:cs typeface="Arial"/>
                        </a:rPr>
                        <a:t>问题</a:t>
                      </a:r>
                    </a:p>
                  </a:txBody>
                  <a:tcPr marT="27432" marB="27432">
                    <a:solidFill>
                      <a:srgbClr val="F7F7F5"/>
                    </a:solidFill>
                  </a:tcPr>
                </a:tc>
                <a:tc>
                  <a:txBody>
                    <a:bodyPr/>
                    <a:lstStyle/>
                    <a:p>
                      <a:pPr algn="l">
                        <a:lnSpc>
                          <a:spcPct val="105000"/>
                        </a:lnSpc>
                        <a:spcBef>
                          <a:spcPts val="0"/>
                        </a:spcBef>
                        <a:spcAft>
                          <a:spcPts val="0"/>
                        </a:spcAft>
                      </a:pPr>
                      <a:r>
                        <a:rPr sz="1500" b="1">
                          <a:solidFill>
                            <a:srgbClr val="111111"/>
                          </a:solidFill>
                          <a:latin typeface="Arial"/>
                          <a:ea typeface="微软雅黑"/>
                          <a:cs typeface="Arial"/>
                        </a:rPr>
                        <a:t>本课题的回答要点</a:t>
                      </a:r>
                    </a:p>
                  </a:txBody>
                  <a:tcPr marT="27432" marB="27432">
                    <a:solidFill>
                      <a:srgbClr val="F7F7F5"/>
                    </a:solidFill>
                  </a:tcPr>
                </a:tc>
                <a:tc>
                  <a:txBody>
                    <a:bodyPr/>
                    <a:lstStyle/>
                    <a:p>
                      <a:pPr algn="l">
                        <a:lnSpc>
                          <a:spcPct val="105000"/>
                        </a:lnSpc>
                        <a:spcBef>
                          <a:spcPts val="0"/>
                        </a:spcBef>
                        <a:spcAft>
                          <a:spcPts val="0"/>
                        </a:spcAft>
                      </a:pPr>
                      <a:r>
                        <a:rPr sz="1500" b="1">
                          <a:solidFill>
                            <a:srgbClr val="111111"/>
                          </a:solidFill>
                          <a:latin typeface="Arial"/>
                          <a:ea typeface="微软雅黑"/>
                          <a:cs typeface="Arial"/>
                        </a:rPr>
                        <a:t>证据强度</a:t>
                      </a:r>
                    </a:p>
                  </a:txBody>
                  <a:tcPr marT="27432" marB="27432">
                    <a:solidFill>
                      <a:srgbClr val="F7F7F5"/>
                    </a:solidFill>
                  </a:tcPr>
                </a:tc>
                <a:tc>
                  <a:txBody>
                    <a:bodyPr/>
                    <a:lstStyle/>
                    <a:p>
                      <a:pPr algn="l">
                        <a:lnSpc>
                          <a:spcPct val="105000"/>
                        </a:lnSpc>
                        <a:spcBef>
                          <a:spcPts val="0"/>
                        </a:spcBef>
                        <a:spcAft>
                          <a:spcPts val="0"/>
                        </a:spcAft>
                      </a:pPr>
                      <a:r>
                        <a:rPr sz="1500" b="1">
                          <a:solidFill>
                            <a:srgbClr val="111111"/>
                          </a:solidFill>
                          <a:latin typeface="Arial"/>
                          <a:ea typeface="微软雅黑"/>
                          <a:cs typeface="Arial"/>
                        </a:rPr>
                        <a:t>代表文献</a:t>
                      </a:r>
                    </a:p>
                  </a:txBody>
                  <a:tcPr marT="27432" marB="27432">
                    <a:solidFill>
                      <a:srgbClr val="F7F7F5"/>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① 抗菌肽与 AD 的关联</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Aβ 本身即抗菌肽，宿主抗菌肽在 AD 中上调</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强</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[1][2][8][9]</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② AD 与感染的关联</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AD 脑细菌读段与内毒素升高，多类病原体检出</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中—强</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[11][12][13][14]</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③ 抗菌活性可预测</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宏基因组 + 深度学习挖掘已有完整先例</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强</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[21][22][24]</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④ AD 组特有肽</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菌群随认知阶段梯度变化，阶段特有肽有依据</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中</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[26][28][30]</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⑤ 促进还是抑制</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两者同时成立：低浓度抗菌，长期过量致病</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中—强</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[1][3][6][20]</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⑥ 抑制感染证据</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小鼠抗感染更强；纤维网捕获病原体</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强</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[1][3][4]</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⑦ 为什么 AD 更多</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LPS–TLR4/NF-κB 上调 Aβ 与抗菌肽，形成正反馈</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中—强</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[9][11][46]</a:t>
                      </a:r>
                    </a:p>
                  </a:txBody>
                  <a:tcPr marT="27432" marB="27432">
                    <a:solidFill>
                      <a:srgbClr val="FFFFFF"/>
                    </a:solidFill>
                  </a:tcPr>
                </a:tc>
              </a:tr>
              <a:tr h="475488">
                <a:tc>
                  <a:txBody>
                    <a:bodyPr/>
                    <a:lstStyle/>
                    <a:p>
                      <a:pPr algn="l">
                        <a:lnSpc>
                          <a:spcPct val="105000"/>
                        </a:lnSpc>
                        <a:spcBef>
                          <a:spcPts val="0"/>
                        </a:spcBef>
                        <a:spcAft>
                          <a:spcPts val="0"/>
                        </a:spcAft>
                      </a:pPr>
                      <a:r>
                        <a:rPr sz="1500" b="0">
                          <a:solidFill>
                            <a:srgbClr val="111111"/>
                          </a:solidFill>
                          <a:latin typeface="Arial"/>
                          <a:ea typeface="微软雅黑"/>
                          <a:cs typeface="Arial"/>
                        </a:rPr>
                        <a:t>⑧ 谁更多（对照）</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总体 AD 更高，乳铁蛋白等反而下降</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中</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[42][43][44]</a:t>
                      </a:r>
                    </a:p>
                  </a:txBody>
                  <a:tcPr marT="27432" marB="27432">
                    <a:solidFill>
                      <a:srgbClr val="FFFFFF"/>
                    </a:solidFill>
                  </a:tcPr>
                </a:tc>
              </a:tr>
            </a:tbl>
          </a:graphicData>
        </a:graphic>
      </p:graphicFrame>
      <p:sp>
        <p:nvSpPr>
          <p:cNvPr id="5" name="TextBox 4"/>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6" name="TextBox 5"/>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文献支撑一览：每一环都有可溯源的原始研究</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640080" y="1234440"/>
          <a:ext cx="10908792" cy="4626864"/>
        </p:xfrm>
        <a:graphic>
          <a:graphicData uri="http://schemas.openxmlformats.org/drawingml/2006/table">
            <a:tbl>
              <a:tblPr firstRow="1" bandRow="1">
                <a:tableStyleId>{5C22544A-7EE6-4342-B048-85BDC9FD1C3A}</a:tableStyleId>
              </a:tblPr>
              <a:tblGrid>
                <a:gridCol w="2697480"/>
                <a:gridCol w="5623560"/>
                <a:gridCol w="2587752"/>
              </a:tblGrid>
              <a:tr h="420624">
                <a:tc>
                  <a:txBody>
                    <a:bodyPr/>
                    <a:lstStyle/>
                    <a:p>
                      <a:pPr algn="l">
                        <a:lnSpc>
                          <a:spcPct val="105000"/>
                        </a:lnSpc>
                        <a:spcBef>
                          <a:spcPts val="0"/>
                        </a:spcBef>
                        <a:spcAft>
                          <a:spcPts val="0"/>
                        </a:spcAft>
                      </a:pPr>
                      <a:r>
                        <a:rPr sz="1500" b="1">
                          <a:solidFill>
                            <a:srgbClr val="111111"/>
                          </a:solidFill>
                          <a:latin typeface="Arial"/>
                          <a:ea typeface="微软雅黑"/>
                          <a:cs typeface="Arial"/>
                        </a:rPr>
                        <a:t>代表文献</a:t>
                      </a:r>
                    </a:p>
                  </a:txBody>
                  <a:tcPr marT="27432" marB="27432">
                    <a:solidFill>
                      <a:srgbClr val="F7F7F5"/>
                    </a:solidFill>
                  </a:tcPr>
                </a:tc>
                <a:tc>
                  <a:txBody>
                    <a:bodyPr/>
                    <a:lstStyle/>
                    <a:p>
                      <a:pPr algn="l">
                        <a:lnSpc>
                          <a:spcPct val="105000"/>
                        </a:lnSpc>
                        <a:spcBef>
                          <a:spcPts val="0"/>
                        </a:spcBef>
                        <a:spcAft>
                          <a:spcPts val="0"/>
                        </a:spcAft>
                      </a:pPr>
                      <a:r>
                        <a:rPr sz="1500" b="1">
                          <a:solidFill>
                            <a:srgbClr val="111111"/>
                          </a:solidFill>
                          <a:latin typeface="Arial"/>
                          <a:ea typeface="微软雅黑"/>
                          <a:cs typeface="Arial"/>
                        </a:rPr>
                        <a:t>本课题引用它的哪条结论</a:t>
                      </a:r>
                    </a:p>
                  </a:txBody>
                  <a:tcPr marT="27432" marB="27432">
                    <a:solidFill>
                      <a:srgbClr val="F7F7F5"/>
                    </a:solidFill>
                  </a:tcPr>
                </a:tc>
                <a:tc>
                  <a:txBody>
                    <a:bodyPr/>
                    <a:lstStyle/>
                    <a:p>
                      <a:pPr algn="l">
                        <a:lnSpc>
                          <a:spcPct val="105000"/>
                        </a:lnSpc>
                        <a:spcBef>
                          <a:spcPts val="0"/>
                        </a:spcBef>
                        <a:spcAft>
                          <a:spcPts val="0"/>
                        </a:spcAft>
                      </a:pPr>
                      <a:r>
                        <a:rPr sz="1500" b="1">
                          <a:solidFill>
                            <a:srgbClr val="111111"/>
                          </a:solidFill>
                          <a:latin typeface="Arial"/>
                          <a:ea typeface="微软雅黑"/>
                          <a:cs typeface="Arial"/>
                        </a:rPr>
                        <a:t>出处与编号</a:t>
                      </a:r>
                    </a:p>
                  </a:txBody>
                  <a:tcPr marT="27432" marB="27432">
                    <a:solidFill>
                      <a:srgbClr val="F7F7F5"/>
                    </a:solidFill>
                  </a:tcPr>
                </a:tc>
              </a:tr>
              <a:tr h="420624">
                <a:tc>
                  <a:txBody>
                    <a:bodyPr/>
                    <a:lstStyle/>
                    <a:p>
                      <a:pPr algn="l">
                        <a:lnSpc>
                          <a:spcPct val="105000"/>
                        </a:lnSpc>
                        <a:spcBef>
                          <a:spcPts val="0"/>
                        </a:spcBef>
                        <a:spcAft>
                          <a:spcPts val="0"/>
                        </a:spcAft>
                      </a:pPr>
                      <a:r>
                        <a:rPr sz="1500" b="0">
                          <a:solidFill>
                            <a:srgbClr val="111111"/>
                          </a:solidFill>
                          <a:latin typeface="Arial"/>
                          <a:ea typeface="微软雅黑"/>
                          <a:cs typeface="Arial"/>
                        </a:rPr>
                        <a:t>Soscia 等 2010</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Aβ 对 8 种微生物有活性，AD 脑匀浆活性更高</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PLoS ONE [1]</a:t>
                      </a:r>
                    </a:p>
                  </a:txBody>
                  <a:tcPr marT="27432" marB="27432">
                    <a:solidFill>
                      <a:srgbClr val="FFFFFF"/>
                    </a:solidFill>
                  </a:tcPr>
                </a:tc>
              </a:tr>
              <a:tr h="420624">
                <a:tc>
                  <a:txBody>
                    <a:bodyPr/>
                    <a:lstStyle/>
                    <a:p>
                      <a:pPr algn="l">
                        <a:lnSpc>
                          <a:spcPct val="105000"/>
                        </a:lnSpc>
                        <a:spcBef>
                          <a:spcPts val="0"/>
                        </a:spcBef>
                        <a:spcAft>
                          <a:spcPts val="0"/>
                        </a:spcAft>
                      </a:pPr>
                      <a:r>
                        <a:rPr sz="1500" b="0">
                          <a:solidFill>
                            <a:srgbClr val="111111"/>
                          </a:solidFill>
                          <a:latin typeface="Arial"/>
                          <a:ea typeface="微软雅黑"/>
                          <a:cs typeface="Arial"/>
                        </a:rPr>
                        <a:t>Kumar 等 2016</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表达 Aβ 的小鼠抗感染更强，寡聚化为活性必需</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Sci Transl Med [3]</a:t>
                      </a:r>
                    </a:p>
                  </a:txBody>
                  <a:tcPr marT="27432" marB="27432">
                    <a:solidFill>
                      <a:srgbClr val="FFFFFF"/>
                    </a:solidFill>
                  </a:tcPr>
                </a:tc>
              </a:tr>
              <a:tr h="420624">
                <a:tc>
                  <a:txBody>
                    <a:bodyPr/>
                    <a:lstStyle/>
                    <a:p>
                      <a:pPr algn="l">
                        <a:lnSpc>
                          <a:spcPct val="105000"/>
                        </a:lnSpc>
                        <a:spcBef>
                          <a:spcPts val="0"/>
                        </a:spcBef>
                        <a:spcAft>
                          <a:spcPts val="0"/>
                        </a:spcAft>
                      </a:pPr>
                      <a:r>
                        <a:rPr sz="1500" b="0">
                          <a:solidFill>
                            <a:srgbClr val="111111"/>
                          </a:solidFill>
                          <a:latin typeface="Arial"/>
                          <a:ea typeface="微软雅黑"/>
                          <a:cs typeface="Arial"/>
                        </a:rPr>
                        <a:t>Eimer 等 2018</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Aβ 结合病毒糖蛋白并成纤维网捕获病毒</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Neuron [4]</a:t>
                      </a:r>
                    </a:p>
                  </a:txBody>
                  <a:tcPr marT="27432" marB="27432">
                    <a:solidFill>
                      <a:srgbClr val="FFFFFF"/>
                    </a:solidFill>
                  </a:tcPr>
                </a:tc>
              </a:tr>
              <a:tr h="420624">
                <a:tc>
                  <a:txBody>
                    <a:bodyPr/>
                    <a:lstStyle/>
                    <a:p>
                      <a:pPr algn="l">
                        <a:lnSpc>
                          <a:spcPct val="105000"/>
                        </a:lnSpc>
                        <a:spcBef>
                          <a:spcPts val="0"/>
                        </a:spcBef>
                        <a:spcAft>
                          <a:spcPts val="0"/>
                        </a:spcAft>
                      </a:pPr>
                      <a:r>
                        <a:rPr sz="1500" b="0">
                          <a:solidFill>
                            <a:srgbClr val="111111"/>
                          </a:solidFill>
                          <a:latin typeface="Arial"/>
                          <a:ea typeface="微软雅黑"/>
                          <a:cs typeface="Arial"/>
                        </a:rPr>
                        <a:t>Chen 等 2022</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LL-37 经 CLIC1 引起小胶质活化与 AD 样病理</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Mol Psychiatry [6]</a:t>
                      </a:r>
                    </a:p>
                  </a:txBody>
                  <a:tcPr marT="27432" marB="27432">
                    <a:solidFill>
                      <a:srgbClr val="FFFFFF"/>
                    </a:solidFill>
                  </a:tcPr>
                </a:tc>
              </a:tr>
              <a:tr h="420624">
                <a:tc>
                  <a:txBody>
                    <a:bodyPr/>
                    <a:lstStyle/>
                    <a:p>
                      <a:pPr algn="l">
                        <a:lnSpc>
                          <a:spcPct val="105000"/>
                        </a:lnSpc>
                        <a:spcBef>
                          <a:spcPts val="0"/>
                        </a:spcBef>
                        <a:spcAft>
                          <a:spcPts val="0"/>
                        </a:spcAft>
                      </a:pPr>
                      <a:r>
                        <a:rPr sz="1500" b="0">
                          <a:solidFill>
                            <a:srgbClr val="111111"/>
                          </a:solidFill>
                          <a:latin typeface="Arial"/>
                          <a:ea typeface="微软雅黑"/>
                          <a:cs typeface="Arial"/>
                        </a:rPr>
                        <a:t>Zhan 等 2018</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AD 脑与血中 LPS 升高，LPS 与斑块共定位</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Front Aging Neurosci [11]</a:t>
                      </a:r>
                    </a:p>
                  </a:txBody>
                  <a:tcPr marT="27432" marB="27432">
                    <a:solidFill>
                      <a:srgbClr val="FFFFFF"/>
                    </a:solidFill>
                  </a:tcPr>
                </a:tc>
              </a:tr>
              <a:tr h="420624">
                <a:tc>
                  <a:txBody>
                    <a:bodyPr/>
                    <a:lstStyle/>
                    <a:p>
                      <a:pPr algn="l">
                        <a:lnSpc>
                          <a:spcPct val="105000"/>
                        </a:lnSpc>
                        <a:spcBef>
                          <a:spcPts val="0"/>
                        </a:spcBef>
                        <a:spcAft>
                          <a:spcPts val="0"/>
                        </a:spcAft>
                      </a:pPr>
                      <a:r>
                        <a:rPr sz="1500" b="0">
                          <a:solidFill>
                            <a:srgbClr val="111111"/>
                          </a:solidFill>
                          <a:latin typeface="Arial"/>
                          <a:ea typeface="微软雅黑"/>
                          <a:cs typeface="Arial"/>
                        </a:rPr>
                        <a:t>Emery 等 2017</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AD 脑细菌读段为对照的 5—10 倍</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Front Aging Neurosci [12]</a:t>
                      </a:r>
                    </a:p>
                  </a:txBody>
                  <a:tcPr marT="27432" marB="27432">
                    <a:solidFill>
                      <a:srgbClr val="FFFFFF"/>
                    </a:solidFill>
                  </a:tcPr>
                </a:tc>
              </a:tr>
              <a:tr h="420624">
                <a:tc>
                  <a:txBody>
                    <a:bodyPr/>
                    <a:lstStyle/>
                    <a:p>
                      <a:pPr algn="l">
                        <a:lnSpc>
                          <a:spcPct val="105000"/>
                        </a:lnSpc>
                        <a:spcBef>
                          <a:spcPts val="0"/>
                        </a:spcBef>
                        <a:spcAft>
                          <a:spcPts val="0"/>
                        </a:spcAft>
                      </a:pPr>
                      <a:r>
                        <a:rPr sz="1500" b="0">
                          <a:solidFill>
                            <a:srgbClr val="111111"/>
                          </a:solidFill>
                          <a:latin typeface="Arial"/>
                          <a:ea typeface="微软雅黑"/>
                          <a:cs typeface="Arial"/>
                        </a:rPr>
                        <a:t>Ma 等 2022</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宏基因组 + 深度学习挖掘抗菌肽并有体外验证</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Nat Biotechnol [21]</a:t>
                      </a:r>
                    </a:p>
                  </a:txBody>
                  <a:tcPr marT="27432" marB="27432">
                    <a:solidFill>
                      <a:srgbClr val="FFFFFF"/>
                    </a:solidFill>
                  </a:tcPr>
                </a:tc>
              </a:tr>
              <a:tr h="420624">
                <a:tc>
                  <a:txBody>
                    <a:bodyPr/>
                    <a:lstStyle/>
                    <a:p>
                      <a:pPr algn="l">
                        <a:lnSpc>
                          <a:spcPct val="105000"/>
                        </a:lnSpc>
                        <a:spcBef>
                          <a:spcPts val="0"/>
                        </a:spcBef>
                        <a:spcAft>
                          <a:spcPts val="0"/>
                        </a:spcAft>
                      </a:pPr>
                      <a:r>
                        <a:rPr sz="1500" b="0">
                          <a:solidFill>
                            <a:srgbClr val="111111"/>
                          </a:solidFill>
                          <a:latin typeface="Arial"/>
                          <a:ea typeface="微软雅黑"/>
                          <a:cs typeface="Arial"/>
                        </a:rPr>
                        <a:t>Atanasova 等 2020</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AChE–Aβ 复合物 1 μs 稳定，停留区段 344—361</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Cybernetics &amp; Inf Tech [31]</a:t>
                      </a:r>
                    </a:p>
                  </a:txBody>
                  <a:tcPr marT="27432" marB="27432">
                    <a:solidFill>
                      <a:srgbClr val="FFFFFF"/>
                    </a:solidFill>
                  </a:tcPr>
                </a:tc>
              </a:tr>
              <a:tr h="420624">
                <a:tc>
                  <a:txBody>
                    <a:bodyPr/>
                    <a:lstStyle/>
                    <a:p>
                      <a:pPr algn="l">
                        <a:lnSpc>
                          <a:spcPct val="105000"/>
                        </a:lnSpc>
                        <a:spcBef>
                          <a:spcPts val="0"/>
                        </a:spcBef>
                        <a:spcAft>
                          <a:spcPts val="0"/>
                        </a:spcAft>
                      </a:pPr>
                      <a:r>
                        <a:rPr sz="1500" b="0">
                          <a:solidFill>
                            <a:srgbClr val="111111"/>
                          </a:solidFill>
                          <a:latin typeface="Arial"/>
                          <a:ea typeface="微软雅黑"/>
                          <a:cs typeface="Arial"/>
                        </a:rPr>
                        <a:t>Zheng 等 2026</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交叉成核三机制与病原—淀粉样正反馈环</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Research [36]</a:t>
                      </a:r>
                    </a:p>
                  </a:txBody>
                  <a:tcPr marT="27432" marB="27432">
                    <a:solidFill>
                      <a:srgbClr val="FFFFFF"/>
                    </a:solidFill>
                  </a:tcPr>
                </a:tc>
              </a:tr>
              <a:tr h="420624">
                <a:tc>
                  <a:txBody>
                    <a:bodyPr/>
                    <a:lstStyle/>
                    <a:p>
                      <a:pPr algn="l">
                        <a:lnSpc>
                          <a:spcPct val="105000"/>
                        </a:lnSpc>
                        <a:spcBef>
                          <a:spcPts val="0"/>
                        </a:spcBef>
                        <a:spcAft>
                          <a:spcPts val="0"/>
                        </a:spcAft>
                      </a:pPr>
                      <a:r>
                        <a:rPr sz="1500" b="0">
                          <a:solidFill>
                            <a:srgbClr val="111111"/>
                          </a:solidFill>
                          <a:latin typeface="Arial"/>
                          <a:ea typeface="微软雅黑"/>
                          <a:cs typeface="Arial"/>
                        </a:rPr>
                        <a:t>LB 等 2023</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血清 LL-37 高者认知下降更快（OR 2.11）</a:t>
                      </a:r>
                    </a:p>
                  </a:txBody>
                  <a:tcPr marT="27432" marB="27432">
                    <a:solidFill>
                      <a:srgbClr val="FFFFFF"/>
                    </a:solidFill>
                  </a:tcPr>
                </a:tc>
                <a:tc>
                  <a:txBody>
                    <a:bodyPr/>
                    <a:lstStyle/>
                    <a:p>
                      <a:pPr algn="l">
                        <a:lnSpc>
                          <a:spcPct val="105000"/>
                        </a:lnSpc>
                        <a:spcBef>
                          <a:spcPts val="0"/>
                        </a:spcBef>
                        <a:spcAft>
                          <a:spcPts val="0"/>
                        </a:spcAft>
                      </a:pPr>
                      <a:r>
                        <a:rPr sz="1500" b="0">
                          <a:solidFill>
                            <a:srgbClr val="333333"/>
                          </a:solidFill>
                          <a:latin typeface="Arial"/>
                          <a:ea typeface="微软雅黑"/>
                          <a:cs typeface="Arial"/>
                        </a:rPr>
                        <a:t>J Alzheimers Dis [42]</a:t>
                      </a:r>
                    </a:p>
                  </a:txBody>
                  <a:tcPr marT="27432" marB="27432">
                    <a:solidFill>
                      <a:srgbClr val="FFFFFF"/>
                    </a:solidFill>
                  </a:tcPr>
                </a:tc>
              </a:tr>
            </a:tbl>
          </a:graphicData>
        </a:graphic>
      </p:graphicFrame>
      <p:sp>
        <p:nvSpPr>
          <p:cNvPr id="5" name="TextBox 4"/>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6" name="TextBox 5"/>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365760"/>
            <a:ext cx="10908792" cy="548640"/>
          </a:xfrm>
          <a:prstGeom prst="rect">
            <a:avLst/>
          </a:prstGeom>
          <a:noFill/>
        </p:spPr>
        <p:txBody>
          <a:bodyPr wrap="square" anchor="t" lIns="27432" rIns="27432" tIns="0" bIns="0">
            <a:spAutoFit/>
          </a:bodyPr>
          <a:lstStyle/>
          <a:p>
            <a:pPr algn="l">
              <a:lnSpc>
                <a:spcPct val="100000"/>
              </a:lnSpc>
              <a:spcBef>
                <a:spcPts val="0"/>
              </a:spcBef>
              <a:spcAft>
                <a:spcPts val="0"/>
              </a:spcAft>
            </a:pPr>
            <a:r>
              <a:rPr sz="2500" b="1">
                <a:solidFill>
                  <a:srgbClr val="111111"/>
                </a:solidFill>
                <a:latin typeface="Arial"/>
                <a:ea typeface="微软雅黑"/>
                <a:cs typeface="Arial"/>
              </a:rPr>
              <a:t>主要分析已完成，剩余工作风险可控</a:t>
            </a:r>
          </a:p>
        </p:txBody>
      </p:sp>
      <p:sp>
        <p:nvSpPr>
          <p:cNvPr id="3" name="Rectangle 2"/>
          <p:cNvSpPr/>
          <p:nvPr/>
        </p:nvSpPr>
        <p:spPr>
          <a:xfrm>
            <a:off x="640080" y="969264"/>
            <a:ext cx="10908792" cy="12700"/>
          </a:xfrm>
          <a:prstGeom prst="rect">
            <a:avLst/>
          </a:prstGeom>
          <a:solidFill>
            <a:srgbClr val="DDDD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81328"/>
            <a:ext cx="10424160" cy="3291840"/>
          </a:xfrm>
          <a:prstGeom prst="rect">
            <a:avLst/>
          </a:prstGeom>
          <a:noFill/>
        </p:spPr>
        <p:txBody>
          <a:bodyPr wrap="square" anchor="t" lIns="27432" rIns="27432" tIns="0" bIns="0">
            <a:spAutoFit/>
          </a:bodyPr>
          <a:lstStyle/>
          <a:p>
            <a:pPr algn="l">
              <a:lnSpc>
                <a:spcPct val="134000"/>
              </a:lnSpc>
              <a:spcBef>
                <a:spcPts val="0"/>
              </a:spcBef>
              <a:spcAft>
                <a:spcPts val="0"/>
              </a:spcAft>
            </a:pPr>
            <a:r>
              <a:rPr sz="1800" b="0">
                <a:solidFill>
                  <a:srgbClr val="333333"/>
                </a:solidFill>
                <a:latin typeface="Arial"/>
                <a:ea typeface="微软雅黑"/>
                <a:cs typeface="Arial"/>
              </a:rPr>
              <a:t>确认事实：数据资源、短肽库、三模型共识预测、分阶段差异分析与特有抗菌肽筛选均已完成。</a:t>
            </a:r>
          </a:p>
          <a:p>
            <a:pPr algn="l">
              <a:lnSpc>
                <a:spcPct val="134000"/>
              </a:lnSpc>
              <a:spcBef>
                <a:spcPts val="1400"/>
              </a:spcBef>
              <a:spcAft>
                <a:spcPts val="0"/>
              </a:spcAft>
            </a:pPr>
            <a:r>
              <a:rPr sz="1800" b="0">
                <a:solidFill>
                  <a:srgbClr val="333333"/>
                </a:solidFill>
                <a:latin typeface="Arial"/>
                <a:ea typeface="微软雅黑"/>
                <a:cs typeface="Arial"/>
              </a:rPr>
              <a:t>待完成：机制关联分析的结论整理、候选抗菌肽的抑菌实验验证，以及学位论文与投稿论文撰写。</a:t>
            </a:r>
          </a:p>
          <a:p>
            <a:pPr algn="l">
              <a:lnSpc>
                <a:spcPct val="134000"/>
              </a:lnSpc>
              <a:spcBef>
                <a:spcPts val="1400"/>
              </a:spcBef>
              <a:spcAft>
                <a:spcPts val="0"/>
              </a:spcAft>
            </a:pPr>
            <a:r>
              <a:rPr sz="1800" b="0">
                <a:solidFill>
                  <a:srgbClr val="333333"/>
                </a:solidFill>
                <a:latin typeface="Arial"/>
                <a:ea typeface="微软雅黑"/>
                <a:cs typeface="Arial"/>
              </a:rPr>
              <a:t>进度安排：按开题计划推进，后续不依赖新的数据生产。</a:t>
            </a:r>
          </a:p>
        </p:txBody>
      </p:sp>
      <p:sp>
        <p:nvSpPr>
          <p:cNvPr id="5" name="Rectangle 4"/>
          <p:cNvSpPr/>
          <p:nvPr/>
        </p:nvSpPr>
        <p:spPr>
          <a:xfrm>
            <a:off x="640080" y="4846320"/>
            <a:ext cx="1920240" cy="30480"/>
          </a:xfrm>
          <a:prstGeom prst="rect">
            <a:avLst/>
          </a:prstGeom>
          <a:solidFill>
            <a:srgbClr val="B03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084064"/>
            <a:ext cx="10424160" cy="731520"/>
          </a:xfrm>
          <a:prstGeom prst="rect">
            <a:avLst/>
          </a:prstGeom>
          <a:noFill/>
        </p:spPr>
        <p:txBody>
          <a:bodyPr wrap="square" anchor="t" lIns="27432" rIns="27432" tIns="0" bIns="0">
            <a:spAutoFit/>
          </a:bodyPr>
          <a:lstStyle/>
          <a:p>
            <a:pPr algn="l">
              <a:lnSpc>
                <a:spcPct val="110000"/>
              </a:lnSpc>
              <a:spcBef>
                <a:spcPts val="0"/>
              </a:spcBef>
              <a:spcAft>
                <a:spcPts val="0"/>
              </a:spcAft>
            </a:pPr>
            <a:r>
              <a:rPr sz="2000" b="1">
                <a:solidFill>
                  <a:srgbClr val="111111"/>
                </a:solidFill>
                <a:latin typeface="Arial"/>
                <a:ea typeface="微软雅黑"/>
                <a:cs typeface="Arial"/>
              </a:rPr>
              <a:t>谢谢各位老师，请批评指正。</a:t>
            </a:r>
          </a:p>
        </p:txBody>
      </p:sp>
      <p:sp>
        <p:nvSpPr>
          <p:cNvPr id="7" name="TextBox 6"/>
          <p:cNvSpPr txBox="1"/>
          <p:nvPr/>
        </p:nvSpPr>
        <p:spPr>
          <a:xfrm>
            <a:off x="640080" y="6419088"/>
            <a:ext cx="8778240" cy="310896"/>
          </a:xfrm>
          <a:prstGeom prst="rect">
            <a:avLst/>
          </a:prstGeom>
          <a:noFill/>
        </p:spPr>
        <p:txBody>
          <a:bodyPr wrap="square" anchor="t" lIns="27432" rIns="27432" tIns="0" bIns="0">
            <a:spAutoFit/>
          </a:bodyPr>
          <a:lstStyle/>
          <a:p>
            <a:pPr algn="l">
              <a:lnSpc>
                <a:spcPct val="100000"/>
              </a:lnSpc>
              <a:spcBef>
                <a:spcPts val="0"/>
              </a:spcBef>
              <a:spcAft>
                <a:spcPts val="0"/>
              </a:spcAft>
            </a:pPr>
            <a:r>
              <a:rPr sz="1500" b="0">
                <a:solidFill>
                  <a:srgbClr val="777777"/>
                </a:solidFill>
                <a:latin typeface="Arial"/>
                <a:ea typeface="微软雅黑"/>
                <a:cs typeface="Arial"/>
              </a:rPr>
              <a:t>研究生论文中期检查 · 文绍华</a:t>
            </a:r>
          </a:p>
        </p:txBody>
      </p:sp>
      <p:sp>
        <p:nvSpPr>
          <p:cNvPr id="8" name="TextBox 7"/>
          <p:cNvSpPr txBox="1"/>
          <p:nvPr/>
        </p:nvSpPr>
        <p:spPr>
          <a:xfrm>
            <a:off x="10058400" y="6419088"/>
            <a:ext cx="1490472" cy="310896"/>
          </a:xfrm>
          <a:prstGeom prst="rect">
            <a:avLst/>
          </a:prstGeom>
          <a:noFill/>
        </p:spPr>
        <p:txBody>
          <a:bodyPr wrap="square" anchor="t" lIns="27432" rIns="27432" tIns="0" bIns="0">
            <a:spAutoFit/>
          </a:bodyPr>
          <a:lstStyle/>
          <a:p>
            <a:pPr algn="r">
              <a:lnSpc>
                <a:spcPct val="100000"/>
              </a:lnSpc>
              <a:spcBef>
                <a:spcPts val="0"/>
              </a:spcBef>
              <a:spcAft>
                <a:spcPts val="0"/>
              </a:spcAft>
            </a:pPr>
            <a:r>
              <a:rPr sz="1500" b="0">
                <a:solidFill>
                  <a:srgbClr val="777777"/>
                </a:solidFill>
                <a:latin typeface="Arial"/>
                <a:ea typeface="微软雅黑"/>
                <a:cs typeface="Arial"/>
              </a:rP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