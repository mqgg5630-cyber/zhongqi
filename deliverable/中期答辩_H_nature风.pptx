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研究背景分三点：AD 与肠道微生物组的关系已有较多证据；微生物基因组编码的抗菌肽是可能的效应分子；现有研究缺少面向 AD 人群并按认知阶段分层的分析。由此提出本次研究的切入点。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整体研究分四层：数据与序列、预测、统计与表达、功能。前三层已完成，第四层正在进行，这也是本次中期检查要重点汇报的完成度。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队列按认知功能分五个阶段：NC、SCS、SCD、MCI 与 AD，样本的临床分组信息与测序数据一一对应，为后续的分阶段差异分析提供可比的基础。</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这页说明整体流程：从测序数据到候选抗菌肽清单，共十二步，输入输出都可追溯。工具链是 fastp 与 KneadData 做质控去宿主，MEGAHIT 组装，MetaBAT2、MaxBin2 与 CONCOCT 多算法联合分箱后 metaWRAP 提纯，dRep 按 95% ANI 去冗余得到参考基因组集，EMBOSS getorf 预测 sORF 并做序列级去冗余，Attention / LSTM / BERT 三模型一致阳性才纳入候选，CoverM 定量并做 CLR 变换，用 Kruskal-Wallis 与 Mann-Whitney U 做组间检验，再用宏蛋白组表达证据二次去重。前九步已经在中期前完成，最后三步正在推进——机制关联分析、抑菌实验验证与结果整理。</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分组方式是这页的重点：五个认知阶段，每阶段内再按性别与三个年龄段分层，共三十个分层单元；每个单元内按年龄与性别匹配，最终选出 265 例匹配亚队列——各阶段 53 例、每组 35 女 / 18 男，组间平均年龄最大差 1.8 岁，这样阶段之间的差异不会来自年龄与性别构成。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这一页是整体路线：前五项，也就是数据、短肽库、预测、分阶段差异和宏蛋白组去重，已经全部完成；后两项机制关联分析和抑菌实验验证正在推进。</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三个模型分别预测，只有三者一致判为阳性的序列才纳入候选集合。这样处理的目的是降低单一模型带来的假阳性，提高候选集合的可信度；这一步已经完成。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差异分析按认知阶段分组，比较各阶段与健康人群之间候选抗菌肽的丰度与组成差异，得到一批随病程变化明显的候选抗菌肽，作为后续筛选的输入。这一步也已完成。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在序列去冗余的基础上，引入宏蛋白组的表达证据做二次去重，只保留在蛋白层面真实存在、可检出的抗菌肽；再按组内共有、组间特比较，得到健康人群特有与各疾病阶段特有的抗菌肽清单。这一步已完成。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机制关联参照乙酰胆碱酯酶—β-淀粉样肽复合物分子模拟研究的思路，方向按致病方向设定：微生物来源的淀粉样蛋白与内毒素已有先例——FapC 与 CsgA 种子加速 Aβ 纤维化并在动物模型中加重病理，LPS 缩短成核滞后期并诱导斑块与 p-tau，LL-37 与 Aβ 形成异源团簇、生成更毒的聚集体。因此分析的是候选肽是否促进 Aβ 成核与聚集、是否经 AChE 外周阴离子位点推动成核、是否经免疫与炎症通路放大神经炎症，而不是去证明它抑制 AD；结论定位为线索发现与优先序。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抑菌实验验证选取有代表性的候选抗菌肽进行人工合成，以大肠杆菌与金黄色葡萄球菌作为指示菌，先用纸片扩散法观察抑菌圈做初筛，再用微量肉汤稀释法测定最低抑菌浓度，并设置阳性对照与阴性对照。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进度上，前五项已经全部完成，当前集中在机制关联分析与抑菌实验验证两件事上，论文撰写同步推进，整体进度与开题安排一致。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目前识别出三个问题：预测假阳性、部分样本缺少参考基因组、机制关联证据强度有限。三者都有对应处理办法，不影响整体进度。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后续收尾分三块：机制关联分析、抑菌实验验证，以及结果整理与论文撰写。这些工作以已完成的数据与分析流程为基础，不再涉及大规模数据生产。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可复用的分析流程、特有抗菌肽清单、机制关联与抑菌活性结果，以及投稿论文与学位论文。同时说明现阶段的边界：机制关联是计算预测、抑菌实验只覆盖代表性候选肽、阶段划分依据队列既有标签，这些限定会在论文中写清楚。</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这页把抗菌肽与 AD 的关联拆成七环，并标出每一环的证据强度：蓝色是已有实验或临床证据，绿色是计算方法能给出候选与优先序的部分，橙色是本课题要回答或需要验证的部分。第六环要特别说清楚：本课题验证的是致病方向——筛选出的候选抗菌肽是否像 FapC、CsgA 与 LL-37 那样推动 Aβ 成核聚集与神经炎症，而不是去证明它抑制 AD。老师问任何一环，都能说清这一环目前的证据到什么程度。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 AD 组更多？因为存在一个正反馈：菌群失衡与肠屏障通透性增加使内毒素长期刺激宿主，经 TLR4 与 NF-κB 通路升高促炎因子，促炎因子又上调 Aβ 与抗菌肽的生成；聚集后的 Aβ 激活小胶质细胞产生更多炎症介质，循环自我加强。这也是抗菌保护假说的现代表述。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 PAS 后，复合物在 1 微秒模拟中保持稳定，主要停留区段是 344—361，该区段紧邻 PAS 但不受双位点抑制剂的位阻。这一段界面既是 Aβ 成核的场所，也是候选抗菌肽最可能介入的位置。与按“抑制聚集”提问不同，本课题的动力学按致病方向设计——检验候选肽是否促进成核与聚集，这样设计的依据是微生物来源的淀粉样蛋白与内毒素已有直接先例：FapC 与 CsgA 种子催化 Aβ 纤维化并在动物模型中加重病理 [47][48]，LPS 缩短滞后期、其内毒素血症模型中 7—9 天出现 Aβ 斑块与 p-tau [49][50]，LL-37 与 Aβ40 形成异源团簇、生成更毒的聚集体并经 CLIC1 造成小鼠与猴模型的 AD 样病理 [6][53]。由此提出三个假设：H1 结合 PAS 与 344—361 促进成核与聚集、H2 结合 Aβ 生成区加速纤维化或推向更毒寡聚体、H3 在膜与小胶质水平放大炎症信号；验证路径是先用对接与动力学给出致病方向的优先序，再用 ThT 聚集动力学、电镜形态与细胞毒性实验给证据。</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这页说明分子机制为什么能解释得通：抗菌肽与 Aβ 结构兼容，可以交叉成核，方向取决于界面与浓度。支撑这一机制的模拟证据已经比较完整：AChE–Aβ 的 1 微秒模拟、AChE 疏水基序掺入纤维、LL-37 与淀粉样肽的离散动力学、抗菌肽类分子与 Aβ 的对接加动力学并用实验验证、以及五肽库筛选破坏 D23–K28 盐桥。这些结果说明用对接与动力学研究候选肽与 Aβ/AChE 的界面是可行的。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这张表把老师提出的八个问题逐条列出，并给出答案要点与证据强度。需要说明两件事：第一，机制与动力学一律按致病方向表述——只问候选抗菌肽是否推动 AD，不写“抑制 AD”，抗菌活性放在第六问作为本职功能；第二，致病方向的体内外证据已经存在（细菌淀粉样蛋白、内毒素与 LL-37），但针对本课题筛出的候选肽仍属假设，因此标注为中—强；微生物源抗菌肽在 AD 中的变化正是本课题要补的一环。</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机制说明文档《抗菌肽与AD关联机制说明》共整理 58 条文献，覆盖 AD 与感染、宿主抗菌肽在 AD 中的变化、抗菌肽预测方法、菌群分期、AChE–Aβ 与交叉成核的分子模拟、细菌淀粉样蛋白与内毒素推动 Aβ 聚集的致病方向证据，以及作为反例的乳铁蛋白下降与α-防御素抑制纤维化的证据。这里列出其中十三条代表性文献及其结论。</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总结一下：主体分析工作已经在中期完成，剩余是机制关联的结论整理、抑菌实验验证和论文撰写，整体风险可控。我的汇报到此结束，请各位老师批评指正。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a:t>
            </a:r>
          </a:p>
          <a:p>
            <a:pPr algn="l">
              <a:lnSpc>
                <a:spcPct val="134000"/>
              </a:lnSpc>
              <a:spcBef>
                <a:spcPts val="1400"/>
              </a:spcBef>
              <a:spcAft>
                <a:spcPts val="0"/>
              </a:spcAft>
            </a:pPr>
            <a:r>
              <a:rPr sz="1800" b="0">
                <a:solidFill>
                  <a:srgbClr val="333333"/>
                </a:solidFill>
                <a:latin typeface="Arial"/>
                <a:ea typeface="微软雅黑"/>
                <a:cs typeface="Arial"/>
              </a:rPr>
              <a:t>现有抗菌肽研究多基于通用训练集与宿主来源序列，缺少面向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两个约束条件：</a:t>
            </a:r>
          </a:p>
          <a:p>
            <a:pPr algn="l">
              <a:lnSpc>
                <a:spcPct val="130000"/>
              </a:lnSpc>
              <a:spcBef>
                <a:spcPts val="1200"/>
              </a:spcBef>
              <a:spcAft>
                <a:spcPts val="0"/>
              </a:spcAft>
            </a:pPr>
            <a:r>
              <a:rPr sz="1600" b="0">
                <a:solidFill>
                  <a:srgbClr val="777777"/>
                </a:solidFill>
                <a:latin typeface="Arial"/>
                <a:ea typeface="微软雅黑"/>
                <a:cs typeface="Arial"/>
              </a:rPr>
              <a:t>① 计算预测必须有多模型与表达层面的相互印证；</a:t>
            </a:r>
          </a:p>
          <a:p>
            <a:pPr algn="l">
              <a:lnSpc>
                <a:spcPct val="130000"/>
              </a:lnSpc>
              <a:spcBef>
                <a:spcPts val="1200"/>
              </a:spcBef>
              <a:spcAft>
                <a:spcPts val="0"/>
              </a:spcAft>
            </a:pPr>
            <a:r>
              <a:rPr sz="1600" b="0">
                <a:solidFill>
                  <a:srgbClr val="777777"/>
                </a:solidFill>
                <a:latin typeface="Arial"/>
                <a:ea typeface="微软雅黑"/>
                <a:cs typeface="Arial"/>
              </a:rPr>
              <a:t>② 验证手段要在常规实验室条件下可完成。</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数据与序列层：全队列宏基因组数据统一处理，构建微生物源短肽库并保留来源可追溯信息。</a:t>
            </a:r>
          </a:p>
          <a:p>
            <a:pPr algn="l">
              <a:lnSpc>
                <a:spcPct val="134000"/>
              </a:lnSpc>
              <a:spcBef>
                <a:spcPts val="1400"/>
              </a:spcBef>
              <a:spcAft>
                <a:spcPts val="0"/>
              </a:spcAft>
            </a:pPr>
            <a:r>
              <a:rPr sz="1800" b="0">
                <a:solidFill>
                  <a:srgbClr val="333333"/>
                </a:solidFill>
                <a:latin typeface="Arial"/>
                <a:ea typeface="微软雅黑"/>
                <a:cs typeface="Arial"/>
              </a:rPr>
              <a:t>预测层：三类深度学习模型独立预测，取一致阳性序列构成候选抗菌肽集合。</a:t>
            </a:r>
          </a:p>
          <a:p>
            <a:pPr algn="l">
              <a:lnSpc>
                <a:spcPct val="134000"/>
              </a:lnSpc>
              <a:spcBef>
                <a:spcPts val="1400"/>
              </a:spcBef>
              <a:spcAft>
                <a:spcPts val="0"/>
              </a:spcAft>
            </a:pPr>
            <a:r>
              <a:rPr sz="1800" b="0">
                <a:solidFill>
                  <a:srgbClr val="333333"/>
                </a:solidFill>
                <a:latin typeface="Arial"/>
                <a:ea typeface="微软雅黑"/>
                <a:cs typeface="Arial"/>
              </a:rPr>
              <a:t>统计与表达层：按认知阶段比较差异，并以宏蛋白组表达证据二次去重，筛选健康人群特有与各阶段特有抗菌肽。</a:t>
            </a:r>
          </a:p>
          <a:p>
            <a:pPr algn="l">
              <a:lnSpc>
                <a:spcPct val="134000"/>
              </a:lnSpc>
              <a:spcBef>
                <a:spcPts val="1400"/>
              </a:spcBef>
              <a:spcAft>
                <a:spcPts val="0"/>
              </a:spcAft>
            </a:pPr>
            <a:r>
              <a:rPr sz="1800" b="0">
                <a:solidFill>
                  <a:srgbClr val="333333"/>
                </a:solidFill>
                <a:latin typeface="Arial"/>
                <a:ea typeface="微软雅黑"/>
                <a:cs typeface="Arial"/>
              </a:rPr>
              <a:t>功能层：对特有抗菌肽开展发病机制关联分析与抑菌实验验证。</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当前状态：</a:t>
            </a:r>
          </a:p>
          <a:p>
            <a:pPr algn="l">
              <a:lnSpc>
                <a:spcPct val="130000"/>
              </a:lnSpc>
              <a:spcBef>
                <a:spcPts val="1200"/>
              </a:spcBef>
              <a:spcAft>
                <a:spcPts val="0"/>
              </a:spcAft>
            </a:pPr>
            <a:r>
              <a:rPr sz="1600" b="0">
                <a:solidFill>
                  <a:srgbClr val="777777"/>
                </a:solidFill>
                <a:latin typeface="Arial"/>
                <a:ea typeface="微软雅黑"/>
                <a:cs typeface="Arial"/>
              </a:rPr>
              <a:t>前四层中的前三层已完成，功能层正在实施；</a:t>
            </a:r>
          </a:p>
          <a:p>
            <a:pPr algn="l">
              <a:lnSpc>
                <a:spcPct val="130000"/>
              </a:lnSpc>
              <a:spcBef>
                <a:spcPts val="1200"/>
              </a:spcBef>
              <a:spcAft>
                <a:spcPts val="0"/>
              </a:spcAft>
            </a:pPr>
            <a:r>
              <a:rPr sz="1600" b="0">
                <a:solidFill>
                  <a:srgbClr val="777777"/>
                </a:solidFill>
                <a:latin typeface="Arial"/>
                <a:ea typeface="微软雅黑"/>
                <a:cs typeface="Arial"/>
              </a:rPr>
              <a:t>整体进度与开题计划一致。</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队列按认知功能分阶段，样本与元数据一一对应</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26464"/>
            <a:ext cx="10424160" cy="1097280"/>
          </a:xfrm>
          <a:prstGeom prst="rect">
            <a:avLst/>
          </a:prstGeom>
          <a:noFill/>
        </p:spPr>
        <p:txBody>
          <a:bodyPr wrap="square" anchor="t" lIns="27432" rIns="27432" tIns="0" bIns="0">
            <a:spAutoFit/>
          </a:bodyPr>
          <a:lstStyle/>
          <a:p>
            <a:pPr algn="l">
              <a:lnSpc>
                <a:spcPct val="132000"/>
              </a:lnSpc>
              <a:spcBef>
                <a:spcPts val="0"/>
              </a:spcBef>
              <a:spcAft>
                <a:spcPts val="0"/>
              </a:spcAft>
            </a:pPr>
            <a:r>
              <a:rPr sz="1900" b="0">
                <a:solidFill>
                  <a:srgbClr val="333333"/>
                </a:solidFill>
                <a:latin typeface="Arial"/>
                <a:ea typeface="微软雅黑"/>
                <a:cs typeface="Arial"/>
              </a:rPr>
              <a:t>以公开宏基因组队列为对象，按认知功能与临床诊断把样本分为五个阶段，用于比较候选抗菌肽在病程中的变化。</a:t>
            </a:r>
          </a:p>
        </p:txBody>
      </p:sp>
      <p:sp>
        <p:nvSpPr>
          <p:cNvPr id="5" name="Rectangle 4"/>
          <p:cNvSpPr/>
          <p:nvPr/>
        </p:nvSpPr>
        <p:spPr>
          <a:xfrm>
            <a:off x="640080"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NC</a:t>
            </a:r>
          </a:p>
          <a:p>
            <a:pPr algn="l">
              <a:lnSpc>
                <a:spcPct val="120000"/>
              </a:lnSpc>
              <a:spcBef>
                <a:spcPts val="400"/>
              </a:spcBef>
              <a:spcAft>
                <a:spcPts val="0"/>
              </a:spcAft>
            </a:pPr>
            <a:r>
              <a:rPr sz="1500" b="0">
                <a:solidFill>
                  <a:srgbClr val="777777"/>
                </a:solidFill>
                <a:latin typeface="Arial"/>
                <a:ea typeface="微软雅黑"/>
                <a:cs typeface="Arial"/>
              </a:rPr>
              <a:t>认知正常对照</a:t>
            </a:r>
          </a:p>
        </p:txBody>
      </p:sp>
      <p:sp>
        <p:nvSpPr>
          <p:cNvPr id="7" name="Rectangle 6"/>
          <p:cNvSpPr/>
          <p:nvPr/>
        </p:nvSpPr>
        <p:spPr>
          <a:xfrm>
            <a:off x="286572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6572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SCS</a:t>
            </a:r>
          </a:p>
          <a:p>
            <a:pPr algn="l">
              <a:lnSpc>
                <a:spcPct val="120000"/>
              </a:lnSpc>
              <a:spcBef>
                <a:spcPts val="400"/>
              </a:spcBef>
              <a:spcAft>
                <a:spcPts val="0"/>
              </a:spcAft>
            </a:pPr>
            <a:r>
              <a:rPr sz="1500" b="0">
                <a:solidFill>
                  <a:srgbClr val="777777"/>
                </a:solidFill>
                <a:latin typeface="Arial"/>
                <a:ea typeface="微软雅黑"/>
                <a:cs typeface="Arial"/>
              </a:rPr>
              <a:t>主观认知下降</a:t>
            </a:r>
          </a:p>
        </p:txBody>
      </p:sp>
      <p:sp>
        <p:nvSpPr>
          <p:cNvPr id="9" name="Rectangle 8"/>
          <p:cNvSpPr/>
          <p:nvPr/>
        </p:nvSpPr>
        <p:spPr>
          <a:xfrm>
            <a:off x="509137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9137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SCD</a:t>
            </a:r>
          </a:p>
          <a:p>
            <a:pPr algn="l">
              <a:lnSpc>
                <a:spcPct val="120000"/>
              </a:lnSpc>
              <a:spcBef>
                <a:spcPts val="400"/>
              </a:spcBef>
              <a:spcAft>
                <a:spcPts val="0"/>
              </a:spcAft>
            </a:pPr>
            <a:r>
              <a:rPr sz="1500" b="0">
                <a:solidFill>
                  <a:srgbClr val="777777"/>
                </a:solidFill>
                <a:latin typeface="Arial"/>
                <a:ea typeface="微软雅黑"/>
                <a:cs typeface="Arial"/>
              </a:rPr>
              <a:t>可疑认知障碍</a:t>
            </a:r>
          </a:p>
        </p:txBody>
      </p:sp>
      <p:sp>
        <p:nvSpPr>
          <p:cNvPr id="11" name="Rectangle 10"/>
          <p:cNvSpPr/>
          <p:nvPr/>
        </p:nvSpPr>
        <p:spPr>
          <a:xfrm>
            <a:off x="7317028"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702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MCI</a:t>
            </a:r>
          </a:p>
          <a:p>
            <a:pPr algn="l">
              <a:lnSpc>
                <a:spcPct val="120000"/>
              </a:lnSpc>
              <a:spcBef>
                <a:spcPts val="400"/>
              </a:spcBef>
              <a:spcAft>
                <a:spcPts val="0"/>
              </a:spcAft>
            </a:pPr>
            <a:r>
              <a:rPr sz="1500" b="0">
                <a:solidFill>
                  <a:srgbClr val="777777"/>
                </a:solidFill>
                <a:latin typeface="Arial"/>
                <a:ea typeface="微软雅黑"/>
                <a:cs typeface="Arial"/>
              </a:rPr>
              <a:t>轻度认知障碍</a:t>
            </a:r>
          </a:p>
        </p:txBody>
      </p:sp>
      <p:sp>
        <p:nvSpPr>
          <p:cNvPr id="13" name="Rectangle 12"/>
          <p:cNvSpPr/>
          <p:nvPr/>
        </p:nvSpPr>
        <p:spPr>
          <a:xfrm>
            <a:off x="9542678" y="3017520"/>
            <a:ext cx="2006193"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4267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AD</a:t>
            </a:r>
          </a:p>
          <a:p>
            <a:pPr algn="l">
              <a:lnSpc>
                <a:spcPct val="120000"/>
              </a:lnSpc>
              <a:spcBef>
                <a:spcPts val="400"/>
              </a:spcBef>
              <a:spcAft>
                <a:spcPts val="0"/>
              </a:spcAft>
            </a:pPr>
            <a:r>
              <a:rPr sz="1500" b="0">
                <a:solidFill>
                  <a:srgbClr val="777777"/>
                </a:solidFill>
                <a:latin typeface="Arial"/>
                <a:ea typeface="微软雅黑"/>
                <a:cs typeface="Arial"/>
              </a:rPr>
              <a:t>阿尔茨海默症</a:t>
            </a:r>
          </a:p>
        </p:txBody>
      </p:sp>
      <p:sp>
        <p:nvSpPr>
          <p:cNvPr id="15" name="Rectangle 14"/>
          <p:cNvSpPr/>
          <p:nvPr/>
        </p:nvSpPr>
        <p:spPr>
          <a:xfrm>
            <a:off x="640080" y="444398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663440"/>
            <a:ext cx="10424160" cy="100584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333333"/>
                </a:solidFill>
                <a:latin typeface="Arial"/>
                <a:ea typeface="微软雅黑"/>
                <a:cs typeface="Arial"/>
              </a:rPr>
              <a:t>分析口径：全部样本使用同一套处理流程与参数，分组信息与测序数据一一对应。</a:t>
            </a:r>
          </a:p>
        </p:txBody>
      </p:sp>
      <p:sp>
        <p:nvSpPr>
          <p:cNvPr id="17" name="TextBox 1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8" name="TextBox 1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宏基因组分析流程：从测序数据到候选抗菌肽清单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08792" cy="274320"/>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流程按“数据 → 序列 → 预测 → 统计 → 功能”顺序推进，每一步的输入输出都可追溯。</a:t>
            </a:r>
          </a:p>
        </p:txBody>
      </p:sp>
      <p:sp>
        <p:nvSpPr>
          <p:cNvPr id="5" name="Rectangle 4"/>
          <p:cNvSpPr/>
          <p:nvPr/>
        </p:nvSpPr>
        <p:spPr>
          <a:xfrm>
            <a:off x="64008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① </a:t>
            </a:r>
            <a:r>
              <a:rPr sz="1500" b="1">
                <a:solidFill>
                  <a:srgbClr val="111111"/>
                </a:solidFill>
                <a:latin typeface="Arial"/>
                <a:ea typeface="微软雅黑"/>
                <a:cs typeface="Arial"/>
              </a:rPr>
              <a:t>测序与质控</a:t>
            </a:r>
          </a:p>
          <a:p>
            <a:pPr algn="l">
              <a:lnSpc>
                <a:spcPct val="116000"/>
              </a:lnSpc>
              <a:spcBef>
                <a:spcPts val="400"/>
              </a:spcBef>
              <a:spcAft>
                <a:spcPts val="0"/>
              </a:spcAft>
            </a:pPr>
            <a:r>
              <a:rPr sz="1500" b="0">
                <a:solidFill>
                  <a:srgbClr val="333333"/>
                </a:solidFill>
                <a:latin typeface="Arial"/>
                <a:ea typeface="微软雅黑"/>
                <a:cs typeface="Arial"/>
              </a:rPr>
              <a:t>fastp 质控
KneadData 去宿主</a:t>
            </a:r>
          </a:p>
        </p:txBody>
      </p:sp>
      <p:sp>
        <p:nvSpPr>
          <p:cNvPr id="6" name="Rectangle 5"/>
          <p:cNvSpPr/>
          <p:nvPr/>
        </p:nvSpPr>
        <p:spPr>
          <a:xfrm>
            <a:off x="64008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2375916"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481072"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② </a:t>
            </a:r>
            <a:r>
              <a:rPr sz="1500" b="1">
                <a:solidFill>
                  <a:srgbClr val="111111"/>
                </a:solidFill>
                <a:latin typeface="Arial"/>
                <a:ea typeface="微软雅黑"/>
                <a:cs typeface="Arial"/>
              </a:rPr>
              <a:t>组装与分箱</a:t>
            </a:r>
          </a:p>
          <a:p>
            <a:pPr algn="l">
              <a:lnSpc>
                <a:spcPct val="116000"/>
              </a:lnSpc>
              <a:spcBef>
                <a:spcPts val="400"/>
              </a:spcBef>
              <a:spcAft>
                <a:spcPts val="0"/>
              </a:spcAft>
            </a:pPr>
            <a:r>
              <a:rPr sz="1500" b="0">
                <a:solidFill>
                  <a:srgbClr val="333333"/>
                </a:solidFill>
                <a:latin typeface="Arial"/>
                <a:ea typeface="微软雅黑"/>
                <a:cs typeface="Arial"/>
              </a:rPr>
              <a:t>MEGAHIT 组装
MetaBAT2 分箱
CONCOCT 分箱</a:t>
            </a:r>
          </a:p>
        </p:txBody>
      </p:sp>
      <p:sp>
        <p:nvSpPr>
          <p:cNvPr id="9" name="Rectangle 8"/>
          <p:cNvSpPr/>
          <p:nvPr/>
        </p:nvSpPr>
        <p:spPr>
          <a:xfrm>
            <a:off x="2481072"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216908"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2064"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③ </a:t>
            </a:r>
            <a:r>
              <a:rPr sz="1500" b="1">
                <a:solidFill>
                  <a:srgbClr val="111111"/>
                </a:solidFill>
                <a:latin typeface="Arial"/>
                <a:ea typeface="微软雅黑"/>
                <a:cs typeface="Arial"/>
              </a:rPr>
              <a:t>参考基因组集</a:t>
            </a:r>
          </a:p>
          <a:p>
            <a:pPr algn="l">
              <a:lnSpc>
                <a:spcPct val="116000"/>
              </a:lnSpc>
              <a:spcBef>
                <a:spcPts val="400"/>
              </a:spcBef>
              <a:spcAft>
                <a:spcPts val="0"/>
              </a:spcAft>
            </a:pPr>
            <a:r>
              <a:rPr sz="1500" b="0">
                <a:solidFill>
                  <a:srgbClr val="333333"/>
                </a:solidFill>
                <a:latin typeface="Arial"/>
                <a:ea typeface="微软雅黑"/>
                <a:cs typeface="Arial"/>
              </a:rPr>
              <a:t>metaWRAP 提纯
dRep 去冗余</a:t>
            </a:r>
          </a:p>
        </p:txBody>
      </p:sp>
      <p:sp>
        <p:nvSpPr>
          <p:cNvPr id="12" name="Rectangle 11"/>
          <p:cNvSpPr/>
          <p:nvPr/>
        </p:nvSpPr>
        <p:spPr>
          <a:xfrm>
            <a:off x="4322064"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57900"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3056"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④ </a:t>
            </a:r>
            <a:r>
              <a:rPr sz="1500" b="1">
                <a:solidFill>
                  <a:srgbClr val="111111"/>
                </a:solidFill>
                <a:latin typeface="Arial"/>
                <a:ea typeface="微软雅黑"/>
                <a:cs typeface="Arial"/>
              </a:rPr>
              <a:t>sORF 预测</a:t>
            </a:r>
          </a:p>
          <a:p>
            <a:pPr algn="l">
              <a:lnSpc>
                <a:spcPct val="116000"/>
              </a:lnSpc>
              <a:spcBef>
                <a:spcPts val="400"/>
              </a:spcBef>
              <a:spcAft>
                <a:spcPts val="0"/>
              </a:spcAft>
            </a:pPr>
            <a:r>
              <a:rPr sz="1500" b="0">
                <a:solidFill>
                  <a:srgbClr val="333333"/>
                </a:solidFill>
                <a:latin typeface="Arial"/>
                <a:ea typeface="微软雅黑"/>
                <a:cs typeface="Arial"/>
              </a:rPr>
              <a:t>EMBOSS getorf
长度 5—50 aa</a:t>
            </a:r>
          </a:p>
        </p:txBody>
      </p:sp>
      <p:sp>
        <p:nvSpPr>
          <p:cNvPr id="15" name="Rectangle 14"/>
          <p:cNvSpPr/>
          <p:nvPr/>
        </p:nvSpPr>
        <p:spPr>
          <a:xfrm>
            <a:off x="6163056"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898892"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4048"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⑤ </a:t>
            </a:r>
            <a:r>
              <a:rPr sz="1500" b="1">
                <a:solidFill>
                  <a:srgbClr val="111111"/>
                </a:solidFill>
                <a:latin typeface="Arial"/>
                <a:ea typeface="微软雅黑"/>
                <a:cs typeface="Arial"/>
              </a:rPr>
              <a:t>去冗余建库</a:t>
            </a:r>
          </a:p>
          <a:p>
            <a:pPr algn="l">
              <a:lnSpc>
                <a:spcPct val="116000"/>
              </a:lnSpc>
              <a:spcBef>
                <a:spcPts val="400"/>
              </a:spcBef>
              <a:spcAft>
                <a:spcPts val="0"/>
              </a:spcAft>
            </a:pPr>
            <a:r>
              <a:rPr sz="1500" b="0">
                <a:solidFill>
                  <a:srgbClr val="333333"/>
                </a:solidFill>
                <a:latin typeface="Arial"/>
                <a:ea typeface="微软雅黑"/>
                <a:cs typeface="Arial"/>
              </a:rPr>
              <a:t>序列级精确去冗余
非冗余短肽库</a:t>
            </a:r>
          </a:p>
        </p:txBody>
      </p:sp>
      <p:sp>
        <p:nvSpPr>
          <p:cNvPr id="18" name="Rectangle 17"/>
          <p:cNvSpPr/>
          <p:nvPr/>
        </p:nvSpPr>
        <p:spPr>
          <a:xfrm>
            <a:off x="8004048"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9739884"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4504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⑥ </a:t>
            </a:r>
            <a:r>
              <a:rPr sz="1500" b="1">
                <a:solidFill>
                  <a:srgbClr val="111111"/>
                </a:solidFill>
                <a:latin typeface="Arial"/>
                <a:ea typeface="微软雅黑"/>
                <a:cs typeface="Arial"/>
              </a:rPr>
              <a:t>共识预测</a:t>
            </a:r>
          </a:p>
          <a:p>
            <a:pPr algn="l">
              <a:lnSpc>
                <a:spcPct val="116000"/>
              </a:lnSpc>
              <a:spcBef>
                <a:spcPts val="400"/>
              </a:spcBef>
              <a:spcAft>
                <a:spcPts val="0"/>
              </a:spcAft>
            </a:pPr>
            <a:r>
              <a:rPr sz="1500" b="0">
                <a:solidFill>
                  <a:srgbClr val="333333"/>
                </a:solidFill>
                <a:latin typeface="Arial"/>
                <a:ea typeface="微软雅黑"/>
                <a:cs typeface="Arial"/>
              </a:rPr>
              <a:t>Attention / LSTM
/ BERT 一致阳性</a:t>
            </a:r>
          </a:p>
        </p:txBody>
      </p:sp>
      <p:sp>
        <p:nvSpPr>
          <p:cNvPr id="21" name="Rectangle 20"/>
          <p:cNvSpPr/>
          <p:nvPr/>
        </p:nvSpPr>
        <p:spPr>
          <a:xfrm>
            <a:off x="984504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wn Arrow 21"/>
          <p:cNvSpPr/>
          <p:nvPr/>
        </p:nvSpPr>
        <p:spPr>
          <a:xfrm>
            <a:off x="10642092" y="2898648"/>
            <a:ext cx="109728" cy="201168"/>
          </a:xfrm>
          <a:prstGeom prst="down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⑦ </a:t>
            </a:r>
            <a:r>
              <a:rPr sz="1500" b="1">
                <a:solidFill>
                  <a:srgbClr val="111111"/>
                </a:solidFill>
                <a:latin typeface="Arial"/>
                <a:ea typeface="微软雅黑"/>
                <a:cs typeface="Arial"/>
              </a:rPr>
              <a:t>阶段差异分析</a:t>
            </a:r>
          </a:p>
          <a:p>
            <a:pPr algn="l">
              <a:lnSpc>
                <a:spcPct val="116000"/>
              </a:lnSpc>
              <a:spcBef>
                <a:spcPts val="400"/>
              </a:spcBef>
              <a:spcAft>
                <a:spcPts val="0"/>
              </a:spcAft>
            </a:pPr>
            <a:r>
              <a:rPr sz="1500" b="0">
                <a:solidFill>
                  <a:srgbClr val="333333"/>
                </a:solidFill>
                <a:latin typeface="Arial"/>
                <a:ea typeface="微软雅黑"/>
                <a:cs typeface="Arial"/>
              </a:rPr>
              <a:t>CoverM 定量
CLR 变换
Kruskal-Wallis</a:t>
            </a:r>
          </a:p>
        </p:txBody>
      </p:sp>
      <p:sp>
        <p:nvSpPr>
          <p:cNvPr id="24" name="Rectangle 23"/>
          <p:cNvSpPr/>
          <p:nvPr/>
        </p:nvSpPr>
        <p:spPr>
          <a:xfrm>
            <a:off x="640080"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eft Arrow 24"/>
          <p:cNvSpPr/>
          <p:nvPr/>
        </p:nvSpPr>
        <p:spPr>
          <a:xfrm>
            <a:off x="2375916"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81072"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⑧ </a:t>
            </a:r>
            <a:r>
              <a:rPr sz="1500" b="1">
                <a:solidFill>
                  <a:srgbClr val="111111"/>
                </a:solidFill>
                <a:latin typeface="Arial"/>
                <a:ea typeface="微软雅黑"/>
                <a:cs typeface="Arial"/>
              </a:rPr>
              <a:t>表达证据去重</a:t>
            </a:r>
          </a:p>
          <a:p>
            <a:pPr algn="l">
              <a:lnSpc>
                <a:spcPct val="116000"/>
              </a:lnSpc>
              <a:spcBef>
                <a:spcPts val="400"/>
              </a:spcBef>
              <a:spcAft>
                <a:spcPts val="0"/>
              </a:spcAft>
            </a:pPr>
            <a:r>
              <a:rPr sz="1500" b="0">
                <a:solidFill>
                  <a:srgbClr val="333333"/>
                </a:solidFill>
                <a:latin typeface="Arial"/>
                <a:ea typeface="微软雅黑"/>
                <a:cs typeface="Arial"/>
              </a:rPr>
              <a:t>宏蛋白组二次去重
剔除无表达序列</a:t>
            </a:r>
          </a:p>
        </p:txBody>
      </p:sp>
      <p:sp>
        <p:nvSpPr>
          <p:cNvPr id="27" name="Rectangle 26"/>
          <p:cNvSpPr/>
          <p:nvPr/>
        </p:nvSpPr>
        <p:spPr>
          <a:xfrm>
            <a:off x="2481072"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eft Arrow 27"/>
          <p:cNvSpPr/>
          <p:nvPr/>
        </p:nvSpPr>
        <p:spPr>
          <a:xfrm>
            <a:off x="4216908"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064"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⑨ </a:t>
            </a:r>
            <a:r>
              <a:rPr sz="1500" b="1">
                <a:solidFill>
                  <a:srgbClr val="111111"/>
                </a:solidFill>
                <a:latin typeface="Arial"/>
                <a:ea typeface="微软雅黑"/>
                <a:cs typeface="Arial"/>
              </a:rPr>
              <a:t>特有抗菌肽</a:t>
            </a:r>
          </a:p>
          <a:p>
            <a:pPr algn="l">
              <a:lnSpc>
                <a:spcPct val="116000"/>
              </a:lnSpc>
              <a:spcBef>
                <a:spcPts val="400"/>
              </a:spcBef>
              <a:spcAft>
                <a:spcPts val="0"/>
              </a:spcAft>
            </a:pPr>
            <a:r>
              <a:rPr sz="1500" b="0">
                <a:solidFill>
                  <a:srgbClr val="333333"/>
                </a:solidFill>
                <a:latin typeface="Arial"/>
                <a:ea typeface="微软雅黑"/>
                <a:cs typeface="Arial"/>
              </a:rPr>
              <a:t>健康人群特有肽
各阶段特有肽</a:t>
            </a:r>
          </a:p>
        </p:txBody>
      </p:sp>
      <p:sp>
        <p:nvSpPr>
          <p:cNvPr id="30" name="Rectangle 29"/>
          <p:cNvSpPr/>
          <p:nvPr/>
        </p:nvSpPr>
        <p:spPr>
          <a:xfrm>
            <a:off x="4322064"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eft Arrow 30"/>
          <p:cNvSpPr/>
          <p:nvPr/>
        </p:nvSpPr>
        <p:spPr>
          <a:xfrm>
            <a:off x="6057900"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⑩ </a:t>
            </a:r>
            <a:r>
              <a:rPr sz="1500" b="1">
                <a:solidFill>
                  <a:srgbClr val="111111"/>
                </a:solidFill>
                <a:latin typeface="Arial"/>
                <a:ea typeface="微软雅黑"/>
                <a:cs typeface="Arial"/>
              </a:rPr>
              <a:t>机制关联分析</a:t>
            </a:r>
          </a:p>
          <a:p>
            <a:pPr algn="l">
              <a:lnSpc>
                <a:spcPct val="116000"/>
              </a:lnSpc>
              <a:spcBef>
                <a:spcPts val="400"/>
              </a:spcBef>
              <a:spcAft>
                <a:spcPts val="0"/>
              </a:spcAft>
            </a:pPr>
            <a:r>
              <a:rPr sz="1500" b="0">
                <a:solidFill>
                  <a:srgbClr val="333333"/>
                </a:solidFill>
                <a:latin typeface="Arial"/>
                <a:ea typeface="微软雅黑"/>
                <a:cs typeface="Arial"/>
              </a:rPr>
              <a:t>分子对接 + 动力学
给出候选优先序</a:t>
            </a:r>
          </a:p>
        </p:txBody>
      </p:sp>
      <p:sp>
        <p:nvSpPr>
          <p:cNvPr id="33" name="Rectangle 32"/>
          <p:cNvSpPr/>
          <p:nvPr/>
        </p:nvSpPr>
        <p:spPr>
          <a:xfrm>
            <a:off x="6163056"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ft Arrow 33"/>
          <p:cNvSpPr/>
          <p:nvPr/>
        </p:nvSpPr>
        <p:spPr>
          <a:xfrm>
            <a:off x="7898892"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4048"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⑪ </a:t>
            </a:r>
            <a:r>
              <a:rPr sz="1500" b="1">
                <a:solidFill>
                  <a:srgbClr val="111111"/>
                </a:solidFill>
                <a:latin typeface="Arial"/>
                <a:ea typeface="微软雅黑"/>
                <a:cs typeface="Arial"/>
              </a:rPr>
              <a:t>抑菌实验验证</a:t>
            </a:r>
          </a:p>
          <a:p>
            <a:pPr algn="l">
              <a:lnSpc>
                <a:spcPct val="116000"/>
              </a:lnSpc>
              <a:spcBef>
                <a:spcPts val="400"/>
              </a:spcBef>
              <a:spcAft>
                <a:spcPts val="0"/>
              </a:spcAft>
            </a:pPr>
            <a:r>
              <a:rPr sz="1500" b="0">
                <a:solidFill>
                  <a:srgbClr val="333333"/>
                </a:solidFill>
                <a:latin typeface="Arial"/>
                <a:ea typeface="微软雅黑"/>
                <a:cs typeface="Arial"/>
              </a:rPr>
              <a:t>纸片扩散法筛查
微量肉汤稀释法 MIC</a:t>
            </a:r>
          </a:p>
        </p:txBody>
      </p:sp>
      <p:sp>
        <p:nvSpPr>
          <p:cNvPr id="36" name="Rectangle 35"/>
          <p:cNvSpPr/>
          <p:nvPr/>
        </p:nvSpPr>
        <p:spPr>
          <a:xfrm>
            <a:off x="8004048"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ft Arrow 36"/>
          <p:cNvSpPr/>
          <p:nvPr/>
        </p:nvSpPr>
        <p:spPr>
          <a:xfrm>
            <a:off x="9739884"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4504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⑫ </a:t>
            </a:r>
            <a:r>
              <a:rPr sz="1500" b="1">
                <a:solidFill>
                  <a:srgbClr val="111111"/>
                </a:solidFill>
                <a:latin typeface="Arial"/>
                <a:ea typeface="微软雅黑"/>
                <a:cs typeface="Arial"/>
              </a:rPr>
              <a:t>整理与撰写</a:t>
            </a:r>
          </a:p>
          <a:p>
            <a:pPr algn="l">
              <a:lnSpc>
                <a:spcPct val="116000"/>
              </a:lnSpc>
              <a:spcBef>
                <a:spcPts val="400"/>
              </a:spcBef>
              <a:spcAft>
                <a:spcPts val="0"/>
              </a:spcAft>
            </a:pPr>
            <a:r>
              <a:rPr sz="1500" b="0">
                <a:solidFill>
                  <a:srgbClr val="333333"/>
                </a:solidFill>
                <a:latin typeface="Arial"/>
                <a:ea typeface="微软雅黑"/>
                <a:cs typeface="Arial"/>
              </a:rPr>
              <a:t>学位论文与投稿
结果汇总</a:t>
            </a:r>
          </a:p>
        </p:txBody>
      </p:sp>
      <p:sp>
        <p:nvSpPr>
          <p:cNvPr id="39" name="Rectangle 38"/>
          <p:cNvSpPr/>
          <p:nvPr/>
        </p:nvSpPr>
        <p:spPr>
          <a:xfrm>
            <a:off x="984504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846320"/>
            <a:ext cx="3657600" cy="274320"/>
          </a:xfrm>
          <a:prstGeom prst="rect">
            <a:avLst/>
          </a:prstGeom>
          <a:noFill/>
        </p:spPr>
        <p:txBody>
          <a:bodyPr wrap="square" anchor="t" lIns="27432" rIns="27432" tIns="0" bIns="0">
            <a:spAutoFit/>
          </a:bodyPr>
          <a:lstStyle/>
          <a:p>
            <a:pPr>
              <a:lnSpc>
                <a:spcPct val="100000"/>
              </a:lnSpc>
              <a:spcBef>
                <a:spcPts val="0"/>
              </a:spcBef>
              <a:spcAft>
                <a:spcPts val="0"/>
              </a:spcAft>
            </a:pPr>
            <a:r>
              <a:rPr sz="1500" b="1">
                <a:solidFill>
                  <a:srgbClr val="2F5D62"/>
                </a:solidFill>
                <a:latin typeface="Arial"/>
                <a:ea typeface="微软雅黑"/>
                <a:cs typeface="Arial"/>
              </a:rPr>
              <a:t>■ </a:t>
            </a:r>
            <a:r>
              <a:rPr sz="1500" b="0">
                <a:solidFill>
                  <a:srgbClr val="333333"/>
                </a:solidFill>
                <a:latin typeface="Arial"/>
                <a:ea typeface="微软雅黑"/>
                <a:cs typeface="Arial"/>
              </a:rPr>
              <a:t>已完成　</a:t>
            </a:r>
            <a:r>
              <a:rPr sz="1500" b="1">
                <a:solidFill>
                  <a:srgbClr val="D98A2B"/>
                </a:solidFill>
                <a:latin typeface="Arial"/>
                <a:ea typeface="微软雅黑"/>
                <a:cs typeface="Arial"/>
              </a:rPr>
              <a:t>■ </a:t>
            </a:r>
            <a:r>
              <a:rPr sz="1500" b="0">
                <a:solidFill>
                  <a:srgbClr val="333333"/>
                </a:solidFill>
                <a:latin typeface="Arial"/>
                <a:ea typeface="微软雅黑"/>
                <a:cs typeface="Arial"/>
              </a:rPr>
              <a:t>正在推进</a:t>
            </a:r>
          </a:p>
        </p:txBody>
      </p:sp>
      <p:sp>
        <p:nvSpPr>
          <p:cNvPr id="41" name="Rectangle 40"/>
          <p:cNvSpPr/>
          <p:nvPr/>
        </p:nvSpPr>
        <p:spPr>
          <a:xfrm>
            <a:off x="640080" y="5230368"/>
            <a:ext cx="10908792" cy="56692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230368"/>
            <a:ext cx="10607040" cy="566928"/>
          </a:xfrm>
          <a:prstGeom prst="rect">
            <a:avLst/>
          </a:prstGeom>
          <a:noFill/>
        </p:spPr>
        <p:txBody>
          <a:bodyPr wrap="square" anchor="ctr" lIns="27432" rIns="27432" tIns="0" bIns="0">
            <a:spAutoFit/>
          </a:bodyPr>
          <a:lstStyle/>
          <a:p>
            <a:pPr algn="l">
              <a:lnSpc>
                <a:spcPct val="112000"/>
              </a:lnSpc>
              <a:spcBef>
                <a:spcPts val="0"/>
              </a:spcBef>
              <a:spcAft>
                <a:spcPts val="0"/>
              </a:spcAft>
            </a:pPr>
            <a:r>
              <a:rPr sz="1500" b="0">
                <a:solidFill>
                  <a:srgbClr val="333333"/>
                </a:solidFill>
                <a:latin typeface="Arial"/>
                <a:ea typeface="微软雅黑"/>
                <a:cs typeface="Arial"/>
              </a:rPr>
              <a:t>全流程使用同一套参考集与参数，样本的分组信息与测序数据一一对应；青色标注的步骤已完成，橙色标注的正在推进。</a:t>
            </a:r>
          </a:p>
        </p:txBody>
      </p:sp>
      <p:sp>
        <p:nvSpPr>
          <p:cNvPr id="43" name="TextBox 42"/>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44" name="TextBox 43"/>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分阶段组的划分：阶段、性别、年龄三层匹配后再比较</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08792" cy="548640"/>
          </a:xfrm>
          <a:prstGeom prst="rect">
            <a:avLst/>
          </a:prstGeom>
          <a:noFill/>
        </p:spPr>
        <p:txBody>
          <a:bodyPr wrap="square" anchor="t" lIns="27432" rIns="27432" tIns="0" bIns="0">
            <a:spAutoFit/>
          </a:bodyPr>
          <a:lstStyle/>
          <a:p>
            <a:pPr algn="l">
              <a:lnSpc>
                <a:spcPct val="124000"/>
              </a:lnSpc>
              <a:spcBef>
                <a:spcPts val="0"/>
              </a:spcBef>
              <a:spcAft>
                <a:spcPts val="0"/>
              </a:spcAft>
            </a:pPr>
            <a:r>
              <a:rPr sz="1700" b="0">
                <a:solidFill>
                  <a:srgbClr val="333333"/>
                </a:solidFill>
                <a:latin typeface="Arial"/>
                <a:ea typeface="微软雅黑"/>
                <a:cs typeface="Arial"/>
              </a:rPr>
              <a:t>队列按认知功能分为五个阶段，并在每个阶段内按性别与年龄段匹配，保证阶段之间可直接比较。</a:t>
            </a:r>
          </a:p>
        </p:txBody>
      </p:sp>
      <p:sp>
        <p:nvSpPr>
          <p:cNvPr id="5" name="TextBox 4"/>
          <p:cNvSpPr txBox="1"/>
          <p:nvPr/>
        </p:nvSpPr>
        <p:spPr>
          <a:xfrm>
            <a:off x="640080"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265 例</a:t>
            </a:r>
          </a:p>
        </p:txBody>
      </p:sp>
      <p:sp>
        <p:nvSpPr>
          <p:cNvPr id="6" name="TextBox 5"/>
          <p:cNvSpPr txBox="1"/>
          <p:nvPr/>
        </p:nvSpPr>
        <p:spPr>
          <a:xfrm>
            <a:off x="640080"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匹配亚队列 · 各阶段 53 例</a:t>
            </a:r>
          </a:p>
        </p:txBody>
      </p:sp>
      <p:sp>
        <p:nvSpPr>
          <p:cNvPr id="7" name="TextBox 6"/>
          <p:cNvSpPr txBox="1"/>
          <p:nvPr/>
        </p:nvSpPr>
        <p:spPr>
          <a:xfrm>
            <a:off x="3367278"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53 例</a:t>
            </a:r>
          </a:p>
        </p:txBody>
      </p:sp>
      <p:sp>
        <p:nvSpPr>
          <p:cNvPr id="8" name="TextBox 7"/>
          <p:cNvSpPr txBox="1"/>
          <p:nvPr/>
        </p:nvSpPr>
        <p:spPr>
          <a:xfrm>
            <a:off x="3367278"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每阶段样本量 · 每组 35 女 / 18 男</a:t>
            </a:r>
          </a:p>
        </p:txBody>
      </p:sp>
      <p:sp>
        <p:nvSpPr>
          <p:cNvPr id="9" name="TextBox 8"/>
          <p:cNvSpPr txBox="1"/>
          <p:nvPr/>
        </p:nvSpPr>
        <p:spPr>
          <a:xfrm>
            <a:off x="6094476"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 个年龄段</a:t>
            </a:r>
          </a:p>
        </p:txBody>
      </p:sp>
      <p:sp>
        <p:nvSpPr>
          <p:cNvPr id="10" name="TextBox 9"/>
          <p:cNvSpPr txBox="1"/>
          <p:nvPr/>
        </p:nvSpPr>
        <p:spPr>
          <a:xfrm>
            <a:off x="6094476"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60—69 · 70—79 · ≥80 岁</a:t>
            </a:r>
          </a:p>
        </p:txBody>
      </p:sp>
      <p:sp>
        <p:nvSpPr>
          <p:cNvPr id="11" name="TextBox 10"/>
          <p:cNvSpPr txBox="1"/>
          <p:nvPr/>
        </p:nvSpPr>
        <p:spPr>
          <a:xfrm>
            <a:off x="8821674"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68.2—70.0 岁</a:t>
            </a:r>
          </a:p>
        </p:txBody>
      </p:sp>
      <p:sp>
        <p:nvSpPr>
          <p:cNvPr id="12" name="TextBox 11"/>
          <p:cNvSpPr txBox="1"/>
          <p:nvPr/>
        </p:nvSpPr>
        <p:spPr>
          <a:xfrm>
            <a:off x="8821674"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各阶段平均年龄 · 组间差 ≤1.8 岁</a:t>
            </a:r>
          </a:p>
        </p:txBody>
      </p:sp>
      <p:sp>
        <p:nvSpPr>
          <p:cNvPr id="13" name="Rectangle 12"/>
          <p:cNvSpPr/>
          <p:nvPr/>
        </p:nvSpPr>
        <p:spPr>
          <a:xfrm>
            <a:off x="640080" y="27432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NC</a:t>
            </a:r>
          </a:p>
        </p:txBody>
      </p:sp>
      <p:sp>
        <p:nvSpPr>
          <p:cNvPr id="16" name="TextBox 15"/>
          <p:cNvSpPr txBox="1"/>
          <p:nvPr/>
        </p:nvSpPr>
        <p:spPr>
          <a:xfrm>
            <a:off x="640080"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认知正常（对照）</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68.4 岁 · 多样性最高</a:t>
            </a:r>
          </a:p>
        </p:txBody>
      </p:sp>
      <p:sp>
        <p:nvSpPr>
          <p:cNvPr id="17" name="Rectangle 16"/>
          <p:cNvSpPr/>
          <p:nvPr/>
        </p:nvSpPr>
        <p:spPr>
          <a:xfrm>
            <a:off x="2821838"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1838"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SCS</a:t>
            </a:r>
          </a:p>
        </p:txBody>
      </p:sp>
      <p:sp>
        <p:nvSpPr>
          <p:cNvPr id="19" name="TextBox 18"/>
          <p:cNvSpPr txBox="1"/>
          <p:nvPr/>
        </p:nvSpPr>
        <p:spPr>
          <a:xfrm>
            <a:off x="2821838"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主观认知下降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68.2 岁 · 组成偏移</a:t>
            </a:r>
          </a:p>
        </p:txBody>
      </p:sp>
      <p:sp>
        <p:nvSpPr>
          <p:cNvPr id="20" name="Rectangle 19"/>
          <p:cNvSpPr/>
          <p:nvPr/>
        </p:nvSpPr>
        <p:spPr>
          <a:xfrm>
            <a:off x="5003596"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3596"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SCD</a:t>
            </a:r>
          </a:p>
        </p:txBody>
      </p:sp>
      <p:sp>
        <p:nvSpPr>
          <p:cNvPr id="22" name="TextBox 21"/>
          <p:cNvSpPr txBox="1"/>
          <p:nvPr/>
        </p:nvSpPr>
        <p:spPr>
          <a:xfrm>
            <a:off x="5003596"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可疑认知障碍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69.1 岁 · 屏障标志↑</a:t>
            </a:r>
          </a:p>
        </p:txBody>
      </p:sp>
      <p:sp>
        <p:nvSpPr>
          <p:cNvPr id="23" name="Rectangle 22"/>
          <p:cNvSpPr/>
          <p:nvPr/>
        </p:nvSpPr>
        <p:spPr>
          <a:xfrm>
            <a:off x="7185355"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5355"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MCI</a:t>
            </a:r>
          </a:p>
        </p:txBody>
      </p:sp>
      <p:sp>
        <p:nvSpPr>
          <p:cNvPr id="25" name="TextBox 24"/>
          <p:cNvSpPr txBox="1"/>
          <p:nvPr/>
        </p:nvSpPr>
        <p:spPr>
          <a:xfrm>
            <a:off x="7185355"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轻度认知障碍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68.8 岁 · 失衡最明显</a:t>
            </a:r>
          </a:p>
        </p:txBody>
      </p:sp>
      <p:sp>
        <p:nvSpPr>
          <p:cNvPr id="26" name="Rectangle 25"/>
          <p:cNvSpPr/>
          <p:nvPr/>
        </p:nvSpPr>
        <p:spPr>
          <a:xfrm>
            <a:off x="9367113" y="2889504"/>
            <a:ext cx="1962302"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7113"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AD</a:t>
            </a:r>
          </a:p>
        </p:txBody>
      </p:sp>
      <p:sp>
        <p:nvSpPr>
          <p:cNvPr id="28" name="TextBox 27"/>
          <p:cNvSpPr txBox="1"/>
          <p:nvPr/>
        </p:nvSpPr>
        <p:spPr>
          <a:xfrm>
            <a:off x="9367113"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阿尔茨海默症</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70.0 岁 · 变化幅度最大</a:t>
            </a:r>
          </a:p>
        </p:txBody>
      </p:sp>
      <p:sp>
        <p:nvSpPr>
          <p:cNvPr id="29" name="Rectangle 28"/>
          <p:cNvSpPr/>
          <p:nvPr/>
        </p:nvSpPr>
        <p:spPr>
          <a:xfrm>
            <a:off x="640080" y="448056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626864"/>
            <a:ext cx="10908792" cy="1188720"/>
          </a:xfrm>
          <a:prstGeom prst="rect">
            <a:avLst/>
          </a:prstGeom>
          <a:noFill/>
        </p:spPr>
        <p:txBody>
          <a:bodyPr wrap="square" anchor="t" lIns="27432" rIns="27432" tIns="0" bIns="0">
            <a:spAutoFit/>
          </a:bodyPr>
          <a:lstStyle/>
          <a:p>
            <a:pPr algn="l">
              <a:lnSpc>
                <a:spcPct val="126000"/>
              </a:lnSpc>
              <a:spcBef>
                <a:spcPts val="0"/>
              </a:spcBef>
              <a:spcAft>
                <a:spcPts val="0"/>
              </a:spcAft>
            </a:pPr>
            <a:r>
              <a:rPr sz="1600" b="0">
                <a:solidFill>
                  <a:srgbClr val="333333"/>
                </a:solidFill>
                <a:latin typeface="Arial"/>
                <a:ea typeface="微软雅黑"/>
                <a:cs typeface="Arial"/>
              </a:rPr>
              <a:t>分层方式：5 个阶段 × 2 个性别 × 3 个年龄段（60—69、70—79、≥80 岁）= 30 个分层单元；每个单元内按年龄与性别匹配，最终选出 265 例匹配亚队列——各阶段 53 例、每组 35 女 / 18 男，组间平均年龄最大差 1.8 岁，保证阶段之间的差异不来自年龄与性别构成。</a:t>
            </a:r>
          </a:p>
        </p:txBody>
      </p:sp>
      <p:sp>
        <p:nvSpPr>
          <p:cNvPr id="31" name="TextBox 30"/>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32" name="TextBox 31"/>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研究路线：前五项已完成，后两项正在推进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1074895" y="1188720"/>
            <a:ext cx="10039162"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数据资源与参考集、短肽库、三模型共识预测、分阶段差异分析、宏蛋白组二次去重五项已完成；机制关联分析与抑菌实验验证两项正在推进。</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三模型一致阳性的序列才纳入候选集合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三个模型相互独立地给出抗菌肽概率；只有三者一致判为阳性的序列才进入候选集合，以此降低单一模型的偏倚。该步骤已完成，候选名单已产出。</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分阶段比较给出随病程变化的候选抗菌肽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640080" y="1188720"/>
            <a:ext cx="10908792" cy="4024602"/>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按认知阶段分组比较候选抗菌肽的丰度与组成差异，筛选随病程变化明显的候选抗菌肽。</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4860498"/>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序列层面去冗余解决重复；宏蛋白组表达证据解决“有预测、无表达”的假阳性。二次去重后按组内共有、组间特比较，得到健康人群特有与各疾病阶段特有的抗菌肽清单。</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机制关联从 Aβ、AChE 与炎症通路三个方向展开</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借鉴乙酰胆碱酯酶—β-淀粉样肽复合物分子模拟研究的思路，按致病方向考察：候选肽是否促进 Aβ 成核与聚集、是否经 AChE 外周阴离子位点推动成核、是否经免疫与炎症通路放大神经炎症；输出优先序，定位为线索发现。</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抑菌实验验证给出候选抗菌肽活性的直接证据</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F_抑菌实验方案.png"/>
          <p:cNvPicPr>
            <a:picLocks noChangeAspect="1"/>
          </p:cNvPicPr>
          <p:nvPr/>
        </p:nvPicPr>
        <p:blipFill>
          <a:blip r:embed="rId2"/>
          <a:stretch>
            <a:fillRect/>
          </a:stretch>
        </p:blipFill>
        <p:spPr>
          <a:xfrm>
            <a:off x="640080" y="1188720"/>
            <a:ext cx="10908792" cy="3466999"/>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人工合成代表性候选肽，以大肠杆菌与金黄色葡萄球菌为指示菌，纸片扩散法初筛，微量肉汤稀释法测最低抑菌浓度。</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进度与开题计划一致：主体分析完成，进入验证与撰写阶段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G_进度甘特.png"/>
          <p:cNvPicPr>
            <a:picLocks noChangeAspect="1"/>
          </p:cNvPicPr>
          <p:nvPr/>
        </p:nvPicPr>
        <p:blipFill>
          <a:blip r:embed="rId2"/>
          <a:stretch>
            <a:fillRect/>
          </a:stretch>
        </p:blipFill>
        <p:spPr>
          <a:xfrm>
            <a:off x="640080" y="1188720"/>
            <a:ext cx="10797696"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数据资源、短肽库、三模型共识预测、分阶段差异分析与宏蛋白组二次去重均已完成；机制关联分析与抑菌实验验证正在推进，论文撰写同步进行。</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852928"/>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数据准备</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使用公开宏基因组数据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已完成全队列数据处理与参考集构建</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候选肽挖掘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提取 sORF 并预测抗菌肽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已完成短肽库构建与三模型共识预测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差异分析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按病程阶段比较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模型方案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拟构建 DeepMetaAMP</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改用 Attention / LSTM / BERT 三模型协同预测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机制与验证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功能与可视化分析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正在开展机制关联分析与抑菌实验验证</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三个已识别问题都有对应处理办法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44752"/>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01</a:t>
            </a:r>
          </a:p>
        </p:txBody>
      </p:sp>
      <p:sp>
        <p:nvSpPr>
          <p:cNvPr id="5" name="TextBox 4"/>
          <p:cNvSpPr txBox="1"/>
          <p:nvPr/>
        </p:nvSpPr>
        <p:spPr>
          <a:xfrm>
            <a:off x="1207008" y="1444752"/>
            <a:ext cx="10332720" cy="1328927"/>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预测结果的假阳性风险</a:t>
            </a:r>
          </a:p>
          <a:p>
            <a:pPr algn="l">
              <a:lnSpc>
                <a:spcPct val="120000"/>
              </a:lnSpc>
              <a:spcBef>
                <a:spcPts val="300"/>
              </a:spcBef>
              <a:spcAft>
                <a:spcPts val="0"/>
              </a:spcAft>
            </a:pPr>
            <a:r>
              <a:rPr sz="1600" b="0">
                <a:solidFill>
                  <a:srgbClr val="333333"/>
                </a:solidFill>
                <a:latin typeface="Arial"/>
                <a:ea typeface="微软雅黑"/>
                <a:cs typeface="Arial"/>
              </a:rPr>
              <a:t>以三模型共识判定提高候选集合可信度，再用宏蛋白组表达证据二次去重，最后以抑菌实验验证活性。</a:t>
            </a:r>
          </a:p>
        </p:txBody>
      </p:sp>
      <p:sp>
        <p:nvSpPr>
          <p:cNvPr id="6" name="Rectangle 5"/>
          <p:cNvSpPr/>
          <p:nvPr/>
        </p:nvSpPr>
        <p:spPr>
          <a:xfrm>
            <a:off x="640080" y="2609088"/>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883408"/>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02</a:t>
            </a:r>
          </a:p>
        </p:txBody>
      </p:sp>
      <p:sp>
        <p:nvSpPr>
          <p:cNvPr id="8" name="TextBox 7"/>
          <p:cNvSpPr txBox="1"/>
          <p:nvPr/>
        </p:nvSpPr>
        <p:spPr>
          <a:xfrm>
            <a:off x="1207008" y="2883408"/>
            <a:ext cx="10332720" cy="1328927"/>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部分样本缺少可用的参考基因组</a:t>
            </a:r>
          </a:p>
          <a:p>
            <a:pPr algn="l">
              <a:lnSpc>
                <a:spcPct val="120000"/>
              </a:lnSpc>
              <a:spcBef>
                <a:spcPts val="300"/>
              </a:spcBef>
              <a:spcAft>
                <a:spcPts val="0"/>
              </a:spcAft>
            </a:pPr>
            <a:r>
              <a:rPr sz="1600" b="0">
                <a:solidFill>
                  <a:srgbClr val="333333"/>
                </a:solidFill>
                <a:latin typeface="Arial"/>
                <a:ea typeface="微软雅黑"/>
                <a:cs typeface="Arial"/>
              </a:rPr>
              <a:t>在丰度分析阶段改用全量基因组回填，恢复样本覆盖，并在结果中说明数据处理口径。</a:t>
            </a:r>
          </a:p>
        </p:txBody>
      </p:sp>
      <p:sp>
        <p:nvSpPr>
          <p:cNvPr id="9" name="Rectangle 8"/>
          <p:cNvSpPr/>
          <p:nvPr/>
        </p:nvSpPr>
        <p:spPr>
          <a:xfrm>
            <a:off x="640080" y="404774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322064"/>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03</a:t>
            </a:r>
          </a:p>
        </p:txBody>
      </p:sp>
      <p:sp>
        <p:nvSpPr>
          <p:cNvPr id="11" name="TextBox 10"/>
          <p:cNvSpPr txBox="1"/>
          <p:nvPr/>
        </p:nvSpPr>
        <p:spPr>
          <a:xfrm>
            <a:off x="1207008" y="4322064"/>
            <a:ext cx="10332720" cy="1328927"/>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机制关联的证据强度有限</a:t>
            </a:r>
          </a:p>
          <a:p>
            <a:pPr algn="l">
              <a:lnSpc>
                <a:spcPct val="120000"/>
              </a:lnSpc>
              <a:spcBef>
                <a:spcPts val="300"/>
              </a:spcBef>
              <a:spcAft>
                <a:spcPts val="0"/>
              </a:spcAft>
            </a:pPr>
            <a:r>
              <a:rPr sz="1600" b="0">
                <a:solidFill>
                  <a:srgbClr val="333333"/>
                </a:solidFill>
                <a:latin typeface="Arial"/>
                <a:ea typeface="微软雅黑"/>
                <a:cs typeface="Arial"/>
              </a:rPr>
              <a:t>以分子对接与分子动力学模拟、文献比对为主，把结论定位为线索发现，不夸大因果性。</a:t>
            </a:r>
          </a:p>
        </p:txBody>
      </p:sp>
      <p:sp>
        <p:nvSpPr>
          <p:cNvPr id="12" name="TextBox 1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3" name="TextBox 1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后续安排集中在机制关联、实验验证与论文撰写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机制关联分析：完成特有抗菌肽与 Aβ 聚集、AChE 结合及炎症通路的关联分析，形成候选肽清单。</a:t>
            </a:r>
          </a:p>
          <a:p>
            <a:pPr algn="l">
              <a:lnSpc>
                <a:spcPct val="134000"/>
              </a:lnSpc>
              <a:spcBef>
                <a:spcPts val="1400"/>
              </a:spcBef>
              <a:spcAft>
                <a:spcPts val="0"/>
              </a:spcAft>
            </a:pPr>
            <a:r>
              <a:rPr sz="1800" b="0">
                <a:solidFill>
                  <a:srgbClr val="333333"/>
                </a:solidFill>
                <a:latin typeface="Arial"/>
                <a:ea typeface="微软雅黑"/>
                <a:cs typeface="Arial"/>
              </a:rPr>
              <a:t>抑菌实验验证：完成候选抗菌肽的合成与抑菌实验，获得抑菌活性初筛结果。</a:t>
            </a:r>
          </a:p>
          <a:p>
            <a:pPr algn="l">
              <a:lnSpc>
                <a:spcPct val="134000"/>
              </a:lnSpc>
              <a:spcBef>
                <a:spcPts val="1400"/>
              </a:spcBef>
              <a:spcAft>
                <a:spcPts val="0"/>
              </a:spcAft>
            </a:pPr>
            <a:r>
              <a:rPr sz="1800" b="0">
                <a:solidFill>
                  <a:srgbClr val="333333"/>
                </a:solidFill>
                <a:latin typeface="Arial"/>
                <a:ea typeface="微软雅黑"/>
                <a:cs typeface="Arial"/>
              </a:rPr>
              <a:t>结果整理与论文撰写：汇总候选抗菌肽、特有肽与验证结果，完成学位论文与投稿论文准备。</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预期成果与现阶段的边界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预期成果：一套可复用的分析流程、健康人与各阶段特有的候选抗菌肽清单、机制关联与抑菌活性结果，以及以第一作者投稿的 SCI 论文与学位论文。</a:t>
            </a:r>
          </a:p>
          <a:p>
            <a:pPr algn="l">
              <a:lnSpc>
                <a:spcPct val="134000"/>
              </a:lnSpc>
              <a:spcBef>
                <a:spcPts val="1400"/>
              </a:spcBef>
              <a:spcAft>
                <a:spcPts val="0"/>
              </a:spcAft>
            </a:pPr>
            <a:r>
              <a:rPr sz="1800" b="0">
                <a:solidFill>
                  <a:srgbClr val="333333"/>
                </a:solidFill>
                <a:latin typeface="Arial"/>
                <a:ea typeface="微软雅黑"/>
                <a:cs typeface="Arial"/>
              </a:rPr>
              <a:t>现阶段的边界：机制关联属于计算预测与文献比对，尚不能给出因果关系；抑菌实验只针对代表性候选肽，覆盖范围有限；阶段划分依据队列既有临床标签，未纳入新的评分数据。</a:t>
            </a:r>
          </a:p>
          <a:p>
            <a:pPr algn="l">
              <a:lnSpc>
                <a:spcPct val="134000"/>
              </a:lnSpc>
              <a:spcBef>
                <a:spcPts val="1400"/>
              </a:spcBef>
              <a:spcAft>
                <a:spcPts val="0"/>
              </a:spcAft>
            </a:pPr>
            <a:r>
              <a:rPr sz="1800" b="0">
                <a:solidFill>
                  <a:srgbClr val="333333"/>
                </a:solidFill>
                <a:latin typeface="Arial"/>
                <a:ea typeface="微软雅黑"/>
                <a:cs typeface="Arial"/>
              </a:rPr>
              <a:t>这两点会在论文中明确说明，并在后续实验中逐步补充。</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1697813" y="1188720"/>
            <a:ext cx="8793325"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炎症驱动抗菌肽与 Aβ 生成、③ Aβ 本身即抗菌肽；④ 抗菌活性可计算预测、⑤ 特异抗菌肽随阶段变化、⑥ 致病方向：促进 Aβ 聚集；⑦ 为什么 AD 更多与机制落点是本课题要回答的部分。</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为什么 AD 组更多：炎症—Aβ—抗菌肽构成正反馈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44752"/>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01</a:t>
            </a:r>
          </a:p>
        </p:txBody>
      </p:sp>
      <p:sp>
        <p:nvSpPr>
          <p:cNvPr id="5" name="TextBox 4"/>
          <p:cNvSpPr txBox="1"/>
          <p:nvPr/>
        </p:nvSpPr>
        <p:spPr>
          <a:xfrm>
            <a:off x="1207008" y="1444752"/>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上游驱动：菌群失衡与肠屏障通透性升高</a:t>
            </a:r>
          </a:p>
          <a:p>
            <a:pPr algn="l">
              <a:lnSpc>
                <a:spcPct val="120000"/>
              </a:lnSpc>
              <a:spcBef>
                <a:spcPts val="300"/>
              </a:spcBef>
              <a:spcAft>
                <a:spcPts val="0"/>
              </a:spcAft>
            </a:pPr>
            <a:r>
              <a:rPr sz="1600" b="0">
                <a:solidFill>
                  <a:srgbClr val="333333"/>
                </a:solidFill>
                <a:latin typeface="Arial"/>
                <a:ea typeface="微软雅黑"/>
                <a:cs typeface="Arial"/>
              </a:rPr>
              <a:t>AD 与前驱阶段的肠道菌群失衡、肠屏障标志物升高，使内毒素与病原体长期入血 [11][17][46]。</a:t>
            </a:r>
          </a:p>
        </p:txBody>
      </p:sp>
      <p:sp>
        <p:nvSpPr>
          <p:cNvPr id="6" name="Rectangle 5"/>
          <p:cNvSpPr/>
          <p:nvPr/>
        </p:nvSpPr>
        <p:spPr>
          <a:xfrm>
            <a:off x="640080" y="224942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523744"/>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02</a:t>
            </a:r>
          </a:p>
        </p:txBody>
      </p:sp>
      <p:sp>
        <p:nvSpPr>
          <p:cNvPr id="8" name="TextBox 7"/>
          <p:cNvSpPr txBox="1"/>
          <p:nvPr/>
        </p:nvSpPr>
        <p:spPr>
          <a:xfrm>
            <a:off x="1207008" y="2523744"/>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放大环节：促炎因子上调 Aβ 与抗菌肽的表达</a:t>
            </a:r>
          </a:p>
          <a:p>
            <a:pPr algn="l">
              <a:lnSpc>
                <a:spcPct val="120000"/>
              </a:lnSpc>
              <a:spcBef>
                <a:spcPts val="300"/>
              </a:spcBef>
              <a:spcAft>
                <a:spcPts val="0"/>
              </a:spcAft>
            </a:pPr>
            <a:r>
              <a:rPr sz="1600" b="0">
                <a:solidFill>
                  <a:srgbClr val="333333"/>
                </a:solidFill>
                <a:latin typeface="Arial"/>
                <a:ea typeface="微软雅黑"/>
                <a:cs typeface="Arial"/>
              </a:rPr>
              <a:t>LPS 经 TLR4/NF-κB 升高促炎因子，促炎因子又上调 Aβ 生成 [11][46]；TNF-α 与 Aβ 可直接诱导 CAP37 表达 [9]。</a:t>
            </a:r>
          </a:p>
        </p:txBody>
      </p:sp>
      <p:sp>
        <p:nvSpPr>
          <p:cNvPr id="9" name="Rectangle 8"/>
          <p:cNvSpPr/>
          <p:nvPr/>
        </p:nvSpPr>
        <p:spPr>
          <a:xfrm>
            <a:off x="640080" y="3328415"/>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602735"/>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03</a:t>
            </a:r>
          </a:p>
        </p:txBody>
      </p:sp>
      <p:sp>
        <p:nvSpPr>
          <p:cNvPr id="11" name="TextBox 10"/>
          <p:cNvSpPr txBox="1"/>
          <p:nvPr/>
        </p:nvSpPr>
        <p:spPr>
          <a:xfrm>
            <a:off x="1207008" y="3602735"/>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闭环：聚集后的 Aβ 再激活小胶质细胞</a:t>
            </a:r>
          </a:p>
          <a:p>
            <a:pPr algn="l">
              <a:lnSpc>
                <a:spcPct val="120000"/>
              </a:lnSpc>
              <a:spcBef>
                <a:spcPts val="300"/>
              </a:spcBef>
              <a:spcAft>
                <a:spcPts val="0"/>
              </a:spcAft>
            </a:pPr>
            <a:r>
              <a:rPr sz="1600" b="0">
                <a:solidFill>
                  <a:srgbClr val="333333"/>
                </a:solidFill>
                <a:latin typeface="Arial"/>
                <a:ea typeface="微软雅黑"/>
                <a:cs typeface="Arial"/>
              </a:rPr>
              <a:t>Aβ 与抗菌肽聚集、成核并激活小胶质细胞，释放更多炎症介质；LL-37 经 CLIC1 引起小胶质过度活化，小鼠与猴模型出现 Aβ 升高与脑萎缩 [6][7]。</a:t>
            </a:r>
          </a:p>
        </p:txBody>
      </p:sp>
      <p:sp>
        <p:nvSpPr>
          <p:cNvPr id="12" name="Rectangle 11"/>
          <p:cNvSpPr/>
          <p:nvPr/>
        </p:nvSpPr>
        <p:spPr>
          <a:xfrm>
            <a:off x="640080" y="4407407"/>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81727"/>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04</a:t>
            </a:r>
          </a:p>
        </p:txBody>
      </p:sp>
      <p:sp>
        <p:nvSpPr>
          <p:cNvPr id="14" name="TextBox 13"/>
          <p:cNvSpPr txBox="1"/>
          <p:nvPr/>
        </p:nvSpPr>
        <p:spPr>
          <a:xfrm>
            <a:off x="1207008" y="4681727"/>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临床对应：炎症指标与抗菌肽水平同步升高</a:t>
            </a:r>
          </a:p>
          <a:p>
            <a:pPr algn="l">
              <a:lnSpc>
                <a:spcPct val="120000"/>
              </a:lnSpc>
              <a:spcBef>
                <a:spcPts val="300"/>
              </a:spcBef>
              <a:spcAft>
                <a:spcPts val="0"/>
              </a:spcAft>
            </a:pPr>
            <a:r>
              <a:rPr sz="1600" b="0">
                <a:solidFill>
                  <a:srgbClr val="333333"/>
                </a:solidFill>
                <a:latin typeface="Arial"/>
                <a:ea typeface="微软雅黑"/>
                <a:cs typeface="Arial"/>
              </a:rPr>
              <a:t>血清 LL-37 高者两年内 MMSE 下降 ≥3 分的比值比为 2.11，NfL 与 pTau181 上升更快 [42]；前驱阶段的 CRP 与 LPS 已经升高 [17]。</a:t>
            </a:r>
          </a:p>
        </p:txBody>
      </p:sp>
      <p:sp>
        <p:nvSpPr>
          <p:cNvPr id="15" name="TextBox 1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6" name="TextBox 1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分子机制（一）：动力学如何验证候选肽的致病方向</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PAS 是 Aβ 的成核界面：1 μs 模拟中复合物稳定，Aβ 主要停留于 344—361 区段 [31]；本课题据此检验候选肽在这一界面是促进成核与聚集，还是把产物推向更毒的寡聚体。</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分子机制（二）：抗菌肽与 Aβ 的交叉成核，方向由界面决定</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3_交叉成核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抗菌肽与 Aβ 结构兼容，可交叉成核 [36][37]；微生物来源的 FapC 与 CsgA 是先例：种子加速 Aβ 纤维化并在动物模型中加重病理 [47][48]；本课题按致病方向检验候选肽。</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八个问题逐一作答：结论方向与证据强度</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279392"/>
        </p:xfrm>
        <a:graphic>
          <a:graphicData uri="http://schemas.openxmlformats.org/drawingml/2006/table">
            <a:tbl>
              <a:tblPr firstRow="1" bandRow="1">
                <a:tableStyleId>{5C22544A-7EE6-4342-B048-85BDC9FD1C3A}</a:tableStyleId>
              </a:tblPr>
              <a:tblGrid>
                <a:gridCol w="2788920"/>
                <a:gridCol w="5120640"/>
                <a:gridCol w="1417320"/>
                <a:gridCol w="158191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问题</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本课题的回答要点</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① 抗菌肽与 AD 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本身即抗菌肽，宿主抗菌肽在 AD 中上调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[1][2][8][9]</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② AD 与感染的关联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脑细菌读段与内毒素升高，多类病原体检出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[11][12][13][14]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③ 抗菌活性可预测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深度学习挖掘已有完整先例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[21][22][24]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④ AD 组特有肽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菌群随认知阶段梯度变化，阶段特有肽有依据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[26][28][30]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⑤ 是否导致 AD（致病方向）</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FapC/CsgA 加速 Aβ 纤维化；LPS 促斑块与 p-tau；LL-37 经 CLIC1 致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[6][47][49][53]</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⑥ 抗菌活性（本职功能）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小鼠抗感染更强；纤维网捕获病原体；不作为“抑制 AD”结论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⑦ 为什么 AD 更多</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LPS–TLR4/NF-κB 上调 Aβ 与抗菌肽，形成正反馈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[9][11][46]</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⑧ 谁更多（对照）</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总体 AD 更高，乳铁蛋白等反而下降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[42][43][44]</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文献支撑一览：每一环都有可溯源的原始研究</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5376672"/>
        </p:xfrm>
        <a:graphic>
          <a:graphicData uri="http://schemas.openxmlformats.org/drawingml/2006/table">
            <a:tbl>
              <a:tblPr firstRow="1" bandRow="1">
                <a:tableStyleId>{5C22544A-7EE6-4342-B048-85BDC9FD1C3A}</a:tableStyleId>
              </a:tblPr>
              <a:tblGrid>
                <a:gridCol w="2697480"/>
                <a:gridCol w="5623560"/>
                <a:gridCol w="2587752"/>
              </a:tblGrid>
              <a:tr h="384048">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本课题引用它的哪条结论</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出处与编号</a:t>
                      </a:r>
                    </a:p>
                  </a:txBody>
                  <a:tcPr marT="27432" marB="27432">
                    <a:solidFill>
                      <a:srgbClr val="F7F7F5"/>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Soscia 等 2010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对 8 种微生物有活性，AD 脑匀浆活性更高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PLoS ONE [1]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Kumar 等 2016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表达 Aβ 的小鼠抗感染更强，寡聚化为活性必需</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Sci Transl Med [3]</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Eimer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结合病毒糖蛋白并成纤维网捕获病毒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Neuron [4]</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Chen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经 CLIC1 引起小胶质活化与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Mol Psychiatry [6]</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Zhan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脑与血中 LPS 升高，LPS 与斑块共定位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Emery 等 2017</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脑细菌读段为对照的 5—10 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[12]</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Ma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深度学习挖掘抗菌肽并有体外验证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Nat Biotechnol [21]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Atanasova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AChE–Aβ 复合物 1 μs 稳定，停留区段 344—361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Cybernetics &amp; Inf Tech [31]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Zheng 等 2026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交叉成核三机制与病原—淀粉样正反馈环</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Research [36]</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LB 等 2023</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血清 LL-37 高者认知下降更快（OR 2.11）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J Alzheimers Dis [42]</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Javed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FapC 种子加速 Aβ 纤维化，斑马鱼中加重病理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Adv Sci [47]</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Wang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 内毒素血症诱导 Aβ 斑块与 p-tau</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Am J Nucl Med Mol Imaging [50]</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Wang 等 2025</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与 Aβ40 形成异源团簇，产物更毒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Angew Chem Int Ed [53]</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主要分析已完成，剩余工作风险可控</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确认事实：数据资源、短肽库、三模型共识预测、分阶段差异分析与特有抗菌肽筛选均已完成。</a:t>
            </a:r>
          </a:p>
          <a:p>
            <a:pPr algn="l">
              <a:lnSpc>
                <a:spcPct val="134000"/>
              </a:lnSpc>
              <a:spcBef>
                <a:spcPts val="1400"/>
              </a:spcBef>
              <a:spcAft>
                <a:spcPts val="0"/>
              </a:spcAft>
            </a:pPr>
            <a:r>
              <a:rPr sz="1800" b="0">
                <a:solidFill>
                  <a:srgbClr val="333333"/>
                </a:solidFill>
                <a:latin typeface="Arial"/>
                <a:ea typeface="微软雅黑"/>
                <a:cs typeface="Arial"/>
              </a:rPr>
              <a:t>待完成：机制关联分析的结论整理、候选抗菌肽的抑菌实验验证，以及学位论文与投稿论文撰写。</a:t>
            </a:r>
          </a:p>
          <a:p>
            <a:pPr algn="l">
              <a:lnSpc>
                <a:spcPct val="134000"/>
              </a:lnSpc>
              <a:spcBef>
                <a:spcPts val="1400"/>
              </a:spcBef>
              <a:spcAft>
                <a:spcPts val="0"/>
              </a:spcAft>
            </a:pPr>
            <a:r>
              <a:rPr sz="1800" b="0">
                <a:solidFill>
                  <a:srgbClr val="333333"/>
                </a:solidFill>
                <a:latin typeface="Arial"/>
                <a:ea typeface="微软雅黑"/>
                <a:cs typeface="Arial"/>
              </a:rPr>
              <a:t>进度安排：按开题计划推进，后续不依赖新的数据生产。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