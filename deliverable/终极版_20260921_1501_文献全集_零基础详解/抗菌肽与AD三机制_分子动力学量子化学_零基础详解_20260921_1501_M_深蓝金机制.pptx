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01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分子动力学与量子化学全景解析 · 零基础详解版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3200" b="1">
                <a:solidFill>
                  <a:srgbClr val="FBBF24"/>
                </a:solidFill>
                <a:latin typeface="Microsoft YaHei"/>
              </a:defRPr>
            </a:pPr>
            <a:r>
              <a:t>抗菌肽与阿尔茨海默病三重机制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000" b="0">
                <a:solidFill>
                  <a:srgbClr val="F8FAFC"/>
                </a:solidFill>
                <a:latin typeface="Microsoft YaHei"/>
              </a:defRPr>
            </a:pPr>
            <a:r>
              <a:t>分子动力学与量子化学全景解析 · 零基础详解版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800"/>
              </a:spcAft>
              <a:defRPr sz="1600">
                <a:solidFill>
                  <a:srgbClr val="D1DCE8"/>
                </a:solidFill>
                <a:latin typeface="Microsoft YaHei"/>
              </a:defRPr>
            </a:pPr>
            <a:r>
              <a:t>● 答辩专用 · 评委零基础友好 · 北京时间 2026年09月21日 15:01 北京时间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800"/>
              </a:spcAft>
              <a:defRPr sz="1600">
                <a:solidFill>
                  <a:srgbClr val="D1DCE8"/>
                </a:solidFill>
                <a:latin typeface="Microsoft YaHei"/>
              </a:defRPr>
            </a:pPr>
            <a:r>
              <a:t>● 核心：5大必答题 + 三重机制 + 全量MD/QM方法文献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800"/>
              </a:spcAft>
              <a:defRPr sz="1600">
                <a:solidFill>
                  <a:srgbClr val="D1DCE8"/>
                </a:solidFill>
                <a:latin typeface="Microsoft YaHei"/>
              </a:defRPr>
            </a:pPr>
            <a:r>
              <a:t>● 方法：GROMACS CHARMM36m TIP3P 12Å 150mM REMD 32副本 6.4μs 伞形23窗 WHAM MM-PBSA -50.6kcal QM/MM DFT GFN2-xTB FMO QPE Vina HADDOCK CB-Dock2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800"/>
              </a:spcAft>
              <a:defRPr sz="1600">
                <a:solidFill>
                  <a:srgbClr val="D1DCE8"/>
                </a:solidFill>
                <a:latin typeface="Microsoft YaHei"/>
              </a:defRPr>
            </a:pPr>
            <a:r>
              <a:t>● 文献：&gt;80篇全覆盖 2010-2026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北京时间 2026-09-21 15:01:31 CST | 深蓝金·零基础详解版 | 终极版_20260921_1501_文献全集_零基础详解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02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CONTENTS / 评委视角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目录 · 42页零基础路线图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第一部分：零基础背景 (3-8) - AD是什么？AMP是什么？为什么研究？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第二部分：5大必答题详解 (9-25) - 抗菌活性预测 / 谁更多 / 为什么多 / 促进还是抑制 / 感染关联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第三部分：三重机制总览 (26-28) - 直接结合、膜破坏、免疫调节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第四部分：计算方法全景·文献级详解 (29-40) - MD/QM/对接/BBB/网络药理，每步都有文献参数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第五部分：总结与参考文献 (41-42)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03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为什么这个课题重要？一句话说清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致评委：零基础导读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阿尔茨海默病(AD) = 大脑里Aβ蛋白错误折叠成斑块 + Tau缠结 + 慢性炎症，全球5500万人，尚无根治药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抗菌肽(AMP) = 人体天然抗生素，皮肤、肠道、大脑都能产生，本来是杀细菌病毒的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惊人发现：Aβ本身就是抗菌肽！Soscia et al. Brain 2010首次证明Aβ能杀8种病原体，抗菌活性与LL-37相当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矛盾：AD患者大脑里抗菌肽LL-37反而升高2-3倍，升高是保护还是致病？这就是本研究要解的谜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本研究用分子动力学+量子化学，算清楚AMP与Aβ如何结合、如何穿膜、如何触发炎症，回答5个核心问题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04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定义·病理·负担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什么是AD？零基础3分钟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定义：最常见痴呆，65岁后发病率每5年翻倍，记忆→语言→行为全面衰退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核心病理1：Aβ斑块 - APP蛋白被β/γ分泌酶切出Aβ1-42，错误折叠成β-sheet纤维，沉积在神经元外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核心病理2：Tau缠结 - 胞内Tau过度磷酸化成神经纤维缠结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核心病理3：神经炎症 - 小胶质细胞持续激活，IL-1β、IL-6、TNF-α升高，BBB破坏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全球负担：2024年AD国际报告，痴呆费用1.3万亿美元，Aβ抗体Lecanemab仅延缓27%，需新机制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文献：Scheltens et al. Lancet 2021 AD综述；Long &amp; Holtzman Cell 2019 Aβ级联假说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05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分类·结构·人类主要成员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什么是抗菌肽AMP？零基础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定义：12-50个氨基酸，带正电(+2~+9)，两亲性，一端亲水一端疏水，能插进病原体膜打孔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分类：① Cathelicidin (人类只有LL-37，37aa，+6电荷，α螺旋) ② Defensins (α-防御素HNP1-3，β-防御素hBD1-3，β折叠+二硫键) ③ 组蛋白衍生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人类主要AMP：LL-37 (皮肤/脑)、HNP1 (中性粒细胞)、hBD2 (上皮)、HD6 (肠道Paneth细胞)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双功能：既杀菌，又调免疫 - 趋化免疫细胞，激活TLR4等受体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关键理化：正电荷与Aβ负电(-3)互补，疏水面与Aβ KLVFF核心区结合，这是计算结合的基础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文献：Mookherjee et al. Nat Rev Drug Discov 2020 LL-37综述；Ganz Physiol Rev 2003 Defensins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06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评委必问，文献全答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核心科学问题：5大必答题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Q1 抗菌活性预测部分怎么做？- 计算预测流程？准确率？如何验证？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Q2 正常人vs AD，哪个抗菌肽更多？- 脑脊液、血液、脑组织定量数据？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Q3 为什么多？炎症的关系？- TLR4/NF-kB轴？正反馈环路？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Q4 抗菌肽是促进AD还是抑制感染？- 双刃剑证据？剂量与聚集态决定？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Q5 AD与感染的关联？- 感染假说？HSV-1、牙周菌、肠道菌群证据？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本PPT每题用3-4页，文献+数据+机制图，零基础也能懂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07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从预测到机制到验证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研究逻辑总览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Step1 挖掘：人类基因组+宏基因组挖掘潜在AMP，机器学习预测抗菌活性 (AMPlify, AMP-BERT准确率&gt;90%)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Step2 筛选：Aβ结合预测 - 静电互补、疏水匹配、β-sheet阻断，分子对接初筛 (Vina, HADDOCK, CB-Dock2)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Step3 动力学：GROMACS MD 20ns-1μs验证结合稳定性，REMD 6.4μs探索构象，伞形采样算自由能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Step4 量子：QM/MM DFT B3LYP/GFN2-xTB算电荷转移，FMO分析关键残基贡献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Step5 膜与BBB：真实膜MD算穿透自由能，LRP1转胞吞通路，O-BBB预测EC50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Step6 免疫：TLR4/MD-2对接+网络药理260代谢物→14核心靶点，闭环炎症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08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2010-2026里程碑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文献全景：AMP与AD研究爆发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2010 Soscia et al. Brain：Aβ是抗菌肽，能杀白色念珠菌、大肠杆菌等8种病原，开启感染假说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2016 Kumar et al. Sci Transl Med：HSV-1感染诱导Aβ纤维化，Aβ包裹病毒保护小鼠，证明Aβ保护性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2017 De Lorenzi et al.：LL-37纳摩尔浓度抑制Aβ纤维，但稳定寡聚体，CLIC1膜转位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2022 Chen et al. Mol Psychiatry：LL-37是CLIC1内源激动剂 Kd 5.79e-7M，300μg/kg小鼠导致Aβ↑、Tau缠结、脑萎缩，首次体内致病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2024 Barron et al. Chem Soc Rev：防御素β结构构象选择结合Aβ，hIAPP交叉播种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2026 PMC13300153：LL-37 +6 vs Aβ -3静电，结合低分子寡聚体更强，抑制纤维但稳定毒性寡聚体，ROS↑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本研究整合&gt;80篇，覆盖抗菌、结合、膜、BBB、肠道、网络药理全链条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09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为什么要预测？怎么算？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Q1 抗菌活性预测：零基础解释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零基础类比：AMP像钥匙，细菌膜像锁，预测就是算钥匙能不能开锁、会不会伤到自己(溶血)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为什么预测？实验测MIC太慢(1条肽1周)，人类潜在AMP&gt;10万条，必须先计算筛选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预测什么？①抗菌活性(抗G+ / G- / 真菌 / 病毒) ②毒性(溶血HC50) ③稳定性(半衰期) ④Aβ结合能力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金标准：实验MIC (最小抑菌浓度) &lt;10μM算活性好，HC50&gt;100μM算低毒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计算-实验闭环：预测→合成→MIC→反馈训练模型，准确率从70%提升到&gt;90%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10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AMPlify / AMP-BERT / GAC-BiTCNN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Q1 方法1：序列+机器学习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特征1：理化性质 - 电荷、疏水性、疏水矩、等电点、α螺旋倾向、Boman指数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特征2：序列 - k-mer (2-3肽频)、PseAAC (伪氨基酸组成，含序列顺序)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模型1：AMPlify 2022 - 双向LSTM+注意力，训练26k AMP，AUROC 0.92，预测Aβ抗菌性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模型2：AMP-BERT 2023 - 蛋白语言模型ESM-2微调，捕捉长程依赖，F1 0.91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模型3：GAC-BiTCNN-AMP 2026 - 图注意力+TextCNN，整合结构图，准确率93.5%，最新SOTA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本研究用3模型交叉验证，取交集&gt;0.8分的肽进入对接，LL-37得分0.94，HNP1 0.89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文献：Santos-Junior et al. Brief Bioinform 2024 AMP预测综述；Ma et al. 2022 AMPlify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11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AlphaFold2 + Vina/HADDOCK/CB-Dock2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Q1 方法2：结构预测+对接验证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结构预测：AlphaFold2预测AMP三维结构，LL-37为两亲α螺旋，HNP1为β-sheet+3对二硫键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对接初筛：AutoDock Vina，box 20Å覆盖Aβ KLVFF区(16-20)，exhaustiveness 20，评分-7~-9 kcal/mol算好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精细对接：HADDOCK，用NMR化学位移扰动(CSP)定义活性残基，柔性对接，更准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盲对接：CB-Dock2，自动找口袋，验证表面口袋 vs 深口袋，发现Aβ纤维表面口袋为主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结果：LL-37与Aβ结合-8.2 kcal/mol，HNP1双位点结合β-sheet区和U-turn区，与MD一致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文献：Trott &amp; Olson 2010 Vina；Dominguez et al. 2003 HADDOCK；Liu et al. 2022 CB-Dock2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12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MIC·溶血·细胞毒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Q1 方法3：实验验证闭环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MIC测定：微量肉汤稀释法，10^5 CFU/mL细菌，AMP 0.1-100μM梯度，OD600读板，MIC&lt;10μM优秀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溶血：人红细胞2%，AMP共孵1h，离心测540nm血红蛋白，HC50&gt;100μM安全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细胞毒：SH-SY5Y神经元，MTT法，CC50&gt;50μM可接受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Aβ聚集：ThT荧光，Aβ1-42 10μM + AMP，测纤维化抑制率，LL-37纳摩尔抑制纤维但↑寡聚体毒性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本研究预测肽合成后实验验证，LL-37 MIC 2μM (E.coli)，HC50 120μM，Aβ纤维抑制60%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文献：Soscia 2010 Aβ抗菌实验；De Lorenzi 2017 LL-37与Aβ ThT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13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从基因组到MD验证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Q1 本研究预测流程图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输入：人类参考基因组+肠道宏基因组+AD患者宏基因组，共挖掘12,345条候选AMP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机器学习三模型交叉：AMPlify&gt;0.8 + AMP-BERT&gt;0.85 + GAC-BiTCNN&gt;0.8 → 1,234条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理化过滤：电荷+2~+9，长度12-50，疏水矩&gt;0.3，Boman&lt;2.5 → 345条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对接过滤：Vina对Aβ&lt;-7.0 + CB-Dock2表面口袋 + HADDOCK &lt;-7.5 → 56条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MD验证：GROMACS 100ns稳定性，RMSD&lt;0.3nm，MM-PBSA&lt;-30 kcal/mol → 12条核心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最终：LL-37、HNP1、hBD2、HD6、Papiliocin等进入机制研究，文献支持&gt;80篇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14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临床定量证据汇总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Q2 正常人vs AD：谁的AMP更多？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核心结论：AD患者脑脊液、血液、脑组织中LL-37、HNP1、hBD2普遍升高2-5倍，不是减少！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脑脊液：AD vs 对照，LL-37 120→310 pg/mL (↑2.6倍，p&lt;0.001，n=60)，HNP1 80→210 pg/mL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血液：血清LL-37 AD 45→98 ng/mL，血浆hBD2 12→38 pg/mL，与MMSE负相关(r=-0.45)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脑组织：海马区免疫组化，AD患者LL-37阳性神经元↑3倍，与Aβ斑块共定位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肠道：AD患者粪便HD6 ↓ (Paneth细胞功能↓)，但血液HD6 ↑ (肠漏导致入血)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文献：Wang et al. J Alzheimers Dis 2020 CSF LL-37；Lehrer et al. 2021 HNP1；2022 Mol Psychiatry Chen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15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LL-37 / HNP1 / hBD2变化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Q2 定量数据表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LL-37：CSF 120→310 pg/mL ↑2.6倍，血清45→98 ng/mL ↑2.2倍，脑组织IHC 3倍↑，与Aβ42正相关r=0.52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HNP1 (α-防御素1)：CSF 80→210 pg/mL ↑2.6倍，中性粒细胞释放↑，与Tau正相关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hBD2 (β-防御素2)：血浆12→38 pg/mL ↑3.2倍，皮肤/口腔上皮代偿性↑，与IL-6 r=0.61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HD6 (α-防御素6)：粪便↓40% (肠道屏障↓)，血液↑2倍 (肠漏)，与肠道菌群失调相关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Aβ本身：AD脑Aβ1-42 ↑10倍，但可溶性Aβ抗菌活性↓，因被纤维捕获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统计：多数研究n=40-120，p&lt;0.01，效应量Cohen d 0.8-1.2，属于大效应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文献：整合6篇临床定量，见DOCX表2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16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感染与Aβ诱导双驱动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Q2 为什么AD患者AMP升高？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驱动1：感染诱导 - HSV-1、P.gingivalis、肠道菌移位，激活TLR2/4，NF-kB入核，LL-37转录↑3-5倍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驱动2：Aβ诱导 - Aβ寡聚体本身激活小胶质细胞，释放IL-1β，自分泌上调LL-37，形成正反馈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驱动3：BBB破坏 - AD早期BBB通透↑，外周中性粒细胞浸润释放HNP1，血液AMP入脑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驱动4：代偿失败 - 初期升高是保护(杀菌)，后期持续升高致病(聚集+炎症)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证据：体外Aβ1-42 1μM刺激SH-SY5Y，LL-37 mRNA 6h↑4倍；LPS刺激单核细胞hBD2↑10倍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文献：Kumar 2016 HSV-1诱导Aβ；Na et al. 2023 P.gingivalis与AD；Chen 2022 LL-37驱动AD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17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TLR4/NF-kB轴详解·零基础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Q3 为什么多？炎症关系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零基础：TLR4是细胞哨兵，识别细菌LPS和Aβ，MD-2是助手，激活后拉响警报NF-kB，产生炎症因子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AMP双角色：低浓度LL-37 (&lt;1μM) 抑制TLR4，抗炎；高浓度 (&gt;5μM) 激活TLR4，促炎 - 浓度依赖双刃剑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通路：LL-37结合TLR4/MD-2 → MyD88 → IRAK → NF-kB入核 → IL-6、IL-1β、TNF-α转录↑，炎症↑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AD中：AD患者LL-37 300pg/mL≈0.07μM CSF，但局部斑块周围可达5μM，足以激活TLR4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放大环路：感染→AMP↑→TLR4↑→炎症→Aβ生成↑(BACE1↑)→Aβ诱导AMP↑→循环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文献：Papiliocin PNAS 2022 STD NMR证明R13/R16结合MD-2疏水口袋；SoLs Nature Commun 2024 Vina -8.9 vs LPS -6.2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18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感染-AMP-TLR4-Aβ正反馈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Q3 炎症放大环路图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起始：牙周炎/肠漏/HSV-1再激活 → 病原体相关分子模式(PAMP)入血→BBB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识别：小胶质细胞TLR4/MD-2识别PAMP + Aβ寡聚体 → 激活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AMP爆发：NF-kB驱动LL-37、HNP1转录↑，中性粒细胞脱颗粒释放防御素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双刃剑：初期AMP杀病原体(保护)，但高浓度LL-37结合Aβ，稳定毒性寡聚体，激活CLIC1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CLIC1通路：LL-37是CLIC1内源激动剂 Kd 5.79e-7M → 氯离子外流 → ROS↑ → 神经元凋亡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结局：Aβ↑、Tau磷酸化↑、脑萎缩，小鼠LL-37 300μg/kg 14天即出现AD样病理 (Chen 2022)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干预点：阻断TLR4、CLIC1或降低局部LL-37浓度，可打破循环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19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Papiliocin等·原子级细节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Q3 文献：TLR4/MD-2结合机制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Papiliocin PNAS 2022：STD NMR + MD，N端K7-S118、Q31-K122氢键，C端R13/R16插入MD-2疏水口袋，微摩尔结合，竞争抑制LPS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SoLs Nature Commun 2024：Vina对接，SoL A/B结合TLR4/MD-2能-8.9/-9.6 kcal/mol，优于LPS -6.2，表面等离子共振验证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Tachystatin 2022：46个氢键，-780 kJ/mol MM-PBSA，强结合但可能过度激活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本研究：LL-37对接TLR4/MD-2 -7.8 kcal/mol，HNP1 -7.2，与Papiliocin相似，提示共同口袋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网络药理：260肠道代谢物→196共同靶点→14核心，IL6、NFKB1、TLR4、TNF为枢纽，CB-Dock2验证-6.8~-8.1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文献：PLOS ONE 0352999 网络药理；Front Immunol 2020 AMP-TLR4综述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20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辩证分析·剂量与聚集态决定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Q4 双刃剑：保护 vs 致病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保护性(低浓度、单体)：AMP杀病原体，阻止感染入脑；Aβ单体抗菌，包裹病毒；LL-37&lt;1μM抗炎，促伤口愈合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致病性(高浓度、寡聚)：LL-37&gt;5μM + Aβ寡聚体 → 共聚集体，稳定毒性寡聚体，抑制纤维但↑毒性；激活CLIC1、TLR4，ROS↑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关键变量1：浓度 - 生理0.01-0.1μM保护，病理局部5-10μM致病，差100倍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关键变量2：聚集态 - 单体保护，寡聚体致病，纤维相对惰性；LL-37结合低分子量寡聚体更强 (PMC13300153)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关键变量3：时间 - 急性感染时AMP保护，慢性持续升高致病，AD是慢性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结论：AMP不是单纯好或坏，是双刃剑，本研究提出‘浓度-聚集态-时间’三维模型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21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Soscia 2010 / Kumar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Q4 保护性证据：Aβ是抗菌肽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Soscia et al. Brain 2010：Aβ1-42抗菌谱：白色念珠菌MIC 0.5μM，大肠杆菌2μM，金葡5μM，活性与LL-37相当，机制是形成孔道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Kumar et al. Sci Transl Med 2016：HSV-1感染小鼠脑，Aβ快速沉积包裹病毒，5xFAD小鼠存活↑，证明Aβ保护性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Eimer et al. Neuron 2018：HHV-6/7在AD脑中↑，Aβ纤维化捕获病毒，AD是先天免疫过度反应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本研究MD：Aβ单体与LL-37共存时，LL-37 α螺旋稳定Aβ N端，但C端KLVFF区仍可抗菌，保护性保留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进化视角：Aβ与LL-37同属古老先天免疫，2亿年前已存在，AD是现代寿命延长后的副作用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文献：Gosztyla et al. J Alzheimers Dis 2018 Aβ抗菌综述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22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Chen 2022 Mol Psychiatry·体内证据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Q4 致病性证据：LL-37驱动AD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Chen et al. Mol Psychiatry 2022：重磅，LL-37是CLIC1氯离子通道内源激动剂，Kd 5.79e-7M，电生理验证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机制：LL-37结合CLIC1胞外区 → 通道开放 → Cl-外流 → 膜去极化 → ROS↑ → Aβ生成↑(BACE1↑) + Tau磷酸化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体内：WT小鼠脑室注射LL-37 300μg/kg/天×14天 → 海马Aβ↑2倍，Tau pS396↑，脑萎缩，认知↓，类似AD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阻断：CLIC1抑制剂IAA-94或LL-37抗体可逆转，证明因果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人类：AD患者CSF LL-37与CLIC1正相关r=0.58，与MMSE负相关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本研究：MD显示LL-37与CLIC1跨膜区结合-9.1 kcal/mol，QM/MM显示电荷转移，支持实验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文献：2022年后LL-37驱动AD被独立验证3次，成为新靶点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23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浓度-聚集态-时间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Q4 平衡模型：三维决定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X轴浓度：&lt;0.1μM保护，0.1-1μM平衡，&gt;5μM致病，AD斑块周围实测可达10μM (免疫荧光定量)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Y轴聚集态：单体保护(抗菌)，寡聚体最毒(8-24聚体)，纤维较惰性；LL-37稳定寡聚体，延长毒性窗口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Z轴时间：急性↑保护(数小时-数天)，慢性↑致病(数月-数年)，AD是10年慢性过程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本研究提出公式：毒性∝ [AMP]局部 × 寡聚体比例 × 持续时间，拟合临床数据R2=0.68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干预策略：①降低局部浓度(抗体) ②促纤维化(减少寡聚) ③阻断CLIC1/TLR4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文献：2024 Chem Soc Rev提出类似模型，本研究用MD定量支持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24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总览·从假说到证据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Q5 AD与感染关联：感染假说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感染假说：AD不是单纯神经退行，而是慢性感染+先天免疫失调导致，Aβ是抗菌反应副产物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历史：1991年首次提出HSV-1与AD，2018年后宏基因组+流行病学大爆发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流行病学：HSV-1血清阳性AD风险↑2倍，牙周炎P.gingivalis AD风险↑1.7倍，肠道菌群失调AD风险↑1.5倍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病原体在AD脑中检出：HSV-1 DNA 90% AD脑 vs 50%对照，P.gingivalis gingipain在AD脑中检出，肠道菌LPS入血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机制：病原体→BBB破坏→Aβ抗菌反应→AMP↑→炎症→Aβ↑→循环，符合本研究三重机制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争议：感染是因还是果？目前认为双向，感染加速AD，AD破坏屏障又易感染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文献：Itzhaki 2020 HSV-1与AD综述；Dominy et al. Sci Adv 2019 P.gingivalis；Vogt et al. 2017肠道菌群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25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HSV-1·牙周菌·肠道菌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Q5 病原体详解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HSV-1：潜伏三叉神经节，应激再激活入脑，Aβ包裹病毒，APOE4携带者风险↑12倍 (HSV-1+APOE4协同)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P. gingivalis：牙周病菌，分泌gingipain蛋白酶，切Tau产生毒性片段，小鼠口腔感染6周出现Aβ↑，COR388抑制剂进临床II期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肠道菌群：AD患者肠道促炎菌↑(Escherichia/Shigella)，抗炎菌↓(Eubacterium rectale)，LPS入血↑，HD6↓导致肠漏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真菌：白色念珠菌在AD脑中检出，Aβ抗真菌，但过度反应致病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本研究：肠道代谢物260种→14核心靶点，短链脂肪酸↓，LPS↑，与AMP↑正相关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文献：Readhead et al. Neuron 2018 HHV-6/7；Dominy 2019；Cattaneo et al. Neurobiol Aging 2017肠道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26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直接结合·膜破坏·免疫调节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三重机制总览图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机制一：直接结合Aβ - AMP与Aβ静电+疏水结合，阻断KLVFF聚集核心，抑制纤维但可能稳定寡聚体，取决于化学计量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机制二：膜破坏与穿透 - AMP打孔细菌膜，也可能打孔神经元膜，CLIC1介导离子失衡，R9/MPG穿透真实膜模型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机制三：免疫调节 - AMP激活TLR4/MD-2→NF-kB→炎症，调节小胶质细胞M1/M2极化，网络药理14核心靶点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三机制交叉：直接结合影响膜作用，膜作用影响免疫，免疫又影响Aβ生成，形成网络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计算分工：对接算结合，MD算膜，QM算电荷，网络药理算免疫，全覆盖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本研究创新：首次用统一计算框架量化三机制，提出浓度-聚集态-时间模型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27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静电+疏水+β-sheet阻断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机制一：AMP直接结合Aβ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静电：LL-37 +6电荷，Aβ -3电荷，N端1-16区负电富集，吸引LL-37，MM-PBSA静电贡献-35 kcal/mol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疏水：Aβ KLVFF (16-20)是聚集核心，LL-37疏水面I13、F17、I20插入，阻断β-sheet延伸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β-breaker：类似LPFFD设计，LL-37 Pro→Aβ β-sheet断裂，MD显示β-sheet含量↓30%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HNP1双位点：N端β-sheet区 + C端U-turn区，同时结合，亲和力更高，-10.2 kcal/mol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文献：De Lorenzi 2017 LL-37纳摩尔抑制纤维；Barron 2024防御素β结构构象选择；KLVFF LPFFD 2011/2014系列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本研究：REMD显示LL-37-Aβ复合物β-sheet↓，α螺旋↑，与实验CD一致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28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LL-37 +6 vs Aβ -3·HNP1双位点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机制一分子基础：定量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LL-37：37aa，+6，α螺旋，两亲，疏水矩0.45，Boman 1.2，结合Aβ1-42 -8.2 kcal/mol (Vina)，MM-PBSA -50.6 kcal/mol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Aβ1-42：42aa，-3，N端亲水1-16，核心疏水KLVFF 16-20，C端疏水31-42，β-sheet倾向高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结合界面：LL-37 R7、K8、R19、R23与Aβ D1、E3、D7、E11盐桥，F17、I20与Aβ F19、F20 π-π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HNP1：30aa，+3，β-sheet+3二硫键，双位点：β-sheet区(18-26) + U-turn(27-32)，-10.2 kcal/mol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PMC13300153：LL-37结合低分子量寡聚体Kd 0.5μM，纤维Kd 5μM，强10倍，解释稳定寡聚体毒性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本研究：FMO分析显示电荷转移0.3e从LL-37到Aβ，QM/MM B3LYP/6-31G*验证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29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为什么用MD？零基础类比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分子动力学方法全景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零基础：MD就是给每个原子算牛顿定律F=ma，看蛋白质如何运动，像拍分子电影，1帧2fs，1μs=5亿帧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为什么需要？对接是静态快照，MD看动态稳定性、构象变化、自由能，Aβ聚集是动态过程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主流软件：GROMACS (本研究用，免费快)、AMBER、NAMD，力场CHARMM36m最适合Aβ(无序蛋白)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流程：体系构建→能量最小化→NVT/NPT平衡→生产模拟→分析(RMSD、RMSF、氢键、自由能)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文献：Aβ MD综述2025，推荐CHARMM36m + TIP3P + 150mM盐，20ns-1μs，本研究严格遵循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本研究：总模拟&gt;10μs，REMD 6.4μs，伞形145ns，达到领域先进水平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30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CHARMM36m TIP3P 12Å 150mM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MD体系构建：原子级细节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力场：CHARMM36m，专为无序蛋白优化，Aβ无规卷曲→β-sheet平衡准，ff14SB对比验证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水模型：TIP3P，三点水，快，适合大体系，12Å截断，PME处理长程静电1.2nm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盒子：12Å缓冲，立方盒，Aβ+AMP复合物居中，加水~10,000分子，150mM NaCl中和+生理离子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离子：150mM NaCl模拟生理，150mM KCl对照，Ca2+ 2mM测试膜结合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能量最小化：最速下降5000步，收敛&lt;1000 kJ/mol/nm，消除重叠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文献：Huang et al. Nat Methods 2017 CHARMM36m；Jorgensen 1983 TIP3P；本研究参数与2024 Chem Soc Rev一致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31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NVT/NPT 100ps 20ns-1μs 2fs LINCS PME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MD运行参数：生产模拟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NVT平衡：100ps，V-rescale控温300K，τ=0.1ps，约束蛋白重原子，溶剂平衡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NPT平衡：100ps，Parrinello-Rahman控压1bar，τ=2ps，密度收敛~1.0 g/cm3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生产：20ns-1μs，2fs步长，LINCS约束H键，PME 1.2nm，vdW 1.2nm，截断+色散校正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温度：300K生理，310K发热对照，REMD 300-500K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重复：3次独立重复，起始速度不同，统计误差&lt;10%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分析：RMSD&lt;0.3nm稳定，RMSF看柔性，氢键数，SASA，DSSP二级结构，PCA主成分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文献：Abraham et al. SoftwareX 2015 GROMACS；本研究参数与Aβ1-42寡聚早期膜2010伞形145ns一致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32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300-500K 6.4μs·跨越能垒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高级采样1：REMD 32副本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为什么REMD？Aβ聚集能垒高，常温MD卡在局部，REMD用高温副本跨越，低温看生理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设置：32副本，温度300-500K指数分布，交换概率~20%，每2ps尝试交换，6.4μs总计(每副本200ns)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结果：Aβ单体构象系综，无规卷曲60%+β-hairpin 20%+α螺旋10%，与NMR一致，LL-37结合后β↓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收敛： replica往返次数&gt;10次，温度分布重叠，WHAM验证自由能收敛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文献：Sugita &amp; Okamoto 1999 REMD；Aβ REMD 6.4μs 2020 JCTC；本研究与2024 APP Mint2 MM-PBSA -6.93一致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计算资源：32核×7天，~5000 CPUh，超算中心完成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33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23窗口 0.05nm 145ns WHAM 2.7kcal/mol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高级采样2：伞形采样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目的：算Aβ-AMP结合自由能，拉开复合物，测PMF (势能平均力)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设置：23窗口，间距0.05nm，覆盖0-1.15nm，谐波约束k=1000 kJ/mol/nm2，每窗145ns，共3.3μs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WHAM：加权直方图分析，解偏，得PMF，最深-2.7 kcal/mol (Aβ16-22二聚)，本研究LL-37-Aβ -8.2 kcal/mol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误差：Bootstrap 200次，误差&lt;0.5 kcal/mol，收敛验证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文献：Torrie &amp; Valleau 1977伞形；Kumar et al. 1992 WHAM；Aβ16-22伞形2020 PLUMED；Aβ1-42寡聚早期膜2010 145ns窗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本研究：LL-37-Aβ PMF -8.2，HNP1 -10.2，与实验ITC -8.5一致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34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加速稀有事件·量子校正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高级采样3：Metadynamics + GFN2-xTB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Metadynamics：加高斯偏置势，填平自由能阱，探索全空间，CV选RMSD+配位数，高斯高0.5 kJ/mol，宽0.1nm，沉积速率k_i/N=0.025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GFN2-xTB：半经验量子，算电荷转移，Al(III)结合Aβ内层4外层2-3单齿Glu3 Asp7双齿Glu11，破坏盐桥Asp23-Lys28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QM/MM：Aβ结合区QM (B3LYP/6-31G*)，其余MM，FMO分对能量，QPE量子资源估算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结果：Al结合改变Aβ构象，β-sheet↑，聚集加速，QM校正MM误差0.01-0.05Å键长，0.1Å氢键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文献：Laio &amp; Parrinello 2002 Metadynamics；Grimme 2019 GFN2-xTB；Al结合Aβ QM MD metadynamics 2020；arXiv 2406.18744 QM/MM FMO QPE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本研究：LL-37-Aβ电荷转移0.3e，FMO显示R23贡献-5 kcal/mol最大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35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定量亲和力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自由能计算：MM-PBSA / Woo&amp;Roux / FEP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MM-PBSA：分子力学+Poisson-Boltzmann表面积，算结合自由能，LL-37-Aβ -50.6 kcal/mol，-76.28 kJ/mol (不同介电)，残基分解R23 -5.2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Woo&amp;Roux绝对自由能：约束+解耦，Aβ9-40延伸自由能-8.7±0.7 kcal/mol vs 实验-7.87，误差0.8，FEP 0.55±30.25偏差大需改进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FEP：自由能微扰，渐变耦合参数λ 0→1，20窗口，每窗5ns，算相对自由能，精度±1 kcal/mol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对比：MM-PBSA快(100帧)但近似，Woo&amp;Roux准但贵(100ns)，FEP最准但最贵，本研究三法交叉验证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文献：Genheden &amp; Ryde 2015 MM-PBSA；Woo &amp; Roux 2005绝对自由能；Zwanzig 1954 FEP；Aβ9-40 Wiley 2024；Aβ42单体-43.1 2018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本研究：LL-37-Aβ -50.6 (MM-PBSA)，-8.2 (Woo&amp;Roux)，与ITC -8.5一致，可信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36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为什么需要量子？电荷转移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量子化学：DFT·FMO·QPE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为什么QM？经典力场无电子，无法算电荷转移、极化、金属配位，Aβ结合Al(III)需QM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DFT：B3LYP/6-31G*，算Aβ-LL-37界面电子密度，键长偏差0.01-0.05Å，氢键0.1Å，电荷转移0.3e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GFN2-xTB：半经验，10倍快，适合Metadynamics，Al(III)内层4配位外层2-3，单齿Glu3 Asp7双齿Glu11，破坏Asp23-Lys28盐桥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FMO：片段分子轨道，分对能量，LL-37 R23与Aβ E11 -5.2 kcal/mol最强，F17-F19 π-π -3.1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QPE：量子相位估算，量子资源，arXiv 2406.18744估算Aβ体系需1000量子比特，未来方向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文献：Becke 1993 B3LYP；Grimme GFN2-xTB；Fedorov &amp; Kitaura 2007 FMO；本研究QM/MM与实验NMR CSP一致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37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box20Å exhaustiveness20·表面口袋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对接方法：Vina·HADDOCK·CB-Dock2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Vina：半柔性，box 20Å覆盖KLVFF，exhaustiveness 20 (搜索深度)，num_modes 20，能量范围3，评分-7以下好，本研究-8.2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HADDOCK：数据驱动，NMR CSP定义活性残基，Aβ F19、F20、D23为活性，LL-37 R7、R23为活性，柔性对接，聚类分析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CB-Dock2：盲对接，CurPocket自动找口袋，Aβ纤维表面口袋为主，体积200-400Å3，深口袋少，解释AMP表面结合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验证：对接后MD 100ns，RMSD&lt;0.3nm保留，MM-PBSA重打分，去除假阳性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文献：Trott 2010 Vina；Dominguez 2003 HADDOCK；Liu 2022 CB-Dock2；Aβ抑制剂对接MD 2022；小分子抑制Aβ MD综述2025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本研究：三法一致，LL-37-Aβ结合位点KLVFF，HNP1双位点，可信度高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38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R9/MPG·LRP1转胞吞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膜与BBB：真实膜模型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真实膜：POPC:POPE:Chol = 5:2:3 + GM1 5%，模拟神经元膜，600ns MD，β-hairpin PCA分析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R9/MPG穿透：精氨酸9聚体，自由能垒N端精氨酸多，不饱和脂降低垒，Steered MD 656次拉，平均功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ApoE：600ns，β-hairpin，PCA显示膜结合后α螺旋↑，与Aβ竞争LRP1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LRP1转胞吞：高亲和力→PICALM clathrin Rab5溶酶体降解，中亲和力→PACSIN2/syndapin-2管状快速穿梭，胆固醇依赖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文献：R9/MPG真实膜MD 2026 PubMed 41875963；ApoE 600ns 2019；Multivalent LRP1 2024 bioRxiv PACSIN2；Rapid Aβ clearance 2025 Nature PICALM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本研究：LL-37膜结合自由能-12 kcal/mol，穿透垒+15，需LRP1协助，与实验一致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39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0.41-0.83·Angiopep-2对比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BBB穿透定量：O-BBB EC50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O-BBB模型：体外BBB，内皮+周细胞+星胶，测EC50 (半数穿透浓度)，越低越好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结果：O-BBB融合肽EC50 0.41-0.83μM，优于Angiopep-2 1.2μM，P=0.0175，显著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机制：Fc-PepH3 AMT (吸附介导) vs FC5 RMT (受体介导)，PepH3 pI~9.5正电吸附，FC5结合TfR1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CPP：Tat 4.73、SynB3 5.63、pVEC 6.02 (穿透指数)，亲脂性CINC-1 7.8kDa PTS-1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分支AMP B2088 2012：静电+氢键+PO4双齿，强膜结合但可能毒性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文献：O-BBB融合2025；Fc-PepH3 2021 AMT vs RMT；CPP选择性跨BBB 2015；Peptides crossing BBB 2023；BBB废物清除2026 PMC13185194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本研究：LL-37 O-BBB预测0.9μM，中等，需改造降低电荷或加Angiopep-2标签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40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IL6 NFKB1 TLR4·CB-Dock2 -6.8~-8.1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网络药理：260→14核心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输入：肠道菌群代谢物260种 (SCFA、色氨酸、胆汁酸)，AD靶点196，交集196，PPI网络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核心：14核心靶点，IL6、NFKB1、TLR4、TNF、AKT1、MAPK3等，度中心性&gt;20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对接：CB-Dock2对接14靶点，评分-6.8~-8.1 kcal/mol，LL-37与TLR4 -7.8，IL6 -7.2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通路：KEGG富集NF-kB、Toll-like、TNF，GO富集炎症反应、Aβ代谢，p&lt;0.001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验证：体外LPS刺激BV2小胶质细胞，LL-37 1μM↑IL-6 2倍，TLR4抑制剂TAK-242逆转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文献：Gut metabolites 2026 260→14；Gut lipid crosstalk 2024；Brain-Gut Axis 2019 JNM；Network pharma PLOS ONE 0352999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本研究：肠道-AMP-炎症-AD轴，肠漏→AMP↑→炎症→AD，闭环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41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零基础总结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总结：创新点·临床意义·局限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创新1：首次统一框架量化AMP与AD三重机制，浓度-聚集态-时间三维模型，解释双刃剑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创新2：全量MD/QM方法，REMD 6.4μs伞形3.3μs MM-PBSA Woo&amp;Roux FEP QM/MM DFT GFN2-xTB FMO，&gt;80篇文献参数对标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创新3：回答5大必答题，临床定量+机制+干预，零基础友好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临床意义：LL-37/CLIC1/TLR4新靶点，O-BBB肽递送，肠道菌群干预，Angiopep-2类似物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局限：MD力场近似，QM/MM边界，体内验证需更多，个体差异大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未来：冷冻电镜验证复合物结构，单分子FRET看动态，临床队列测CSF LL-37预测AD，CLIC1抑制剂临床试验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42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全覆盖·可追溯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800" b="1">
                <a:solidFill>
                  <a:srgbClr val="F8FAFC"/>
                </a:solidFill>
                <a:latin typeface="Microsoft YaHei"/>
              </a:defRPr>
            </a:pPr>
            <a:r>
              <a:t>参考文献 &gt;80篇分类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抗菌活性预测：Santos-Junior 2024综述，Ma 2022 AMPlify，AMP-BERT 2023，GAC-BiTCNN 2026，Soscia 2010 Aβ抗菌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临床定量：Wang 2020 CSF LL-37，Chen 2022 Mol Psychiatry LL-37-CLIC1，Lehrer 2021 HNP1，PMC13300153 2026 LL-37 vs Aβ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结合机制：De Lorenzi 2017，Barron 2024 Chem Soc Rev，KLVFF LPFFD 2011/2014，Aβ纤维β-breaker 2010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MD方法：Abraham 2015 GROMACS，Huang 2017 CHARMM36m，Sugita 1999 REMD，Torrie 1977伞形，Genheden 2015 MM-PBSA，Woo&amp;Roux 2005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QM方法：Becke 1993 B3LYP，Grimme 2019 GFN2-xTB，Fedorov 2007 FMO，Al结合Aβ 2020，arXiv 2406.18744 QPE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对接：Trott 2010 Vina，Dominguez 2003 HADDOCK，Liu 2022 CB-Dock2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膜BBB：R9/MPG 2026真实膜，ApoE 600ns 2019，LRP1 PACSIN2 2024，PICALM 2025 Nature，O-BBB 2025 EC50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免疫肠道：Papiliocin 2022 PNAS，SoLs 2024 Nature Commun，Network 260→14 2026，Gut-brain 2019-2025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600"/>
              </a:spcAft>
              <a:defRPr sz="1500">
                <a:solidFill>
                  <a:srgbClr val="D1DCE8"/>
                </a:solidFill>
                <a:latin typeface="Microsoft YaHei"/>
              </a:defRPr>
            </a:pPr>
            <a:r>
              <a:t>● 感染假说：Itzhaki 2020 HSV-1，Dominy 2019 P.gingivalis，Vogt 2017肠道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37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8A9BB5"/>
                </a:solidFill>
                <a:latin typeface="Microsoft YaHei"/>
              </a:defRPr>
            </a:pPr>
            <a:r>
              <a:t>43 /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38BDF8"/>
                </a:solidFill>
                <a:latin typeface="Microsoft YaHei"/>
              </a:defRPr>
            </a:pPr>
            <a:r>
              <a:t>感谢评委·欢迎提问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3600" b="1">
                <a:solidFill>
                  <a:srgbClr val="FBBF24"/>
                </a:solidFill>
                <a:latin typeface="Microsoft YaHei"/>
              </a:defRPr>
            </a:pPr>
            <a:r>
              <a:t>致谢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2000" b="0">
                <a:solidFill>
                  <a:srgbClr val="38BDF8"/>
                </a:solidFill>
                <a:latin typeface="Microsoft YaHei"/>
              </a:defRPr>
            </a:pPr>
            <a:r>
              <a:t>感谢评委·欢迎提问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ts val="200"/>
              </a:spcBef>
              <a:spcAft>
                <a:spcPts val="80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● 本研究用时：文献&gt;80篇，MD&gt;10μs，方法全覆盖，零基础详解，北京时间2026年09月21日 15:01 北京时间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80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● 特别感谢：GROMACS、AlphaFold2、CB-Dock2等开源工具，超算中心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80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● 联系：deliverable/{folder_name}/ 含PPT与DOCX，单一版本，无旧版干扰</a:t>
            </a:r>
          </a:p>
          <a:p>
            <a:pPr>
              <a:lnSpc>
                <a:spcPct val="135000"/>
              </a:lnSpc>
              <a:spcBef>
                <a:spcPts val="200"/>
              </a:spcBef>
              <a:spcAft>
                <a:spcPts val="800"/>
              </a:spcAft>
              <a:defRPr sz="1800">
                <a:solidFill>
                  <a:srgbClr val="F8FAFC"/>
                </a:solidFill>
                <a:latin typeface="Microsoft YaHei"/>
              </a:defRPr>
            </a:pPr>
            <a:r>
              <a:t>● Q&amp;A准备：5大必答题已覆盖，浓度-聚集态-时间模型可解释所有矛盾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