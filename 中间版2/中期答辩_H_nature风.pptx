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各位老师好，我汇报的题目是《基于深度学习的阿尔茨海默症患者与健康人群肠道微生物组中抗菌肽的差异性研究》。本次中期检查重点说明研究思路，以及每一项工作完成到哪一步。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研究背景可以概括为两句话：AD 与肠道微生物组的关系已有较多证据；微生物基因组编码的抗菌肽是可能的效应分子。现有研究缺少面向 AD 人群、按认知阶段分层的分析，这就是本课题的切入点。本次汇报重点说明研究思路和各项工作的完成程度：中期前完成数据与预测工作，其余环节按计划在下一阶段推进。</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体研究分四个层次：数据与序列层、预测层、统计与表达层、功能层，共八项工作。本次中期完成的是数据与预测这一半：数据资源与参考集、微生物源短肽库、三模型共识预测；另一半是分阶段差异分析、宏蛋白组二次去重、特有抗菌肽筛选以及机制关联与验证，实施方案已经确定，按计划在中期之后推进。</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队列按认知功能分为 NC、SCS、SCD、MCI 与 AD 五个阶段，样本的临床分组信息与测序数据一一对应。预测环节采用 Attention、LSTM、BERT 三个模型分别预测，只有三者一致判为阳性的序列才纳入候选集合，目的是降低单一模型的假阳性。这一步已经完成，候选名单已经产出。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下一阶段先做分阶段差异分析：按认知阶段分组比较候选抗菌肽的丰度与组成差异，识别随病程变化的候选抗菌肽；再引入宏蛋白组表达证据做二次去重，剔除没有表达支持的序列，筛选出健康人群特有与各疾病阶段特有的抗菌肽清单。这两项工作的方案已经确定，中期之后启动。</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机制关联参照乙酰胆碱酯酶—β-淀粉样肽复合物分子模拟研究的思路，从与 Aβ 的相互作用、与 AChE 外周阴离子位点结合、以及免疫与炎症通路三个方向展开，把结论定位为线索发现。抑菌实验验证选取有代表性的候选抗菌肽人工合成，以大肠杆菌与金黄色葡萄球菌为指示菌，先用纸片扩散法初筛，再用微量肉汤稀释法测最低抑菌浓度。这两项均已确定方案，待差异分析与特有肽清单完成后依次实施。</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把开题计划与现阶段结果逐条对照：数据准备、候选肽挖掘两项已完成；分阶段差异分析与宏蛋白组二次去重、机制关联与抑菌实验验证安排在下一阶段，方案已经确定。研究方向没有变，调整都发生在方法层面。</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总结一下：中期完成的是数据与预测这一半，候选抗菌肽名单已经形成；下一阶段推进分阶段差异分析、二次去重与特有肽筛选，随后开展机制关联分析与抑菌实验验证，论文撰写同步准备。我的汇报到此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这张图把抗菌肽与 AD 的关联拆成七环，并标出每一环的证据强度：蓝色是已有实验或临床证据，绿色是计算方法能给出候选与优先序的部分，橙色是本课题要回答或需要验证的部分。这样讲的好处是：老师问任何一环，都能说清这一环目前的证据到什么程度。</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 AD 患者体内的抗菌肽更多？因为存在一个正反馈：菌群失衡与肠屏障通透性增加使内毒素和病原体长期刺激宿主，经 TLR4 与 NF-κB 通路升高促炎因子，而促炎因子又上调 Aβ 与抗菌肽的生成；Aβ 与抗菌肽聚集后激活小胶质细胞，产生更多炎症介质，循环自我加强。这也是抗菌保护假说的现代表述：一项有益的先天免疫反应，在长期失衡后被放大成病理过程。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机制落点参照 AChE–Aβ 复合物的分子动力学研究：Aβ 对接进外周阴离子位点 PAS 后，复合物在 1 微秒模拟中保持稳定，主要停留区为 344–361 区段，该区段紧邻 PAS 但不受双位点抑制剂的位阻。由此提出三个可检验假设：H1 竞争 PAS 减少成核、H2 直接结合 Aβ 改变聚集路径、H3 在膜水平影响小胶质识别。我们用对接与动力学给出优先序，再用抑菌与酶活实验验证。</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这张表说明每一环的证据强度，以及本课题要补的是哪一块：宿主来源抗菌肽、Aβ 的抗菌活性、AChE 经 PAS 促进聚集，这些已有较强证据；微生物源抗菌肽在 AD 患者中增多、以及候选肽经 AChE–Aβ 界面影响成核，是本课题要回答的问题。这样既讲清了关联，也没有夸大因果。</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10908792"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600" b="0">
                <a:solidFill>
                  <a:srgbClr val="B03A2E"/>
                </a:solidFill>
                <a:latin typeface="Arial"/>
                <a:ea typeface="微软雅黑"/>
                <a:cs typeface="Arial"/>
              </a:rPr>
              <a:t>研究生论文中期检查</a:t>
            </a:r>
          </a:p>
        </p:txBody>
      </p:sp>
      <p:sp>
        <p:nvSpPr>
          <p:cNvPr id="4" name="TextBox 3"/>
          <p:cNvSpPr txBox="1"/>
          <p:nvPr/>
        </p:nvSpPr>
        <p:spPr>
          <a:xfrm>
            <a:off x="640080" y="1481328"/>
            <a:ext cx="10908792" cy="2011680"/>
          </a:xfrm>
          <a:prstGeom prst="rect">
            <a:avLst/>
          </a:prstGeom>
          <a:noFill/>
        </p:spPr>
        <p:txBody>
          <a:bodyPr wrap="square" anchor="t" lIns="27432" rIns="27432" tIns="0" bIns="0">
            <a:spAutoFit/>
          </a:bodyPr>
          <a:lstStyle/>
          <a:p>
            <a:pPr algn="l">
              <a:lnSpc>
                <a:spcPct val="116000"/>
              </a:lnSpc>
              <a:spcBef>
                <a:spcPts val="0"/>
              </a:spcBef>
              <a:spcAft>
                <a:spcPts val="0"/>
              </a:spcAft>
            </a:pPr>
            <a:r>
              <a:rPr sz="3400" b="1">
                <a:solidFill>
                  <a:srgbClr val="111111"/>
                </a:solidFill>
                <a:latin typeface="Arial"/>
                <a:ea typeface="微软雅黑"/>
                <a:cs typeface="Arial"/>
              </a:rPr>
              <a:t>基于深度学习的阿尔茨海默症患者与健康人群</a:t>
            </a:r>
          </a:p>
          <a:p>
            <a:pPr algn="l">
              <a:lnSpc>
                <a:spcPct val="116000"/>
              </a:lnSpc>
              <a:spcBef>
                <a:spcPts val="0"/>
              </a:spcBef>
              <a:spcAft>
                <a:spcPts val="0"/>
              </a:spcAft>
            </a:pPr>
            <a:r>
              <a:rPr sz="3400" b="1">
                <a:solidFill>
                  <a:srgbClr val="111111"/>
                </a:solidFill>
                <a:latin typeface="Arial"/>
                <a:ea typeface="微软雅黑"/>
                <a:cs typeface="Arial"/>
              </a:rPr>
              <a:t>肠道微生物组中抗菌肽的差异性研究</a:t>
            </a:r>
          </a:p>
        </p:txBody>
      </p:sp>
      <p:sp>
        <p:nvSpPr>
          <p:cNvPr id="5" name="Rectangle 4"/>
          <p:cNvSpPr/>
          <p:nvPr/>
        </p:nvSpPr>
        <p:spPr>
          <a:xfrm>
            <a:off x="640080" y="3803904"/>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41648"/>
            <a:ext cx="7863840" cy="1737360"/>
          </a:xfrm>
          <a:prstGeom prst="rect">
            <a:avLst/>
          </a:prstGeom>
          <a:noFill/>
        </p:spPr>
        <p:txBody>
          <a:bodyPr wrap="square" anchor="t" lIns="27432" rIns="27432" tIns="0" bIns="0">
            <a:spAutoFit/>
          </a:bodyPr>
          <a:lstStyle/>
          <a:p>
            <a:pPr algn="l">
              <a:lnSpc>
                <a:spcPct val="115000"/>
              </a:lnSpc>
              <a:spcBef>
                <a:spcPts val="0"/>
              </a:spcBef>
              <a:spcAft>
                <a:spcPts val="0"/>
              </a:spcAft>
            </a:pPr>
            <a:r>
              <a:rPr sz="1600" b="0">
                <a:solidFill>
                  <a:srgbClr val="333333"/>
                </a:solidFill>
                <a:latin typeface="Arial"/>
                <a:ea typeface="微软雅黑"/>
                <a:cs typeface="Arial"/>
              </a:rPr>
              <a:t>文绍华　　学号：2024110316</a:t>
            </a:r>
          </a:p>
          <a:p>
            <a:pPr algn="l">
              <a:lnSpc>
                <a:spcPct val="115000"/>
              </a:lnSpc>
              <a:spcBef>
                <a:spcPts val="800"/>
              </a:spcBef>
              <a:spcAft>
                <a:spcPts val="0"/>
              </a:spcAft>
            </a:pPr>
            <a:r>
              <a:rPr sz="1600" b="0">
                <a:solidFill>
                  <a:srgbClr val="333333"/>
                </a:solidFill>
                <a:latin typeface="Arial"/>
                <a:ea typeface="微软雅黑"/>
                <a:cs typeface="Arial"/>
              </a:rPr>
              <a:t>指导教师：申亮　　培养单位：生命科学学院</a:t>
            </a:r>
          </a:p>
          <a:p>
            <a:pPr algn="l">
              <a:lnSpc>
                <a:spcPct val="115000"/>
              </a:lnSpc>
              <a:spcBef>
                <a:spcPts val="800"/>
              </a:spcBef>
              <a:spcAft>
                <a:spcPts val="0"/>
              </a:spcAft>
            </a:pPr>
            <a:r>
              <a:rPr sz="1600" b="0">
                <a:solidFill>
                  <a:srgbClr val="333333"/>
                </a:solidFill>
                <a:latin typeface="Arial"/>
                <a:ea typeface="微软雅黑"/>
                <a:cs typeface="Arial"/>
              </a:rPr>
              <a:t>学科专业：生物学（生物化学与分子生物学）</a:t>
            </a:r>
          </a:p>
          <a:p>
            <a:pPr algn="l">
              <a:lnSpc>
                <a:spcPct val="115000"/>
              </a:lnSpc>
              <a:spcBef>
                <a:spcPts val="800"/>
              </a:spcBef>
              <a:spcAft>
                <a:spcPts val="0"/>
              </a:spcAft>
            </a:pPr>
            <a:r>
              <a:rPr sz="1600" b="0">
                <a:solidFill>
                  <a:srgbClr val="333333"/>
                </a:solidFill>
                <a:latin typeface="Arial"/>
                <a:ea typeface="微软雅黑"/>
                <a:cs typeface="Arial"/>
              </a:rPr>
              <a:t>汇报日期：2026 年 9 月</a:t>
            </a:r>
          </a:p>
        </p:txBody>
      </p:sp>
      <p:sp>
        <p:nvSpPr>
          <p:cNvPr id="7" name="TextBox 6"/>
          <p:cNvSpPr txBox="1"/>
          <p:nvPr/>
        </p:nvSpPr>
        <p:spPr>
          <a:xfrm>
            <a:off x="8778240" y="4041648"/>
            <a:ext cx="2770632" cy="1097280"/>
          </a:xfrm>
          <a:prstGeom prst="rect">
            <a:avLst/>
          </a:prstGeom>
          <a:noFill/>
        </p:spPr>
        <p:txBody>
          <a:bodyPr wrap="square" anchor="t" lIns="27432" rIns="27432" tIns="0" bIns="0">
            <a:spAutoFit/>
          </a:bodyPr>
          <a:lstStyle/>
          <a:p>
            <a:pPr algn="r">
              <a:lnSpc>
                <a:spcPct val="120000"/>
              </a:lnSpc>
              <a:spcBef>
                <a:spcPts val="0"/>
              </a:spcBef>
              <a:spcAft>
                <a:spcPts val="0"/>
              </a:spcAft>
            </a:pPr>
            <a:r>
              <a:rPr sz="1500" b="0">
                <a:solidFill>
                  <a:srgbClr val="777777"/>
                </a:solidFill>
                <a:latin typeface="Arial"/>
                <a:ea typeface="微软雅黑"/>
                <a:cs typeface="Arial"/>
              </a:rPr>
              <a:t>研究思路 · 已完成工作 · 下一步计划</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肠—脑轴把 AD 与肠道微生物组联系起来，但缺少落到分子层面的对象</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AD 患者与健康人群的肠道微生物组在组成与功能上存在差异，菌群失衡可通过免疫与代谢途径影响中枢炎症状态。</a:t>
            </a:r>
          </a:p>
          <a:p>
            <a:pPr algn="l">
              <a:lnSpc>
                <a:spcPct val="134000"/>
              </a:lnSpc>
              <a:spcBef>
                <a:spcPts val="1400"/>
              </a:spcBef>
              <a:spcAft>
                <a:spcPts val="0"/>
              </a:spcAft>
            </a:pPr>
            <a:r>
              <a:rPr sz="1800" b="0">
                <a:solidFill>
                  <a:srgbClr val="333333"/>
                </a:solidFill>
                <a:latin typeface="Arial"/>
                <a:ea typeface="微软雅黑"/>
                <a:cs typeface="Arial"/>
              </a:rPr>
              <a:t>微生物基因组的小开放阅读框可编码抗菌肽，直接存在于肠腔，是连接微生物刺激与神经炎症的候选效应分子；现有研究缺少面向 AD 人群、并按认知阶段分层比较的工作。</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本次汇报重点：</a:t>
            </a:r>
          </a:p>
          <a:p>
            <a:pPr algn="l">
              <a:lnSpc>
                <a:spcPct val="130000"/>
              </a:lnSpc>
              <a:spcBef>
                <a:spcPts val="1200"/>
              </a:spcBef>
              <a:spcAft>
                <a:spcPts val="0"/>
              </a:spcAft>
            </a:pPr>
            <a:r>
              <a:rPr sz="1600" b="0">
                <a:solidFill>
                  <a:srgbClr val="777777"/>
                </a:solidFill>
                <a:latin typeface="Arial"/>
                <a:ea typeface="微软雅黑"/>
                <a:cs typeface="Arial"/>
              </a:rPr>
              <a:t>研究思路，以及各项</a:t>
            </a:r>
          </a:p>
          <a:p>
            <a:pPr algn="l">
              <a:lnSpc>
                <a:spcPct val="130000"/>
              </a:lnSpc>
              <a:spcBef>
                <a:spcPts val="1200"/>
              </a:spcBef>
              <a:spcAft>
                <a:spcPts val="0"/>
              </a:spcAft>
            </a:pPr>
            <a:r>
              <a:rPr sz="1600" b="0">
                <a:solidFill>
                  <a:srgbClr val="777777"/>
                </a:solidFill>
                <a:latin typeface="Arial"/>
                <a:ea typeface="微软雅黑"/>
                <a:cs typeface="Arial"/>
              </a:rPr>
              <a:t>工作完成到哪一步；</a:t>
            </a:r>
          </a:p>
          <a:p>
            <a:pPr algn="l">
              <a:lnSpc>
                <a:spcPct val="130000"/>
              </a:lnSpc>
              <a:spcBef>
                <a:spcPts val="1200"/>
              </a:spcBef>
              <a:spcAft>
                <a:spcPts val="0"/>
              </a:spcAft>
            </a:pPr>
            <a:r>
              <a:rPr sz="1600" b="0">
                <a:solidFill>
                  <a:srgbClr val="777777"/>
                </a:solidFill>
                <a:latin typeface="Arial"/>
                <a:ea typeface="微软雅黑"/>
                <a:cs typeface="Arial"/>
              </a:rPr>
              <a:t>本次中期前完成数据</a:t>
            </a:r>
          </a:p>
          <a:p>
            <a:pPr algn="l">
              <a:lnSpc>
                <a:spcPct val="130000"/>
              </a:lnSpc>
              <a:spcBef>
                <a:spcPts val="1200"/>
              </a:spcBef>
              <a:spcAft>
                <a:spcPts val="0"/>
              </a:spcAft>
            </a:pPr>
            <a:r>
              <a:rPr sz="1600" b="0">
                <a:solidFill>
                  <a:srgbClr val="777777"/>
                </a:solidFill>
                <a:latin typeface="Arial"/>
                <a:ea typeface="微软雅黑"/>
                <a:cs typeface="Arial"/>
              </a:rPr>
              <a:t>与预测工作，其余按</a:t>
            </a:r>
          </a:p>
          <a:p>
            <a:pPr algn="l">
              <a:lnSpc>
                <a:spcPct val="130000"/>
              </a:lnSpc>
              <a:spcBef>
                <a:spcPts val="1200"/>
              </a:spcBef>
              <a:spcAft>
                <a:spcPts val="0"/>
              </a:spcAft>
            </a:pPr>
            <a:r>
              <a:rPr sz="1600" b="0">
                <a:solidFill>
                  <a:srgbClr val="777777"/>
                </a:solidFill>
                <a:latin typeface="Arial"/>
                <a:ea typeface="微软雅黑"/>
                <a:cs typeface="Arial"/>
              </a:rPr>
              <a:t>计划在下一阶段推进。</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研究按“数据—预测—统计—功能”四层推进，数据与预测阶段已完成</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A_研究思路总览_半程.png"/>
          <p:cNvPicPr>
            <a:picLocks noChangeAspect="1"/>
          </p:cNvPicPr>
          <p:nvPr/>
        </p:nvPicPr>
        <p:blipFill>
          <a:blip r:embed="rId2"/>
          <a:stretch>
            <a:fillRect/>
          </a:stretch>
        </p:blipFill>
        <p:spPr>
          <a:xfrm>
            <a:off x="640080" y="1188720"/>
            <a:ext cx="10908792" cy="4093667"/>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八项工作分为两半：数据资源、参考集、短肽库与三模型共识预测四项已完成；分阶段差异分析、宏蛋白组二次去重、特有抗菌肽筛选与机制关联验证四项按计划在下一阶段推进。</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队列按认知功能分五个阶段，三模型一致阳性才纳入候选集合</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B_三模型预测.png"/>
          <p:cNvPicPr>
            <a:picLocks noChangeAspect="1"/>
          </p:cNvPicPr>
          <p:nvPr/>
        </p:nvPicPr>
        <p:blipFill>
          <a:blip r:embed="rId2"/>
          <a:stretch>
            <a:fillRect/>
          </a:stretch>
        </p:blipFill>
        <p:spPr>
          <a:xfrm>
            <a:off x="640080" y="1188720"/>
            <a:ext cx="7863840" cy="2738225"/>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队列按 NC、SCS、SCD、MCI 与 AD 五个认知阶段分组，样本与元数据一一对应；Attention、LSTM、BERT 三个模型相互独立地给出预测，只有三者一致判为阳性的序列才进入候选集合。该步骤已完成，候选抗菌肽名单已产出。</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下一阶段：分阶段比较候选抗菌肽，并引入表达证据二次去重</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C_分阶段差异分析.png"/>
          <p:cNvPicPr>
            <a:picLocks noChangeAspect="1"/>
          </p:cNvPicPr>
          <p:nvPr/>
        </p:nvPicPr>
        <p:blipFill>
          <a:blip r:embed="rId2"/>
          <a:stretch>
            <a:fillRect/>
          </a:stretch>
        </p:blipFill>
        <p:spPr>
          <a:xfrm>
            <a:off x="640080" y="1188720"/>
            <a:ext cx="10908792" cy="4024602"/>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按认知阶段分组比较候选抗菌肽的丰度与组成差异，识别随病程变化的候选抗菌肽；再以宏蛋白组表达证据二次去重，剔除缺少蛋白层面支持的序列，并筛选健康人群特有与各阶段特有的抗菌肽。两项工作已确定实施方案，自中期后启动。</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下一阶段：机制关联分析，以及候选抗菌肽的抑菌实验验证</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E_机制关联.png"/>
          <p:cNvPicPr>
            <a:picLocks noChangeAspect="1"/>
          </p:cNvPicPr>
          <p:nvPr/>
        </p:nvPicPr>
        <p:blipFill>
          <a:blip r:embed="rId2"/>
          <a:stretch>
            <a:fillRect/>
          </a:stretch>
        </p:blipFill>
        <p:spPr>
          <a:xfrm>
            <a:off x="640080" y="1188720"/>
            <a:ext cx="7863840" cy="2726467"/>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机制关联从三个方向展开：候选肽与 Aβ 的相互作用及其对聚集的影响、与 AChE 外周阴离子位点结合从而干扰成核的可能性、以及经免疫与炎症通路参与神经炎症的可能性，结论定位为线索发现。抑菌实验验证以代表性候选肽对大肠杆菌与金黄色葡萄球菌进行纸片扩散法初筛，并以微量肉汤稀释法测定最低抑菌浓度。两项工作均已确定方案。</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与开题计划相比：数据与预测已完成，分析与验证在下一阶段</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2377440"/>
        </p:xfrm>
        <a:graphic>
          <a:graphicData uri="http://schemas.openxmlformats.org/drawingml/2006/table">
            <a:tbl>
              <a:tblPr firstRow="1" bandRow="1">
                <a:tableStyleId>{5C22544A-7EE6-4342-B048-85BDC9FD1C3A}</a:tableStyleId>
              </a:tblPr>
              <a:tblGrid>
                <a:gridCol w="1828800"/>
                <a:gridCol w="4206240"/>
                <a:gridCol w="487375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环节</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开题计划</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现阶段结果</a:t>
                      </a:r>
                    </a:p>
                  </a:txBody>
                  <a:tcPr>
                    <a:solidFill>
                      <a:srgbClr val="F7F7F5"/>
                    </a:solidFill>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数据准备</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使用公开宏基因组数据</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已完成队列数据处理与参考集构建</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候选肽挖掘</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提取 sORF 并预测抗菌肽</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已完成短肽库构建与三模型共识预测</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差异分析</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按病程阶段比较</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下一阶段开展，方案与输入数据已确定</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机制与验证</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功能与可视化分析</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下一阶段开展，机制与抑菌方案已确定</a:t>
                      </a:r>
                    </a:p>
                  </a:txBody>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阶段目标明确，下一阶段按计划推进</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已完成：全队列宏基因组数据处理与微生物基因组参考集、微生物源短肽库，以及三模型共识预测的候选抗菌肽名单。</a:t>
            </a:r>
          </a:p>
          <a:p>
            <a:pPr algn="l">
              <a:lnSpc>
                <a:spcPct val="134000"/>
              </a:lnSpc>
              <a:spcBef>
                <a:spcPts val="1400"/>
              </a:spcBef>
              <a:spcAft>
                <a:spcPts val="0"/>
              </a:spcAft>
            </a:pPr>
            <a:r>
              <a:rPr sz="1800" b="0">
                <a:solidFill>
                  <a:srgbClr val="333333"/>
                </a:solidFill>
                <a:latin typeface="Arial"/>
                <a:ea typeface="微软雅黑"/>
                <a:cs typeface="Arial"/>
              </a:rPr>
              <a:t>下一阶段：分阶段差异分析与宏蛋白组二次去重、特有抗菌肽筛选，随后开展机制关联分析与抑菌实验验证。</a:t>
            </a:r>
          </a:p>
          <a:p>
            <a:pPr algn="l">
              <a:lnSpc>
                <a:spcPct val="134000"/>
              </a:lnSpc>
              <a:spcBef>
                <a:spcPts val="1400"/>
              </a:spcBef>
              <a:spcAft>
                <a:spcPts val="0"/>
              </a:spcAft>
            </a:pPr>
            <a:r>
              <a:rPr sz="1800" b="0">
                <a:solidFill>
                  <a:srgbClr val="333333"/>
                </a:solidFill>
                <a:latin typeface="Arial"/>
                <a:ea typeface="微软雅黑"/>
                <a:cs typeface="Arial"/>
              </a:rPr>
              <a:t>时间安排：按开题计划推进，分析与验证所需数据与方案均已具备，学位论文与以第一作者投稿的 SCI 论文撰写同步准备。</a:t>
            </a:r>
          </a:p>
        </p:txBody>
      </p:sp>
      <p:sp>
        <p:nvSpPr>
          <p:cNvPr id="5" name="Rectangle 4"/>
          <p:cNvSpPr/>
          <p:nvPr/>
        </p:nvSpPr>
        <p:spPr>
          <a:xfrm>
            <a:off x="640080" y="4846320"/>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084064"/>
            <a:ext cx="10424160" cy="731520"/>
          </a:xfrm>
          <a:prstGeom prst="rect">
            <a:avLst/>
          </a:prstGeom>
          <a:noFill/>
        </p:spPr>
        <p:txBody>
          <a:bodyPr wrap="square" anchor="t" lIns="27432" rIns="27432" tIns="0" bIns="0">
            <a:spAutoFit/>
          </a:bodyPr>
          <a:lstStyle/>
          <a:p>
            <a:pPr algn="l">
              <a:lnSpc>
                <a:spcPct val="110000"/>
              </a:lnSpc>
              <a:spcBef>
                <a:spcPts val="0"/>
              </a:spcBef>
              <a:spcAft>
                <a:spcPts val="0"/>
              </a:spcAft>
            </a:pPr>
            <a:r>
              <a:rPr sz="2000" b="1">
                <a:solidFill>
                  <a:srgbClr val="111111"/>
                </a:solidFill>
                <a:latin typeface="Arial"/>
                <a:ea typeface="微软雅黑"/>
                <a:cs typeface="Arial"/>
              </a:rPr>
              <a:t>谢谢各位老师，请批评指正。</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抗菌肽与 AD 的关联可以拆成七环，每环的证据强度不同</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1_关联逻辑链.png"/>
          <p:cNvPicPr>
            <a:picLocks noChangeAspect="1"/>
          </p:cNvPicPr>
          <p:nvPr/>
        </p:nvPicPr>
        <p:blipFill>
          <a:blip r:embed="rId2"/>
          <a:stretch>
            <a:fillRect/>
          </a:stretch>
        </p:blipFill>
        <p:spPr>
          <a:xfrm>
            <a:off x="640080" y="1188720"/>
            <a:ext cx="10073906" cy="4315968"/>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① AD 与感染相关、② 感染与炎症驱动抗菌肽与 Aβ 生成、③ Aβ 本身即抗菌肽；④ 抗菌活性可计算预测、⑤ AD 组特异抗菌肽随阶段变化、⑥ 双刃剑效应；⑦ 为什么 AD 更多与 AChE–Aβ 机制落点，是本课题要回答的部分。</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为什么 AD 更多：炎症—Aβ—抗菌肽构成正反馈</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菌群失衡与肠屏障通透性增加，使内毒素与病原体长期刺激宿主；</a:t>
            </a:r>
          </a:p>
          <a:p>
            <a:pPr algn="l">
              <a:lnSpc>
                <a:spcPct val="134000"/>
              </a:lnSpc>
              <a:spcBef>
                <a:spcPts val="1400"/>
              </a:spcBef>
              <a:spcAft>
                <a:spcPts val="0"/>
              </a:spcAft>
            </a:pPr>
            <a:r>
              <a:rPr sz="1800" b="0">
                <a:solidFill>
                  <a:srgbClr val="333333"/>
                </a:solidFill>
                <a:latin typeface="Arial"/>
                <a:ea typeface="微软雅黑"/>
                <a:cs typeface="Arial"/>
              </a:rPr>
              <a:t>经 TLR4/NF-κB 升高促炎因子，促炎因子又上调 Aβ 与抗菌肽的生成；</a:t>
            </a:r>
          </a:p>
          <a:p>
            <a:pPr algn="l">
              <a:lnSpc>
                <a:spcPct val="134000"/>
              </a:lnSpc>
              <a:spcBef>
                <a:spcPts val="1400"/>
              </a:spcBef>
              <a:spcAft>
                <a:spcPts val="0"/>
              </a:spcAft>
            </a:pPr>
            <a:r>
              <a:rPr sz="1800" b="0">
                <a:solidFill>
                  <a:srgbClr val="333333"/>
                </a:solidFill>
                <a:latin typeface="Arial"/>
                <a:ea typeface="微软雅黑"/>
                <a:cs typeface="Arial"/>
              </a:rPr>
              <a:t>Aβ 与抗菌肽聚集、成核并激活小胶质细胞，产生更多炎症介质，循环自我加强。</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表述口径：</a:t>
            </a:r>
          </a:p>
          <a:p>
            <a:pPr algn="l">
              <a:lnSpc>
                <a:spcPct val="130000"/>
              </a:lnSpc>
              <a:spcBef>
                <a:spcPts val="1200"/>
              </a:spcBef>
              <a:spcAft>
                <a:spcPts val="0"/>
              </a:spcAft>
            </a:pPr>
            <a:r>
              <a:rPr sz="1600" b="0">
                <a:solidFill>
                  <a:srgbClr val="777777"/>
                </a:solidFill>
                <a:latin typeface="Arial"/>
                <a:ea typeface="微软雅黑"/>
                <a:cs typeface="Arial"/>
              </a:rPr>
              <a:t>抗体外证据为主；</a:t>
            </a:r>
          </a:p>
          <a:p>
            <a:pPr algn="l">
              <a:lnSpc>
                <a:spcPct val="130000"/>
              </a:lnSpc>
              <a:spcBef>
                <a:spcPts val="1200"/>
              </a:spcBef>
              <a:spcAft>
                <a:spcPts val="0"/>
              </a:spcAft>
            </a:pPr>
            <a:r>
              <a:rPr sz="1600" b="0">
                <a:solidFill>
                  <a:srgbClr val="777777"/>
                </a:solidFill>
                <a:latin typeface="Arial"/>
                <a:ea typeface="微软雅黑"/>
                <a:cs typeface="Arial"/>
              </a:rPr>
              <a:t>区分宿主来源与</a:t>
            </a:r>
          </a:p>
          <a:p>
            <a:pPr algn="l">
              <a:lnSpc>
                <a:spcPct val="130000"/>
              </a:lnSpc>
              <a:spcBef>
                <a:spcPts val="1200"/>
              </a:spcBef>
              <a:spcAft>
                <a:spcPts val="0"/>
              </a:spcAft>
            </a:pPr>
            <a:r>
              <a:rPr sz="1600" b="0">
                <a:solidFill>
                  <a:srgbClr val="777777"/>
                </a:solidFill>
                <a:latin typeface="Arial"/>
                <a:ea typeface="微软雅黑"/>
                <a:cs typeface="Arial"/>
              </a:rPr>
              <a:t>微生物来源、局部</a:t>
            </a:r>
          </a:p>
          <a:p>
            <a:pPr algn="l">
              <a:lnSpc>
                <a:spcPct val="130000"/>
              </a:lnSpc>
              <a:spcBef>
                <a:spcPts val="1200"/>
              </a:spcBef>
              <a:spcAft>
                <a:spcPts val="0"/>
              </a:spcAft>
            </a:pPr>
            <a:r>
              <a:rPr sz="1600" b="0">
                <a:solidFill>
                  <a:srgbClr val="777777"/>
                </a:solidFill>
                <a:latin typeface="Arial"/>
                <a:ea typeface="微软雅黑"/>
                <a:cs typeface="Arial"/>
              </a:rPr>
              <a:t>与系统、阶段差异。</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机制落点：AChE–Aβ 复合物与候选肽的三个假设</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2_AChE_Aβ_机制.png"/>
          <p:cNvPicPr>
            <a:picLocks noChangeAspect="1"/>
          </p:cNvPicPr>
          <p:nvPr/>
        </p:nvPicPr>
        <p:blipFill>
          <a:blip r:embed="rId2"/>
          <a:stretch>
            <a:fillRect/>
          </a:stretch>
        </p:blipFill>
        <p:spPr>
          <a:xfrm>
            <a:off x="640080" y="1188720"/>
            <a:ext cx="7863840" cy="3943173"/>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AChE 的 PAS 是 Aβ 聚集的成核中心；分子动力学显示复合物在 1 μs 内稳定，Aβ 主要停留于 344–361 区段，且该区段不受双位点抑制剂位阻。由此提出：H1 竞争 PAS 减少成核、H2 结合 Aβ 改变聚集路径、H3 膜水平影响炎症信号；以对接与动力学给优先序，以抑菌与酶活实验验证。</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证据到哪一步：分级与验证路径</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72800" cy="3328416"/>
        </p:xfrm>
        <a:graphic>
          <a:graphicData uri="http://schemas.openxmlformats.org/drawingml/2006/table">
            <a:tbl>
              <a:tblPr firstRow="1" bandRow="1">
                <a:tableStyleId>{5C22544A-7EE6-4342-B048-85BDC9FD1C3A}</a:tableStyleId>
              </a:tblPr>
              <a:tblGrid>
                <a:gridCol w="4206240"/>
                <a:gridCol w="3108960"/>
                <a:gridCol w="3657600"/>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要点</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证据强度</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与本课题的关系</a:t>
                      </a:r>
                    </a:p>
                  </a:txBody>
                  <a:tcPr>
                    <a:solidFill>
                      <a:srgbClr val="F7F7F5"/>
                    </a:solidFill>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Aβ 具抗菌活性，AD 脑匀浆活性更高</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强：体外 + 人脑组织</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提供抗菌肽研究的出发点</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AD 脑内宿主抗菌肽上调</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中—强：尸检组织，样本有限</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作为宿主来源的参照系</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AChE 经 PAS 促进 Aβ 聚集</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强：体外动力学 + 位点阻断</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机制关联的参照体系</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AD 患者菌群失衡与炎症升高</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中：研究异质性大</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阶段特异性抗菌肽的合理性</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微生物源抗菌肽在 AD 增多</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待验证</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本课题要回答的问题</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候选肽经 AChE–Aβ 界面影响成核</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待验证（H1—H3）</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下一步的对接、动力学与实验</a:t>
                      </a:r>
                    </a:p>
                  </a:txBody>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