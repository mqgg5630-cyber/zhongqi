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C25E2E"/>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02 / 16</a:t>
            </a:r>
          </a:p>
        </p:txBody>
      </p:sp>
      <p:sp>
        <p:nvSpPr>
          <p:cNvPr id="4" name="Rectangle 3"/>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81328"/>
            <a:ext cx="530031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C25E2E"/>
                </a:solidFill>
                <a:latin typeface="Arial"/>
                <a:ea typeface="微软雅黑"/>
                <a:cs typeface="Arial"/>
              </a:rPr>
              <a:t>01　</a:t>
            </a:r>
            <a:r>
              <a:rPr sz="2200" b="0">
                <a:solidFill>
                  <a:srgbClr val="1A1F24"/>
                </a:solidFill>
                <a:latin typeface="Arial"/>
                <a:ea typeface="微软雅黑"/>
                <a:cs typeface="Arial"/>
              </a:rPr>
              <a:t>研究思路：从肠道微生物组到候选抗菌肽</a:t>
            </a:r>
          </a:p>
          <a:p>
            <a:pPr algn="l">
              <a:lnSpc>
                <a:spcPct val="125000"/>
              </a:lnSpc>
              <a:spcBef>
                <a:spcPts val="2600"/>
              </a:spcBef>
              <a:spcAft>
                <a:spcPts val="0"/>
              </a:spcAft>
            </a:pPr>
            <a:r>
              <a:rPr sz="2200" b="1">
                <a:solidFill>
                  <a:srgbClr val="C25E2E"/>
                </a:solidFill>
                <a:latin typeface="Arial"/>
                <a:ea typeface="微软雅黑"/>
                <a:cs typeface="Arial"/>
              </a:rPr>
              <a:t>02　</a:t>
            </a:r>
            <a:r>
              <a:rPr sz="2200" b="0">
                <a:solidFill>
                  <a:srgbClr val="1A1F24"/>
                </a:solidFill>
                <a:latin typeface="Arial"/>
                <a:ea typeface="微软雅黑"/>
                <a:cs typeface="Arial"/>
              </a:rPr>
              <a:t>已完成：数据资源、短肽库与三模型共识预测</a:t>
            </a:r>
          </a:p>
          <a:p>
            <a:pPr algn="l">
              <a:lnSpc>
                <a:spcPct val="125000"/>
              </a:lnSpc>
              <a:spcBef>
                <a:spcPts val="2600"/>
              </a:spcBef>
              <a:spcAft>
                <a:spcPts val="0"/>
              </a:spcAft>
            </a:pPr>
            <a:r>
              <a:rPr sz="2200" b="1">
                <a:solidFill>
                  <a:srgbClr val="C25E2E"/>
                </a:solidFill>
                <a:latin typeface="Arial"/>
                <a:ea typeface="微软雅黑"/>
                <a:cs typeface="Arial"/>
              </a:rPr>
              <a:t>03　</a:t>
            </a:r>
            <a:r>
              <a:rPr sz="2200" b="0">
                <a:solidFill>
                  <a:srgbClr val="1A1F24"/>
                </a:solidFill>
                <a:latin typeface="Arial"/>
                <a:ea typeface="微软雅黑"/>
                <a:cs typeface="Arial"/>
              </a:rPr>
              <a:t>已完成：分阶段差异分析与宏蛋白组二次去重</a:t>
            </a:r>
          </a:p>
        </p:txBody>
      </p:sp>
      <p:sp>
        <p:nvSpPr>
          <p:cNvPr id="6" name="TextBox 5"/>
          <p:cNvSpPr txBox="1"/>
          <p:nvPr/>
        </p:nvSpPr>
        <p:spPr>
          <a:xfrm>
            <a:off x="6324447" y="1481328"/>
            <a:ext cx="530031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C25E2E"/>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600"/>
              </a:spcBef>
              <a:spcAft>
                <a:spcPts val="0"/>
              </a:spcAft>
            </a:pPr>
            <a:r>
              <a:rPr sz="2200" b="1">
                <a:solidFill>
                  <a:srgbClr val="C25E2E"/>
                </a:solidFill>
                <a:latin typeface="Arial"/>
                <a:ea typeface="微软雅黑"/>
                <a:cs typeface="Arial"/>
              </a:rPr>
              <a:t>05　</a:t>
            </a:r>
            <a:r>
              <a:rPr sz="2200" b="0">
                <a:solidFill>
                  <a:srgbClr val="1A1F24"/>
                </a:solidFill>
                <a:latin typeface="Arial"/>
                <a:ea typeface="微软雅黑"/>
                <a:cs typeface="Arial"/>
              </a:rPr>
              <a:t>下一步：候选抗菌肽抑菌实验验证</a:t>
            </a:r>
          </a:p>
          <a:p>
            <a:pPr algn="l">
              <a:lnSpc>
                <a:spcPct val="125000"/>
              </a:lnSpc>
              <a:spcBef>
                <a:spcPts val="2600"/>
              </a:spcBef>
              <a:spcAft>
                <a:spcPts val="0"/>
              </a:spcAft>
            </a:pPr>
            <a:r>
              <a:rPr sz="2200" b="1">
                <a:solidFill>
                  <a:srgbClr val="C25E2E"/>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7" name="Rectangle 6"/>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本次汇报重点说明研究思路与各项工作的完成程度</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2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03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研究思路</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ectangle 6"/>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主线：数据资源 → 短肽库 → 三模型共识预测 → 分阶段差异 → 去重筛选特有肽 → 机制关联与验证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04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研究背景与科学问题</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背景　</a:t>
            </a:r>
            <a:r>
              <a:rPr sz="1650" b="0">
                <a:solidFill>
                  <a:srgbClr val="1A1F24"/>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650" b="1">
                <a:solidFill>
                  <a:srgbClr val="C25E2E"/>
                </a:solidFill>
                <a:latin typeface="Arial"/>
                <a:ea typeface="微软雅黑"/>
                <a:cs typeface="Arial"/>
              </a:rPr>
              <a:t>切入点　</a:t>
            </a:r>
            <a:r>
              <a:rPr sz="1650" b="0">
                <a:solidFill>
                  <a:srgbClr val="1A1F24"/>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650" b="1">
                <a:solidFill>
                  <a:srgbClr val="C25E2E"/>
                </a:solidFill>
                <a:latin typeface="Arial"/>
                <a:ea typeface="微软雅黑"/>
                <a:cs typeface="Arial"/>
              </a:rPr>
              <a:t>空白　</a:t>
            </a:r>
            <a:r>
              <a:rPr sz="1650" b="0">
                <a:solidFill>
                  <a:srgbClr val="1A1F24"/>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7" name="Rounded Rectangle 6"/>
          <p:cNvSpPr/>
          <p:nvPr/>
        </p:nvSpPr>
        <p:spPr>
          <a:xfrm>
            <a:off x="566928" y="4553712"/>
            <a:ext cx="11057839" cy="1078992"/>
          </a:xfrm>
          <a:prstGeom prst="roundRect">
            <a:avLst>
              <a:gd name="adj" fmla="val 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05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第一步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5364327" cy="17830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基于参考集完成小开放阅读框预测，构建覆盖全队列、非冗余的微生物源短肽库</a:t>
            </a:r>
          </a:p>
        </p:txBody>
      </p:sp>
      <p:sp>
        <p:nvSpPr>
          <p:cNvPr id="7" name="TextBox 6"/>
          <p:cNvSpPr txBox="1"/>
          <p:nvPr/>
        </p:nvSpPr>
        <p:spPr>
          <a:xfrm>
            <a:off x="6260439" y="1527048"/>
            <a:ext cx="5364327" cy="17830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参考集按物种多样性原则构建，减少因组装质量差异带来的样本偏倚</a:t>
            </a:r>
          </a:p>
        </p:txBody>
      </p:sp>
      <p:sp>
        <p:nvSpPr>
          <p:cNvPr id="8" name="Rectangle 7"/>
          <p:cNvSpPr/>
          <p:nvPr/>
        </p:nvSpPr>
        <p:spPr>
          <a:xfrm>
            <a:off x="6095847" y="1527048"/>
            <a:ext cx="11430" cy="178308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1B3A5C"/>
                </a:solidFill>
                <a:latin typeface="Arial"/>
                <a:ea typeface="微软雅黑"/>
                <a:cs typeface="Arial"/>
              </a:rPr>
              <a:t>队列</a:t>
            </a:r>
          </a:p>
          <a:p>
            <a:pPr algn="l">
              <a:lnSpc>
                <a:spcPct val="112000"/>
              </a:lnSpc>
              <a:spcBef>
                <a:spcPts val="0"/>
              </a:spcBef>
              <a:spcAft>
                <a:spcPts val="0"/>
              </a:spcAft>
            </a:pPr>
            <a:r>
              <a:rPr sz="1500" b="0">
                <a:solidFill>
                  <a:srgbClr val="1A1F24"/>
                </a:solidFill>
                <a:latin typeface="Arial"/>
                <a:ea typeface="微软雅黑"/>
                <a:cs typeface="Arial"/>
              </a:rPr>
              <a:t>完整宏基因组样本</a:t>
            </a:r>
          </a:p>
        </p:txBody>
      </p:sp>
      <p:sp>
        <p:nvSpPr>
          <p:cNvPr id="10" name="Rounded Rectangle 9"/>
          <p:cNvSpPr/>
          <p:nvPr/>
        </p:nvSpPr>
        <p:spPr>
          <a:xfrm>
            <a:off x="3390823"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1B3A5C"/>
                </a:solidFill>
                <a:latin typeface="Arial"/>
                <a:ea typeface="微软雅黑"/>
                <a:cs typeface="Arial"/>
              </a:rPr>
              <a:t>基因组</a:t>
            </a:r>
          </a:p>
          <a:p>
            <a:pPr algn="l">
              <a:lnSpc>
                <a:spcPct val="112000"/>
              </a:lnSpc>
              <a:spcBef>
                <a:spcPts val="0"/>
              </a:spcBef>
              <a:spcAft>
                <a:spcPts val="0"/>
              </a:spcAft>
            </a:pPr>
            <a:r>
              <a:rPr sz="1500" b="0">
                <a:solidFill>
                  <a:srgbClr val="1A1F24"/>
                </a:solidFill>
                <a:latin typeface="Arial"/>
                <a:ea typeface="微软雅黑"/>
                <a:cs typeface="Arial"/>
              </a:rPr>
              <a:t>参考集（含高质量基因组）</a:t>
            </a:r>
          </a:p>
        </p:txBody>
      </p:sp>
      <p:sp>
        <p:nvSpPr>
          <p:cNvPr id="11" name="Rounded Rectangle 10"/>
          <p:cNvSpPr/>
          <p:nvPr/>
        </p:nvSpPr>
        <p:spPr>
          <a:xfrm>
            <a:off x="6214718"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C25E2E"/>
                </a:solidFill>
                <a:latin typeface="Arial"/>
                <a:ea typeface="微软雅黑"/>
                <a:cs typeface="Arial"/>
              </a:rPr>
              <a:t>短肽库</a:t>
            </a:r>
          </a:p>
          <a:p>
            <a:pPr algn="l">
              <a:lnSpc>
                <a:spcPct val="112000"/>
              </a:lnSpc>
              <a:spcBef>
                <a:spcPts val="0"/>
              </a:spcBef>
              <a:spcAft>
                <a:spcPts val="0"/>
              </a:spcAft>
            </a:pPr>
            <a:r>
              <a:rPr sz="1500" b="0">
                <a:solidFill>
                  <a:srgbClr val="1A1F24"/>
                </a:solidFill>
                <a:latin typeface="Arial"/>
                <a:ea typeface="微软雅黑"/>
                <a:cs typeface="Arial"/>
              </a:rPr>
              <a:t>非冗余微生物源短肽</a:t>
            </a:r>
          </a:p>
        </p:txBody>
      </p:sp>
      <p:sp>
        <p:nvSpPr>
          <p:cNvPr id="12" name="Rounded Rectangle 11"/>
          <p:cNvSpPr/>
          <p:nvPr/>
        </p:nvSpPr>
        <p:spPr>
          <a:xfrm>
            <a:off x="9038613"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C25E2E"/>
                </a:solidFill>
                <a:latin typeface="Arial"/>
                <a:ea typeface="微软雅黑"/>
                <a:cs typeface="Arial"/>
              </a:rPr>
              <a:t>可溯源</a:t>
            </a:r>
          </a:p>
          <a:p>
            <a:pPr algn="l">
              <a:lnSpc>
                <a:spcPct val="112000"/>
              </a:lnSpc>
              <a:spcBef>
                <a:spcPts val="0"/>
              </a:spcBef>
              <a:spcAft>
                <a:spcPts val="0"/>
              </a:spcAft>
            </a:pPr>
            <a:r>
              <a:rPr sz="1500" b="0">
                <a:solidFill>
                  <a:srgbClr val="1A1F24"/>
                </a:solidFill>
                <a:latin typeface="Arial"/>
                <a:ea typeface="微软雅黑"/>
                <a:cs typeface="Arial"/>
              </a:rPr>
              <a:t>每条短肽可回溯至样本</a:t>
            </a:r>
          </a:p>
        </p:txBody>
      </p:sp>
      <p:sp>
        <p:nvSpPr>
          <p:cNvPr id="13" name="Rectangle 12"/>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第一步与第二步均已完成：数据资源与短肽库已就绪，为后续预测与差异分析提供统一输入</a:t>
            </a:r>
          </a:p>
        </p:txBody>
      </p:sp>
      <p:sp>
        <p:nvSpPr>
          <p:cNvPr id="15" name="TextBox 14"/>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5 / 16</a:t>
            </a:r>
          </a:p>
        </p:txBody>
      </p:sp>
      <p:sp>
        <p:nvSpPr>
          <p:cNvPr id="16" name="TextBox 15"/>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06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第三步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三模型协同提高候选集合可信度；该步骤已完成，候选抗菌肽名单已产出</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6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07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第四步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先得到随病程变化的候选抗菌肽，再用表达证据过滤，为特有肽筛选做准备</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7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已完成：宏蛋白组二次去重，筛选特有抗菌肽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08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第五步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二次去重解决两类问题：序列冗余，以及“有预测、无表达”的假阳性</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8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下一步：与 AD 发病机制的关联分析</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09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 · 第六步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关联分析的落点：从“差异肽”推进到“可能与 AD 病理相关的肽”</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9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下一步：候选抗菌肽抑菌实验验证</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10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 · 第七步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以通用、可及的微生物学方法，完成候选抗菌肽抑菌活性的直接验证</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10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11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工作进度</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前五项已完成，机制关联分析与抑菌实验验证正在推进，整体进度与开题计划一致</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11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12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1. 机制关联分析　</a:t>
            </a:r>
            <a:r>
              <a:rPr sz="1650" b="0">
                <a:solidFill>
                  <a:srgbClr val="1A1F24"/>
                </a:solidFill>
                <a:latin typeface="Arial"/>
                <a:ea typeface="微软雅黑"/>
                <a:cs typeface="Arial"/>
              </a:rPr>
              <a:t>完成特有抗菌肽与 Aβ 聚集、AChE 结合及炎症通路的关联分析，形成候选肽清单。</a:t>
            </a:r>
          </a:p>
          <a:p>
            <a:pPr algn="l">
              <a:lnSpc>
                <a:spcPct val="125000"/>
              </a:lnSpc>
              <a:spcBef>
                <a:spcPts val="1500"/>
              </a:spcBef>
              <a:spcAft>
                <a:spcPts val="0"/>
              </a:spcAft>
            </a:pPr>
            <a:r>
              <a:rPr sz="1650" b="1">
                <a:solidFill>
                  <a:srgbClr val="C25E2E"/>
                </a:solidFill>
                <a:latin typeface="Arial"/>
                <a:ea typeface="微软雅黑"/>
                <a:cs typeface="Arial"/>
              </a:rPr>
              <a:t>2. 抑菌实验验证　</a:t>
            </a:r>
            <a:r>
              <a:rPr sz="1650" b="0">
                <a:solidFill>
                  <a:srgbClr val="1A1F24"/>
                </a:solidFill>
                <a:latin typeface="Arial"/>
                <a:ea typeface="微软雅黑"/>
                <a:cs typeface="Arial"/>
              </a:rPr>
              <a:t>完成候选抗菌肽的合成与抑菌实验，获得抑菌活性初筛结果。</a:t>
            </a:r>
          </a:p>
        </p:txBody>
      </p:sp>
      <p:sp>
        <p:nvSpPr>
          <p:cNvPr id="7" name="TextBox 6"/>
          <p:cNvSpPr txBox="1"/>
          <p:nvPr/>
        </p:nvSpPr>
        <p:spPr>
          <a:xfrm>
            <a:off x="6260439"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3. 结果整理　</a:t>
            </a:r>
            <a:r>
              <a:rPr sz="1650" b="0">
                <a:solidFill>
                  <a:srgbClr val="1A1F24"/>
                </a:solidFill>
                <a:latin typeface="Arial"/>
                <a:ea typeface="微软雅黑"/>
                <a:cs typeface="Arial"/>
              </a:rPr>
              <a:t>汇总候选抗菌肽、特有肽与验证结果，形成完整的图表与结论体系。</a:t>
            </a:r>
          </a:p>
          <a:p>
            <a:pPr algn="l">
              <a:lnSpc>
                <a:spcPct val="125000"/>
              </a:lnSpc>
              <a:spcBef>
                <a:spcPts val="1500"/>
              </a:spcBef>
              <a:spcAft>
                <a:spcPts val="0"/>
              </a:spcAft>
            </a:pPr>
            <a:r>
              <a:rPr sz="1650" b="1">
                <a:solidFill>
                  <a:srgbClr val="C25E2E"/>
                </a:solidFill>
                <a:latin typeface="Arial"/>
                <a:ea typeface="微软雅黑"/>
                <a:cs typeface="Arial"/>
              </a:rPr>
              <a:t>4. 论文撰写　</a:t>
            </a:r>
            <a:r>
              <a:rPr sz="1650" b="0">
                <a:solidFill>
                  <a:srgbClr val="1A1F24"/>
                </a:solidFill>
                <a:latin typeface="Arial"/>
                <a:ea typeface="微软雅黑"/>
                <a:cs typeface="Arial"/>
              </a:rPr>
              <a:t>完成学位论文撰写与投稿论文准备，按计划申请预答辩。</a:t>
            </a:r>
          </a:p>
        </p:txBody>
      </p:sp>
      <p:sp>
        <p:nvSpPr>
          <p:cNvPr id="8" name="Rectangle 7"/>
          <p:cNvSpPr/>
          <p:nvPr/>
        </p:nvSpPr>
        <p:spPr>
          <a:xfrm>
            <a:off x="6095847" y="1591056"/>
            <a:ext cx="11430" cy="36576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12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13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工作对照</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数据准备　</a:t>
            </a:r>
            <a:r>
              <a:rPr sz="165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500"/>
              </a:spcBef>
              <a:spcAft>
                <a:spcPts val="0"/>
              </a:spcAft>
            </a:pPr>
            <a:r>
              <a:rPr sz="1650" b="1">
                <a:solidFill>
                  <a:srgbClr val="C25E2E"/>
                </a:solidFill>
                <a:latin typeface="Arial"/>
                <a:ea typeface="微软雅黑"/>
                <a:cs typeface="Arial"/>
              </a:rPr>
              <a:t>候选肽挖掘　</a:t>
            </a:r>
            <a:r>
              <a:rPr sz="165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500"/>
              </a:spcBef>
              <a:spcAft>
                <a:spcPts val="0"/>
              </a:spcAft>
            </a:pPr>
            <a:r>
              <a:rPr sz="1650" b="1">
                <a:solidFill>
                  <a:srgbClr val="C25E2E"/>
                </a:solidFill>
                <a:latin typeface="Arial"/>
                <a:ea typeface="微软雅黑"/>
                <a:cs typeface="Arial"/>
              </a:rPr>
              <a:t>差异分析　</a:t>
            </a:r>
            <a:r>
              <a:rPr sz="1650" b="0">
                <a:solidFill>
                  <a:srgbClr val="1A1F24"/>
                </a:solidFill>
                <a:latin typeface="Arial"/>
                <a:ea typeface="微软雅黑"/>
                <a:cs typeface="Arial"/>
              </a:rPr>
              <a:t>开题计划按病程阶段比较 → 已完成分阶段差异分析，并新增宏蛋白组二次去重</a:t>
            </a:r>
          </a:p>
        </p:txBody>
      </p:sp>
      <p:sp>
        <p:nvSpPr>
          <p:cNvPr id="7" name="TextBox 6"/>
          <p:cNvSpPr txBox="1"/>
          <p:nvPr/>
        </p:nvSpPr>
        <p:spPr>
          <a:xfrm>
            <a:off x="6260439"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模型方案　</a:t>
            </a:r>
            <a:r>
              <a:rPr sz="165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500"/>
              </a:spcBef>
              <a:spcAft>
                <a:spcPts val="0"/>
              </a:spcAft>
            </a:pPr>
            <a:r>
              <a:rPr sz="1650" b="1">
                <a:solidFill>
                  <a:srgbClr val="C25E2E"/>
                </a:solidFill>
                <a:latin typeface="Arial"/>
                <a:ea typeface="微软雅黑"/>
                <a:cs typeface="Arial"/>
              </a:rPr>
              <a:t>机制与验证　</a:t>
            </a:r>
            <a:r>
              <a:rPr sz="1650" b="0">
                <a:solidFill>
                  <a:srgbClr val="1A1F24"/>
                </a:solidFill>
                <a:latin typeface="Arial"/>
                <a:ea typeface="微软雅黑"/>
                <a:cs typeface="Arial"/>
              </a:rPr>
              <a:t>开题拟做功能与可视化分析 → 下一步进行机制关联分析与抑菌实验验证</a:t>
            </a:r>
          </a:p>
        </p:txBody>
      </p:sp>
      <p:sp>
        <p:nvSpPr>
          <p:cNvPr id="8" name="Rectangle 7"/>
          <p:cNvSpPr/>
          <p:nvPr/>
        </p:nvSpPr>
        <p:spPr>
          <a:xfrm>
            <a:off x="6095847" y="1591056"/>
            <a:ext cx="11430" cy="36576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13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14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问题与对策</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527048"/>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应对：以三模型共识判定提高候选集合可信度，再用宏蛋白组表达证据二次去重，最后以抑菌实验验证活性。</a:t>
            </a:r>
          </a:p>
        </p:txBody>
      </p:sp>
      <p:sp>
        <p:nvSpPr>
          <p:cNvPr id="7" name="Rounded Rectangle 6"/>
          <p:cNvSpPr/>
          <p:nvPr/>
        </p:nvSpPr>
        <p:spPr>
          <a:xfrm>
            <a:off x="566928" y="2825496"/>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应对：以分子对接与动力学模拟、文献比对为主，将研究定位为“线索发现”，不夸大因果结论。</a:t>
            </a: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14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15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成果形式</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5364327"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健康人群与 AD 各阶段特有的候选抗菌肽清单，作为后续研究的线索集</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候选抗菌肽与 AD 发病机制关联的分析结果（Aβ 聚集、AChE 结合、炎症通路）</a:t>
            </a:r>
          </a:p>
        </p:txBody>
      </p:sp>
      <p:sp>
        <p:nvSpPr>
          <p:cNvPr id="7" name="TextBox 6"/>
          <p:cNvSpPr txBox="1"/>
          <p:nvPr/>
        </p:nvSpPr>
        <p:spPr>
          <a:xfrm>
            <a:off x="6260439" y="1527048"/>
            <a:ext cx="5364327"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候选抗菌肽抑菌活性的初步实验证据</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以第一作者撰写并投稿 SCI 收录论文 1 篇，并完成学位论文</a:t>
            </a:r>
          </a:p>
        </p:txBody>
      </p:sp>
      <p:sp>
        <p:nvSpPr>
          <p:cNvPr id="8" name="Rectangle 7"/>
          <p:cNvSpPr/>
          <p:nvPr/>
        </p:nvSpPr>
        <p:spPr>
          <a:xfrm>
            <a:off x="6095847" y="1527048"/>
            <a:ext cx="11430" cy="384048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15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C25E2E"/>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6E7882"/>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