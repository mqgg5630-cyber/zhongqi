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封面。本册只回答三个问题，方法只写计算类方法：分子动力学、增强采样与自由能、量化计算、以及直接相关的组学统计与机器学习。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要点：主对象：AD 患者与健康人群肠道微生物组中的差异微生物源 AMP。；机制层：判断差异肽可能偏风险样、保护样或方向未知。；Aβ 结合：只是候选机制读数，不等于导致 AD。；主路径：AMP—菌群—LPS/SCFA—屏障/炎症—脑病理。</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　七环逻辑链：证据强度和本课题位置：逐项参数见表格；讲解时先读表头，再按行说明取值与理由。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 八个问题先逐条回答。每个问题都同时给结论、证据和边界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2　问题 1 的对象区分：逐项参数见表格；讲解时先读表头，再按行说明取值与理由。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要点：Aβ 具有抗菌性质，宿主 AMP 在 AD 组织/体液中有变化。；你的研究对象是肠道微生物 ORF 编码的 AMP。；宿主 AMP 文献不能直接替代微生物 AMP 的差异结果。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要点：脑组织病原体、LPS 和外周屏障指标有多类报道。；不同队列的污染、可重复性和因果方向需要控制。；人群归因分数是总体估计，不是个人病因概率。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3　深度学习输出如何被正确翻译：逐项参数见表格；讲解时先读表头，再按行说明取值与理由。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要点：Attention/LSTM/BERT 适合短肽候选发现。；Ma 等肠道宏基因组工作给出高阳性率活性验证先例。；AMPSphere、Macrel、FMT 流程可做扩展和交叉验证。；它们证明能找 AMP，不证明 AMP 会导致 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4　阶段特异性候选肽的判定层级：逐项参数见表格；讲解时先读表头，再按行说明取值与理由。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要点：NC、SCS、SCD、MCI、AD 的菌群组成和网络可能呈梯度变化。；来源菌变化会带来编码 AMP 组成变化。；需要宏蛋白组/肽组学二次去重。</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5　双刃剑的判定读数：逐项参数见表格；讲解时先读表头，再按行说明取值与理由。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要点：局部、适度、正常聚集态：可能抑制感染。；长期过量、异常聚集或错误区室：可能放大炎症。；微生物源候选先分风险样、保护样和未知。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要点：体外抗菌活性、感染动物模型、病原体捕获和膜机制都有先例。；微生物源 AMP 仍需要菌种匹配的抑菌和膜实验。；保护性功能不等同于治疗 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要点：肠屏障破坏和 LPS 入血激活 TLR4/NF-kB。；炎症可诱导宿主 AMP/Aβ 和微胶质反应。；病理反馈可能进一步放大屏障和炎症。；微生物源 AMP 方向仍由本课题数据决定。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6　“AD 组更多”应如何分层说：逐项参数见表格；讲解时先读表头，再按行说明取值与理由。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7　按分子、部位和证据类型回答“谁更多”：逐项参数见表格；讲解时先读表头，再按行说明取值与理由。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 AChE-Aβ 与交叉成核。为什么 MD 参照有用，但不能越级</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8　AChE-Aβ 参照体系的结果与边界：逐项参数见表格；讲解时先读表头，再按行说明取值与理由。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要点：H1：候选肽竞争 PAS 或 344-361 区段，减少 AChE 促成核。；H2：候选肽直接改变 Aβ 单体/寡聚体/纤维路径。；H3：候选肽在膜表面改变微胶质识别和炎症信号。；三条假设都必须先有差异和暴露依据，再做 MD/QM。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9　交叉成核的三种可能方向：逐项参数见表格；讲解时先读表头，再按行说明取值与理由。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10　Aβ/AMP 模拟的验收指标：逐项参数见表格；讲解时先读表头，再按行说明取值与理由。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 五阶段设计与深度学习差异分析。NC—SCS—SCD—MCI—AD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11　五阶段设计如何服务于 AMP 差异分析：逐项参数见表格；讲解时先读表头，再按行说明取值与理由。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12　宏基因组 AMP 差异分析的方法门槛：逐项参数见表格；讲解时先读表头，再按行说明取值与理由。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 候选肽分类和计算优先级。病理样、保护样、未知样和预测层</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13　筛选后的四类候选肽：逐项参数见表格；讲解时先读表头，再按行说明取值与理由。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14　候选机制卡片字段：逐项参数见表格；讲解时先读表头，再按行说明取值与理由。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15　候选 AMP 的 MD/QM 优先级：逐项参数见表格；讲解时先读表头，再按行说明取值与理由。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16　Aβ/BBB 追加计算的进入条件：逐项参数见表格；讲解时先读表头，再按行说明取值与理由。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进入 结果边界与答辩口径。计算关联不能直接写成因果</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17　结果状态和正确措辞：逐项参数见表格；讲解时先读表头，再按行说明取值与理由。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18　从阶段差异到病理机制的四层证据：逐项参数见表格；讲解时先读表头，再按行说明取值与理由。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19　答辩问答卡：逐项参数见表格；讲解时先读表头，再按行说明取值与理由。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 20　从计算关联走向因果还需要什么：逐项参数见表格；讲解时先读表头，再按行说明取值与理由。</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结束页：三问对应三套计算主线，全部参数与判据见正文表格与参考文献。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508760"/>
            <a:ext cx="2011680"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737360"/>
          </a:xfrm>
          <a:prstGeom prst="rect">
            <a:avLst/>
          </a:prstGeom>
          <a:noFill/>
        </p:spPr>
        <p:txBody>
          <a:bodyPr wrap="square">
            <a:spAutoFit/>
          </a:bodyPr>
          <a:lstStyle/>
          <a:p>
            <a:pPr algn="l"/>
            <a:r>
              <a:rPr sz="3600" b="1" i="0">
                <a:solidFill>
                  <a:srgbClr val="FFFFFF"/>
                </a:solidFill>
                <a:latin typeface="微软雅黑"/>
              </a:rPr>
              <a:t>抗菌肽与 AD 关联机制说明</a:t>
            </a:r>
          </a:p>
        </p:txBody>
      </p:sp>
      <p:sp>
        <p:nvSpPr>
          <p:cNvPr id="5" name="TextBox 4"/>
          <p:cNvSpPr txBox="1"/>
          <p:nvPr/>
        </p:nvSpPr>
        <p:spPr>
          <a:xfrm>
            <a:off x="914400" y="3611880"/>
            <a:ext cx="10332720" cy="822960"/>
          </a:xfrm>
          <a:prstGeom prst="rect">
            <a:avLst/>
          </a:prstGeom>
          <a:noFill/>
        </p:spPr>
        <p:txBody>
          <a:bodyPr wrap="square">
            <a:spAutoFit/>
          </a:bodyPr>
          <a:lstStyle/>
          <a:p>
            <a:pPr algn="l"/>
            <a:r>
              <a:rPr sz="1600" b="0" i="0">
                <a:solidFill>
                  <a:srgbClr val="D9E2EC"/>
                </a:solidFill>
                <a:latin typeface="微软雅黑"/>
              </a:rPr>
              <a:t>中期检查补充材料·八问整合版·深度学习差异肽衔接</a:t>
            </a:r>
          </a:p>
        </p:txBody>
      </p:sp>
      <p:sp>
        <p:nvSpPr>
          <p:cNvPr id="6" name="TextBox 5"/>
          <p:cNvSpPr txBox="1"/>
          <p:nvPr/>
        </p:nvSpPr>
        <p:spPr>
          <a:xfrm>
            <a:off x="914400" y="4434840"/>
            <a:ext cx="10607040" cy="1828800"/>
          </a:xfrm>
          <a:prstGeom prst="rect">
            <a:avLst/>
          </a:prstGeom>
          <a:noFill/>
        </p:spPr>
        <p:txBody>
          <a:bodyPr wrap="square">
            <a:spAutoFit/>
          </a:bodyPr>
          <a:lstStyle/>
          <a:p>
            <a:pPr algn="l"/>
            <a:r>
              <a:rPr sz="1250" b="0" i="0">
                <a:solidFill>
                  <a:srgbClr val="F0D98A"/>
                </a:solidFill>
                <a:latin typeface="微软雅黑"/>
              </a:rPr>
              <a:t>主对象是 AD 相关差异微生物源 AMP；Aβ/AChE/BBB 是高优先级候选的条件性机制验证</a:t>
            </a:r>
          </a:p>
          <a:p>
            <a:pPr>
              <a:spcBef>
                <a:spcPts val="400"/>
              </a:spcBef>
            </a:pPr>
            <a:r>
              <a:rPr sz="1100" b="0" i="0">
                <a:solidFill>
                  <a:srgbClr val="B9C6D6"/>
                </a:solidFill>
                <a:latin typeface="微软雅黑"/>
              </a:rPr>
              <a:t>文绍华　2024110316　｜　指导教师：申亮　｜　生命科学学院</a:t>
            </a:r>
          </a:p>
          <a:p>
            <a:pPr>
              <a:spcBef>
                <a:spcPts val="400"/>
              </a:spcBef>
            </a:pPr>
            <a:r>
              <a:rPr sz="1100" b="0" i="0">
                <a:solidFill>
                  <a:srgbClr val="B9C6D6"/>
                </a:solidFill>
                <a:latin typeface="微软雅黑"/>
              </a:rPr>
              <a:t>生成时间：2026-09-26 10:34 北京时间</a:t>
            </a:r>
          </a:p>
          <a:p>
            <a:pPr>
              <a:spcBef>
                <a:spcPts val="400"/>
              </a:spcBef>
            </a:pPr>
            <a:r>
              <a:rPr sz="1100" b="0" i="0">
                <a:solidFill>
                  <a:srgbClr val="B9C6D6"/>
                </a:solidFill>
                <a:latin typeface="微软雅黑"/>
              </a:rPr>
              <a:t>对应课题：基于深度学习的阿尔茨海默症患者与健康人群肠道微生物组中抗菌肽的差异性研究</a:t>
            </a:r>
          </a:p>
          <a:p>
            <a:pPr>
              <a:spcBef>
                <a:spcPts val="400"/>
              </a:spcBef>
            </a:pPr>
            <a:r>
              <a:rPr sz="1100" b="0" i="0">
                <a:solidFill>
                  <a:srgbClr val="B9C6D6"/>
                </a:solidFill>
                <a:latin typeface="微软雅黑"/>
              </a:rPr>
              <a:t>证据口径：宿主 AMP/Aβ 背景、微生物源 AMP 差异、本课题计算结果、因果验证严格分层</a:t>
            </a:r>
          </a:p>
          <a:p>
            <a:pPr>
              <a:spcBef>
                <a:spcPts val="400"/>
              </a:spcBef>
            </a:pPr>
            <a:r>
              <a:rPr sz="1100" b="0" i="0">
                <a:solidFill>
                  <a:srgbClr val="B9C6D6"/>
                </a:solidFill>
                <a:latin typeface="微软雅黑"/>
              </a:rPr>
              <a:t>当前没有实际候选 FASTA/丰度矩阵/FDR 表；候选机制卡片仅提供真实结果的填写框架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先给老师一个清楚的答案</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这不是单纯的 Aβ 抑制剂筛选</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主对象：AD 患者与健康人群肠道微生物组中的差异微生物源 AMP。</a:t>
            </a:r>
          </a:p>
          <a:p>
            <a:pPr>
              <a:lnSpc>
                <a:spcPct val="115000"/>
              </a:lnSpc>
              <a:spcAft>
                <a:spcPts val="700"/>
              </a:spcAft>
            </a:pPr>
            <a:r>
              <a:rPr sz="1500" b="1" i="0">
                <a:solidFill>
                  <a:srgbClr val="10305A"/>
                </a:solidFill>
                <a:latin typeface="微软雅黑"/>
              </a:rPr>
              <a:t>● 机制层：判断差异肽可能偏风险样、保护样或方向未知。</a:t>
            </a:r>
          </a:p>
          <a:p>
            <a:pPr>
              <a:lnSpc>
                <a:spcPct val="115000"/>
              </a:lnSpc>
              <a:spcAft>
                <a:spcPts val="700"/>
              </a:spcAft>
            </a:pPr>
            <a:r>
              <a:rPr sz="1500" b="1" i="0">
                <a:solidFill>
                  <a:srgbClr val="10305A"/>
                </a:solidFill>
                <a:latin typeface="微软雅黑"/>
              </a:rPr>
              <a:t>● Aβ 结合：只是候选机制读数，不等于导致 AD。</a:t>
            </a:r>
          </a:p>
          <a:p>
            <a:pPr>
              <a:lnSpc>
                <a:spcPct val="115000"/>
              </a:lnSpc>
              <a:spcAft>
                <a:spcPts val="700"/>
              </a:spcAft>
            </a:pPr>
            <a:r>
              <a:rPr sz="1500" b="1" i="0">
                <a:solidFill>
                  <a:srgbClr val="10305A"/>
                </a:solidFill>
                <a:latin typeface="微软雅黑"/>
              </a:rPr>
              <a:t>● 主路径：AMP—菌群—LPS/SCFA—屏障/炎症—脑病理。</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　七环逻辑链：证据强度和本课题位置</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蓝色背景证据、绿色计算、橙色待验证</a:t>
            </a:r>
          </a:p>
        </p:txBody>
      </p:sp>
      <p:graphicFrame>
        <p:nvGraphicFramePr>
          <p:cNvPr id="5" name="Table 4"/>
          <p:cNvGraphicFramePr>
            <a:graphicFrameLocks noGrp="1"/>
          </p:cNvGraphicFramePr>
          <p:nvPr/>
        </p:nvGraphicFramePr>
        <p:xfrm>
          <a:off x="548640" y="1325880"/>
          <a:ext cx="11091672" cy="2761488"/>
        </p:xfrm>
        <a:graphic>
          <a:graphicData uri="http://schemas.openxmlformats.org/drawingml/2006/table">
            <a:tbl>
              <a:tblPr firstRow="1" bandRow="1">
                <a:tableStyleId>{5C22544A-7EE6-4342-B048-85BDC9FD1C3A}</a:tableStyleId>
              </a:tblPr>
              <a:tblGrid>
                <a:gridCol w="2772918"/>
                <a:gridCol w="2772918"/>
                <a:gridCol w="2772918"/>
                <a:gridCol w="2772918"/>
              </a:tblGrid>
              <a:tr h="345186">
                <a:tc>
                  <a:txBody>
                    <a:bodyPr/>
                    <a:lstStyle/>
                    <a:p>
                      <a:pPr algn="ctr"/>
                      <a:r>
                        <a:rPr sz="1000" b="1" i="0">
                          <a:solidFill>
                            <a:srgbClr val="FFFFFF"/>
                          </a:solidFill>
                          <a:latin typeface="微软雅黑"/>
                        </a:rPr>
                        <a:t>环节</a:t>
                      </a:r>
                    </a:p>
                  </a:txBody>
                  <a:tcPr marL="45720" marR="45720">
                    <a:solidFill>
                      <a:srgbClr val="10305A"/>
                    </a:solidFill>
                  </a:tcPr>
                </a:tc>
                <a:tc>
                  <a:txBody>
                    <a:bodyPr/>
                    <a:lstStyle/>
                    <a:p>
                      <a:pPr algn="ctr"/>
                      <a:r>
                        <a:rPr sz="1000" b="1" i="0">
                          <a:solidFill>
                            <a:srgbClr val="FFFFFF"/>
                          </a:solidFill>
                          <a:latin typeface="微软雅黑"/>
                        </a:rPr>
                        <a:t>逻辑</a:t>
                      </a:r>
                    </a:p>
                  </a:txBody>
                  <a:tcPr marL="45720" marR="45720">
                    <a:solidFill>
                      <a:srgbClr val="10305A"/>
                    </a:solidFill>
                  </a:tcPr>
                </a:tc>
                <a:tc>
                  <a:txBody>
                    <a:bodyPr/>
                    <a:lstStyle/>
                    <a:p>
                      <a:pPr algn="ctr"/>
                      <a:r>
                        <a:rPr sz="1000" b="1" i="0">
                          <a:solidFill>
                            <a:srgbClr val="FFFFFF"/>
                          </a:solidFill>
                          <a:latin typeface="微软雅黑"/>
                        </a:rPr>
                        <a:t>证据类型</a:t>
                      </a:r>
                    </a:p>
                  </a:txBody>
                  <a:tcPr marL="45720" marR="45720">
                    <a:solidFill>
                      <a:srgbClr val="10305A"/>
                    </a:solidFill>
                  </a:tcPr>
                </a:tc>
                <a:tc>
                  <a:txBody>
                    <a:bodyPr/>
                    <a:lstStyle/>
                    <a:p>
                      <a:pPr algn="ctr"/>
                      <a:r>
                        <a:rPr sz="1000" b="1" i="0">
                          <a:solidFill>
                            <a:srgbClr val="FFFFFF"/>
                          </a:solidFill>
                          <a:latin typeface="微软雅黑"/>
                        </a:rPr>
                        <a:t>本课题能回答什么</a:t>
                      </a:r>
                    </a:p>
                  </a:txBody>
                  <a:tcPr marL="45720" marR="45720">
                    <a:solidFill>
                      <a:srgbClr val="10305A"/>
                    </a:solidFill>
                  </a:tcPr>
                </a:tc>
              </a:tr>
              <a:tr h="345186">
                <a:tc>
                  <a:txBody>
                    <a:bodyPr/>
                    <a:lstStyle/>
                    <a:p>
                      <a:r>
                        <a:rPr sz="1000" b="0" i="0">
                          <a:solidFill>
                            <a:srgbClr val="1F2937"/>
                          </a:solidFill>
                          <a:latin typeface="微软雅黑"/>
                        </a:rPr>
                        <a:t>1 AD 与感染/炎症相关</a:t>
                      </a:r>
                    </a:p>
                  </a:txBody>
                  <a:tcPr marL="45720" marR="45720" anchor="t">
                    <a:solidFill>
                      <a:srgbClr val="F2F5F9"/>
                    </a:solidFill>
                  </a:tcPr>
                </a:tc>
                <a:tc>
                  <a:txBody>
                    <a:bodyPr/>
                    <a:lstStyle/>
                    <a:p>
                      <a:r>
                        <a:rPr sz="1000" b="0" i="0">
                          <a:solidFill>
                            <a:srgbClr val="1F2937"/>
                          </a:solidFill>
                          <a:latin typeface="微软雅黑"/>
                        </a:rPr>
                        <a:t>感染、LPS、炎症信号与 AD 病理共现</a:t>
                      </a:r>
                    </a:p>
                  </a:txBody>
                  <a:tcPr marL="45720" marR="45720" anchor="t">
                    <a:solidFill>
                      <a:srgbClr val="F2F5F9"/>
                    </a:solidFill>
                  </a:tcPr>
                </a:tc>
                <a:tc>
                  <a:txBody>
                    <a:bodyPr/>
                    <a:lstStyle/>
                    <a:p>
                      <a:r>
                        <a:rPr sz="1000" b="0" i="0">
                          <a:solidFill>
                            <a:srgbClr val="1F2937"/>
                          </a:solidFill>
                          <a:latin typeface="微软雅黑"/>
                        </a:rPr>
                        <a:t>人群、组织、动物和综述证据</a:t>
                      </a:r>
                    </a:p>
                  </a:txBody>
                  <a:tcPr marL="45720" marR="45720" anchor="t">
                    <a:solidFill>
                      <a:srgbClr val="F2F5F9"/>
                    </a:solidFill>
                  </a:tcPr>
                </a:tc>
                <a:tc>
                  <a:txBody>
                    <a:bodyPr/>
                    <a:lstStyle/>
                    <a:p>
                      <a:r>
                        <a:rPr sz="1000" b="0" i="0">
                          <a:solidFill>
                            <a:srgbClr val="1F2937"/>
                          </a:solidFill>
                          <a:latin typeface="微软雅黑"/>
                        </a:rPr>
                        <a:t>不能由 AMP 预测单独证明</a:t>
                      </a:r>
                    </a:p>
                  </a:txBody>
                  <a:tcPr marL="45720" marR="45720" anchor="t">
                    <a:solidFill>
                      <a:srgbClr val="F2F5F9"/>
                    </a:solidFill>
                  </a:tcPr>
                </a:tc>
              </a:tr>
              <a:tr h="345186">
                <a:tc>
                  <a:txBody>
                    <a:bodyPr/>
                    <a:lstStyle/>
                    <a:p>
                      <a:r>
                        <a:rPr sz="1000" b="0" i="0">
                          <a:solidFill>
                            <a:srgbClr val="1F2937"/>
                          </a:solidFill>
                          <a:latin typeface="微软雅黑"/>
                        </a:rPr>
                        <a:t>2 宿主 Aβ/AMP 是先天免疫效应分子</a:t>
                      </a:r>
                    </a:p>
                  </a:txBody>
                  <a:tcPr marL="45720" marR="45720" anchor="t">
                    <a:solidFill>
                      <a:srgbClr val="FFFFFF"/>
                    </a:solidFill>
                  </a:tcPr>
                </a:tc>
                <a:tc>
                  <a:txBody>
                    <a:bodyPr/>
                    <a:lstStyle/>
                    <a:p>
                      <a:r>
                        <a:rPr sz="1000" b="0" i="0">
                          <a:solidFill>
                            <a:srgbClr val="1F2937"/>
                          </a:solidFill>
                          <a:latin typeface="微软雅黑"/>
                        </a:rPr>
                        <a:t>Aβ、LL-37、防御素等具有抗感染和免疫调节属性</a:t>
                      </a:r>
                    </a:p>
                  </a:txBody>
                  <a:tcPr marL="45720" marR="45720" anchor="t">
                    <a:solidFill>
                      <a:srgbClr val="FFFFFF"/>
                    </a:solidFill>
                  </a:tcPr>
                </a:tc>
                <a:tc>
                  <a:txBody>
                    <a:bodyPr/>
                    <a:lstStyle/>
                    <a:p>
                      <a:r>
                        <a:rPr sz="1000" b="0" i="0">
                          <a:solidFill>
                            <a:srgbClr val="1F2937"/>
                          </a:solidFill>
                          <a:latin typeface="微软雅黑"/>
                        </a:rPr>
                        <a:t>体外、组织和动物证据</a:t>
                      </a:r>
                    </a:p>
                  </a:txBody>
                  <a:tcPr marL="45720" marR="45720" anchor="t">
                    <a:solidFill>
                      <a:srgbClr val="FFFFFF"/>
                    </a:solidFill>
                  </a:tcPr>
                </a:tc>
                <a:tc>
                  <a:txBody>
                    <a:bodyPr/>
                    <a:lstStyle/>
                    <a:p>
                      <a:r>
                        <a:rPr sz="1000" b="0" i="0">
                          <a:solidFill>
                            <a:srgbClr val="1F2937"/>
                          </a:solidFill>
                          <a:latin typeface="微软雅黑"/>
                        </a:rPr>
                        <a:t>提供病理背景，不等于微生物 AMP</a:t>
                      </a:r>
                    </a:p>
                  </a:txBody>
                  <a:tcPr marL="45720" marR="45720" anchor="t">
                    <a:solidFill>
                      <a:srgbClr val="FFFFFF"/>
                    </a:solidFill>
                  </a:tcPr>
                </a:tc>
              </a:tr>
              <a:tr h="345186">
                <a:tc>
                  <a:txBody>
                    <a:bodyPr/>
                    <a:lstStyle/>
                    <a:p>
                      <a:r>
                        <a:rPr sz="1000" b="0" i="0">
                          <a:solidFill>
                            <a:srgbClr val="1F2937"/>
                          </a:solidFill>
                          <a:latin typeface="微软雅黑"/>
                        </a:rPr>
                        <a:t>3 肠道菌群/屏障改变</a:t>
                      </a:r>
                    </a:p>
                  </a:txBody>
                  <a:tcPr marL="45720" marR="45720" anchor="t">
                    <a:solidFill>
                      <a:srgbClr val="F2F5F9"/>
                    </a:solidFill>
                  </a:tcPr>
                </a:tc>
                <a:tc>
                  <a:txBody>
                    <a:bodyPr/>
                    <a:lstStyle/>
                    <a:p>
                      <a:r>
                        <a:rPr sz="1000" b="0" i="0">
                          <a:solidFill>
                            <a:srgbClr val="1F2937"/>
                          </a:solidFill>
                          <a:latin typeface="微软雅黑"/>
                        </a:rPr>
                        <a:t>肠漏、LPS、SCFA 和菌群网络连接肠与脑</a:t>
                      </a:r>
                    </a:p>
                  </a:txBody>
                  <a:tcPr marL="45720" marR="45720" anchor="t">
                    <a:solidFill>
                      <a:srgbClr val="F2F5F9"/>
                    </a:solidFill>
                  </a:tcPr>
                </a:tc>
                <a:tc>
                  <a:txBody>
                    <a:bodyPr/>
                    <a:lstStyle/>
                    <a:p>
                      <a:r>
                        <a:rPr sz="1000" b="0" i="0">
                          <a:solidFill>
                            <a:srgbClr val="1F2937"/>
                          </a:solidFill>
                          <a:latin typeface="微软雅黑"/>
                        </a:rPr>
                        <a:t>队列、动物和中介线索</a:t>
                      </a:r>
                    </a:p>
                  </a:txBody>
                  <a:tcPr marL="45720" marR="45720" anchor="t">
                    <a:solidFill>
                      <a:srgbClr val="F2F5F9"/>
                    </a:solidFill>
                  </a:tcPr>
                </a:tc>
                <a:tc>
                  <a:txBody>
                    <a:bodyPr/>
                    <a:lstStyle/>
                    <a:p>
                      <a:r>
                        <a:rPr sz="1000" b="0" i="0">
                          <a:solidFill>
                            <a:srgbClr val="1F2937"/>
                          </a:solidFill>
                          <a:latin typeface="微软雅黑"/>
                        </a:rPr>
                        <a:t>为微生物源 AMP 提供上游环境</a:t>
                      </a:r>
                    </a:p>
                  </a:txBody>
                  <a:tcPr marL="45720" marR="45720" anchor="t">
                    <a:solidFill>
                      <a:srgbClr val="F2F5F9"/>
                    </a:solidFill>
                  </a:tcPr>
                </a:tc>
              </a:tr>
              <a:tr h="345186">
                <a:tc>
                  <a:txBody>
                    <a:bodyPr/>
                    <a:lstStyle/>
                    <a:p>
                      <a:r>
                        <a:rPr sz="1000" b="0" i="0">
                          <a:solidFill>
                            <a:srgbClr val="1F2937"/>
                          </a:solidFill>
                          <a:latin typeface="微软雅黑"/>
                        </a:rPr>
                        <a:t>4 宏基因组产生短肽库</a:t>
                      </a:r>
                    </a:p>
                  </a:txBody>
                  <a:tcPr marL="45720" marR="45720" anchor="t">
                    <a:solidFill>
                      <a:srgbClr val="FFFFFF"/>
                    </a:solidFill>
                  </a:tcPr>
                </a:tc>
                <a:tc>
                  <a:txBody>
                    <a:bodyPr/>
                    <a:lstStyle/>
                    <a:p>
                      <a:r>
                        <a:rPr sz="1000" b="0" i="0">
                          <a:solidFill>
                            <a:srgbClr val="1F2937"/>
                          </a:solidFill>
                          <a:latin typeface="微软雅黑"/>
                        </a:rPr>
                        <a:t>ORF 翻译得到大量候选短肽</a:t>
                      </a:r>
                    </a:p>
                  </a:txBody>
                  <a:tcPr marL="45720" marR="45720" anchor="t">
                    <a:solidFill>
                      <a:srgbClr val="FFFFFF"/>
                    </a:solidFill>
                  </a:tcPr>
                </a:tc>
                <a:tc>
                  <a:txBody>
                    <a:bodyPr/>
                    <a:lstStyle/>
                    <a:p>
                      <a:r>
                        <a:rPr sz="1000" b="0" i="0">
                          <a:solidFill>
                            <a:srgbClr val="1F2937"/>
                          </a:solidFill>
                          <a:latin typeface="微软雅黑"/>
                        </a:rPr>
                        <a:t>计算方法</a:t>
                      </a:r>
                    </a:p>
                  </a:txBody>
                  <a:tcPr marL="45720" marR="45720" anchor="t">
                    <a:solidFill>
                      <a:srgbClr val="FFFFFF"/>
                    </a:solidFill>
                  </a:tcPr>
                </a:tc>
                <a:tc>
                  <a:txBody>
                    <a:bodyPr/>
                    <a:lstStyle/>
                    <a:p>
                      <a:r>
                        <a:rPr sz="1000" b="0" i="0">
                          <a:solidFill>
                            <a:srgbClr val="1F2937"/>
                          </a:solidFill>
                          <a:latin typeface="微软雅黑"/>
                        </a:rPr>
                        <a:t>可复现地建立候选全集</a:t>
                      </a:r>
                    </a:p>
                  </a:txBody>
                  <a:tcPr marL="45720" marR="45720" anchor="t">
                    <a:solidFill>
                      <a:srgbClr val="FFFFFF"/>
                    </a:solidFill>
                  </a:tcPr>
                </a:tc>
              </a:tr>
              <a:tr h="345186">
                <a:tc>
                  <a:txBody>
                    <a:bodyPr/>
                    <a:lstStyle/>
                    <a:p>
                      <a:r>
                        <a:rPr sz="1000" b="0" i="0">
                          <a:solidFill>
                            <a:srgbClr val="1F2937"/>
                          </a:solidFill>
                          <a:latin typeface="微软雅黑"/>
                        </a:rPr>
                        <a:t>5 深度学习筛 AMP</a:t>
                      </a:r>
                    </a:p>
                  </a:txBody>
                  <a:tcPr marL="45720" marR="45720" anchor="t">
                    <a:solidFill>
                      <a:srgbClr val="F2F5F9"/>
                    </a:solidFill>
                  </a:tcPr>
                </a:tc>
                <a:tc>
                  <a:txBody>
                    <a:bodyPr/>
                    <a:lstStyle/>
                    <a:p>
                      <a:r>
                        <a:rPr sz="1000" b="0" i="0">
                          <a:solidFill>
                            <a:srgbClr val="1F2937"/>
                          </a:solidFill>
                          <a:latin typeface="微软雅黑"/>
                        </a:rPr>
                        <a:t>Attention/LSTM/BERT 预测 AMP 特征</a:t>
                      </a:r>
                    </a:p>
                  </a:txBody>
                  <a:tcPr marL="45720" marR="45720" anchor="t">
                    <a:solidFill>
                      <a:srgbClr val="F2F5F9"/>
                    </a:solidFill>
                  </a:tcPr>
                </a:tc>
                <a:tc>
                  <a:txBody>
                    <a:bodyPr/>
                    <a:lstStyle/>
                    <a:p>
                      <a:r>
                        <a:rPr sz="1000" b="0" i="0">
                          <a:solidFill>
                            <a:srgbClr val="1F2937"/>
                          </a:solidFill>
                          <a:latin typeface="微软雅黑"/>
                        </a:rPr>
                        <a:t>模型和活性验证先例</a:t>
                      </a:r>
                    </a:p>
                  </a:txBody>
                  <a:tcPr marL="45720" marR="45720" anchor="t">
                    <a:solidFill>
                      <a:srgbClr val="F2F5F9"/>
                    </a:solidFill>
                  </a:tcPr>
                </a:tc>
                <a:tc>
                  <a:txBody>
                    <a:bodyPr/>
                    <a:lstStyle/>
                    <a:p>
                      <a:r>
                        <a:rPr sz="1000" b="0" i="0">
                          <a:solidFill>
                            <a:srgbClr val="1F2937"/>
                          </a:solidFill>
                          <a:latin typeface="微软雅黑"/>
                        </a:rPr>
                        <a:t>缩小候选空间，不判定 AD</a:t>
                      </a:r>
                    </a:p>
                  </a:txBody>
                  <a:tcPr marL="45720" marR="45720" anchor="t">
                    <a:solidFill>
                      <a:srgbClr val="F2F5F9"/>
                    </a:solidFill>
                  </a:tcPr>
                </a:tc>
              </a:tr>
              <a:tr h="345186">
                <a:tc>
                  <a:txBody>
                    <a:bodyPr/>
                    <a:lstStyle/>
                    <a:p>
                      <a:r>
                        <a:rPr sz="1000" b="0" i="0">
                          <a:solidFill>
                            <a:srgbClr val="1F2937"/>
                          </a:solidFill>
                          <a:latin typeface="微软雅黑"/>
                        </a:rPr>
                        <a:t>6 AD/健康差异与阶段特异</a:t>
                      </a:r>
                    </a:p>
                  </a:txBody>
                  <a:tcPr marL="45720" marR="45720" anchor="t">
                    <a:solidFill>
                      <a:srgbClr val="FFFFFF"/>
                    </a:solidFill>
                  </a:tcPr>
                </a:tc>
                <a:tc>
                  <a:txBody>
                    <a:bodyPr/>
                    <a:lstStyle/>
                    <a:p>
                      <a:r>
                        <a:rPr sz="1000" b="0" i="0">
                          <a:solidFill>
                            <a:srgbClr val="1F2937"/>
                          </a:solidFill>
                          <a:latin typeface="微软雅黑"/>
                        </a:rPr>
                        <a:t>不同阶段菌群编码肽的组成可能不同</a:t>
                      </a:r>
                    </a:p>
                  </a:txBody>
                  <a:tcPr marL="45720" marR="45720" anchor="t">
                    <a:solidFill>
                      <a:srgbClr val="FFFFFF"/>
                    </a:solidFill>
                  </a:tcPr>
                </a:tc>
                <a:tc>
                  <a:txBody>
                    <a:bodyPr/>
                    <a:lstStyle/>
                    <a:p>
                      <a:r>
                        <a:rPr sz="1000" b="0" i="0">
                          <a:solidFill>
                            <a:srgbClr val="1F2937"/>
                          </a:solidFill>
                          <a:latin typeface="微软雅黑"/>
                        </a:rPr>
                        <a:t>本课题核心分析</a:t>
                      </a:r>
                    </a:p>
                  </a:txBody>
                  <a:tcPr marL="45720" marR="45720" anchor="t">
                    <a:solidFill>
                      <a:srgbClr val="FFFFFF"/>
                    </a:solidFill>
                  </a:tcPr>
                </a:tc>
                <a:tc>
                  <a:txBody>
                    <a:bodyPr/>
                    <a:lstStyle/>
                    <a:p>
                      <a:r>
                        <a:rPr sz="1000" b="0" i="0">
                          <a:solidFill>
                            <a:srgbClr val="1F2937"/>
                          </a:solidFill>
                          <a:latin typeface="微软雅黑"/>
                        </a:rPr>
                        <a:t>筛选 AD 相关差异候选</a:t>
                      </a:r>
                    </a:p>
                  </a:txBody>
                  <a:tcPr marL="45720" marR="45720" anchor="t">
                    <a:solidFill>
                      <a:srgbClr val="FFFFFF"/>
                    </a:solidFill>
                  </a:tcPr>
                </a:tc>
              </a:tr>
              <a:tr h="345186">
                <a:tc>
                  <a:txBody>
                    <a:bodyPr/>
                    <a:lstStyle/>
                    <a:p>
                      <a:r>
                        <a:rPr sz="1000" b="0" i="0">
                          <a:solidFill>
                            <a:srgbClr val="1F2937"/>
                          </a:solidFill>
                          <a:latin typeface="微软雅黑"/>
                        </a:rPr>
                        <a:t>7 病理方向与因果</a:t>
                      </a:r>
                    </a:p>
                  </a:txBody>
                  <a:tcPr marL="45720" marR="45720" anchor="t">
                    <a:solidFill>
                      <a:srgbClr val="F2F5F9"/>
                    </a:solidFill>
                  </a:tcPr>
                </a:tc>
                <a:tc>
                  <a:txBody>
                    <a:bodyPr/>
                    <a:lstStyle/>
                    <a:p>
                      <a:r>
                        <a:rPr sz="1000" b="0" i="0">
                          <a:solidFill>
                            <a:srgbClr val="1F2937"/>
                          </a:solidFill>
                          <a:latin typeface="微软雅黑"/>
                        </a:rPr>
                        <a:t>风险样或保护样，最终需干预验证</a:t>
                      </a:r>
                    </a:p>
                  </a:txBody>
                  <a:tcPr marL="45720" marR="45720" anchor="t">
                    <a:solidFill>
                      <a:srgbClr val="F2F5F9"/>
                    </a:solidFill>
                  </a:tcPr>
                </a:tc>
                <a:tc>
                  <a:txBody>
                    <a:bodyPr/>
                    <a:lstStyle/>
                    <a:p>
                      <a:r>
                        <a:rPr sz="1000" b="0" i="0">
                          <a:solidFill>
                            <a:srgbClr val="1F2937"/>
                          </a:solidFill>
                          <a:latin typeface="微软雅黑"/>
                        </a:rPr>
                        <a:t>网络、MD/QM、细胞/动物</a:t>
                      </a:r>
                    </a:p>
                  </a:txBody>
                  <a:tcPr marL="45720" marR="45720" anchor="t">
                    <a:solidFill>
                      <a:srgbClr val="F2F5F9"/>
                    </a:solidFill>
                  </a:tcPr>
                </a:tc>
                <a:tc>
                  <a:txBody>
                    <a:bodyPr/>
                    <a:lstStyle/>
                    <a:p>
                      <a:r>
                        <a:rPr sz="1000" b="0" i="0">
                          <a:solidFill>
                            <a:srgbClr val="1F2937"/>
                          </a:solidFill>
                          <a:latin typeface="微软雅黑"/>
                        </a:rPr>
                        <a:t>提出优先级和可检验假设</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 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463040" cy="100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06040"/>
            <a:ext cx="10515600" cy="1280160"/>
          </a:xfrm>
          <a:prstGeom prst="rect">
            <a:avLst/>
          </a:prstGeom>
          <a:noFill/>
        </p:spPr>
        <p:txBody>
          <a:bodyPr wrap="square">
            <a:spAutoFit/>
          </a:bodyPr>
          <a:lstStyle/>
          <a:p>
            <a:pPr algn="l"/>
            <a:r>
              <a:rPr sz="3400" b="1" i="0">
                <a:solidFill>
                  <a:srgbClr val="FFFFFF"/>
                </a:solidFill>
                <a:latin typeface="微软雅黑"/>
              </a:rPr>
              <a:t>八个问题先逐条回答</a:t>
            </a:r>
          </a:p>
        </p:txBody>
      </p:sp>
      <p:sp>
        <p:nvSpPr>
          <p:cNvPr id="5" name="TextBox 4"/>
          <p:cNvSpPr txBox="1"/>
          <p:nvPr/>
        </p:nvSpPr>
        <p:spPr>
          <a:xfrm>
            <a:off x="822960" y="1600200"/>
            <a:ext cx="10515600" cy="822960"/>
          </a:xfrm>
          <a:prstGeom prst="rect">
            <a:avLst/>
          </a:prstGeom>
          <a:noFill/>
        </p:spPr>
        <p:txBody>
          <a:bodyPr wrap="square">
            <a:spAutoFit/>
          </a:bodyPr>
          <a:lstStyle/>
          <a:p>
            <a:pPr algn="l"/>
            <a:r>
              <a:rPr sz="4400" b="1" i="0">
                <a:solidFill>
                  <a:srgbClr val="C9A227"/>
                </a:solidFill>
                <a:latin typeface="微软雅黑"/>
              </a:rPr>
              <a:t>01</a:t>
            </a:r>
          </a:p>
        </p:txBody>
      </p:sp>
      <p:sp>
        <p:nvSpPr>
          <p:cNvPr id="6" name="TextBox 5"/>
          <p:cNvSpPr txBox="1"/>
          <p:nvPr/>
        </p:nvSpPr>
        <p:spPr>
          <a:xfrm>
            <a:off x="822960" y="3977639"/>
            <a:ext cx="10515600" cy="731520"/>
          </a:xfrm>
          <a:prstGeom prst="rect">
            <a:avLst/>
          </a:prstGeom>
          <a:noFill/>
        </p:spPr>
        <p:txBody>
          <a:bodyPr wrap="square">
            <a:spAutoFit/>
          </a:bodyPr>
          <a:lstStyle/>
          <a:p>
            <a:pPr algn="l"/>
            <a:r>
              <a:rPr sz="1500" b="0" i="0">
                <a:solidFill>
                  <a:srgbClr val="D8E0EA"/>
                </a:solidFill>
                <a:latin typeface="微软雅黑"/>
              </a:rPr>
              <a:t>每个问题都同时给结论、证据和边界</a:t>
            </a:r>
          </a:p>
        </p:txBody>
      </p:sp>
      <p:sp>
        <p:nvSpPr>
          <p:cNvPr id="7" name="TextBox 6"/>
          <p:cNvSpPr txBox="1"/>
          <p:nvPr/>
        </p:nvSpPr>
        <p:spPr>
          <a:xfrm>
            <a:off x="822960" y="6126480"/>
            <a:ext cx="10515600" cy="365760"/>
          </a:xfrm>
          <a:prstGeom prst="rect">
            <a:avLst/>
          </a:prstGeom>
          <a:noFill/>
        </p:spPr>
        <p:txBody>
          <a:bodyPr wrap="square">
            <a:spAutoFit/>
          </a:bodyPr>
          <a:lstStyle/>
          <a:p>
            <a:pPr algn="l"/>
            <a:r>
              <a:rPr sz="900" b="0" i="0">
                <a:solidFill>
                  <a:srgbClr val="9AA8BA"/>
                </a:solidFill>
                <a:latin typeface="微软雅黑"/>
              </a:rPr>
              <a:t>抗菌肽与 AD 关联机制说明·八问整合版｜2026-09-26 10:34 北京时间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2　问题 1 的对象区分</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宿主 AMP、Aβ、微生物源 AMP 和抑制肽</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对象</a:t>
                      </a:r>
                    </a:p>
                  </a:txBody>
                  <a:tcPr marL="45720" marR="45720">
                    <a:solidFill>
                      <a:srgbClr val="10305A"/>
                    </a:solidFill>
                  </a:tcPr>
                </a:tc>
                <a:tc>
                  <a:txBody>
                    <a:bodyPr/>
                    <a:lstStyle/>
                    <a:p>
                      <a:pPr algn="ctr"/>
                      <a:r>
                        <a:rPr sz="1250" b="1" i="0">
                          <a:solidFill>
                            <a:srgbClr val="FFFFFF"/>
                          </a:solidFill>
                          <a:latin typeface="微软雅黑"/>
                        </a:rPr>
                        <a:t>来源</a:t>
                      </a:r>
                    </a:p>
                  </a:txBody>
                  <a:tcPr marL="45720" marR="45720">
                    <a:solidFill>
                      <a:srgbClr val="10305A"/>
                    </a:solidFill>
                  </a:tcPr>
                </a:tc>
                <a:tc>
                  <a:txBody>
                    <a:bodyPr/>
                    <a:lstStyle/>
                    <a:p>
                      <a:pPr algn="ctr"/>
                      <a:r>
                        <a:rPr sz="1250" b="1" i="0">
                          <a:solidFill>
                            <a:srgbClr val="FFFFFF"/>
                          </a:solidFill>
                          <a:latin typeface="微软雅黑"/>
                        </a:rPr>
                        <a:t>在材料中的作用</a:t>
                      </a:r>
                    </a:p>
                  </a:txBody>
                  <a:tcPr marL="45720" marR="45720">
                    <a:solidFill>
                      <a:srgbClr val="10305A"/>
                    </a:solidFill>
                  </a:tcPr>
                </a:tc>
                <a:tc>
                  <a:txBody>
                    <a:bodyPr/>
                    <a:lstStyle/>
                    <a:p>
                      <a:pPr algn="ctr"/>
                      <a:r>
                        <a:rPr sz="1250" b="1" i="0">
                          <a:solidFill>
                            <a:srgbClr val="FFFFFF"/>
                          </a:solidFill>
                          <a:latin typeface="微软雅黑"/>
                        </a:rPr>
                        <a:t>当前证据强度</a:t>
                      </a:r>
                    </a:p>
                  </a:txBody>
                  <a:tcPr marL="45720" marR="45720">
                    <a:solidFill>
                      <a:srgbClr val="10305A"/>
                    </a:solidFill>
                  </a:tcPr>
                </a:tc>
              </a:tr>
              <a:tr h="365760">
                <a:tc>
                  <a:txBody>
                    <a:bodyPr/>
                    <a:lstStyle/>
                    <a:p>
                      <a:r>
                        <a:rPr sz="1250" b="0" i="0">
                          <a:solidFill>
                            <a:srgbClr val="1F2937"/>
                          </a:solidFill>
                          <a:latin typeface="微软雅黑"/>
                        </a:rPr>
                        <a:t>Aβ</a:t>
                      </a:r>
                    </a:p>
                  </a:txBody>
                  <a:tcPr marL="45720" marR="45720" anchor="t">
                    <a:solidFill>
                      <a:srgbClr val="F2F5F9"/>
                    </a:solidFill>
                  </a:tcPr>
                </a:tc>
                <a:tc>
                  <a:txBody>
                    <a:bodyPr/>
                    <a:lstStyle/>
                    <a:p>
                      <a:r>
                        <a:rPr sz="1250" b="0" i="0">
                          <a:solidFill>
                            <a:srgbClr val="1F2937"/>
                          </a:solidFill>
                          <a:latin typeface="微软雅黑"/>
                        </a:rPr>
                        <a:t>宿主 APP 加工</a:t>
                      </a:r>
                    </a:p>
                  </a:txBody>
                  <a:tcPr marL="45720" marR="45720" anchor="t">
                    <a:solidFill>
                      <a:srgbClr val="F2F5F9"/>
                    </a:solidFill>
                  </a:tcPr>
                </a:tc>
                <a:tc>
                  <a:txBody>
                    <a:bodyPr/>
                    <a:lstStyle/>
                    <a:p>
                      <a:r>
                        <a:rPr sz="1250" b="0" i="0">
                          <a:solidFill>
                            <a:srgbClr val="1F2937"/>
                          </a:solidFill>
                          <a:latin typeface="微软雅黑"/>
                        </a:rPr>
                        <a:t>AD 病理对象，同时具有先天免疫属性</a:t>
                      </a:r>
                    </a:p>
                  </a:txBody>
                  <a:tcPr marL="45720" marR="45720" anchor="t">
                    <a:solidFill>
                      <a:srgbClr val="F2F5F9"/>
                    </a:solidFill>
                  </a:tcPr>
                </a:tc>
                <a:tc>
                  <a:txBody>
                    <a:bodyPr/>
                    <a:lstStyle/>
                    <a:p>
                      <a:r>
                        <a:rPr sz="1250" b="0" i="0">
                          <a:solidFill>
                            <a:srgbClr val="1F2937"/>
                          </a:solidFill>
                          <a:latin typeface="微软雅黑"/>
                        </a:rPr>
                        <a:t>相对强，但机制具有双向性</a:t>
                      </a:r>
                    </a:p>
                  </a:txBody>
                  <a:tcPr marL="45720" marR="45720" anchor="t">
                    <a:solidFill>
                      <a:srgbClr val="F2F5F9"/>
                    </a:solidFill>
                  </a:tcPr>
                </a:tc>
              </a:tr>
              <a:tr h="365760">
                <a:tc>
                  <a:txBody>
                    <a:bodyPr/>
                    <a:lstStyle/>
                    <a:p>
                      <a:r>
                        <a:rPr sz="1250" b="0" i="0">
                          <a:solidFill>
                            <a:srgbClr val="1F2937"/>
                          </a:solidFill>
                          <a:latin typeface="微软雅黑"/>
                        </a:rPr>
                        <a:t>LL-37/防御素/CAP37</a:t>
                      </a:r>
                    </a:p>
                  </a:txBody>
                  <a:tcPr marL="45720" marR="45720" anchor="t">
                    <a:solidFill>
                      <a:srgbClr val="FFFFFF"/>
                    </a:solidFill>
                  </a:tcPr>
                </a:tc>
                <a:tc>
                  <a:txBody>
                    <a:bodyPr/>
                    <a:lstStyle/>
                    <a:p>
                      <a:r>
                        <a:rPr sz="1250" b="0" i="0">
                          <a:solidFill>
                            <a:srgbClr val="1F2937"/>
                          </a:solidFill>
                          <a:latin typeface="微软雅黑"/>
                        </a:rPr>
                        <a:t>宿主细胞</a:t>
                      </a:r>
                    </a:p>
                  </a:txBody>
                  <a:tcPr marL="45720" marR="45720" anchor="t">
                    <a:solidFill>
                      <a:srgbClr val="FFFFFF"/>
                    </a:solidFill>
                  </a:tcPr>
                </a:tc>
                <a:tc>
                  <a:txBody>
                    <a:bodyPr/>
                    <a:lstStyle/>
                    <a:p>
                      <a:r>
                        <a:rPr sz="1250" b="0" i="0">
                          <a:solidFill>
                            <a:srgbClr val="1F2937"/>
                          </a:solidFill>
                          <a:latin typeface="微软雅黑"/>
                        </a:rPr>
                        <a:t>宿主 AMP 病理模板和炎症标志物</a:t>
                      </a:r>
                    </a:p>
                  </a:txBody>
                  <a:tcPr marL="45720" marR="45720" anchor="t">
                    <a:solidFill>
                      <a:srgbClr val="FFFFFF"/>
                    </a:solidFill>
                  </a:tcPr>
                </a:tc>
                <a:tc>
                  <a:txBody>
                    <a:bodyPr/>
                    <a:lstStyle/>
                    <a:p>
                      <a:r>
                        <a:rPr sz="1250" b="0" i="0">
                          <a:solidFill>
                            <a:srgbClr val="1F2937"/>
                          </a:solidFill>
                          <a:latin typeface="微软雅黑"/>
                        </a:rPr>
                        <a:t>组织/体液/动物证据</a:t>
                      </a:r>
                    </a:p>
                  </a:txBody>
                  <a:tcPr marL="45720" marR="45720" anchor="t">
                    <a:solidFill>
                      <a:srgbClr val="FFFFFF"/>
                    </a:solidFill>
                  </a:tcPr>
                </a:tc>
              </a:tr>
              <a:tr h="365760">
                <a:tc>
                  <a:txBody>
                    <a:bodyPr/>
                    <a:lstStyle/>
                    <a:p>
                      <a:r>
                        <a:rPr sz="1250" b="0" i="0">
                          <a:solidFill>
                            <a:srgbClr val="1F2937"/>
                          </a:solidFill>
                          <a:latin typeface="微软雅黑"/>
                        </a:rPr>
                        <a:t>微生物源候选 AMP</a:t>
                      </a:r>
                    </a:p>
                  </a:txBody>
                  <a:tcPr marL="45720" marR="45720" anchor="t">
                    <a:solidFill>
                      <a:srgbClr val="F2F5F9"/>
                    </a:solidFill>
                  </a:tcPr>
                </a:tc>
                <a:tc>
                  <a:txBody>
                    <a:bodyPr/>
                    <a:lstStyle/>
                    <a:p>
                      <a:r>
                        <a:rPr sz="1250" b="0" i="0">
                          <a:solidFill>
                            <a:srgbClr val="1F2937"/>
                          </a:solidFill>
                          <a:latin typeface="微软雅黑"/>
                        </a:rPr>
                        <a:t>肠道微生物 ORF</a:t>
                      </a:r>
                    </a:p>
                  </a:txBody>
                  <a:tcPr marL="45720" marR="45720" anchor="t">
                    <a:solidFill>
                      <a:srgbClr val="F2F5F9"/>
                    </a:solidFill>
                  </a:tcPr>
                </a:tc>
                <a:tc>
                  <a:txBody>
                    <a:bodyPr/>
                    <a:lstStyle/>
                    <a:p>
                      <a:r>
                        <a:rPr sz="1250" b="0" i="0">
                          <a:solidFill>
                            <a:srgbClr val="1F2937"/>
                          </a:solidFill>
                          <a:latin typeface="微软雅黑"/>
                        </a:rPr>
                        <a:t>本课题主要筛选对象</a:t>
                      </a:r>
                    </a:p>
                  </a:txBody>
                  <a:tcPr marL="45720" marR="45720" anchor="t">
                    <a:solidFill>
                      <a:srgbClr val="F2F5F9"/>
                    </a:solidFill>
                  </a:tcPr>
                </a:tc>
                <a:tc>
                  <a:txBody>
                    <a:bodyPr/>
                    <a:lstStyle/>
                    <a:p>
                      <a:r>
                        <a:rPr sz="1250" b="0" i="0">
                          <a:solidFill>
                            <a:srgbClr val="1F2937"/>
                          </a:solidFill>
                          <a:latin typeface="微软雅黑"/>
                        </a:rPr>
                        <a:t>等待本课题差异和表达结果</a:t>
                      </a:r>
                    </a:p>
                  </a:txBody>
                  <a:tcPr marL="45720" marR="45720" anchor="t">
                    <a:solidFill>
                      <a:srgbClr val="F2F5F9"/>
                    </a:solidFill>
                  </a:tcPr>
                </a:tc>
              </a:tr>
              <a:tr h="365760">
                <a:tc>
                  <a:txBody>
                    <a:bodyPr/>
                    <a:lstStyle/>
                    <a:p>
                      <a:r>
                        <a:rPr sz="1250" b="0" i="0">
                          <a:solidFill>
                            <a:srgbClr val="1F2937"/>
                          </a:solidFill>
                          <a:latin typeface="微软雅黑"/>
                        </a:rPr>
                        <a:t>设计的 Aβ 抑制肽</a:t>
                      </a:r>
                    </a:p>
                  </a:txBody>
                  <a:tcPr marL="45720" marR="45720" anchor="t">
                    <a:solidFill>
                      <a:srgbClr val="FFFFFF"/>
                    </a:solidFill>
                  </a:tcPr>
                </a:tc>
                <a:tc>
                  <a:txBody>
                    <a:bodyPr/>
                    <a:lstStyle/>
                    <a:p>
                      <a:r>
                        <a:rPr sz="1250" b="0" i="0">
                          <a:solidFill>
                            <a:srgbClr val="1F2937"/>
                          </a:solidFill>
                          <a:latin typeface="微软雅黑"/>
                        </a:rPr>
                        <a:t>合成或工程设计</a:t>
                      </a:r>
                    </a:p>
                  </a:txBody>
                  <a:tcPr marL="45720" marR="45720" anchor="t">
                    <a:solidFill>
                      <a:srgbClr val="FFFFFF"/>
                    </a:solidFill>
                  </a:tcPr>
                </a:tc>
                <a:tc>
                  <a:txBody>
                    <a:bodyPr/>
                    <a:lstStyle/>
                    <a:p>
                      <a:r>
                        <a:rPr sz="1250" b="0" i="0">
                          <a:solidFill>
                            <a:srgbClr val="1F2937"/>
                          </a:solidFill>
                          <a:latin typeface="微软雅黑"/>
                        </a:rPr>
                        <a:t>治疗性比较对象</a:t>
                      </a:r>
                    </a:p>
                  </a:txBody>
                  <a:tcPr marL="45720" marR="45720" anchor="t">
                    <a:solidFill>
                      <a:srgbClr val="FFFFFF"/>
                    </a:solidFill>
                  </a:tcPr>
                </a:tc>
                <a:tc>
                  <a:txBody>
                    <a:bodyPr/>
                    <a:lstStyle/>
                    <a:p>
                      <a:r>
                        <a:rPr sz="1250" b="0" i="0">
                          <a:solidFill>
                            <a:srgbClr val="1F2937"/>
                          </a:solidFill>
                          <a:latin typeface="微软雅黑"/>
                        </a:rPr>
                        <a:t>不是本课题首要目标</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5 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1：抗菌肽与 AD 有什么关系</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Aβ 和宿主 AMP 提供背景，微生物 AMP 是本课题对象</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Aβ 具有抗菌性质，宿主 AMP 在 AD 组织/体液中有变化。</a:t>
            </a:r>
          </a:p>
          <a:p>
            <a:pPr>
              <a:lnSpc>
                <a:spcPct val="115000"/>
              </a:lnSpc>
              <a:spcAft>
                <a:spcPts val="700"/>
              </a:spcAft>
            </a:pPr>
            <a:r>
              <a:rPr sz="1500" b="1" i="0">
                <a:solidFill>
                  <a:srgbClr val="10305A"/>
                </a:solidFill>
                <a:latin typeface="微软雅黑"/>
              </a:rPr>
              <a:t>● 你的研究对象是肠道微生物 ORF 编码的 AMP。</a:t>
            </a:r>
          </a:p>
          <a:p>
            <a:pPr>
              <a:lnSpc>
                <a:spcPct val="115000"/>
              </a:lnSpc>
              <a:spcAft>
                <a:spcPts val="700"/>
              </a:spcAft>
            </a:pPr>
            <a:r>
              <a:rPr sz="1500" b="1" i="0">
                <a:solidFill>
                  <a:srgbClr val="10305A"/>
                </a:solidFill>
                <a:latin typeface="微软雅黑"/>
              </a:rPr>
              <a:t>● 宿主 AMP 文献不能直接替代微生物 AMP 的差异结果。</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6 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2：AD 与感染有关吗</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可以说有关联线索，不能说所有 AD 都由感染直接导致</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脑组织病原体、LPS 和外周屏障指标有多类报道。</a:t>
            </a:r>
          </a:p>
          <a:p>
            <a:pPr>
              <a:lnSpc>
                <a:spcPct val="115000"/>
              </a:lnSpc>
              <a:spcAft>
                <a:spcPts val="700"/>
              </a:spcAft>
            </a:pPr>
            <a:r>
              <a:rPr sz="1500" b="1" i="0">
                <a:solidFill>
                  <a:srgbClr val="10305A"/>
                </a:solidFill>
                <a:latin typeface="微软雅黑"/>
              </a:rPr>
              <a:t>● 不同队列的污染、可重复性和因果方向需要控制。</a:t>
            </a:r>
          </a:p>
          <a:p>
            <a:pPr>
              <a:lnSpc>
                <a:spcPct val="115000"/>
              </a:lnSpc>
              <a:spcAft>
                <a:spcPts val="700"/>
              </a:spcAft>
            </a:pPr>
            <a:r>
              <a:rPr sz="1500" b="1" i="0">
                <a:solidFill>
                  <a:srgbClr val="10305A"/>
                </a:solidFill>
                <a:latin typeface="微软雅黑"/>
              </a:rPr>
              <a:t>● 人群归因分数是总体估计，不是个人病因概率。</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7 页</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3　深度学习输出如何被正确翻译</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AMP 概率不是 AD 病理概率</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3697224"/>
                <a:gridCol w="3697224"/>
                <a:gridCol w="3697224"/>
              </a:tblGrid>
              <a:tr h="356616">
                <a:tc>
                  <a:txBody>
                    <a:bodyPr/>
                    <a:lstStyle/>
                    <a:p>
                      <a:pPr algn="ctr"/>
                      <a:r>
                        <a:rPr sz="1100" b="1" i="0">
                          <a:solidFill>
                            <a:srgbClr val="FFFFFF"/>
                          </a:solidFill>
                          <a:latin typeface="微软雅黑"/>
                        </a:rPr>
                        <a:t>输出</a:t>
                      </a:r>
                    </a:p>
                  </a:txBody>
                  <a:tcPr marL="45720" marR="45720">
                    <a:solidFill>
                      <a:srgbClr val="10305A"/>
                    </a:solidFill>
                  </a:tcPr>
                </a:tc>
                <a:tc>
                  <a:txBody>
                    <a:bodyPr/>
                    <a:lstStyle/>
                    <a:p>
                      <a:pPr algn="ctr"/>
                      <a:r>
                        <a:rPr sz="1100" b="1" i="0">
                          <a:solidFill>
                            <a:srgbClr val="FFFFFF"/>
                          </a:solidFill>
                          <a:latin typeface="微软雅黑"/>
                        </a:rPr>
                        <a:t>可以写</a:t>
                      </a:r>
                    </a:p>
                  </a:txBody>
                  <a:tcPr marL="45720" marR="45720">
                    <a:solidFill>
                      <a:srgbClr val="10305A"/>
                    </a:solidFill>
                  </a:tcPr>
                </a:tc>
                <a:tc>
                  <a:txBody>
                    <a:bodyPr/>
                    <a:lstStyle/>
                    <a:p>
                      <a:pPr algn="ctr"/>
                      <a:r>
                        <a:rPr sz="1100" b="1" i="0">
                          <a:solidFill>
                            <a:srgbClr val="FFFFFF"/>
                          </a:solidFill>
                          <a:latin typeface="微软雅黑"/>
                        </a:rPr>
                        <a:t>不能写</a:t>
                      </a:r>
                    </a:p>
                  </a:txBody>
                  <a:tcPr marL="45720" marR="45720">
                    <a:solidFill>
                      <a:srgbClr val="10305A"/>
                    </a:solidFill>
                  </a:tcPr>
                </a:tc>
              </a:tr>
              <a:tr h="356616">
                <a:tc>
                  <a:txBody>
                    <a:bodyPr/>
                    <a:lstStyle/>
                    <a:p>
                      <a:r>
                        <a:rPr sz="1100" b="0" i="0">
                          <a:solidFill>
                            <a:srgbClr val="1F2937"/>
                          </a:solidFill>
                          <a:latin typeface="微软雅黑"/>
                        </a:rPr>
                        <a:t>AMP 模型概率高</a:t>
                      </a:r>
                    </a:p>
                  </a:txBody>
                  <a:tcPr marL="45720" marR="45720" anchor="t">
                    <a:solidFill>
                      <a:srgbClr val="F2F5F9"/>
                    </a:solidFill>
                  </a:tcPr>
                </a:tc>
                <a:tc>
                  <a:txBody>
                    <a:bodyPr/>
                    <a:lstStyle/>
                    <a:p>
                      <a:r>
                        <a:rPr sz="1100" b="0" i="0">
                          <a:solidFill>
                            <a:srgbClr val="1F2937"/>
                          </a:solidFill>
                          <a:latin typeface="微软雅黑"/>
                        </a:rPr>
                        <a:t>具有 AMP 序列特征</a:t>
                      </a:r>
                    </a:p>
                  </a:txBody>
                  <a:tcPr marL="45720" marR="45720" anchor="t">
                    <a:solidFill>
                      <a:srgbClr val="F2F5F9"/>
                    </a:solidFill>
                  </a:tcPr>
                </a:tc>
                <a:tc>
                  <a:txBody>
                    <a:bodyPr/>
                    <a:lstStyle/>
                    <a:p>
                      <a:r>
                        <a:rPr sz="1100" b="0" i="0">
                          <a:solidFill>
                            <a:srgbClr val="1F2937"/>
                          </a:solidFill>
                          <a:latin typeface="微软雅黑"/>
                        </a:rPr>
                        <a:t>会导致 AD</a:t>
                      </a:r>
                    </a:p>
                  </a:txBody>
                  <a:tcPr marL="45720" marR="45720" anchor="t">
                    <a:solidFill>
                      <a:srgbClr val="F2F5F9"/>
                    </a:solidFill>
                  </a:tcPr>
                </a:tc>
              </a:tr>
              <a:tr h="356616">
                <a:tc>
                  <a:txBody>
                    <a:bodyPr/>
                    <a:lstStyle/>
                    <a:p>
                      <a:r>
                        <a:rPr sz="1100" b="0" i="0">
                          <a:solidFill>
                            <a:srgbClr val="1F2937"/>
                          </a:solidFill>
                          <a:latin typeface="微软雅黑"/>
                        </a:rPr>
                        <a:t>模型 2/3 或 3/3 共识</a:t>
                      </a:r>
                    </a:p>
                  </a:txBody>
                  <a:tcPr marL="45720" marR="45720" anchor="t">
                    <a:solidFill>
                      <a:srgbClr val="FFFFFF"/>
                    </a:solidFill>
                  </a:tcPr>
                </a:tc>
                <a:tc>
                  <a:txBody>
                    <a:bodyPr/>
                    <a:lstStyle/>
                    <a:p>
                      <a:r>
                        <a:rPr sz="1100" b="0" i="0">
                          <a:solidFill>
                            <a:srgbClr val="1F2937"/>
                          </a:solidFill>
                          <a:latin typeface="微软雅黑"/>
                        </a:rPr>
                        <a:t>降低单模型假阳性</a:t>
                      </a:r>
                    </a:p>
                  </a:txBody>
                  <a:tcPr marL="45720" marR="45720" anchor="t">
                    <a:solidFill>
                      <a:srgbClr val="FFFFFF"/>
                    </a:solidFill>
                  </a:tcPr>
                </a:tc>
                <a:tc>
                  <a:txBody>
                    <a:bodyPr/>
                    <a:lstStyle/>
                    <a:p>
                      <a:r>
                        <a:rPr sz="1100" b="0" i="0">
                          <a:solidFill>
                            <a:srgbClr val="1F2937"/>
                          </a:solidFill>
                          <a:latin typeface="微软雅黑"/>
                        </a:rPr>
                        <a:t>已经有体内抗菌活性</a:t>
                      </a:r>
                    </a:p>
                  </a:txBody>
                  <a:tcPr marL="45720" marR="45720" anchor="t">
                    <a:solidFill>
                      <a:srgbClr val="FFFFFF"/>
                    </a:solidFill>
                  </a:tcPr>
                </a:tc>
              </a:tr>
              <a:tr h="356616">
                <a:tc>
                  <a:txBody>
                    <a:bodyPr/>
                    <a:lstStyle/>
                    <a:p>
                      <a:r>
                        <a:rPr sz="1100" b="0" i="0">
                          <a:solidFill>
                            <a:srgbClr val="1F2937"/>
                          </a:solidFill>
                          <a:latin typeface="微软雅黑"/>
                        </a:rPr>
                        <a:t>AD 组编码丰度升高</a:t>
                      </a:r>
                    </a:p>
                  </a:txBody>
                  <a:tcPr marL="45720" marR="45720" anchor="t">
                    <a:solidFill>
                      <a:srgbClr val="F2F5F9"/>
                    </a:solidFill>
                  </a:tcPr>
                </a:tc>
                <a:tc>
                  <a:txBody>
                    <a:bodyPr/>
                    <a:lstStyle/>
                    <a:p>
                      <a:r>
                        <a:rPr sz="1100" b="0" i="0">
                          <a:solidFill>
                            <a:srgbClr val="1F2937"/>
                          </a:solidFill>
                          <a:latin typeface="微软雅黑"/>
                        </a:rPr>
                        <a:t>与 AD 状态相关的候选</a:t>
                      </a:r>
                    </a:p>
                  </a:txBody>
                  <a:tcPr marL="45720" marR="45720" anchor="t">
                    <a:solidFill>
                      <a:srgbClr val="F2F5F9"/>
                    </a:solidFill>
                  </a:tcPr>
                </a:tc>
                <a:tc>
                  <a:txBody>
                    <a:bodyPr/>
                    <a:lstStyle/>
                    <a:p>
                      <a:r>
                        <a:rPr sz="1100" b="0" i="0">
                          <a:solidFill>
                            <a:srgbClr val="1F2937"/>
                          </a:solidFill>
                          <a:latin typeface="微软雅黑"/>
                        </a:rPr>
                        <a:t>脑内浓度升高</a:t>
                      </a:r>
                    </a:p>
                  </a:txBody>
                  <a:tcPr marL="45720" marR="45720" anchor="t">
                    <a:solidFill>
                      <a:srgbClr val="F2F5F9"/>
                    </a:solidFill>
                  </a:tcPr>
                </a:tc>
              </a:tr>
              <a:tr h="356616">
                <a:tc>
                  <a:txBody>
                    <a:bodyPr/>
                    <a:lstStyle/>
                    <a:p>
                      <a:r>
                        <a:rPr sz="1100" b="0" i="0">
                          <a:solidFill>
                            <a:srgbClr val="1F2937"/>
                          </a:solidFill>
                          <a:latin typeface="微软雅黑"/>
                        </a:rPr>
                        <a:t>宏蛋白组/肽组学检出</a:t>
                      </a:r>
                    </a:p>
                  </a:txBody>
                  <a:tcPr marL="45720" marR="45720" anchor="t">
                    <a:solidFill>
                      <a:srgbClr val="FFFFFF"/>
                    </a:solidFill>
                  </a:tcPr>
                </a:tc>
                <a:tc>
                  <a:txBody>
                    <a:bodyPr/>
                    <a:lstStyle/>
                    <a:p>
                      <a:r>
                        <a:rPr sz="1100" b="0" i="0">
                          <a:solidFill>
                            <a:srgbClr val="1F2937"/>
                          </a:solidFill>
                          <a:latin typeface="微软雅黑"/>
                        </a:rPr>
                        <a:t>表达或加工证据增强</a:t>
                      </a:r>
                    </a:p>
                  </a:txBody>
                  <a:tcPr marL="45720" marR="45720" anchor="t">
                    <a:solidFill>
                      <a:srgbClr val="FFFFFF"/>
                    </a:solidFill>
                  </a:tcPr>
                </a:tc>
                <a:tc>
                  <a:txBody>
                    <a:bodyPr/>
                    <a:lstStyle/>
                    <a:p>
                      <a:r>
                        <a:rPr sz="1100" b="0" i="0">
                          <a:solidFill>
                            <a:srgbClr val="1F2937"/>
                          </a:solidFill>
                          <a:latin typeface="微软雅黑"/>
                        </a:rPr>
                        <a:t>一定激活炎症</a:t>
                      </a:r>
                    </a:p>
                  </a:txBody>
                  <a:tcPr marL="45720" marR="45720" anchor="t">
                    <a:solidFill>
                      <a:srgbClr val="FFFFFF"/>
                    </a:solidFill>
                  </a:tcPr>
                </a:tc>
              </a:tr>
              <a:tr h="356616">
                <a:tc>
                  <a:txBody>
                    <a:bodyPr/>
                    <a:lstStyle/>
                    <a:p>
                      <a:r>
                        <a:rPr sz="1100" b="0" i="0">
                          <a:solidFill>
                            <a:srgbClr val="1F2937"/>
                          </a:solidFill>
                          <a:latin typeface="微软雅黑"/>
                        </a:rPr>
                        <a:t>MD 界面稳定</a:t>
                      </a:r>
                    </a:p>
                  </a:txBody>
                  <a:tcPr marL="45720" marR="45720" anchor="t">
                    <a:solidFill>
                      <a:srgbClr val="F2F5F9"/>
                    </a:solidFill>
                  </a:tcPr>
                </a:tc>
                <a:tc>
                  <a:txBody>
                    <a:bodyPr/>
                    <a:lstStyle/>
                    <a:p>
                      <a:r>
                        <a:rPr sz="1100" b="0" i="0">
                          <a:solidFill>
                            <a:srgbClr val="1F2937"/>
                          </a:solidFill>
                          <a:latin typeface="微软雅黑"/>
                        </a:rPr>
                        <a:t>值得实验验证的结构假说</a:t>
                      </a:r>
                    </a:p>
                  </a:txBody>
                  <a:tcPr marL="45720" marR="45720" anchor="t">
                    <a:solidFill>
                      <a:srgbClr val="F2F5F9"/>
                    </a:solidFill>
                  </a:tcPr>
                </a:tc>
                <a:tc>
                  <a:txBody>
                    <a:bodyPr/>
                    <a:lstStyle/>
                    <a:p>
                      <a:r>
                        <a:rPr sz="1100" b="0" i="0">
                          <a:solidFill>
                            <a:srgbClr val="1F2937"/>
                          </a:solidFill>
                          <a:latin typeface="微软雅黑"/>
                        </a:rPr>
                        <a:t>体内已结合并致病</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8 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3：抗菌活性为什么可以预测</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宏基因组 AMP 挖掘已有技术先例</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Attention/LSTM/BERT 适合短肽候选发现。</a:t>
            </a:r>
          </a:p>
          <a:p>
            <a:pPr>
              <a:lnSpc>
                <a:spcPct val="115000"/>
              </a:lnSpc>
              <a:spcAft>
                <a:spcPts val="700"/>
              </a:spcAft>
            </a:pPr>
            <a:r>
              <a:rPr sz="1500" b="1" i="0">
                <a:solidFill>
                  <a:srgbClr val="10305A"/>
                </a:solidFill>
                <a:latin typeface="微软雅黑"/>
              </a:rPr>
              <a:t>● Ma 等肠道宏基因组工作给出高阳性率活性验证先例。</a:t>
            </a:r>
          </a:p>
          <a:p>
            <a:pPr>
              <a:lnSpc>
                <a:spcPct val="115000"/>
              </a:lnSpc>
              <a:spcAft>
                <a:spcPts val="700"/>
              </a:spcAft>
            </a:pPr>
            <a:r>
              <a:rPr sz="1500" b="1" i="0">
                <a:solidFill>
                  <a:srgbClr val="10305A"/>
                </a:solidFill>
                <a:latin typeface="微软雅黑"/>
              </a:rPr>
              <a:t>● AMPSphere、Macrel、FMT 流程可做扩展和交叉验证。</a:t>
            </a:r>
          </a:p>
          <a:p>
            <a:pPr>
              <a:lnSpc>
                <a:spcPct val="115000"/>
              </a:lnSpc>
              <a:spcAft>
                <a:spcPts val="700"/>
              </a:spcAft>
            </a:pPr>
            <a:r>
              <a:rPr sz="1500" b="1" i="0">
                <a:solidFill>
                  <a:srgbClr val="10305A"/>
                </a:solidFill>
                <a:latin typeface="微软雅黑"/>
              </a:rPr>
              <a:t>● 它们证明能找 AMP，不证明 AMP 会导致 AD。</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9 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4　阶段特异性候选肽的判定层级</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从出现到表达再到机制</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3697224"/>
                <a:gridCol w="3697224"/>
                <a:gridCol w="3697224"/>
              </a:tblGrid>
              <a:tr h="356616">
                <a:tc>
                  <a:txBody>
                    <a:bodyPr/>
                    <a:lstStyle/>
                    <a:p>
                      <a:pPr algn="ctr"/>
                      <a:r>
                        <a:rPr sz="1100" b="1" i="0">
                          <a:solidFill>
                            <a:srgbClr val="FFFFFF"/>
                          </a:solidFill>
                          <a:latin typeface="微软雅黑"/>
                        </a:rPr>
                        <a:t>层级</a:t>
                      </a:r>
                    </a:p>
                  </a:txBody>
                  <a:tcPr marL="45720" marR="45720">
                    <a:solidFill>
                      <a:srgbClr val="10305A"/>
                    </a:solidFill>
                  </a:tcPr>
                </a:tc>
                <a:tc>
                  <a:txBody>
                    <a:bodyPr/>
                    <a:lstStyle/>
                    <a:p>
                      <a:pPr algn="ctr"/>
                      <a:r>
                        <a:rPr sz="1100" b="1" i="0">
                          <a:solidFill>
                            <a:srgbClr val="FFFFFF"/>
                          </a:solidFill>
                          <a:latin typeface="微软雅黑"/>
                        </a:rPr>
                        <a:t>规则</a:t>
                      </a:r>
                    </a:p>
                  </a:txBody>
                  <a:tcPr marL="45720" marR="45720">
                    <a:solidFill>
                      <a:srgbClr val="10305A"/>
                    </a:solidFill>
                  </a:tcPr>
                </a:tc>
                <a:tc>
                  <a:txBody>
                    <a:bodyPr/>
                    <a:lstStyle/>
                    <a:p>
                      <a:pPr algn="ctr"/>
                      <a:r>
                        <a:rPr sz="1100" b="1" i="0">
                          <a:solidFill>
                            <a:srgbClr val="FFFFFF"/>
                          </a:solidFill>
                          <a:latin typeface="微软雅黑"/>
                        </a:rPr>
                        <a:t>结论</a:t>
                      </a:r>
                    </a:p>
                  </a:txBody>
                  <a:tcPr marL="45720" marR="45720">
                    <a:solidFill>
                      <a:srgbClr val="10305A"/>
                    </a:solidFill>
                  </a:tcPr>
                </a:tc>
              </a:tr>
              <a:tr h="356616">
                <a:tc>
                  <a:txBody>
                    <a:bodyPr/>
                    <a:lstStyle/>
                    <a:p>
                      <a:r>
                        <a:rPr sz="1100" b="0" i="0">
                          <a:solidFill>
                            <a:srgbClr val="1F2937"/>
                          </a:solidFill>
                          <a:latin typeface="微软雅黑"/>
                        </a:rPr>
                        <a:t>组内出现</a:t>
                      </a:r>
                    </a:p>
                  </a:txBody>
                  <a:tcPr marL="45720" marR="45720" anchor="t">
                    <a:solidFill>
                      <a:srgbClr val="F2F5F9"/>
                    </a:solidFill>
                  </a:tcPr>
                </a:tc>
                <a:tc>
                  <a:txBody>
                    <a:bodyPr/>
                    <a:lstStyle/>
                    <a:p>
                      <a:r>
                        <a:rPr sz="1100" b="0" i="0">
                          <a:solidFill>
                            <a:srgbClr val="1F2937"/>
                          </a:solidFill>
                          <a:latin typeface="微软雅黑"/>
                        </a:rPr>
                        <a:t>组内检出率达到预设阈值</a:t>
                      </a:r>
                    </a:p>
                  </a:txBody>
                  <a:tcPr marL="45720" marR="45720" anchor="t">
                    <a:solidFill>
                      <a:srgbClr val="F2F5F9"/>
                    </a:solidFill>
                  </a:tcPr>
                </a:tc>
                <a:tc>
                  <a:txBody>
                    <a:bodyPr/>
                    <a:lstStyle/>
                    <a:p>
                      <a:r>
                        <a:rPr sz="1100" b="0" i="0">
                          <a:solidFill>
                            <a:srgbClr val="1F2937"/>
                          </a:solidFill>
                          <a:latin typeface="微软雅黑"/>
                        </a:rPr>
                        <a:t>阶段富集线索</a:t>
                      </a:r>
                    </a:p>
                  </a:txBody>
                  <a:tcPr marL="45720" marR="45720" anchor="t">
                    <a:solidFill>
                      <a:srgbClr val="F2F5F9"/>
                    </a:solidFill>
                  </a:tcPr>
                </a:tc>
              </a:tr>
              <a:tr h="356616">
                <a:tc>
                  <a:txBody>
                    <a:bodyPr/>
                    <a:lstStyle/>
                    <a:p>
                      <a:r>
                        <a:rPr sz="1100" b="0" i="0">
                          <a:solidFill>
                            <a:srgbClr val="1F2937"/>
                          </a:solidFill>
                          <a:latin typeface="微软雅黑"/>
                        </a:rPr>
                        <a:t>组间差异</a:t>
                      </a:r>
                    </a:p>
                  </a:txBody>
                  <a:tcPr marL="45720" marR="45720" anchor="t">
                    <a:solidFill>
                      <a:srgbClr val="FFFFFF"/>
                    </a:solidFill>
                  </a:tcPr>
                </a:tc>
                <a:tc>
                  <a:txBody>
                    <a:bodyPr/>
                    <a:lstStyle/>
                    <a:p>
                      <a:r>
                        <a:rPr sz="1100" b="0" i="0">
                          <a:solidFill>
                            <a:srgbClr val="1F2937"/>
                          </a:solidFill>
                          <a:latin typeface="微软雅黑"/>
                        </a:rPr>
                        <a:t>效应量、FDR、协变量校正稳定</a:t>
                      </a:r>
                    </a:p>
                  </a:txBody>
                  <a:tcPr marL="45720" marR="45720" anchor="t">
                    <a:solidFill>
                      <a:srgbClr val="FFFFFF"/>
                    </a:solidFill>
                  </a:tcPr>
                </a:tc>
                <a:tc>
                  <a:txBody>
                    <a:bodyPr/>
                    <a:lstStyle/>
                    <a:p>
                      <a:r>
                        <a:rPr sz="1100" b="0" i="0">
                          <a:solidFill>
                            <a:srgbClr val="1F2937"/>
                          </a:solidFill>
                          <a:latin typeface="微软雅黑"/>
                        </a:rPr>
                        <a:t>AD/健康差异候选</a:t>
                      </a:r>
                    </a:p>
                  </a:txBody>
                  <a:tcPr marL="45720" marR="45720" anchor="t">
                    <a:solidFill>
                      <a:srgbClr val="FFFFFF"/>
                    </a:solidFill>
                  </a:tcPr>
                </a:tc>
              </a:tr>
              <a:tr h="356616">
                <a:tc>
                  <a:txBody>
                    <a:bodyPr/>
                    <a:lstStyle/>
                    <a:p>
                      <a:r>
                        <a:rPr sz="1100" b="0" i="0">
                          <a:solidFill>
                            <a:srgbClr val="1F2937"/>
                          </a:solidFill>
                          <a:latin typeface="微软雅黑"/>
                        </a:rPr>
                        <a:t>病程趋势</a:t>
                      </a:r>
                    </a:p>
                  </a:txBody>
                  <a:tcPr marL="45720" marR="45720" anchor="t">
                    <a:solidFill>
                      <a:srgbClr val="F2F5F9"/>
                    </a:solidFill>
                  </a:tcPr>
                </a:tc>
                <a:tc>
                  <a:txBody>
                    <a:bodyPr/>
                    <a:lstStyle/>
                    <a:p>
                      <a:r>
                        <a:rPr sz="1100" b="0" i="0">
                          <a:solidFill>
                            <a:srgbClr val="1F2937"/>
                          </a:solidFill>
                          <a:latin typeface="微软雅黑"/>
                        </a:rPr>
                        <a:t>NC→SCS→SCD→MCI→AD 或病程分数趋势</a:t>
                      </a:r>
                    </a:p>
                  </a:txBody>
                  <a:tcPr marL="45720" marR="45720" anchor="t">
                    <a:solidFill>
                      <a:srgbClr val="F2F5F9"/>
                    </a:solidFill>
                  </a:tcPr>
                </a:tc>
                <a:tc>
                  <a:txBody>
                    <a:bodyPr/>
                    <a:lstStyle/>
                    <a:p>
                      <a:r>
                        <a:rPr sz="1100" b="0" i="0">
                          <a:solidFill>
                            <a:srgbClr val="1F2937"/>
                          </a:solidFill>
                          <a:latin typeface="微软雅黑"/>
                        </a:rPr>
                        <a:t>随病程变化候选</a:t>
                      </a:r>
                    </a:p>
                  </a:txBody>
                  <a:tcPr marL="45720" marR="45720" anchor="t">
                    <a:solidFill>
                      <a:srgbClr val="F2F5F9"/>
                    </a:solidFill>
                  </a:tcPr>
                </a:tc>
              </a:tr>
              <a:tr h="356616">
                <a:tc>
                  <a:txBody>
                    <a:bodyPr/>
                    <a:lstStyle/>
                    <a:p>
                      <a:r>
                        <a:rPr sz="1100" b="0" i="0">
                          <a:solidFill>
                            <a:srgbClr val="1F2937"/>
                          </a:solidFill>
                          <a:latin typeface="微软雅黑"/>
                        </a:rPr>
                        <a:t>表达支持</a:t>
                      </a:r>
                    </a:p>
                  </a:txBody>
                  <a:tcPr marL="45720" marR="45720" anchor="t">
                    <a:solidFill>
                      <a:srgbClr val="FFFFFF"/>
                    </a:solidFill>
                  </a:tcPr>
                </a:tc>
                <a:tc>
                  <a:txBody>
                    <a:bodyPr/>
                    <a:lstStyle/>
                    <a:p>
                      <a:r>
                        <a:rPr sz="1100" b="0" i="0">
                          <a:solidFill>
                            <a:srgbClr val="1F2937"/>
                          </a:solidFill>
                          <a:latin typeface="微软雅黑"/>
                        </a:rPr>
                        <a:t>宏蛋白组/肽组学或转录支持</a:t>
                      </a:r>
                    </a:p>
                  </a:txBody>
                  <a:tcPr marL="45720" marR="45720" anchor="t">
                    <a:solidFill>
                      <a:srgbClr val="FFFFFF"/>
                    </a:solidFill>
                  </a:tcPr>
                </a:tc>
                <a:tc>
                  <a:txBody>
                    <a:bodyPr/>
                    <a:lstStyle/>
                    <a:p>
                      <a:r>
                        <a:rPr sz="1100" b="0" i="0">
                          <a:solidFill>
                            <a:srgbClr val="1F2937"/>
                          </a:solidFill>
                          <a:latin typeface="微软雅黑"/>
                        </a:rPr>
                        <a:t>真实暴露可能性增强</a:t>
                      </a:r>
                    </a:p>
                  </a:txBody>
                  <a:tcPr marL="45720" marR="45720" anchor="t">
                    <a:solidFill>
                      <a:srgbClr val="FFFFFF"/>
                    </a:solidFill>
                  </a:tcPr>
                </a:tc>
              </a:tr>
              <a:tr h="356616">
                <a:tc>
                  <a:txBody>
                    <a:bodyPr/>
                    <a:lstStyle/>
                    <a:p>
                      <a:r>
                        <a:rPr sz="1100" b="0" i="0">
                          <a:solidFill>
                            <a:srgbClr val="1F2937"/>
                          </a:solidFill>
                          <a:latin typeface="微软雅黑"/>
                        </a:rPr>
                        <a:t>功能机制</a:t>
                      </a:r>
                    </a:p>
                  </a:txBody>
                  <a:tcPr marL="45720" marR="45720" anchor="t">
                    <a:solidFill>
                      <a:srgbClr val="F2F5F9"/>
                    </a:solidFill>
                  </a:tcPr>
                </a:tc>
                <a:tc>
                  <a:txBody>
                    <a:bodyPr/>
                    <a:lstStyle/>
                    <a:p>
                      <a:r>
                        <a:rPr sz="1100" b="0" i="0">
                          <a:solidFill>
                            <a:srgbClr val="1F2937"/>
                          </a:solidFill>
                          <a:latin typeface="微软雅黑"/>
                        </a:rPr>
                        <a:t>菌群、炎症、屏障、Aβ/BBB 多层支持</a:t>
                      </a:r>
                    </a:p>
                  </a:txBody>
                  <a:tcPr marL="45720" marR="45720" anchor="t">
                    <a:solidFill>
                      <a:srgbClr val="F2F5F9"/>
                    </a:solidFill>
                  </a:tcPr>
                </a:tc>
                <a:tc>
                  <a:txBody>
                    <a:bodyPr/>
                    <a:lstStyle/>
                    <a:p>
                      <a:r>
                        <a:rPr sz="1100" b="0" i="0">
                          <a:solidFill>
                            <a:srgbClr val="1F2937"/>
                          </a:solidFill>
                          <a:latin typeface="微软雅黑"/>
                        </a:rPr>
                        <a:t>机制优先候选</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10 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4：阶段特异性为什么能与 AD 关联</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阶段特异肽首先是计算产物</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NC、SCS、SCD、MCI、AD 的菌群组成和网络可能呈梯度变化。</a:t>
            </a:r>
          </a:p>
          <a:p>
            <a:pPr>
              <a:lnSpc>
                <a:spcPct val="115000"/>
              </a:lnSpc>
              <a:spcAft>
                <a:spcPts val="700"/>
              </a:spcAft>
            </a:pPr>
            <a:r>
              <a:rPr sz="1500" b="1" i="0">
                <a:solidFill>
                  <a:srgbClr val="10305A"/>
                </a:solidFill>
                <a:latin typeface="微软雅黑"/>
              </a:rPr>
              <a:t>● 来源菌变化会带来编码 AMP 组成变化。</a:t>
            </a:r>
          </a:p>
          <a:p>
            <a:pPr>
              <a:lnSpc>
                <a:spcPct val="115000"/>
              </a:lnSpc>
              <a:spcAft>
                <a:spcPts val="700"/>
              </a:spcAft>
            </a:pPr>
            <a:r>
              <a:rPr sz="1500" b="1" i="0">
                <a:solidFill>
                  <a:srgbClr val="10305A"/>
                </a:solidFill>
                <a:latin typeface="微软雅黑"/>
              </a:rPr>
              <a:t>● 需要宏蛋白组/肽组学二次去重。</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11 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5　双刃剑的判定读数</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同一类分子可以有保护和风险方向</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层面</a:t>
                      </a:r>
                    </a:p>
                  </a:txBody>
                  <a:tcPr marL="45720" marR="45720">
                    <a:solidFill>
                      <a:srgbClr val="10305A"/>
                    </a:solidFill>
                  </a:tcPr>
                </a:tc>
                <a:tc>
                  <a:txBody>
                    <a:bodyPr/>
                    <a:lstStyle/>
                    <a:p>
                      <a:pPr algn="ctr"/>
                      <a:r>
                        <a:rPr sz="1250" b="1" i="0">
                          <a:solidFill>
                            <a:srgbClr val="FFFFFF"/>
                          </a:solidFill>
                          <a:latin typeface="微软雅黑"/>
                        </a:rPr>
                        <a:t>保护/抑制样</a:t>
                      </a:r>
                    </a:p>
                  </a:txBody>
                  <a:tcPr marL="45720" marR="45720">
                    <a:solidFill>
                      <a:srgbClr val="10305A"/>
                    </a:solidFill>
                  </a:tcPr>
                </a:tc>
                <a:tc>
                  <a:txBody>
                    <a:bodyPr/>
                    <a:lstStyle/>
                    <a:p>
                      <a:pPr algn="ctr"/>
                      <a:r>
                        <a:rPr sz="1250" b="1" i="0">
                          <a:solidFill>
                            <a:srgbClr val="FFFFFF"/>
                          </a:solidFill>
                          <a:latin typeface="微软雅黑"/>
                        </a:rPr>
                        <a:t>风险/病理样</a:t>
                      </a:r>
                    </a:p>
                  </a:txBody>
                  <a:tcPr marL="45720" marR="45720">
                    <a:solidFill>
                      <a:srgbClr val="10305A"/>
                    </a:solidFill>
                  </a:tcPr>
                </a:tc>
                <a:tc>
                  <a:txBody>
                    <a:bodyPr/>
                    <a:lstStyle/>
                    <a:p>
                      <a:pPr algn="ctr"/>
                      <a:r>
                        <a:rPr sz="1250" b="1" i="0">
                          <a:solidFill>
                            <a:srgbClr val="FFFFFF"/>
                          </a:solidFill>
                          <a:latin typeface="微软雅黑"/>
                        </a:rPr>
                        <a:t>本课题的计算读数</a:t>
                      </a:r>
                    </a:p>
                  </a:txBody>
                  <a:tcPr marL="45720" marR="45720">
                    <a:solidFill>
                      <a:srgbClr val="10305A"/>
                    </a:solidFill>
                  </a:tcPr>
                </a:tc>
              </a:tr>
              <a:tr h="365760">
                <a:tc>
                  <a:txBody>
                    <a:bodyPr/>
                    <a:lstStyle/>
                    <a:p>
                      <a:r>
                        <a:rPr sz="1250" b="0" i="0">
                          <a:solidFill>
                            <a:srgbClr val="1F2937"/>
                          </a:solidFill>
                          <a:latin typeface="微软雅黑"/>
                        </a:rPr>
                        <a:t>菌群</a:t>
                      </a:r>
                    </a:p>
                  </a:txBody>
                  <a:tcPr marL="45720" marR="45720" anchor="t">
                    <a:solidFill>
                      <a:srgbClr val="F2F5F9"/>
                    </a:solidFill>
                  </a:tcPr>
                </a:tc>
                <a:tc>
                  <a:txBody>
                    <a:bodyPr/>
                    <a:lstStyle/>
                    <a:p>
                      <a:r>
                        <a:rPr sz="1250" b="0" i="0">
                          <a:solidFill>
                            <a:srgbClr val="1F2937"/>
                          </a:solidFill>
                          <a:latin typeface="微软雅黑"/>
                        </a:rPr>
                        <a:t>抑制高风险菌并保留共生菌</a:t>
                      </a:r>
                    </a:p>
                  </a:txBody>
                  <a:tcPr marL="45720" marR="45720" anchor="t">
                    <a:solidFill>
                      <a:srgbClr val="F2F5F9"/>
                    </a:solidFill>
                  </a:tcPr>
                </a:tc>
                <a:tc>
                  <a:txBody>
                    <a:bodyPr/>
                    <a:lstStyle/>
                    <a:p>
                      <a:r>
                        <a:rPr sz="1250" b="0" i="0">
                          <a:solidFill>
                            <a:srgbClr val="1F2937"/>
                          </a:solidFill>
                          <a:latin typeface="微软雅黑"/>
                        </a:rPr>
                        <a:t>广谱破坏共生菌、增加 LPS</a:t>
                      </a:r>
                    </a:p>
                  </a:txBody>
                  <a:tcPr marL="45720" marR="45720" anchor="t">
                    <a:solidFill>
                      <a:srgbClr val="F2F5F9"/>
                    </a:solidFill>
                  </a:tcPr>
                </a:tc>
                <a:tc>
                  <a:txBody>
                    <a:bodyPr/>
                    <a:lstStyle/>
                    <a:p>
                      <a:r>
                        <a:rPr sz="1250" b="0" i="0">
                          <a:solidFill>
                            <a:srgbClr val="1F2937"/>
                          </a:solidFill>
                          <a:latin typeface="微软雅黑"/>
                        </a:rPr>
                        <a:t>膜选择性、生态模型</a:t>
                      </a:r>
                    </a:p>
                  </a:txBody>
                  <a:tcPr marL="45720" marR="45720" anchor="t">
                    <a:solidFill>
                      <a:srgbClr val="F2F5F9"/>
                    </a:solidFill>
                  </a:tcPr>
                </a:tc>
              </a:tr>
              <a:tr h="365760">
                <a:tc>
                  <a:txBody>
                    <a:bodyPr/>
                    <a:lstStyle/>
                    <a:p>
                      <a:r>
                        <a:rPr sz="1250" b="0" i="0">
                          <a:solidFill>
                            <a:srgbClr val="1F2937"/>
                          </a:solidFill>
                          <a:latin typeface="微软雅黑"/>
                        </a:rPr>
                        <a:t>炎症</a:t>
                      </a:r>
                    </a:p>
                  </a:txBody>
                  <a:tcPr marL="45720" marR="45720" anchor="t">
                    <a:solidFill>
                      <a:srgbClr val="FFFFFF"/>
                    </a:solidFill>
                  </a:tcPr>
                </a:tc>
                <a:tc>
                  <a:txBody>
                    <a:bodyPr/>
                    <a:lstStyle/>
                    <a:p>
                      <a:r>
                        <a:rPr sz="1250" b="0" i="0">
                          <a:solidFill>
                            <a:srgbClr val="1F2937"/>
                          </a:solidFill>
                          <a:latin typeface="微软雅黑"/>
                        </a:rPr>
                        <a:t>降低 TLR4/FPR2/NLRP3/NF-kB</a:t>
                      </a:r>
                    </a:p>
                  </a:txBody>
                  <a:tcPr marL="45720" marR="45720" anchor="t">
                    <a:solidFill>
                      <a:srgbClr val="FFFFFF"/>
                    </a:solidFill>
                  </a:tcPr>
                </a:tc>
                <a:tc>
                  <a:txBody>
                    <a:bodyPr/>
                    <a:lstStyle/>
                    <a:p>
                      <a:r>
                        <a:rPr sz="1250" b="0" i="0">
                          <a:solidFill>
                            <a:srgbClr val="1F2937"/>
                          </a:solidFill>
                          <a:latin typeface="微软雅黑"/>
                        </a:rPr>
                        <a:t>促进受体聚集、ROS、IL-6/TNF</a:t>
                      </a:r>
                    </a:p>
                  </a:txBody>
                  <a:tcPr marL="45720" marR="45720" anchor="t">
                    <a:solidFill>
                      <a:srgbClr val="FFFFFF"/>
                    </a:solidFill>
                  </a:tcPr>
                </a:tc>
                <a:tc>
                  <a:txBody>
                    <a:bodyPr/>
                    <a:lstStyle/>
                    <a:p>
                      <a:r>
                        <a:rPr sz="1250" b="0" i="0">
                          <a:solidFill>
                            <a:srgbClr val="1F2937"/>
                          </a:solidFill>
                          <a:latin typeface="微软雅黑"/>
                        </a:rPr>
                        <a:t>受体界面、网络/ODE</a:t>
                      </a:r>
                    </a:p>
                  </a:txBody>
                  <a:tcPr marL="45720" marR="45720" anchor="t">
                    <a:solidFill>
                      <a:srgbClr val="FFFFFF"/>
                    </a:solidFill>
                  </a:tcPr>
                </a:tc>
              </a:tr>
              <a:tr h="365760">
                <a:tc>
                  <a:txBody>
                    <a:bodyPr/>
                    <a:lstStyle/>
                    <a:p>
                      <a:r>
                        <a:rPr sz="1250" b="0" i="0">
                          <a:solidFill>
                            <a:srgbClr val="1F2937"/>
                          </a:solidFill>
                          <a:latin typeface="微软雅黑"/>
                        </a:rPr>
                        <a:t>Aβ</a:t>
                      </a:r>
                    </a:p>
                  </a:txBody>
                  <a:tcPr marL="45720" marR="45720" anchor="t">
                    <a:solidFill>
                      <a:srgbClr val="F2F5F9"/>
                    </a:solidFill>
                  </a:tcPr>
                </a:tc>
                <a:tc>
                  <a:txBody>
                    <a:bodyPr/>
                    <a:lstStyle/>
                    <a:p>
                      <a:r>
                        <a:rPr sz="1250" b="0" i="0">
                          <a:solidFill>
                            <a:srgbClr val="1F2937"/>
                          </a:solidFill>
                          <a:latin typeface="微软雅黑"/>
                        </a:rPr>
                        <a:t>减少有毒寡聚体或促进清除</a:t>
                      </a:r>
                    </a:p>
                  </a:txBody>
                  <a:tcPr marL="45720" marR="45720" anchor="t">
                    <a:solidFill>
                      <a:srgbClr val="F2F5F9"/>
                    </a:solidFill>
                  </a:tcPr>
                </a:tc>
                <a:tc>
                  <a:txBody>
                    <a:bodyPr/>
                    <a:lstStyle/>
                    <a:p>
                      <a:r>
                        <a:rPr sz="1250" b="0" i="0">
                          <a:solidFill>
                            <a:srgbClr val="1F2937"/>
                          </a:solidFill>
                          <a:latin typeface="微软雅黑"/>
                        </a:rPr>
                        <a:t>稳定有毒寡聚体或促进成核</a:t>
                      </a:r>
                    </a:p>
                  </a:txBody>
                  <a:tcPr marL="45720" marR="45720" anchor="t">
                    <a:solidFill>
                      <a:srgbClr val="F2F5F9"/>
                    </a:solidFill>
                  </a:tcPr>
                </a:tc>
                <a:tc>
                  <a:txBody>
                    <a:bodyPr/>
                    <a:lstStyle/>
                    <a:p>
                      <a:r>
                        <a:rPr sz="1250" b="0" i="0">
                          <a:solidFill>
                            <a:srgbClr val="1F2937"/>
                          </a:solidFill>
                          <a:latin typeface="微软雅黑"/>
                        </a:rPr>
                        <a:t>寡聚态、β-sheet、PMF</a:t>
                      </a:r>
                    </a:p>
                  </a:txBody>
                  <a:tcPr marL="45720" marR="45720" anchor="t">
                    <a:solidFill>
                      <a:srgbClr val="F2F5F9"/>
                    </a:solidFill>
                  </a:tcPr>
                </a:tc>
              </a:tr>
              <a:tr h="365760">
                <a:tc>
                  <a:txBody>
                    <a:bodyPr/>
                    <a:lstStyle/>
                    <a:p>
                      <a:r>
                        <a:rPr sz="1250" b="0" i="0">
                          <a:solidFill>
                            <a:srgbClr val="1F2937"/>
                          </a:solidFill>
                          <a:latin typeface="微软雅黑"/>
                        </a:rPr>
                        <a:t>BBB</a:t>
                      </a:r>
                    </a:p>
                  </a:txBody>
                  <a:tcPr marL="45720" marR="45720" anchor="t">
                    <a:solidFill>
                      <a:srgbClr val="FFFFFF"/>
                    </a:solidFill>
                  </a:tcPr>
                </a:tc>
                <a:tc>
                  <a:txBody>
                    <a:bodyPr/>
                    <a:lstStyle/>
                    <a:p>
                      <a:r>
                        <a:rPr sz="1250" b="0" i="0">
                          <a:solidFill>
                            <a:srgbClr val="1F2937"/>
                          </a:solidFill>
                          <a:latin typeface="微软雅黑"/>
                        </a:rPr>
                        <a:t>维持紧密连接或促进外排</a:t>
                      </a:r>
                    </a:p>
                  </a:txBody>
                  <a:tcPr marL="45720" marR="45720" anchor="t">
                    <a:solidFill>
                      <a:srgbClr val="FFFFFF"/>
                    </a:solidFill>
                  </a:tcPr>
                </a:tc>
                <a:tc>
                  <a:txBody>
                    <a:bodyPr/>
                    <a:lstStyle/>
                    <a:p>
                      <a:r>
                        <a:rPr sz="1250" b="0" i="0">
                          <a:solidFill>
                            <a:srgbClr val="1F2937"/>
                          </a:solidFill>
                          <a:latin typeface="微软雅黑"/>
                        </a:rPr>
                        <a:t>破坏屏障或增加有害通量</a:t>
                      </a:r>
                    </a:p>
                  </a:txBody>
                  <a:tcPr marL="45720" marR="45720" anchor="t">
                    <a:solidFill>
                      <a:srgbClr val="FFFFFF"/>
                    </a:solidFill>
                  </a:tcPr>
                </a:tc>
                <a:tc>
                  <a:txBody>
                    <a:bodyPr/>
                    <a:lstStyle/>
                    <a:p>
                      <a:r>
                        <a:rPr sz="1250" b="0" i="0">
                          <a:solidFill>
                            <a:srgbClr val="1F2937"/>
                          </a:solidFill>
                          <a:latin typeface="微软雅黑"/>
                        </a:rPr>
                        <a:t>膜 PMF、Papp、转运模型</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12 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5：抗菌肽是促进 AD 还是抑制感染</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答案是：方向取决于浓度、聚集态、部位和靶细胞</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局部、适度、正常聚集态：可能抑制感染。</a:t>
            </a:r>
          </a:p>
          <a:p>
            <a:pPr>
              <a:lnSpc>
                <a:spcPct val="115000"/>
              </a:lnSpc>
              <a:spcAft>
                <a:spcPts val="700"/>
              </a:spcAft>
            </a:pPr>
            <a:r>
              <a:rPr sz="1500" b="1" i="0">
                <a:solidFill>
                  <a:srgbClr val="10305A"/>
                </a:solidFill>
                <a:latin typeface="微软雅黑"/>
              </a:rPr>
              <a:t>● 长期过量、异常聚集或错误区室：可能放大炎症。</a:t>
            </a:r>
          </a:p>
          <a:p>
            <a:pPr>
              <a:lnSpc>
                <a:spcPct val="115000"/>
              </a:lnSpc>
              <a:spcAft>
                <a:spcPts val="700"/>
              </a:spcAft>
            </a:pPr>
            <a:r>
              <a:rPr sz="1500" b="1" i="0">
                <a:solidFill>
                  <a:srgbClr val="10305A"/>
                </a:solidFill>
                <a:latin typeface="微软雅黑"/>
              </a:rPr>
              <a:t>● 微生物源候选先分风险样、保护样和未知。</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13 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6：抑制感染一侧的证据</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Aβ/宿主 AMP 证据是背景，不是微生物候选的直接结果</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体外抗菌活性、感染动物模型、病原体捕获和膜机制都有先例。</a:t>
            </a:r>
          </a:p>
          <a:p>
            <a:pPr>
              <a:lnSpc>
                <a:spcPct val="115000"/>
              </a:lnSpc>
              <a:spcAft>
                <a:spcPts val="700"/>
              </a:spcAft>
            </a:pPr>
            <a:r>
              <a:rPr sz="1500" b="1" i="0">
                <a:solidFill>
                  <a:srgbClr val="10305A"/>
                </a:solidFill>
                <a:latin typeface="微软雅黑"/>
              </a:rPr>
              <a:t>● 微生物源 AMP 仍需要菌种匹配的抑菌和膜实验。</a:t>
            </a:r>
          </a:p>
          <a:p>
            <a:pPr>
              <a:lnSpc>
                <a:spcPct val="115000"/>
              </a:lnSpc>
              <a:spcAft>
                <a:spcPts val="700"/>
              </a:spcAft>
            </a:pPr>
            <a:r>
              <a:rPr sz="1500" b="1" i="0">
                <a:solidFill>
                  <a:srgbClr val="10305A"/>
                </a:solidFill>
                <a:latin typeface="微软雅黑"/>
              </a:rPr>
              <a:t>● 保护性功能不等同于治疗 AD。</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14 页</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问题 7：为什么部分 AD 相关 AMP 可能更多</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改成“部分”，不要泛化所有抗菌肽</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肠屏障破坏和 LPS 入血激活 TLR4/NF-kB。</a:t>
            </a:r>
          </a:p>
          <a:p>
            <a:pPr>
              <a:lnSpc>
                <a:spcPct val="115000"/>
              </a:lnSpc>
              <a:spcAft>
                <a:spcPts val="700"/>
              </a:spcAft>
            </a:pPr>
            <a:r>
              <a:rPr sz="1500" b="1" i="0">
                <a:solidFill>
                  <a:srgbClr val="10305A"/>
                </a:solidFill>
                <a:latin typeface="微软雅黑"/>
              </a:rPr>
              <a:t>● 炎症可诱导宿主 AMP/Aβ 和微胶质反应。</a:t>
            </a:r>
          </a:p>
          <a:p>
            <a:pPr>
              <a:lnSpc>
                <a:spcPct val="115000"/>
              </a:lnSpc>
              <a:spcAft>
                <a:spcPts val="700"/>
              </a:spcAft>
            </a:pPr>
            <a:r>
              <a:rPr sz="1500" b="1" i="0">
                <a:solidFill>
                  <a:srgbClr val="10305A"/>
                </a:solidFill>
                <a:latin typeface="微软雅黑"/>
              </a:rPr>
              <a:t>● 病理反馈可能进一步放大屏障和炎症。</a:t>
            </a:r>
          </a:p>
          <a:p>
            <a:pPr>
              <a:lnSpc>
                <a:spcPct val="115000"/>
              </a:lnSpc>
              <a:spcAft>
                <a:spcPts val="700"/>
              </a:spcAft>
            </a:pPr>
            <a:r>
              <a:rPr sz="1500" b="1" i="0">
                <a:solidFill>
                  <a:srgbClr val="10305A"/>
                </a:solidFill>
                <a:latin typeface="微软雅黑"/>
              </a:rPr>
              <a:t>● 微生物源 AMP 方向仍由本课题数据决定。</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15 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6　“AD 组更多”应如何分层说</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分子、部位、证据类型三层</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3697224"/>
                <a:gridCol w="3697224"/>
                <a:gridCol w="3697224"/>
              </a:tblGrid>
              <a:tr h="365760">
                <a:tc>
                  <a:txBody>
                    <a:bodyPr/>
                    <a:lstStyle/>
                    <a:p>
                      <a:pPr algn="ctr"/>
                      <a:r>
                        <a:rPr sz="1250" b="1" i="0">
                          <a:solidFill>
                            <a:srgbClr val="FFFFFF"/>
                          </a:solidFill>
                          <a:latin typeface="微软雅黑"/>
                        </a:rPr>
                        <a:t>对象/部位</a:t>
                      </a:r>
                    </a:p>
                  </a:txBody>
                  <a:tcPr marL="45720" marR="45720">
                    <a:solidFill>
                      <a:srgbClr val="10305A"/>
                    </a:solidFill>
                  </a:tcPr>
                </a:tc>
                <a:tc>
                  <a:txBody>
                    <a:bodyPr/>
                    <a:lstStyle/>
                    <a:p>
                      <a:pPr algn="ctr"/>
                      <a:r>
                        <a:rPr sz="1250" b="1" i="0">
                          <a:solidFill>
                            <a:srgbClr val="FFFFFF"/>
                          </a:solidFill>
                          <a:latin typeface="微软雅黑"/>
                        </a:rPr>
                        <a:t>可说的方向</a:t>
                      </a:r>
                    </a:p>
                  </a:txBody>
                  <a:tcPr marL="45720" marR="45720">
                    <a:solidFill>
                      <a:srgbClr val="10305A"/>
                    </a:solidFill>
                  </a:tcPr>
                </a:tc>
                <a:tc>
                  <a:txBody>
                    <a:bodyPr/>
                    <a:lstStyle/>
                    <a:p>
                      <a:pPr algn="ctr"/>
                      <a:r>
                        <a:rPr sz="1250" b="1" i="0">
                          <a:solidFill>
                            <a:srgbClr val="FFFFFF"/>
                          </a:solidFill>
                          <a:latin typeface="微软雅黑"/>
                        </a:rPr>
                        <a:t>不能泛化的地方</a:t>
                      </a:r>
                    </a:p>
                  </a:txBody>
                  <a:tcPr marL="45720" marR="45720">
                    <a:solidFill>
                      <a:srgbClr val="10305A"/>
                    </a:solidFill>
                  </a:tcPr>
                </a:tc>
              </a:tr>
              <a:tr h="365760">
                <a:tc>
                  <a:txBody>
                    <a:bodyPr/>
                    <a:lstStyle/>
                    <a:p>
                      <a:r>
                        <a:rPr sz="1250" b="0" i="0">
                          <a:solidFill>
                            <a:srgbClr val="1F2937"/>
                          </a:solidFill>
                          <a:latin typeface="微软雅黑"/>
                        </a:rPr>
                        <a:t>部分宿主 AMP，脑/血/CSF</a:t>
                      </a:r>
                    </a:p>
                  </a:txBody>
                  <a:tcPr marL="45720" marR="45720" anchor="t">
                    <a:solidFill>
                      <a:srgbClr val="F2F5F9"/>
                    </a:solidFill>
                  </a:tcPr>
                </a:tc>
                <a:tc>
                  <a:txBody>
                    <a:bodyPr/>
                    <a:lstStyle/>
                    <a:p>
                      <a:r>
                        <a:rPr sz="1250" b="0" i="0">
                          <a:solidFill>
                            <a:srgbClr val="1F2937"/>
                          </a:solidFill>
                          <a:latin typeface="微软雅黑"/>
                        </a:rPr>
                        <a:t>若文献支持可说升高或与病程相关</a:t>
                      </a:r>
                    </a:p>
                  </a:txBody>
                  <a:tcPr marL="45720" marR="45720" anchor="t">
                    <a:solidFill>
                      <a:srgbClr val="F2F5F9"/>
                    </a:solidFill>
                  </a:tcPr>
                </a:tc>
                <a:tc>
                  <a:txBody>
                    <a:bodyPr/>
                    <a:lstStyle/>
                    <a:p>
                      <a:r>
                        <a:rPr sz="1250" b="0" i="0">
                          <a:solidFill>
                            <a:srgbClr val="1F2937"/>
                          </a:solidFill>
                          <a:latin typeface="微软雅黑"/>
                        </a:rPr>
                        <a:t>不是所有分子、所有标本都升高</a:t>
                      </a:r>
                    </a:p>
                  </a:txBody>
                  <a:tcPr marL="45720" marR="45720" anchor="t">
                    <a:solidFill>
                      <a:srgbClr val="F2F5F9"/>
                    </a:solidFill>
                  </a:tcPr>
                </a:tc>
              </a:tr>
              <a:tr h="365760">
                <a:tc>
                  <a:txBody>
                    <a:bodyPr/>
                    <a:lstStyle/>
                    <a:p>
                      <a:r>
                        <a:rPr sz="1250" b="0" i="0">
                          <a:solidFill>
                            <a:srgbClr val="1F2937"/>
                          </a:solidFill>
                          <a:latin typeface="微软雅黑"/>
                        </a:rPr>
                        <a:t>Aβ/脑匀浆总抗菌活性</a:t>
                      </a:r>
                    </a:p>
                  </a:txBody>
                  <a:tcPr marL="45720" marR="45720" anchor="t">
                    <a:solidFill>
                      <a:srgbClr val="FFFFFF"/>
                    </a:solidFill>
                  </a:tcPr>
                </a:tc>
                <a:tc>
                  <a:txBody>
                    <a:bodyPr/>
                    <a:lstStyle/>
                    <a:p>
                      <a:r>
                        <a:rPr sz="1250" b="0" i="0">
                          <a:solidFill>
                            <a:srgbClr val="1F2937"/>
                          </a:solidFill>
                          <a:latin typeface="微软雅黑"/>
                        </a:rPr>
                        <a:t>AD 侧可有升高证据</a:t>
                      </a:r>
                    </a:p>
                  </a:txBody>
                  <a:tcPr marL="45720" marR="45720" anchor="t">
                    <a:solidFill>
                      <a:srgbClr val="FFFFFF"/>
                    </a:solidFill>
                  </a:tcPr>
                </a:tc>
                <a:tc>
                  <a:txBody>
                    <a:bodyPr/>
                    <a:lstStyle/>
                    <a:p>
                      <a:r>
                        <a:rPr sz="1250" b="0" i="0">
                          <a:solidFill>
                            <a:srgbClr val="1F2937"/>
                          </a:solidFill>
                          <a:latin typeface="微软雅黑"/>
                        </a:rPr>
                        <a:t>不能等同于微生物源 AMP</a:t>
                      </a:r>
                    </a:p>
                  </a:txBody>
                  <a:tcPr marL="45720" marR="45720" anchor="t">
                    <a:solidFill>
                      <a:srgbClr val="FFFFFF"/>
                    </a:solidFill>
                  </a:tcPr>
                </a:tc>
              </a:tr>
              <a:tr h="365760">
                <a:tc>
                  <a:txBody>
                    <a:bodyPr/>
                    <a:lstStyle/>
                    <a:p>
                      <a:r>
                        <a:rPr sz="1250" b="0" i="0">
                          <a:solidFill>
                            <a:srgbClr val="1F2937"/>
                          </a:solidFill>
                          <a:latin typeface="微软雅黑"/>
                        </a:rPr>
                        <a:t>微生物源 AMP，肠道宏基因组</a:t>
                      </a:r>
                    </a:p>
                  </a:txBody>
                  <a:tcPr marL="45720" marR="45720" anchor="t">
                    <a:solidFill>
                      <a:srgbClr val="F2F5F9"/>
                    </a:solidFill>
                  </a:tcPr>
                </a:tc>
                <a:tc>
                  <a:txBody>
                    <a:bodyPr/>
                    <a:lstStyle/>
                    <a:p>
                      <a:r>
                        <a:rPr sz="1250" b="0" i="0">
                          <a:solidFill>
                            <a:srgbClr val="1F2937"/>
                          </a:solidFill>
                          <a:latin typeface="微软雅黑"/>
                        </a:rPr>
                        <a:t>方向由本课题差异分析决定</a:t>
                      </a:r>
                    </a:p>
                  </a:txBody>
                  <a:tcPr marL="45720" marR="45720" anchor="t">
                    <a:solidFill>
                      <a:srgbClr val="F2F5F9"/>
                    </a:solidFill>
                  </a:tcPr>
                </a:tc>
                <a:tc>
                  <a:txBody>
                    <a:bodyPr/>
                    <a:lstStyle/>
                    <a:p>
                      <a:r>
                        <a:rPr sz="1250" b="0" i="0">
                          <a:solidFill>
                            <a:srgbClr val="1F2937"/>
                          </a:solidFill>
                          <a:latin typeface="微软雅黑"/>
                        </a:rPr>
                        <a:t>目前不能用宿主文献替代</a:t>
                      </a:r>
                    </a:p>
                  </a:txBody>
                  <a:tcPr marL="45720" marR="45720" anchor="t">
                    <a:solidFill>
                      <a:srgbClr val="F2F5F9"/>
                    </a:solidFill>
                  </a:tcPr>
                </a:tc>
              </a:tr>
              <a:tr h="365760">
                <a:tc>
                  <a:txBody>
                    <a:bodyPr/>
                    <a:lstStyle/>
                    <a:p>
                      <a:r>
                        <a:rPr sz="1250" b="0" i="0">
                          <a:solidFill>
                            <a:srgbClr val="1F2937"/>
                          </a:solidFill>
                          <a:latin typeface="微软雅黑"/>
                        </a:rPr>
                        <a:t>乳铁蛋白等特定分子</a:t>
                      </a:r>
                    </a:p>
                  </a:txBody>
                  <a:tcPr marL="45720" marR="45720" anchor="t">
                    <a:solidFill>
                      <a:srgbClr val="FFFFFF"/>
                    </a:solidFill>
                  </a:tcPr>
                </a:tc>
                <a:tc>
                  <a:txBody>
                    <a:bodyPr/>
                    <a:lstStyle/>
                    <a:p>
                      <a:r>
                        <a:rPr sz="1250" b="0" i="0">
                          <a:solidFill>
                            <a:srgbClr val="1F2937"/>
                          </a:solidFill>
                          <a:latin typeface="微软雅黑"/>
                        </a:rPr>
                        <a:t>可能下降</a:t>
                      </a:r>
                    </a:p>
                  </a:txBody>
                  <a:tcPr marL="45720" marR="45720" anchor="t">
                    <a:solidFill>
                      <a:srgbClr val="FFFFFF"/>
                    </a:solidFill>
                  </a:tcPr>
                </a:tc>
                <a:tc>
                  <a:txBody>
                    <a:bodyPr/>
                    <a:lstStyle/>
                    <a:p>
                      <a:r>
                        <a:rPr sz="1250" b="0" i="0">
                          <a:solidFill>
                            <a:srgbClr val="1F2937"/>
                          </a:solidFill>
                          <a:latin typeface="微软雅黑"/>
                        </a:rPr>
                        <a:t>反例说明必须逐分子报告</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16 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7　按分子、部位和证据类型回答“谁更多”</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乳铁蛋白等下降是重要反例</a:t>
            </a:r>
          </a:p>
        </p:txBody>
      </p:sp>
      <p:graphicFrame>
        <p:nvGraphicFramePr>
          <p:cNvPr id="5" name="Table 4"/>
          <p:cNvGraphicFramePr>
            <a:graphicFrameLocks noGrp="1"/>
          </p:cNvGraphicFramePr>
          <p:nvPr/>
        </p:nvGraphicFramePr>
        <p:xfrm>
          <a:off x="548640" y="1325880"/>
          <a:ext cx="11091672" cy="2450592"/>
        </p:xfrm>
        <a:graphic>
          <a:graphicData uri="http://schemas.openxmlformats.org/drawingml/2006/table">
            <a:tbl>
              <a:tblPr firstRow="1" bandRow="1">
                <a:tableStyleId>{5C22544A-7EE6-4342-B048-85BDC9FD1C3A}</a:tableStyleId>
              </a:tblPr>
              <a:tblGrid>
                <a:gridCol w="2772918"/>
                <a:gridCol w="2772918"/>
                <a:gridCol w="2772918"/>
                <a:gridCol w="2772918"/>
              </a:tblGrid>
              <a:tr h="350084">
                <a:tc>
                  <a:txBody>
                    <a:bodyPr/>
                    <a:lstStyle/>
                    <a:p>
                      <a:pPr algn="ctr"/>
                      <a:r>
                        <a:rPr sz="1100" b="1" i="0">
                          <a:solidFill>
                            <a:srgbClr val="FFFFFF"/>
                          </a:solidFill>
                          <a:latin typeface="微软雅黑"/>
                        </a:rPr>
                        <a:t>分子或指标</a:t>
                      </a:r>
                    </a:p>
                  </a:txBody>
                  <a:tcPr marL="45720" marR="45720">
                    <a:solidFill>
                      <a:srgbClr val="10305A"/>
                    </a:solidFill>
                  </a:tcPr>
                </a:tc>
                <a:tc>
                  <a:txBody>
                    <a:bodyPr/>
                    <a:lstStyle/>
                    <a:p>
                      <a:pPr algn="ctr"/>
                      <a:r>
                        <a:rPr sz="1100" b="1" i="0">
                          <a:solidFill>
                            <a:srgbClr val="FFFFFF"/>
                          </a:solidFill>
                          <a:latin typeface="微软雅黑"/>
                        </a:rPr>
                        <a:t>文献方向</a:t>
                      </a:r>
                    </a:p>
                  </a:txBody>
                  <a:tcPr marL="45720" marR="45720">
                    <a:solidFill>
                      <a:srgbClr val="10305A"/>
                    </a:solidFill>
                  </a:tcPr>
                </a:tc>
                <a:tc>
                  <a:txBody>
                    <a:bodyPr/>
                    <a:lstStyle/>
                    <a:p>
                      <a:pPr algn="ctr"/>
                      <a:r>
                        <a:rPr sz="1100" b="1" i="0">
                          <a:solidFill>
                            <a:srgbClr val="FFFFFF"/>
                          </a:solidFill>
                          <a:latin typeface="微软雅黑"/>
                        </a:rPr>
                        <a:t>部位/标本</a:t>
                      </a:r>
                    </a:p>
                  </a:txBody>
                  <a:tcPr marL="45720" marR="45720">
                    <a:solidFill>
                      <a:srgbClr val="10305A"/>
                    </a:solidFill>
                  </a:tcPr>
                </a:tc>
                <a:tc>
                  <a:txBody>
                    <a:bodyPr/>
                    <a:lstStyle/>
                    <a:p>
                      <a:pPr algn="ctr"/>
                      <a:r>
                        <a:rPr sz="1100" b="1" i="0">
                          <a:solidFill>
                            <a:srgbClr val="FFFFFF"/>
                          </a:solidFill>
                          <a:latin typeface="微软雅黑"/>
                        </a:rPr>
                        <a:t>在本课题中如何使用</a:t>
                      </a:r>
                    </a:p>
                  </a:txBody>
                  <a:tcPr marL="45720" marR="45720">
                    <a:solidFill>
                      <a:srgbClr val="10305A"/>
                    </a:solidFill>
                  </a:tcPr>
                </a:tc>
              </a:tr>
              <a:tr h="350084">
                <a:tc>
                  <a:txBody>
                    <a:bodyPr/>
                    <a:lstStyle/>
                    <a:p>
                      <a:r>
                        <a:rPr sz="1100" b="0" i="0">
                          <a:solidFill>
                            <a:srgbClr val="1F2937"/>
                          </a:solidFill>
                          <a:latin typeface="微软雅黑"/>
                        </a:rPr>
                        <a:t>LL-37</a:t>
                      </a:r>
                    </a:p>
                  </a:txBody>
                  <a:tcPr marL="45720" marR="45720" anchor="t">
                    <a:solidFill>
                      <a:srgbClr val="F2F5F9"/>
                    </a:solidFill>
                  </a:tcPr>
                </a:tc>
                <a:tc>
                  <a:txBody>
                    <a:bodyPr/>
                    <a:lstStyle/>
                    <a:p>
                      <a:r>
                        <a:rPr sz="1100" b="0" i="0">
                          <a:solidFill>
                            <a:srgbClr val="1F2937"/>
                          </a:solidFill>
                          <a:latin typeface="微软雅黑"/>
                        </a:rPr>
                        <a:t>部分研究为升高/与病程相关</a:t>
                      </a:r>
                    </a:p>
                  </a:txBody>
                  <a:tcPr marL="45720" marR="45720" anchor="t">
                    <a:solidFill>
                      <a:srgbClr val="F2F5F9"/>
                    </a:solidFill>
                  </a:tcPr>
                </a:tc>
                <a:tc>
                  <a:txBody>
                    <a:bodyPr/>
                    <a:lstStyle/>
                    <a:p>
                      <a:r>
                        <a:rPr sz="1100" b="0" i="0">
                          <a:solidFill>
                            <a:srgbClr val="1F2937"/>
                          </a:solidFill>
                          <a:latin typeface="微软雅黑"/>
                        </a:rPr>
                        <a:t>脑、血清</a:t>
                      </a:r>
                    </a:p>
                  </a:txBody>
                  <a:tcPr marL="45720" marR="45720" anchor="t">
                    <a:solidFill>
                      <a:srgbClr val="F2F5F9"/>
                    </a:solidFill>
                  </a:tcPr>
                </a:tc>
                <a:tc>
                  <a:txBody>
                    <a:bodyPr/>
                    <a:lstStyle/>
                    <a:p>
                      <a:r>
                        <a:rPr sz="1100" b="0" i="0">
                          <a:solidFill>
                            <a:srgbClr val="1F2937"/>
                          </a:solidFill>
                          <a:latin typeface="微软雅黑"/>
                        </a:rPr>
                        <a:t>宿主 AMP 病理模板</a:t>
                      </a:r>
                    </a:p>
                  </a:txBody>
                  <a:tcPr marL="45720" marR="45720" anchor="t">
                    <a:solidFill>
                      <a:srgbClr val="F2F5F9"/>
                    </a:solidFill>
                  </a:tcPr>
                </a:tc>
              </a:tr>
              <a:tr h="350084">
                <a:tc>
                  <a:txBody>
                    <a:bodyPr/>
                    <a:lstStyle/>
                    <a:p>
                      <a:r>
                        <a:rPr sz="1100" b="0" i="0">
                          <a:solidFill>
                            <a:srgbClr val="1F2937"/>
                          </a:solidFill>
                          <a:latin typeface="微软雅黑"/>
                        </a:rPr>
                        <a:t>β/α-防御素</a:t>
                      </a:r>
                    </a:p>
                  </a:txBody>
                  <a:tcPr marL="45720" marR="45720" anchor="t">
                    <a:solidFill>
                      <a:srgbClr val="FFFFFF"/>
                    </a:solidFill>
                  </a:tcPr>
                </a:tc>
                <a:tc>
                  <a:txBody>
                    <a:bodyPr/>
                    <a:lstStyle/>
                    <a:p>
                      <a:r>
                        <a:rPr sz="1100" b="0" i="0">
                          <a:solidFill>
                            <a:srgbClr val="1F2937"/>
                          </a:solidFill>
                          <a:latin typeface="微软雅黑"/>
                        </a:rPr>
                        <a:t>部分组织/体液研究为升高</a:t>
                      </a:r>
                    </a:p>
                  </a:txBody>
                  <a:tcPr marL="45720" marR="45720" anchor="t">
                    <a:solidFill>
                      <a:srgbClr val="FFFFFF"/>
                    </a:solidFill>
                  </a:tcPr>
                </a:tc>
                <a:tc>
                  <a:txBody>
                    <a:bodyPr/>
                    <a:lstStyle/>
                    <a:p>
                      <a:r>
                        <a:rPr sz="1100" b="0" i="0">
                          <a:solidFill>
                            <a:srgbClr val="1F2937"/>
                          </a:solidFill>
                          <a:latin typeface="微软雅黑"/>
                        </a:rPr>
                        <a:t>脑、唾液、血液、CSF</a:t>
                      </a:r>
                    </a:p>
                  </a:txBody>
                  <a:tcPr marL="45720" marR="45720" anchor="t">
                    <a:solidFill>
                      <a:srgbClr val="FFFFFF"/>
                    </a:solidFill>
                  </a:tcPr>
                </a:tc>
                <a:tc>
                  <a:txBody>
                    <a:bodyPr/>
                    <a:lstStyle/>
                    <a:p>
                      <a:r>
                        <a:rPr sz="1100" b="0" i="0">
                          <a:solidFill>
                            <a:srgbClr val="1F2937"/>
                          </a:solidFill>
                          <a:latin typeface="微软雅黑"/>
                        </a:rPr>
                        <a:t>宿主防御背景</a:t>
                      </a:r>
                    </a:p>
                  </a:txBody>
                  <a:tcPr marL="45720" marR="45720" anchor="t">
                    <a:solidFill>
                      <a:srgbClr val="FFFFFF"/>
                    </a:solidFill>
                  </a:tcPr>
                </a:tc>
              </a:tr>
              <a:tr h="350084">
                <a:tc>
                  <a:txBody>
                    <a:bodyPr/>
                    <a:lstStyle/>
                    <a:p>
                      <a:r>
                        <a:rPr sz="1100" b="0" i="0">
                          <a:solidFill>
                            <a:srgbClr val="1F2937"/>
                          </a:solidFill>
                          <a:latin typeface="微软雅黑"/>
                        </a:rPr>
                        <a:t>CAP37</a:t>
                      </a:r>
                    </a:p>
                  </a:txBody>
                  <a:tcPr marL="45720" marR="45720" anchor="t">
                    <a:solidFill>
                      <a:srgbClr val="F2F5F9"/>
                    </a:solidFill>
                  </a:tcPr>
                </a:tc>
                <a:tc>
                  <a:txBody>
                    <a:bodyPr/>
                    <a:lstStyle/>
                    <a:p>
                      <a:r>
                        <a:rPr sz="1100" b="0" i="0">
                          <a:solidFill>
                            <a:srgbClr val="1F2937"/>
                          </a:solidFill>
                          <a:latin typeface="微软雅黑"/>
                        </a:rPr>
                        <a:t>AD 皮层神经元增加，可被炎症/ Aβ 诱导</a:t>
                      </a:r>
                    </a:p>
                  </a:txBody>
                  <a:tcPr marL="45720" marR="45720" anchor="t">
                    <a:solidFill>
                      <a:srgbClr val="F2F5F9"/>
                    </a:solidFill>
                  </a:tcPr>
                </a:tc>
                <a:tc>
                  <a:txBody>
                    <a:bodyPr/>
                    <a:lstStyle/>
                    <a:p>
                      <a:r>
                        <a:rPr sz="1100" b="0" i="0">
                          <a:solidFill>
                            <a:srgbClr val="1F2937"/>
                          </a:solidFill>
                          <a:latin typeface="微软雅黑"/>
                        </a:rPr>
                        <a:t>脑组织</a:t>
                      </a:r>
                    </a:p>
                  </a:txBody>
                  <a:tcPr marL="45720" marR="45720" anchor="t">
                    <a:solidFill>
                      <a:srgbClr val="F2F5F9"/>
                    </a:solidFill>
                  </a:tcPr>
                </a:tc>
                <a:tc>
                  <a:txBody>
                    <a:bodyPr/>
                    <a:lstStyle/>
                    <a:p>
                      <a:r>
                        <a:rPr sz="1100" b="0" i="0">
                          <a:solidFill>
                            <a:srgbClr val="1F2937"/>
                          </a:solidFill>
                          <a:latin typeface="微软雅黑"/>
                        </a:rPr>
                        <a:t>炎症诱导模板</a:t>
                      </a:r>
                    </a:p>
                  </a:txBody>
                  <a:tcPr marL="45720" marR="45720" anchor="t">
                    <a:solidFill>
                      <a:srgbClr val="F2F5F9"/>
                    </a:solidFill>
                  </a:tcPr>
                </a:tc>
              </a:tr>
              <a:tr h="350084">
                <a:tc>
                  <a:txBody>
                    <a:bodyPr/>
                    <a:lstStyle/>
                    <a:p>
                      <a:r>
                        <a:rPr sz="1100" b="0" i="0">
                          <a:solidFill>
                            <a:srgbClr val="1F2937"/>
                          </a:solidFill>
                          <a:latin typeface="微软雅黑"/>
                        </a:rPr>
                        <a:t>Aβ42/总抗菌活性</a:t>
                      </a:r>
                    </a:p>
                  </a:txBody>
                  <a:tcPr marL="45720" marR="45720" anchor="t">
                    <a:solidFill>
                      <a:srgbClr val="FFFFFF"/>
                    </a:solidFill>
                  </a:tcPr>
                </a:tc>
                <a:tc>
                  <a:txBody>
                    <a:bodyPr/>
                    <a:lstStyle/>
                    <a:p>
                      <a:r>
                        <a:rPr sz="1100" b="0" i="0">
                          <a:solidFill>
                            <a:srgbClr val="1F2937"/>
                          </a:solidFill>
                          <a:latin typeface="微软雅黑"/>
                        </a:rPr>
                        <a:t>AD 脑侧可升高</a:t>
                      </a:r>
                    </a:p>
                  </a:txBody>
                  <a:tcPr marL="45720" marR="45720" anchor="t">
                    <a:solidFill>
                      <a:srgbClr val="FFFFFF"/>
                    </a:solidFill>
                  </a:tcPr>
                </a:tc>
                <a:tc>
                  <a:txBody>
                    <a:bodyPr/>
                    <a:lstStyle/>
                    <a:p>
                      <a:r>
                        <a:rPr sz="1100" b="0" i="0">
                          <a:solidFill>
                            <a:srgbClr val="1F2937"/>
                          </a:solidFill>
                          <a:latin typeface="微软雅黑"/>
                        </a:rPr>
                        <a:t>脑匀浆/病理组织</a:t>
                      </a:r>
                    </a:p>
                  </a:txBody>
                  <a:tcPr marL="45720" marR="45720" anchor="t">
                    <a:solidFill>
                      <a:srgbClr val="FFFFFF"/>
                    </a:solidFill>
                  </a:tcPr>
                </a:tc>
                <a:tc>
                  <a:txBody>
                    <a:bodyPr/>
                    <a:lstStyle/>
                    <a:p>
                      <a:r>
                        <a:rPr sz="1100" b="0" i="0">
                          <a:solidFill>
                            <a:srgbClr val="1F2937"/>
                          </a:solidFill>
                          <a:latin typeface="微软雅黑"/>
                        </a:rPr>
                        <a:t>宿主抗菌—病理双重属性</a:t>
                      </a:r>
                    </a:p>
                  </a:txBody>
                  <a:tcPr marL="45720" marR="45720" anchor="t">
                    <a:solidFill>
                      <a:srgbClr val="FFFFFF"/>
                    </a:solidFill>
                  </a:tcPr>
                </a:tc>
              </a:tr>
              <a:tr h="350084">
                <a:tc>
                  <a:txBody>
                    <a:bodyPr/>
                    <a:lstStyle/>
                    <a:p>
                      <a:r>
                        <a:rPr sz="1100" b="0" i="0">
                          <a:solidFill>
                            <a:srgbClr val="1F2937"/>
                          </a:solidFill>
                          <a:latin typeface="微软雅黑"/>
                        </a:rPr>
                        <a:t>乳铁蛋白</a:t>
                      </a:r>
                    </a:p>
                  </a:txBody>
                  <a:tcPr marL="45720" marR="45720" anchor="t">
                    <a:solidFill>
                      <a:srgbClr val="F2F5F9"/>
                    </a:solidFill>
                  </a:tcPr>
                </a:tc>
                <a:tc>
                  <a:txBody>
                    <a:bodyPr/>
                    <a:lstStyle/>
                    <a:p>
                      <a:r>
                        <a:rPr sz="1100" b="0" i="0">
                          <a:solidFill>
                            <a:srgbClr val="1F2937"/>
                          </a:solidFill>
                          <a:latin typeface="微软雅黑"/>
                        </a:rPr>
                        <a:t>部分研究为下降</a:t>
                      </a:r>
                    </a:p>
                  </a:txBody>
                  <a:tcPr marL="45720" marR="45720" anchor="t">
                    <a:solidFill>
                      <a:srgbClr val="F2F5F9"/>
                    </a:solidFill>
                  </a:tcPr>
                </a:tc>
                <a:tc>
                  <a:txBody>
                    <a:bodyPr/>
                    <a:lstStyle/>
                    <a:p>
                      <a:r>
                        <a:rPr sz="1100" b="0" i="0">
                          <a:solidFill>
                            <a:srgbClr val="1F2937"/>
                          </a:solidFill>
                          <a:latin typeface="微软雅黑"/>
                        </a:rPr>
                        <a:t>唾液</a:t>
                      </a:r>
                    </a:p>
                  </a:txBody>
                  <a:tcPr marL="45720" marR="45720" anchor="t">
                    <a:solidFill>
                      <a:srgbClr val="F2F5F9"/>
                    </a:solidFill>
                  </a:tcPr>
                </a:tc>
                <a:tc>
                  <a:txBody>
                    <a:bodyPr/>
                    <a:lstStyle/>
                    <a:p>
                      <a:r>
                        <a:rPr sz="1100" b="0" i="0">
                          <a:solidFill>
                            <a:srgbClr val="1F2937"/>
                          </a:solidFill>
                          <a:latin typeface="微软雅黑"/>
                        </a:rPr>
                        <a:t>证明不存在普遍同向变化</a:t>
                      </a:r>
                    </a:p>
                  </a:txBody>
                  <a:tcPr marL="45720" marR="45720" anchor="t">
                    <a:solidFill>
                      <a:srgbClr val="F2F5F9"/>
                    </a:solidFill>
                  </a:tcPr>
                </a:tc>
              </a:tr>
              <a:tr h="350088">
                <a:tc>
                  <a:txBody>
                    <a:bodyPr/>
                    <a:lstStyle/>
                    <a:p>
                      <a:r>
                        <a:rPr sz="1100" b="0" i="0">
                          <a:solidFill>
                            <a:srgbClr val="1F2937"/>
                          </a:solidFill>
                          <a:latin typeface="微软雅黑"/>
                        </a:rPr>
                        <a:t>微生物源 AMP</a:t>
                      </a:r>
                    </a:p>
                  </a:txBody>
                  <a:tcPr marL="45720" marR="45720" anchor="t">
                    <a:solidFill>
                      <a:srgbClr val="FFFFFF"/>
                    </a:solidFill>
                  </a:tcPr>
                </a:tc>
                <a:tc>
                  <a:txBody>
                    <a:bodyPr/>
                    <a:lstStyle/>
                    <a:p>
                      <a:r>
                        <a:rPr sz="1100" b="0" i="0">
                          <a:solidFill>
                            <a:srgbClr val="1F2937"/>
                          </a:solidFill>
                          <a:latin typeface="微软雅黑"/>
                        </a:rPr>
                        <a:t>必须由本课题结果决定</a:t>
                      </a:r>
                    </a:p>
                  </a:txBody>
                  <a:tcPr marL="45720" marR="45720" anchor="t">
                    <a:solidFill>
                      <a:srgbClr val="FFFFFF"/>
                    </a:solidFill>
                  </a:tcPr>
                </a:tc>
                <a:tc>
                  <a:txBody>
                    <a:bodyPr/>
                    <a:lstStyle/>
                    <a:p>
                      <a:r>
                        <a:rPr sz="1100" b="0" i="0">
                          <a:solidFill>
                            <a:srgbClr val="1F2937"/>
                          </a:solidFill>
                          <a:latin typeface="微软雅黑"/>
                        </a:rPr>
                        <a:t>肠道宏基因组/宏蛋白组</a:t>
                      </a:r>
                    </a:p>
                  </a:txBody>
                  <a:tcPr marL="45720" marR="45720" anchor="t">
                    <a:solidFill>
                      <a:srgbClr val="FFFFFF"/>
                    </a:solidFill>
                  </a:tcPr>
                </a:tc>
                <a:tc>
                  <a:txBody>
                    <a:bodyPr/>
                    <a:lstStyle/>
                    <a:p>
                      <a:r>
                        <a:rPr sz="1100" b="0" i="0">
                          <a:solidFill>
                            <a:srgbClr val="1F2937"/>
                          </a:solidFill>
                          <a:latin typeface="微软雅黑"/>
                        </a:rPr>
                        <a:t>论文主结果对象</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17 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463040" cy="100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06040"/>
            <a:ext cx="10515600" cy="1280160"/>
          </a:xfrm>
          <a:prstGeom prst="rect">
            <a:avLst/>
          </a:prstGeom>
          <a:noFill/>
        </p:spPr>
        <p:txBody>
          <a:bodyPr wrap="square">
            <a:spAutoFit/>
          </a:bodyPr>
          <a:lstStyle/>
          <a:p>
            <a:pPr algn="l"/>
            <a:r>
              <a:rPr sz="3400" b="1" i="0">
                <a:solidFill>
                  <a:srgbClr val="FFFFFF"/>
                </a:solidFill>
                <a:latin typeface="微软雅黑"/>
              </a:rPr>
              <a:t>AChE-Aβ 与交叉成核</a:t>
            </a:r>
          </a:p>
        </p:txBody>
      </p:sp>
      <p:sp>
        <p:nvSpPr>
          <p:cNvPr id="5" name="TextBox 4"/>
          <p:cNvSpPr txBox="1"/>
          <p:nvPr/>
        </p:nvSpPr>
        <p:spPr>
          <a:xfrm>
            <a:off x="822960" y="1600200"/>
            <a:ext cx="10515600" cy="822960"/>
          </a:xfrm>
          <a:prstGeom prst="rect">
            <a:avLst/>
          </a:prstGeom>
          <a:noFill/>
        </p:spPr>
        <p:txBody>
          <a:bodyPr wrap="square">
            <a:spAutoFit/>
          </a:bodyPr>
          <a:lstStyle/>
          <a:p>
            <a:pPr algn="l"/>
            <a:r>
              <a:rPr sz="4400" b="1" i="0">
                <a:solidFill>
                  <a:srgbClr val="C9A227"/>
                </a:solidFill>
                <a:latin typeface="微软雅黑"/>
              </a:rPr>
              <a:t>02</a:t>
            </a:r>
          </a:p>
        </p:txBody>
      </p:sp>
      <p:sp>
        <p:nvSpPr>
          <p:cNvPr id="6" name="TextBox 5"/>
          <p:cNvSpPr txBox="1"/>
          <p:nvPr/>
        </p:nvSpPr>
        <p:spPr>
          <a:xfrm>
            <a:off x="822960" y="3977639"/>
            <a:ext cx="10515600" cy="731520"/>
          </a:xfrm>
          <a:prstGeom prst="rect">
            <a:avLst/>
          </a:prstGeom>
          <a:noFill/>
        </p:spPr>
        <p:txBody>
          <a:bodyPr wrap="square">
            <a:spAutoFit/>
          </a:bodyPr>
          <a:lstStyle/>
          <a:p>
            <a:pPr algn="l"/>
            <a:r>
              <a:rPr sz="1500" b="0" i="0">
                <a:solidFill>
                  <a:srgbClr val="D8E0EA"/>
                </a:solidFill>
                <a:latin typeface="微软雅黑"/>
              </a:rPr>
              <a:t>为什么 MD 参照有用，但不能越级</a:t>
            </a:r>
          </a:p>
        </p:txBody>
      </p:sp>
      <p:sp>
        <p:nvSpPr>
          <p:cNvPr id="7" name="TextBox 6"/>
          <p:cNvSpPr txBox="1"/>
          <p:nvPr/>
        </p:nvSpPr>
        <p:spPr>
          <a:xfrm>
            <a:off x="822960" y="6126480"/>
            <a:ext cx="10515600" cy="365760"/>
          </a:xfrm>
          <a:prstGeom prst="rect">
            <a:avLst/>
          </a:prstGeom>
          <a:noFill/>
        </p:spPr>
        <p:txBody>
          <a:bodyPr wrap="square">
            <a:spAutoFit/>
          </a:bodyPr>
          <a:lstStyle/>
          <a:p>
            <a:pPr algn="l"/>
            <a:r>
              <a:rPr sz="900" b="0" i="0">
                <a:solidFill>
                  <a:srgbClr val="9AA8BA"/>
                </a:solidFill>
                <a:latin typeface="微软雅黑"/>
              </a:rPr>
              <a:t>抗菌肽与 AD 关联机制说明·八问整合版｜2026-09-26 10:34 北京时间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8　AChE-Aβ 参照体系的结果与边界</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方法学参照，不是微生物 AMP 已致病的证明</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3697224"/>
                <a:gridCol w="3697224"/>
                <a:gridCol w="3697224"/>
              </a:tblGrid>
              <a:tr h="365760">
                <a:tc>
                  <a:txBody>
                    <a:bodyPr/>
                    <a:lstStyle/>
                    <a:p>
                      <a:pPr algn="ctr"/>
                      <a:r>
                        <a:rPr sz="1250" b="1" i="0">
                          <a:solidFill>
                            <a:srgbClr val="FFFFFF"/>
                          </a:solidFill>
                          <a:latin typeface="微软雅黑"/>
                        </a:rPr>
                        <a:t>参照结果</a:t>
                      </a:r>
                    </a:p>
                  </a:txBody>
                  <a:tcPr marL="45720" marR="45720">
                    <a:solidFill>
                      <a:srgbClr val="10305A"/>
                    </a:solidFill>
                  </a:tcPr>
                </a:tc>
                <a:tc>
                  <a:txBody>
                    <a:bodyPr/>
                    <a:lstStyle/>
                    <a:p>
                      <a:pPr algn="ctr"/>
                      <a:r>
                        <a:rPr sz="1250" b="1" i="0">
                          <a:solidFill>
                            <a:srgbClr val="FFFFFF"/>
                          </a:solidFill>
                          <a:latin typeface="微软雅黑"/>
                        </a:rPr>
                        <a:t>可以借鉴的地方</a:t>
                      </a:r>
                    </a:p>
                  </a:txBody>
                  <a:tcPr marL="45720" marR="45720">
                    <a:solidFill>
                      <a:srgbClr val="10305A"/>
                    </a:solidFill>
                  </a:tcPr>
                </a:tc>
                <a:tc>
                  <a:txBody>
                    <a:bodyPr/>
                    <a:lstStyle/>
                    <a:p>
                      <a:pPr algn="ctr"/>
                      <a:r>
                        <a:rPr sz="1250" b="1" i="0">
                          <a:solidFill>
                            <a:srgbClr val="FFFFFF"/>
                          </a:solidFill>
                          <a:latin typeface="微软雅黑"/>
                        </a:rPr>
                        <a:t>不能直接外推的地方</a:t>
                      </a:r>
                    </a:p>
                  </a:txBody>
                  <a:tcPr marL="45720" marR="45720">
                    <a:solidFill>
                      <a:srgbClr val="10305A"/>
                    </a:solidFill>
                  </a:tcPr>
                </a:tc>
              </a:tr>
              <a:tr h="365760">
                <a:tc>
                  <a:txBody>
                    <a:bodyPr/>
                    <a:lstStyle/>
                    <a:p>
                      <a:r>
                        <a:rPr sz="1250" b="0" i="0">
                          <a:solidFill>
                            <a:srgbClr val="1F2937"/>
                          </a:solidFill>
                          <a:latin typeface="微软雅黑"/>
                        </a:rPr>
                        <a:t>1 μs 模拟中复合物稳定</a:t>
                      </a:r>
                    </a:p>
                  </a:txBody>
                  <a:tcPr marL="45720" marR="45720" anchor="t">
                    <a:solidFill>
                      <a:srgbClr val="F2F5F9"/>
                    </a:solidFill>
                  </a:tcPr>
                </a:tc>
                <a:tc>
                  <a:txBody>
                    <a:bodyPr/>
                    <a:lstStyle/>
                    <a:p>
                      <a:r>
                        <a:rPr sz="1250" b="0" i="0">
                          <a:solidFill>
                            <a:srgbClr val="1F2937"/>
                          </a:solidFill>
                          <a:latin typeface="微软雅黑"/>
                        </a:rPr>
                        <a:t>报告接触、驻留和构象稳定性的方法</a:t>
                      </a:r>
                    </a:p>
                  </a:txBody>
                  <a:tcPr marL="45720" marR="45720" anchor="t">
                    <a:solidFill>
                      <a:srgbClr val="F2F5F9"/>
                    </a:solidFill>
                  </a:tcPr>
                </a:tc>
                <a:tc>
                  <a:txBody>
                    <a:bodyPr/>
                    <a:lstStyle/>
                    <a:p>
                      <a:r>
                        <a:rPr sz="1250" b="0" i="0">
                          <a:solidFill>
                            <a:srgbClr val="1F2937"/>
                          </a:solidFill>
                          <a:latin typeface="微软雅黑"/>
                        </a:rPr>
                        <a:t>未知微生物 AMP 也会稳定</a:t>
                      </a:r>
                    </a:p>
                  </a:txBody>
                  <a:tcPr marL="45720" marR="45720" anchor="t">
                    <a:solidFill>
                      <a:srgbClr val="F2F5F9"/>
                    </a:solidFill>
                  </a:tcPr>
                </a:tc>
              </a:tr>
              <a:tr h="365760">
                <a:tc>
                  <a:txBody>
                    <a:bodyPr/>
                    <a:lstStyle/>
                    <a:p>
                      <a:r>
                        <a:rPr sz="1250" b="0" i="0">
                          <a:solidFill>
                            <a:srgbClr val="1F2937"/>
                          </a:solidFill>
                          <a:latin typeface="微软雅黑"/>
                        </a:rPr>
                        <a:t>Aβ 主要停留 344-361</a:t>
                      </a:r>
                    </a:p>
                  </a:txBody>
                  <a:tcPr marL="45720" marR="45720" anchor="t">
                    <a:solidFill>
                      <a:srgbClr val="FFFFFF"/>
                    </a:solidFill>
                  </a:tcPr>
                </a:tc>
                <a:tc>
                  <a:txBody>
                    <a:bodyPr/>
                    <a:lstStyle/>
                    <a:p>
                      <a:r>
                        <a:rPr sz="1250" b="0" i="0">
                          <a:solidFill>
                            <a:srgbClr val="1F2937"/>
                          </a:solidFill>
                          <a:latin typeface="微软雅黑"/>
                        </a:rPr>
                        <a:t>设置竞争/调节界面的假设</a:t>
                      </a:r>
                    </a:p>
                  </a:txBody>
                  <a:tcPr marL="45720" marR="45720" anchor="t">
                    <a:solidFill>
                      <a:srgbClr val="FFFFFF"/>
                    </a:solidFill>
                  </a:tcPr>
                </a:tc>
                <a:tc>
                  <a:txBody>
                    <a:bodyPr/>
                    <a:lstStyle/>
                    <a:p>
                      <a:r>
                        <a:rPr sz="1250" b="0" i="0">
                          <a:solidFill>
                            <a:srgbClr val="1F2937"/>
                          </a:solidFill>
                          <a:latin typeface="微软雅黑"/>
                        </a:rPr>
                        <a:t>该区域不是所有候选肽的必然靶点</a:t>
                      </a:r>
                    </a:p>
                  </a:txBody>
                  <a:tcPr marL="45720" marR="45720" anchor="t">
                    <a:solidFill>
                      <a:srgbClr val="FFFFFF"/>
                    </a:solidFill>
                  </a:tcPr>
                </a:tc>
              </a:tr>
              <a:tr h="365760">
                <a:tc>
                  <a:txBody>
                    <a:bodyPr/>
                    <a:lstStyle/>
                    <a:p>
                      <a:r>
                        <a:rPr sz="1250" b="0" i="0">
                          <a:solidFill>
                            <a:srgbClr val="1F2937"/>
                          </a:solidFill>
                          <a:latin typeface="微软雅黑"/>
                        </a:rPr>
                        <a:t>PAS 抑制剂阻断促聚集</a:t>
                      </a:r>
                    </a:p>
                  </a:txBody>
                  <a:tcPr marL="45720" marR="45720" anchor="t">
                    <a:solidFill>
                      <a:srgbClr val="F2F5F9"/>
                    </a:solidFill>
                  </a:tcPr>
                </a:tc>
                <a:tc>
                  <a:txBody>
                    <a:bodyPr/>
                    <a:lstStyle/>
                    <a:p>
                      <a:r>
                        <a:rPr sz="1250" b="0" i="0">
                          <a:solidFill>
                            <a:srgbClr val="1F2937"/>
                          </a:solidFill>
                          <a:latin typeface="微软雅黑"/>
                        </a:rPr>
                        <a:t>把 MD 假设与酶/聚集实验联接</a:t>
                      </a:r>
                    </a:p>
                  </a:txBody>
                  <a:tcPr marL="45720" marR="45720" anchor="t">
                    <a:solidFill>
                      <a:srgbClr val="F2F5F9"/>
                    </a:solidFill>
                  </a:tcPr>
                </a:tc>
                <a:tc>
                  <a:txBody>
                    <a:bodyPr/>
                    <a:lstStyle/>
                    <a:p>
                      <a:r>
                        <a:rPr sz="1250" b="0" i="0">
                          <a:solidFill>
                            <a:srgbClr val="1F2937"/>
                          </a:solidFill>
                          <a:latin typeface="微软雅黑"/>
                        </a:rPr>
                        <a:t>docking 分数不等于阻断实验</a:t>
                      </a:r>
                    </a:p>
                  </a:txBody>
                  <a:tcPr marL="45720" marR="45720" anchor="t">
                    <a:solidFill>
                      <a:srgbClr val="F2F5F9"/>
                    </a:solidFill>
                  </a:tcPr>
                </a:tc>
              </a:tr>
              <a:tr h="365760">
                <a:tc>
                  <a:txBody>
                    <a:bodyPr/>
                    <a:lstStyle/>
                    <a:p>
                      <a:r>
                        <a:rPr sz="1250" b="0" i="0">
                          <a:solidFill>
                            <a:srgbClr val="1F2937"/>
                          </a:solidFill>
                          <a:latin typeface="微软雅黑"/>
                        </a:rPr>
                        <a:t>BChE 延缓纤维形成</a:t>
                      </a:r>
                    </a:p>
                  </a:txBody>
                  <a:tcPr marL="45720" marR="45720" anchor="t">
                    <a:solidFill>
                      <a:srgbClr val="FFFFFF"/>
                    </a:solidFill>
                  </a:tcPr>
                </a:tc>
                <a:tc>
                  <a:txBody>
                    <a:bodyPr/>
                    <a:lstStyle/>
                    <a:p>
                      <a:r>
                        <a:rPr sz="1250" b="0" i="0">
                          <a:solidFill>
                            <a:srgbClr val="1F2937"/>
                          </a:solidFill>
                          <a:latin typeface="微软雅黑"/>
                        </a:rPr>
                        <a:t>说明结合方向可相反</a:t>
                      </a:r>
                    </a:p>
                  </a:txBody>
                  <a:tcPr marL="45720" marR="45720" anchor="t">
                    <a:solidFill>
                      <a:srgbClr val="FFFFFF"/>
                    </a:solidFill>
                  </a:tcPr>
                </a:tc>
                <a:tc>
                  <a:txBody>
                    <a:bodyPr/>
                    <a:lstStyle/>
                    <a:p>
                      <a:r>
                        <a:rPr sz="1250" b="0" i="0">
                          <a:solidFill>
                            <a:srgbClr val="1F2937"/>
                          </a:solidFill>
                          <a:latin typeface="微软雅黑"/>
                        </a:rPr>
                        <a:t>不能事先判定保护或风险</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19 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AChE-PAS 的三个可检验假设</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把分子模拟落到候选肽</a:t>
            </a:r>
          </a:p>
        </p:txBody>
      </p:sp>
      <p:sp>
        <p:nvSpPr>
          <p:cNvPr id="5" name="TextBox 4"/>
          <p:cNvSpPr txBox="1"/>
          <p:nvPr/>
        </p:nvSpPr>
        <p:spPr>
          <a:xfrm>
            <a:off x="685800" y="1298448"/>
            <a:ext cx="10881360" cy="4937760"/>
          </a:xfrm>
          <a:prstGeom prst="rect">
            <a:avLst/>
          </a:prstGeom>
          <a:noFill/>
        </p:spPr>
        <p:txBody>
          <a:bodyPr wrap="square">
            <a:spAutoFit/>
          </a:bodyPr>
          <a:lstStyle/>
          <a:p>
            <a:pPr algn="l">
              <a:lnSpc>
                <a:spcPct val="115000"/>
              </a:lnSpc>
              <a:spcAft>
                <a:spcPts val="700"/>
              </a:spcAft>
            </a:pPr>
            <a:r>
              <a:rPr sz="1500" b="1" i="0">
                <a:solidFill>
                  <a:srgbClr val="10305A"/>
                </a:solidFill>
                <a:latin typeface="微软雅黑"/>
              </a:rPr>
              <a:t>● H1：候选肽竞争 PAS 或 344-361 区段，减少 AChE 促成核。</a:t>
            </a:r>
          </a:p>
          <a:p>
            <a:pPr>
              <a:lnSpc>
                <a:spcPct val="115000"/>
              </a:lnSpc>
              <a:spcAft>
                <a:spcPts val="700"/>
              </a:spcAft>
            </a:pPr>
            <a:r>
              <a:rPr sz="1500" b="1" i="0">
                <a:solidFill>
                  <a:srgbClr val="10305A"/>
                </a:solidFill>
                <a:latin typeface="微软雅黑"/>
              </a:rPr>
              <a:t>● H2：候选肽直接改变 Aβ 单体/寡聚体/纤维路径。</a:t>
            </a:r>
          </a:p>
          <a:p>
            <a:pPr>
              <a:lnSpc>
                <a:spcPct val="115000"/>
              </a:lnSpc>
              <a:spcAft>
                <a:spcPts val="700"/>
              </a:spcAft>
            </a:pPr>
            <a:r>
              <a:rPr sz="1500" b="1" i="0">
                <a:solidFill>
                  <a:srgbClr val="10305A"/>
                </a:solidFill>
                <a:latin typeface="微软雅黑"/>
              </a:rPr>
              <a:t>● H3：候选肽在膜表面改变微胶质识别和炎症信号。</a:t>
            </a:r>
          </a:p>
          <a:p>
            <a:pPr>
              <a:lnSpc>
                <a:spcPct val="115000"/>
              </a:lnSpc>
              <a:spcAft>
                <a:spcPts val="400"/>
              </a:spcAft>
            </a:pPr>
            <a:r>
              <a:rPr sz="1350" b="0" i="0">
                <a:solidFill>
                  <a:srgbClr val="1F2937"/>
                </a:solidFill>
                <a:latin typeface="微软雅黑"/>
              </a:rPr>
              <a:t>— 三条假设都必须先有差异和暴露依据，再做 MD/QM。</a:t>
            </a:r>
          </a:p>
        </p:txBody>
      </p:sp>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20 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9　交叉成核的三种可能方向</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抑制、重定向、促进不能只看结合能</a:t>
            </a:r>
          </a:p>
        </p:txBody>
      </p:sp>
      <p:graphicFrame>
        <p:nvGraphicFramePr>
          <p:cNvPr id="5" name="Table 4"/>
          <p:cNvGraphicFramePr>
            <a:graphicFrameLocks noGrp="1"/>
          </p:cNvGraphicFramePr>
          <p:nvPr/>
        </p:nvGraphicFramePr>
        <p:xfrm>
          <a:off x="548640" y="1325880"/>
          <a:ext cx="11091672" cy="1517904"/>
        </p:xfrm>
        <a:graphic>
          <a:graphicData uri="http://schemas.openxmlformats.org/drawingml/2006/table">
            <a:tbl>
              <a:tblPr firstRow="1" bandRow="1">
                <a:tableStyleId>{5C22544A-7EE6-4342-B048-85BDC9FD1C3A}</a:tableStyleId>
              </a:tblPr>
              <a:tblGrid>
                <a:gridCol w="2772918"/>
                <a:gridCol w="2772918"/>
                <a:gridCol w="2772918"/>
                <a:gridCol w="2772918"/>
              </a:tblGrid>
              <a:tr h="379476">
                <a:tc>
                  <a:txBody>
                    <a:bodyPr/>
                    <a:lstStyle/>
                    <a:p>
                      <a:pPr algn="ctr"/>
                      <a:r>
                        <a:rPr sz="1250" b="1" i="0">
                          <a:solidFill>
                            <a:srgbClr val="FFFFFF"/>
                          </a:solidFill>
                          <a:latin typeface="微软雅黑"/>
                        </a:rPr>
                        <a:t>方向</a:t>
                      </a:r>
                    </a:p>
                  </a:txBody>
                  <a:tcPr marL="45720" marR="45720">
                    <a:solidFill>
                      <a:srgbClr val="10305A"/>
                    </a:solidFill>
                  </a:tcPr>
                </a:tc>
                <a:tc>
                  <a:txBody>
                    <a:bodyPr/>
                    <a:lstStyle/>
                    <a:p>
                      <a:pPr algn="ctr"/>
                      <a:r>
                        <a:rPr sz="1250" b="1" i="0">
                          <a:solidFill>
                            <a:srgbClr val="FFFFFF"/>
                          </a:solidFill>
                          <a:latin typeface="微软雅黑"/>
                        </a:rPr>
                        <a:t>分子读数</a:t>
                      </a:r>
                    </a:p>
                  </a:txBody>
                  <a:tcPr marL="45720" marR="45720">
                    <a:solidFill>
                      <a:srgbClr val="10305A"/>
                    </a:solidFill>
                  </a:tcPr>
                </a:tc>
                <a:tc>
                  <a:txBody>
                    <a:bodyPr/>
                    <a:lstStyle/>
                    <a:p>
                      <a:pPr algn="ctr"/>
                      <a:r>
                        <a:rPr sz="1250" b="1" i="0">
                          <a:solidFill>
                            <a:srgbClr val="FFFFFF"/>
                          </a:solidFill>
                          <a:latin typeface="微软雅黑"/>
                        </a:rPr>
                        <a:t>病理解释</a:t>
                      </a:r>
                    </a:p>
                  </a:txBody>
                  <a:tcPr marL="45720" marR="45720">
                    <a:solidFill>
                      <a:srgbClr val="10305A"/>
                    </a:solidFill>
                  </a:tcPr>
                </a:tc>
                <a:tc>
                  <a:txBody>
                    <a:bodyPr/>
                    <a:lstStyle/>
                    <a:p>
                      <a:pPr algn="ctr"/>
                      <a:r>
                        <a:rPr sz="1250" b="1" i="0">
                          <a:solidFill>
                            <a:srgbClr val="FFFFFF"/>
                          </a:solidFill>
                          <a:latin typeface="微软雅黑"/>
                        </a:rPr>
                        <a:t>必须增加的验证</a:t>
                      </a:r>
                    </a:p>
                  </a:txBody>
                  <a:tcPr marL="45720" marR="45720">
                    <a:solidFill>
                      <a:srgbClr val="10305A"/>
                    </a:solidFill>
                  </a:tcPr>
                </a:tc>
              </a:tr>
              <a:tr h="379476">
                <a:tc>
                  <a:txBody>
                    <a:bodyPr/>
                    <a:lstStyle/>
                    <a:p>
                      <a:r>
                        <a:rPr sz="1250" b="0" i="0">
                          <a:solidFill>
                            <a:srgbClr val="1F2937"/>
                          </a:solidFill>
                          <a:latin typeface="微软雅黑"/>
                        </a:rPr>
                        <a:t>抑制/无毒化</a:t>
                      </a:r>
                    </a:p>
                  </a:txBody>
                  <a:tcPr marL="45720" marR="45720" anchor="t">
                    <a:solidFill>
                      <a:srgbClr val="F2F5F9"/>
                    </a:solidFill>
                  </a:tcPr>
                </a:tc>
                <a:tc>
                  <a:txBody>
                    <a:bodyPr/>
                    <a:lstStyle/>
                    <a:p>
                      <a:r>
                        <a:rPr sz="1250" b="0" i="0">
                          <a:solidFill>
                            <a:srgbClr val="1F2937"/>
                          </a:solidFill>
                          <a:latin typeface="微软雅黑"/>
                        </a:rPr>
                        <a:t>β-sheet 下降、毒性寡聚体减少、off-pathway 复合物</a:t>
                      </a:r>
                    </a:p>
                  </a:txBody>
                  <a:tcPr marL="45720" marR="45720" anchor="t">
                    <a:solidFill>
                      <a:srgbClr val="F2F5F9"/>
                    </a:solidFill>
                  </a:tcPr>
                </a:tc>
                <a:tc>
                  <a:txBody>
                    <a:bodyPr/>
                    <a:lstStyle/>
                    <a:p>
                      <a:r>
                        <a:rPr sz="1250" b="0" i="0">
                          <a:solidFill>
                            <a:srgbClr val="1F2937"/>
                          </a:solidFill>
                          <a:latin typeface="微软雅黑"/>
                        </a:rPr>
                        <a:t>潜在保护/抑制肽</a:t>
                      </a:r>
                    </a:p>
                  </a:txBody>
                  <a:tcPr marL="45720" marR="45720" anchor="t">
                    <a:solidFill>
                      <a:srgbClr val="F2F5F9"/>
                    </a:solidFill>
                  </a:tcPr>
                </a:tc>
                <a:tc>
                  <a:txBody>
                    <a:bodyPr/>
                    <a:lstStyle/>
                    <a:p>
                      <a:r>
                        <a:rPr sz="1250" b="0" i="0">
                          <a:solidFill>
                            <a:srgbClr val="1F2937"/>
                          </a:solidFill>
                          <a:latin typeface="微软雅黑"/>
                        </a:rPr>
                        <a:t>细胞毒性、清除和浓度关系</a:t>
                      </a:r>
                    </a:p>
                  </a:txBody>
                  <a:tcPr marL="45720" marR="45720" anchor="t">
                    <a:solidFill>
                      <a:srgbClr val="F2F5F9"/>
                    </a:solidFill>
                  </a:tcPr>
                </a:tc>
              </a:tr>
              <a:tr h="379476">
                <a:tc>
                  <a:txBody>
                    <a:bodyPr/>
                    <a:lstStyle/>
                    <a:p>
                      <a:r>
                        <a:rPr sz="1250" b="0" i="0">
                          <a:solidFill>
                            <a:srgbClr val="1F2937"/>
                          </a:solidFill>
                          <a:latin typeface="微软雅黑"/>
                        </a:rPr>
                        <a:t>重定向但未知</a:t>
                      </a:r>
                    </a:p>
                  </a:txBody>
                  <a:tcPr marL="45720" marR="45720" anchor="t">
                    <a:solidFill>
                      <a:srgbClr val="FFFFFF"/>
                    </a:solidFill>
                  </a:tcPr>
                </a:tc>
                <a:tc>
                  <a:txBody>
                    <a:bodyPr/>
                    <a:lstStyle/>
                    <a:p>
                      <a:r>
                        <a:rPr sz="1250" b="0" i="0">
                          <a:solidFill>
                            <a:srgbClr val="1F2937"/>
                          </a:solidFill>
                          <a:latin typeface="微软雅黑"/>
                        </a:rPr>
                        <a:t>纤维减少但寡聚体驻留增加</a:t>
                      </a:r>
                    </a:p>
                  </a:txBody>
                  <a:tcPr marL="45720" marR="45720" anchor="t">
                    <a:solidFill>
                      <a:srgbClr val="FFFFFF"/>
                    </a:solidFill>
                  </a:tcPr>
                </a:tc>
                <a:tc>
                  <a:txBody>
                    <a:bodyPr/>
                    <a:lstStyle/>
                    <a:p>
                      <a:r>
                        <a:rPr sz="1250" b="0" i="0">
                          <a:solidFill>
                            <a:srgbClr val="1F2937"/>
                          </a:solidFill>
                          <a:latin typeface="微软雅黑"/>
                        </a:rPr>
                        <a:t>可能把病理停留在另一条路径</a:t>
                      </a:r>
                    </a:p>
                  </a:txBody>
                  <a:tcPr marL="45720" marR="45720" anchor="t">
                    <a:solidFill>
                      <a:srgbClr val="FFFFFF"/>
                    </a:solidFill>
                  </a:tcPr>
                </a:tc>
                <a:tc>
                  <a:txBody>
                    <a:bodyPr/>
                    <a:lstStyle/>
                    <a:p>
                      <a:r>
                        <a:rPr sz="1250" b="0" i="0">
                          <a:solidFill>
                            <a:srgbClr val="1F2937"/>
                          </a:solidFill>
                          <a:latin typeface="微软雅黑"/>
                        </a:rPr>
                        <a:t>寡聚体谱和时间序列</a:t>
                      </a:r>
                    </a:p>
                  </a:txBody>
                  <a:tcPr marL="45720" marR="45720" anchor="t">
                    <a:solidFill>
                      <a:srgbClr val="FFFFFF"/>
                    </a:solidFill>
                  </a:tcPr>
                </a:tc>
              </a:tr>
              <a:tr h="379476">
                <a:tc>
                  <a:txBody>
                    <a:bodyPr/>
                    <a:lstStyle/>
                    <a:p>
                      <a:r>
                        <a:rPr sz="1250" b="0" i="0">
                          <a:solidFill>
                            <a:srgbClr val="1F2937"/>
                          </a:solidFill>
                          <a:latin typeface="微软雅黑"/>
                        </a:rPr>
                        <a:t>促进病理</a:t>
                      </a:r>
                    </a:p>
                  </a:txBody>
                  <a:tcPr marL="45720" marR="45720" anchor="t">
                    <a:solidFill>
                      <a:srgbClr val="F2F5F9"/>
                    </a:solidFill>
                  </a:tcPr>
                </a:tc>
                <a:tc>
                  <a:txBody>
                    <a:bodyPr/>
                    <a:lstStyle/>
                    <a:p>
                      <a:r>
                        <a:rPr sz="1250" b="0" i="0">
                          <a:solidFill>
                            <a:srgbClr val="1F2937"/>
                          </a:solidFill>
                          <a:latin typeface="微软雅黑"/>
                        </a:rPr>
                        <a:t>成核加快、膜活性和有毒寡聚体增加</a:t>
                      </a:r>
                    </a:p>
                  </a:txBody>
                  <a:tcPr marL="45720" marR="45720" anchor="t">
                    <a:solidFill>
                      <a:srgbClr val="F2F5F9"/>
                    </a:solidFill>
                  </a:tcPr>
                </a:tc>
                <a:tc>
                  <a:txBody>
                    <a:bodyPr/>
                    <a:lstStyle/>
                    <a:p>
                      <a:r>
                        <a:rPr sz="1250" b="0" i="0">
                          <a:solidFill>
                            <a:srgbClr val="1F2937"/>
                          </a:solidFill>
                          <a:latin typeface="微软雅黑"/>
                        </a:rPr>
                        <a:t>风险样机制线索</a:t>
                      </a:r>
                    </a:p>
                  </a:txBody>
                  <a:tcPr marL="45720" marR="45720" anchor="t">
                    <a:solidFill>
                      <a:srgbClr val="F2F5F9"/>
                    </a:solidFill>
                  </a:tcPr>
                </a:tc>
                <a:tc>
                  <a:txBody>
                    <a:bodyPr/>
                    <a:lstStyle/>
                    <a:p>
                      <a:r>
                        <a:rPr sz="1250" b="0" i="0">
                          <a:solidFill>
                            <a:srgbClr val="1F2937"/>
                          </a:solidFill>
                          <a:latin typeface="微软雅黑"/>
                        </a:rPr>
                        <a:t>细胞/动物和阻断实验</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21 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10　Aβ/AMP 模拟的验收指标</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从结合到病理方向的必要读数</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指标</a:t>
                      </a:r>
                    </a:p>
                  </a:txBody>
                  <a:tcPr marL="45720" marR="45720">
                    <a:solidFill>
                      <a:srgbClr val="10305A"/>
                    </a:solidFill>
                  </a:tcPr>
                </a:tc>
                <a:tc>
                  <a:txBody>
                    <a:bodyPr/>
                    <a:lstStyle/>
                    <a:p>
                      <a:pPr algn="ctr"/>
                      <a:r>
                        <a:rPr sz="1250" b="1" i="0">
                          <a:solidFill>
                            <a:srgbClr val="FFFFFF"/>
                          </a:solidFill>
                          <a:latin typeface="微软雅黑"/>
                        </a:rPr>
                        <a:t>保护方向</a:t>
                      </a:r>
                    </a:p>
                  </a:txBody>
                  <a:tcPr marL="45720" marR="45720">
                    <a:solidFill>
                      <a:srgbClr val="10305A"/>
                    </a:solidFill>
                  </a:tcPr>
                </a:tc>
                <a:tc>
                  <a:txBody>
                    <a:bodyPr/>
                    <a:lstStyle/>
                    <a:p>
                      <a:pPr algn="ctr"/>
                      <a:r>
                        <a:rPr sz="1250" b="1" i="0">
                          <a:solidFill>
                            <a:srgbClr val="FFFFFF"/>
                          </a:solidFill>
                          <a:latin typeface="微软雅黑"/>
                        </a:rPr>
                        <a:t>风险方向</a:t>
                      </a:r>
                    </a:p>
                  </a:txBody>
                  <a:tcPr marL="45720" marR="45720">
                    <a:solidFill>
                      <a:srgbClr val="10305A"/>
                    </a:solidFill>
                  </a:tcPr>
                </a:tc>
                <a:tc>
                  <a:txBody>
                    <a:bodyPr/>
                    <a:lstStyle/>
                    <a:p>
                      <a:pPr algn="ctr"/>
                      <a:r>
                        <a:rPr sz="1250" b="1" i="0">
                          <a:solidFill>
                            <a:srgbClr val="FFFFFF"/>
                          </a:solidFill>
                          <a:latin typeface="微软雅黑"/>
                        </a:rPr>
                        <a:t>未知时如何报告</a:t>
                      </a:r>
                    </a:p>
                  </a:txBody>
                  <a:tcPr marL="45720" marR="45720">
                    <a:solidFill>
                      <a:srgbClr val="10305A"/>
                    </a:solidFill>
                  </a:tcPr>
                </a:tc>
              </a:tr>
              <a:tr h="365760">
                <a:tc>
                  <a:txBody>
                    <a:bodyPr/>
                    <a:lstStyle/>
                    <a:p>
                      <a:r>
                        <a:rPr sz="1250" b="0" i="0">
                          <a:solidFill>
                            <a:srgbClr val="1F2937"/>
                          </a:solidFill>
                          <a:latin typeface="微软雅黑"/>
                        </a:rPr>
                        <a:t>结合自由能/PMF</a:t>
                      </a:r>
                    </a:p>
                  </a:txBody>
                  <a:tcPr marL="45720" marR="45720" anchor="t">
                    <a:solidFill>
                      <a:srgbClr val="F2F5F9"/>
                    </a:solidFill>
                  </a:tcPr>
                </a:tc>
                <a:tc>
                  <a:txBody>
                    <a:bodyPr/>
                    <a:lstStyle/>
                    <a:p>
                      <a:r>
                        <a:rPr sz="1250" b="0" i="0">
                          <a:solidFill>
                            <a:srgbClr val="1F2937"/>
                          </a:solidFill>
                          <a:latin typeface="微软雅黑"/>
                        </a:rPr>
                        <a:t>稳定合理复合物</a:t>
                      </a:r>
                    </a:p>
                  </a:txBody>
                  <a:tcPr marL="45720" marR="45720" anchor="t">
                    <a:solidFill>
                      <a:srgbClr val="F2F5F9"/>
                    </a:solidFill>
                  </a:tcPr>
                </a:tc>
                <a:tc>
                  <a:txBody>
                    <a:bodyPr/>
                    <a:lstStyle/>
                    <a:p>
                      <a:r>
                        <a:rPr sz="1250" b="0" i="0">
                          <a:solidFill>
                            <a:srgbClr val="1F2937"/>
                          </a:solidFill>
                          <a:latin typeface="微软雅黑"/>
                        </a:rPr>
                        <a:t>稳定病理构象或界面</a:t>
                      </a:r>
                    </a:p>
                  </a:txBody>
                  <a:tcPr marL="45720" marR="45720" anchor="t">
                    <a:solidFill>
                      <a:srgbClr val="F2F5F9"/>
                    </a:solidFill>
                  </a:tcPr>
                </a:tc>
                <a:tc>
                  <a:txBody>
                    <a:bodyPr/>
                    <a:lstStyle/>
                    <a:p>
                      <a:r>
                        <a:rPr sz="1250" b="0" i="0">
                          <a:solidFill>
                            <a:srgbClr val="1F2937"/>
                          </a:solidFill>
                          <a:latin typeface="微软雅黑"/>
                        </a:rPr>
                        <a:t>只报趋势和误差</a:t>
                      </a:r>
                    </a:p>
                  </a:txBody>
                  <a:tcPr marL="45720" marR="45720" anchor="t">
                    <a:solidFill>
                      <a:srgbClr val="F2F5F9"/>
                    </a:solidFill>
                  </a:tcPr>
                </a:tc>
              </a:tr>
              <a:tr h="365760">
                <a:tc>
                  <a:txBody>
                    <a:bodyPr/>
                    <a:lstStyle/>
                    <a:p>
                      <a:r>
                        <a:rPr sz="1250" b="0" i="0">
                          <a:solidFill>
                            <a:srgbClr val="1F2937"/>
                          </a:solidFill>
                          <a:latin typeface="微软雅黑"/>
                        </a:rPr>
                        <a:t>β-sheet/二级结构</a:t>
                      </a:r>
                    </a:p>
                  </a:txBody>
                  <a:tcPr marL="45720" marR="45720" anchor="t">
                    <a:solidFill>
                      <a:srgbClr val="FFFFFF"/>
                    </a:solidFill>
                  </a:tcPr>
                </a:tc>
                <a:tc>
                  <a:txBody>
                    <a:bodyPr/>
                    <a:lstStyle/>
                    <a:p>
                      <a:r>
                        <a:rPr sz="1250" b="0" i="0">
                          <a:solidFill>
                            <a:srgbClr val="1F2937"/>
                          </a:solidFill>
                          <a:latin typeface="微软雅黑"/>
                        </a:rPr>
                        <a:t>减少有毒路径</a:t>
                      </a:r>
                    </a:p>
                  </a:txBody>
                  <a:tcPr marL="45720" marR="45720" anchor="t">
                    <a:solidFill>
                      <a:srgbClr val="FFFFFF"/>
                    </a:solidFill>
                  </a:tcPr>
                </a:tc>
                <a:tc>
                  <a:txBody>
                    <a:bodyPr/>
                    <a:lstStyle/>
                    <a:p>
                      <a:r>
                        <a:rPr sz="1250" b="0" i="0">
                          <a:solidFill>
                            <a:srgbClr val="1F2937"/>
                          </a:solidFill>
                          <a:latin typeface="微软雅黑"/>
                        </a:rPr>
                        <a:t>增加或延长病理构象</a:t>
                      </a:r>
                    </a:p>
                  </a:txBody>
                  <a:tcPr marL="45720" marR="45720" anchor="t">
                    <a:solidFill>
                      <a:srgbClr val="FFFFFF"/>
                    </a:solidFill>
                  </a:tcPr>
                </a:tc>
                <a:tc>
                  <a:txBody>
                    <a:bodyPr/>
                    <a:lstStyle/>
                    <a:p>
                      <a:r>
                        <a:rPr sz="1250" b="0" i="0">
                          <a:solidFill>
                            <a:srgbClr val="1F2937"/>
                          </a:solidFill>
                          <a:latin typeface="微软雅黑"/>
                        </a:rPr>
                        <a:t>区分单体/寡聚体/纤维</a:t>
                      </a:r>
                    </a:p>
                  </a:txBody>
                  <a:tcPr marL="45720" marR="45720" anchor="t">
                    <a:solidFill>
                      <a:srgbClr val="FFFFFF"/>
                    </a:solidFill>
                  </a:tcPr>
                </a:tc>
              </a:tr>
              <a:tr h="365760">
                <a:tc>
                  <a:txBody>
                    <a:bodyPr/>
                    <a:lstStyle/>
                    <a:p>
                      <a:r>
                        <a:rPr sz="1250" b="0" i="0">
                          <a:solidFill>
                            <a:srgbClr val="1F2937"/>
                          </a:solidFill>
                          <a:latin typeface="微软雅黑"/>
                        </a:rPr>
                        <a:t>寡聚体分布</a:t>
                      </a:r>
                    </a:p>
                  </a:txBody>
                  <a:tcPr marL="45720" marR="45720" anchor="t">
                    <a:solidFill>
                      <a:srgbClr val="F2F5F9"/>
                    </a:solidFill>
                  </a:tcPr>
                </a:tc>
                <a:tc>
                  <a:txBody>
                    <a:bodyPr/>
                    <a:lstStyle/>
                    <a:p>
                      <a:r>
                        <a:rPr sz="1250" b="0" i="0">
                          <a:solidFill>
                            <a:srgbClr val="1F2937"/>
                          </a:solidFill>
                          <a:latin typeface="微软雅黑"/>
                        </a:rPr>
                        <a:t>降低 on-pathway 寡聚体</a:t>
                      </a:r>
                    </a:p>
                  </a:txBody>
                  <a:tcPr marL="45720" marR="45720" anchor="t">
                    <a:solidFill>
                      <a:srgbClr val="F2F5F9"/>
                    </a:solidFill>
                  </a:tcPr>
                </a:tc>
                <a:tc>
                  <a:txBody>
                    <a:bodyPr/>
                    <a:lstStyle/>
                    <a:p>
                      <a:r>
                        <a:rPr sz="1250" b="0" i="0">
                          <a:solidFill>
                            <a:srgbClr val="1F2937"/>
                          </a:solidFill>
                          <a:latin typeface="微软雅黑"/>
                        </a:rPr>
                        <a:t>提高有毒寡聚体比例</a:t>
                      </a:r>
                    </a:p>
                  </a:txBody>
                  <a:tcPr marL="45720" marR="45720" anchor="t">
                    <a:solidFill>
                      <a:srgbClr val="F2F5F9"/>
                    </a:solidFill>
                  </a:tcPr>
                </a:tc>
                <a:tc>
                  <a:txBody>
                    <a:bodyPr/>
                    <a:lstStyle/>
                    <a:p>
                      <a:r>
                        <a:rPr sz="1250" b="0" i="0">
                          <a:solidFill>
                            <a:srgbClr val="1F2937"/>
                          </a:solidFill>
                          <a:latin typeface="微软雅黑"/>
                        </a:rPr>
                        <a:t>不能只看纤维终点</a:t>
                      </a:r>
                    </a:p>
                  </a:txBody>
                  <a:tcPr marL="45720" marR="45720" anchor="t">
                    <a:solidFill>
                      <a:srgbClr val="F2F5F9"/>
                    </a:solidFill>
                  </a:tcPr>
                </a:tc>
              </a:tr>
              <a:tr h="365760">
                <a:tc>
                  <a:txBody>
                    <a:bodyPr/>
                    <a:lstStyle/>
                    <a:p>
                      <a:r>
                        <a:rPr sz="1250" b="0" i="0">
                          <a:solidFill>
                            <a:srgbClr val="1F2937"/>
                          </a:solidFill>
                          <a:latin typeface="微软雅黑"/>
                        </a:rPr>
                        <a:t>膜效应</a:t>
                      </a:r>
                    </a:p>
                  </a:txBody>
                  <a:tcPr marL="45720" marR="45720" anchor="t">
                    <a:solidFill>
                      <a:srgbClr val="FFFFFF"/>
                    </a:solidFill>
                  </a:tcPr>
                </a:tc>
                <a:tc>
                  <a:txBody>
                    <a:bodyPr/>
                    <a:lstStyle/>
                    <a:p>
                      <a:r>
                        <a:rPr sz="1250" b="0" i="0">
                          <a:solidFill>
                            <a:srgbClr val="1F2937"/>
                          </a:solidFill>
                          <a:latin typeface="微软雅黑"/>
                        </a:rPr>
                        <a:t>降低泄漏/微胶质激活</a:t>
                      </a:r>
                    </a:p>
                  </a:txBody>
                  <a:tcPr marL="45720" marR="45720" anchor="t">
                    <a:solidFill>
                      <a:srgbClr val="FFFFFF"/>
                    </a:solidFill>
                  </a:tcPr>
                </a:tc>
                <a:tc>
                  <a:txBody>
                    <a:bodyPr/>
                    <a:lstStyle/>
                    <a:p>
                      <a:r>
                        <a:rPr sz="1250" b="0" i="0">
                          <a:solidFill>
                            <a:srgbClr val="1F2937"/>
                          </a:solidFill>
                          <a:latin typeface="微软雅黑"/>
                        </a:rPr>
                        <a:t>增强泄漏/ROS</a:t>
                      </a:r>
                    </a:p>
                  </a:txBody>
                  <a:tcPr marL="45720" marR="45720" anchor="t">
                    <a:solidFill>
                      <a:srgbClr val="FFFFFF"/>
                    </a:solidFill>
                  </a:tcPr>
                </a:tc>
                <a:tc>
                  <a:txBody>
                    <a:bodyPr/>
                    <a:lstStyle/>
                    <a:p>
                      <a:r>
                        <a:rPr sz="1250" b="0" i="0">
                          <a:solidFill>
                            <a:srgbClr val="1F2937"/>
                          </a:solidFill>
                          <a:latin typeface="微软雅黑"/>
                        </a:rPr>
                        <a:t>需要细胞或膜实验</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22 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463040" cy="100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06040"/>
            <a:ext cx="10515600" cy="1280160"/>
          </a:xfrm>
          <a:prstGeom prst="rect">
            <a:avLst/>
          </a:prstGeom>
          <a:noFill/>
        </p:spPr>
        <p:txBody>
          <a:bodyPr wrap="square">
            <a:spAutoFit/>
          </a:bodyPr>
          <a:lstStyle/>
          <a:p>
            <a:pPr algn="l"/>
            <a:r>
              <a:rPr sz="3400" b="1" i="0">
                <a:solidFill>
                  <a:srgbClr val="FFFFFF"/>
                </a:solidFill>
                <a:latin typeface="微软雅黑"/>
              </a:rPr>
              <a:t>五阶段设计与深度学习差异分析</a:t>
            </a:r>
          </a:p>
        </p:txBody>
      </p:sp>
      <p:sp>
        <p:nvSpPr>
          <p:cNvPr id="5" name="TextBox 4"/>
          <p:cNvSpPr txBox="1"/>
          <p:nvPr/>
        </p:nvSpPr>
        <p:spPr>
          <a:xfrm>
            <a:off x="822960" y="1600200"/>
            <a:ext cx="10515600" cy="822960"/>
          </a:xfrm>
          <a:prstGeom prst="rect">
            <a:avLst/>
          </a:prstGeom>
          <a:noFill/>
        </p:spPr>
        <p:txBody>
          <a:bodyPr wrap="square">
            <a:spAutoFit/>
          </a:bodyPr>
          <a:lstStyle/>
          <a:p>
            <a:pPr algn="l"/>
            <a:r>
              <a:rPr sz="4400" b="1" i="0">
                <a:solidFill>
                  <a:srgbClr val="C9A227"/>
                </a:solidFill>
                <a:latin typeface="微软雅黑"/>
              </a:rPr>
              <a:t>03</a:t>
            </a:r>
          </a:p>
        </p:txBody>
      </p:sp>
      <p:sp>
        <p:nvSpPr>
          <p:cNvPr id="6" name="TextBox 5"/>
          <p:cNvSpPr txBox="1"/>
          <p:nvPr/>
        </p:nvSpPr>
        <p:spPr>
          <a:xfrm>
            <a:off x="822960" y="3977639"/>
            <a:ext cx="10515600" cy="731520"/>
          </a:xfrm>
          <a:prstGeom prst="rect">
            <a:avLst/>
          </a:prstGeom>
          <a:noFill/>
        </p:spPr>
        <p:txBody>
          <a:bodyPr wrap="square">
            <a:spAutoFit/>
          </a:bodyPr>
          <a:lstStyle/>
          <a:p>
            <a:pPr algn="l"/>
            <a:r>
              <a:rPr sz="1500" b="0" i="0">
                <a:solidFill>
                  <a:srgbClr val="D8E0EA"/>
                </a:solidFill>
                <a:latin typeface="微软雅黑"/>
              </a:rPr>
              <a:t>NC—SCS—SCD—MCI—AD</a:t>
            </a:r>
          </a:p>
        </p:txBody>
      </p:sp>
      <p:sp>
        <p:nvSpPr>
          <p:cNvPr id="7" name="TextBox 6"/>
          <p:cNvSpPr txBox="1"/>
          <p:nvPr/>
        </p:nvSpPr>
        <p:spPr>
          <a:xfrm>
            <a:off x="822960" y="6126480"/>
            <a:ext cx="10515600" cy="365760"/>
          </a:xfrm>
          <a:prstGeom prst="rect">
            <a:avLst/>
          </a:prstGeom>
          <a:noFill/>
        </p:spPr>
        <p:txBody>
          <a:bodyPr wrap="square">
            <a:spAutoFit/>
          </a:bodyPr>
          <a:lstStyle/>
          <a:p>
            <a:pPr algn="l"/>
            <a:r>
              <a:rPr sz="900" b="0" i="0">
                <a:solidFill>
                  <a:srgbClr val="9AA8BA"/>
                </a:solidFill>
                <a:latin typeface="微软雅黑"/>
              </a:rPr>
              <a:t>抗菌肽与 AD 关联机制说明·八问整合版｜2026-09-26 10:34 北京时间</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11　五阶段设计如何服务于 AMP 差异分析</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不预设哪个阶段一定升高</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2772918"/>
                <a:gridCol w="2772918"/>
                <a:gridCol w="2772918"/>
                <a:gridCol w="2772918"/>
              </a:tblGrid>
              <a:tr h="356616">
                <a:tc>
                  <a:txBody>
                    <a:bodyPr/>
                    <a:lstStyle/>
                    <a:p>
                      <a:pPr algn="ctr"/>
                      <a:r>
                        <a:rPr sz="1100" b="1" i="0">
                          <a:solidFill>
                            <a:srgbClr val="FFFFFF"/>
                          </a:solidFill>
                          <a:latin typeface="微软雅黑"/>
                        </a:rPr>
                        <a:t>阶段</a:t>
                      </a:r>
                    </a:p>
                  </a:txBody>
                  <a:tcPr marL="45720" marR="45720">
                    <a:solidFill>
                      <a:srgbClr val="10305A"/>
                    </a:solidFill>
                  </a:tcPr>
                </a:tc>
                <a:tc>
                  <a:txBody>
                    <a:bodyPr/>
                    <a:lstStyle/>
                    <a:p>
                      <a:pPr algn="ctr"/>
                      <a:r>
                        <a:rPr sz="1100" b="1" i="0">
                          <a:solidFill>
                            <a:srgbClr val="FFFFFF"/>
                          </a:solidFill>
                          <a:latin typeface="微软雅黑"/>
                        </a:rPr>
                        <a:t>分组含义</a:t>
                      </a:r>
                    </a:p>
                  </a:txBody>
                  <a:tcPr marL="45720" marR="45720">
                    <a:solidFill>
                      <a:srgbClr val="10305A"/>
                    </a:solidFill>
                  </a:tcPr>
                </a:tc>
                <a:tc>
                  <a:txBody>
                    <a:bodyPr/>
                    <a:lstStyle/>
                    <a:p>
                      <a:pPr algn="ctr"/>
                      <a:r>
                        <a:rPr sz="1100" b="1" i="0">
                          <a:solidFill>
                            <a:srgbClr val="FFFFFF"/>
                          </a:solidFill>
                          <a:latin typeface="微软雅黑"/>
                        </a:rPr>
                        <a:t>可以观察的信号</a:t>
                      </a:r>
                    </a:p>
                  </a:txBody>
                  <a:tcPr marL="45720" marR="45720">
                    <a:solidFill>
                      <a:srgbClr val="10305A"/>
                    </a:solidFill>
                  </a:tcPr>
                </a:tc>
                <a:tc>
                  <a:txBody>
                    <a:bodyPr/>
                    <a:lstStyle/>
                    <a:p>
                      <a:pPr algn="ctr"/>
                      <a:r>
                        <a:rPr sz="1100" b="1" i="0">
                          <a:solidFill>
                            <a:srgbClr val="FFFFFF"/>
                          </a:solidFill>
                          <a:latin typeface="微软雅黑"/>
                        </a:rPr>
                        <a:t>不能预先断言</a:t>
                      </a:r>
                    </a:p>
                  </a:txBody>
                  <a:tcPr marL="45720" marR="45720">
                    <a:solidFill>
                      <a:srgbClr val="10305A"/>
                    </a:solidFill>
                  </a:tcPr>
                </a:tc>
              </a:tr>
              <a:tr h="356616">
                <a:tc>
                  <a:txBody>
                    <a:bodyPr/>
                    <a:lstStyle/>
                    <a:p>
                      <a:r>
                        <a:rPr sz="1100" b="0" i="0">
                          <a:solidFill>
                            <a:srgbClr val="1F2937"/>
                          </a:solidFill>
                          <a:latin typeface="微软雅黑"/>
                        </a:rPr>
                        <a:t>NC</a:t>
                      </a:r>
                    </a:p>
                  </a:txBody>
                  <a:tcPr marL="45720" marR="45720" anchor="t">
                    <a:solidFill>
                      <a:srgbClr val="F2F5F9"/>
                    </a:solidFill>
                  </a:tcPr>
                </a:tc>
                <a:tc>
                  <a:txBody>
                    <a:bodyPr/>
                    <a:lstStyle/>
                    <a:p>
                      <a:r>
                        <a:rPr sz="1100" b="0" i="0">
                          <a:solidFill>
                            <a:srgbClr val="1F2937"/>
                          </a:solidFill>
                          <a:latin typeface="微软雅黑"/>
                        </a:rPr>
                        <a:t>认知正常基线</a:t>
                      </a:r>
                    </a:p>
                  </a:txBody>
                  <a:tcPr marL="45720" marR="45720" anchor="t">
                    <a:solidFill>
                      <a:srgbClr val="F2F5F9"/>
                    </a:solidFill>
                  </a:tcPr>
                </a:tc>
                <a:tc>
                  <a:txBody>
                    <a:bodyPr/>
                    <a:lstStyle/>
                    <a:p>
                      <a:r>
                        <a:rPr sz="1100" b="0" i="0">
                          <a:solidFill>
                            <a:srgbClr val="1F2937"/>
                          </a:solidFill>
                          <a:latin typeface="微软雅黑"/>
                        </a:rPr>
                        <a:t>AMP 多样性、来源菌和 SCFA 相关基线</a:t>
                      </a:r>
                    </a:p>
                  </a:txBody>
                  <a:tcPr marL="45720" marR="45720" anchor="t">
                    <a:solidFill>
                      <a:srgbClr val="F2F5F9"/>
                    </a:solidFill>
                  </a:tcPr>
                </a:tc>
                <a:tc>
                  <a:txBody>
                    <a:bodyPr/>
                    <a:lstStyle/>
                    <a:p>
                      <a:r>
                        <a:rPr sz="1100" b="0" i="0">
                          <a:solidFill>
                            <a:srgbClr val="1F2937"/>
                          </a:solidFill>
                          <a:latin typeface="微软雅黑"/>
                        </a:rPr>
                        <a:t>所有健康富集肽都保护</a:t>
                      </a:r>
                    </a:p>
                  </a:txBody>
                  <a:tcPr marL="45720" marR="45720" anchor="t">
                    <a:solidFill>
                      <a:srgbClr val="F2F5F9"/>
                    </a:solidFill>
                  </a:tcPr>
                </a:tc>
              </a:tr>
              <a:tr h="356616">
                <a:tc>
                  <a:txBody>
                    <a:bodyPr/>
                    <a:lstStyle/>
                    <a:p>
                      <a:r>
                        <a:rPr sz="1100" b="0" i="0">
                          <a:solidFill>
                            <a:srgbClr val="1F2937"/>
                          </a:solidFill>
                          <a:latin typeface="微软雅黑"/>
                        </a:rPr>
                        <a:t>SCS</a:t>
                      </a:r>
                    </a:p>
                  </a:txBody>
                  <a:tcPr marL="45720" marR="45720" anchor="t">
                    <a:solidFill>
                      <a:srgbClr val="FFFFFF"/>
                    </a:solidFill>
                  </a:tcPr>
                </a:tc>
                <a:tc>
                  <a:txBody>
                    <a:bodyPr/>
                    <a:lstStyle/>
                    <a:p>
                      <a:r>
                        <a:rPr sz="1100" b="0" i="0">
                          <a:solidFill>
                            <a:srgbClr val="1F2937"/>
                          </a:solidFill>
                          <a:latin typeface="微软雅黑"/>
                        </a:rPr>
                        <a:t>主观认知下降</a:t>
                      </a:r>
                    </a:p>
                  </a:txBody>
                  <a:tcPr marL="45720" marR="45720" anchor="t">
                    <a:solidFill>
                      <a:srgbClr val="FFFFFF"/>
                    </a:solidFill>
                  </a:tcPr>
                </a:tc>
                <a:tc>
                  <a:txBody>
                    <a:bodyPr/>
                    <a:lstStyle/>
                    <a:p>
                      <a:r>
                        <a:rPr sz="1100" b="0" i="0">
                          <a:solidFill>
                            <a:srgbClr val="1F2937"/>
                          </a:solidFill>
                          <a:latin typeface="微软雅黑"/>
                        </a:rPr>
                        <a:t>早期组成偏移和候选肽初始变化</a:t>
                      </a:r>
                    </a:p>
                  </a:txBody>
                  <a:tcPr marL="45720" marR="45720" anchor="t">
                    <a:solidFill>
                      <a:srgbClr val="FFFFFF"/>
                    </a:solidFill>
                  </a:tcPr>
                </a:tc>
                <a:tc>
                  <a:txBody>
                    <a:bodyPr/>
                    <a:lstStyle/>
                    <a:p>
                      <a:r>
                        <a:rPr sz="1100" b="0" i="0">
                          <a:solidFill>
                            <a:srgbClr val="1F2937"/>
                          </a:solidFill>
                          <a:latin typeface="微软雅黑"/>
                        </a:rPr>
                        <a:t>一定已进入 AD 病理</a:t>
                      </a:r>
                    </a:p>
                  </a:txBody>
                  <a:tcPr marL="45720" marR="45720" anchor="t">
                    <a:solidFill>
                      <a:srgbClr val="FFFFFF"/>
                    </a:solidFill>
                  </a:tcPr>
                </a:tc>
              </a:tr>
              <a:tr h="356616">
                <a:tc>
                  <a:txBody>
                    <a:bodyPr/>
                    <a:lstStyle/>
                    <a:p>
                      <a:r>
                        <a:rPr sz="1100" b="0" i="0">
                          <a:solidFill>
                            <a:srgbClr val="1F2937"/>
                          </a:solidFill>
                          <a:latin typeface="微软雅黑"/>
                        </a:rPr>
                        <a:t>SCD</a:t>
                      </a:r>
                    </a:p>
                  </a:txBody>
                  <a:tcPr marL="45720" marR="45720" anchor="t">
                    <a:solidFill>
                      <a:srgbClr val="F2F5F9"/>
                    </a:solidFill>
                  </a:tcPr>
                </a:tc>
                <a:tc>
                  <a:txBody>
                    <a:bodyPr/>
                    <a:lstStyle/>
                    <a:p>
                      <a:r>
                        <a:rPr sz="1100" b="0" i="0">
                          <a:solidFill>
                            <a:srgbClr val="1F2937"/>
                          </a:solidFill>
                          <a:latin typeface="微软雅黑"/>
                        </a:rPr>
                        <a:t>可疑认知障碍</a:t>
                      </a:r>
                    </a:p>
                  </a:txBody>
                  <a:tcPr marL="45720" marR="45720" anchor="t">
                    <a:solidFill>
                      <a:srgbClr val="F2F5F9"/>
                    </a:solidFill>
                  </a:tcPr>
                </a:tc>
                <a:tc>
                  <a:txBody>
                    <a:bodyPr/>
                    <a:lstStyle/>
                    <a:p>
                      <a:r>
                        <a:rPr sz="1100" b="0" i="0">
                          <a:solidFill>
                            <a:srgbClr val="1F2937"/>
                          </a:solidFill>
                          <a:latin typeface="微软雅黑"/>
                        </a:rPr>
                        <a:t>屏障/炎症中间层与网络变化</a:t>
                      </a:r>
                    </a:p>
                  </a:txBody>
                  <a:tcPr marL="45720" marR="45720" anchor="t">
                    <a:solidFill>
                      <a:srgbClr val="F2F5F9"/>
                    </a:solidFill>
                  </a:tcPr>
                </a:tc>
                <a:tc>
                  <a:txBody>
                    <a:bodyPr/>
                    <a:lstStyle/>
                    <a:p>
                      <a:r>
                        <a:rPr sz="1100" b="0" i="0">
                          <a:solidFill>
                            <a:srgbClr val="1F2937"/>
                          </a:solidFill>
                          <a:latin typeface="微软雅黑"/>
                        </a:rPr>
                        <a:t>所有变化都由 AMP 引起</a:t>
                      </a:r>
                    </a:p>
                  </a:txBody>
                  <a:tcPr marL="45720" marR="45720" anchor="t">
                    <a:solidFill>
                      <a:srgbClr val="F2F5F9"/>
                    </a:solidFill>
                  </a:tcPr>
                </a:tc>
              </a:tr>
              <a:tr h="356616">
                <a:tc>
                  <a:txBody>
                    <a:bodyPr/>
                    <a:lstStyle/>
                    <a:p>
                      <a:r>
                        <a:rPr sz="1100" b="0" i="0">
                          <a:solidFill>
                            <a:srgbClr val="1F2937"/>
                          </a:solidFill>
                          <a:latin typeface="微软雅黑"/>
                        </a:rPr>
                        <a:t>MCI</a:t>
                      </a:r>
                    </a:p>
                  </a:txBody>
                  <a:tcPr marL="45720" marR="45720" anchor="t">
                    <a:solidFill>
                      <a:srgbClr val="FFFFFF"/>
                    </a:solidFill>
                  </a:tcPr>
                </a:tc>
                <a:tc>
                  <a:txBody>
                    <a:bodyPr/>
                    <a:lstStyle/>
                    <a:p>
                      <a:r>
                        <a:rPr sz="1100" b="0" i="0">
                          <a:solidFill>
                            <a:srgbClr val="1F2937"/>
                          </a:solidFill>
                          <a:latin typeface="微软雅黑"/>
                        </a:rPr>
                        <a:t>轻度认知障碍</a:t>
                      </a:r>
                    </a:p>
                  </a:txBody>
                  <a:tcPr marL="45720" marR="45720" anchor="t">
                    <a:solidFill>
                      <a:srgbClr val="FFFFFF"/>
                    </a:solidFill>
                  </a:tcPr>
                </a:tc>
                <a:tc>
                  <a:txBody>
                    <a:bodyPr/>
                    <a:lstStyle/>
                    <a:p>
                      <a:r>
                        <a:rPr sz="1100" b="0" i="0">
                          <a:solidFill>
                            <a:srgbClr val="1F2937"/>
                          </a:solidFill>
                          <a:latin typeface="微软雅黑"/>
                        </a:rPr>
                        <a:t>与前驱期和 AD 比较的过渡趋势</a:t>
                      </a:r>
                    </a:p>
                  </a:txBody>
                  <a:tcPr marL="45720" marR="45720" anchor="t">
                    <a:solidFill>
                      <a:srgbClr val="FFFFFF"/>
                    </a:solidFill>
                  </a:tcPr>
                </a:tc>
                <a:tc>
                  <a:txBody>
                    <a:bodyPr/>
                    <a:lstStyle/>
                    <a:p>
                      <a:r>
                        <a:rPr sz="1100" b="0" i="0">
                          <a:solidFill>
                            <a:srgbClr val="1F2937"/>
                          </a:solidFill>
                          <a:latin typeface="微软雅黑"/>
                        </a:rPr>
                        <a:t>是单向病因节点</a:t>
                      </a:r>
                    </a:p>
                  </a:txBody>
                  <a:tcPr marL="45720" marR="45720" anchor="t">
                    <a:solidFill>
                      <a:srgbClr val="FFFFFF"/>
                    </a:solidFill>
                  </a:tcPr>
                </a:tc>
              </a:tr>
              <a:tr h="356616">
                <a:tc>
                  <a:txBody>
                    <a:bodyPr/>
                    <a:lstStyle/>
                    <a:p>
                      <a:r>
                        <a:rPr sz="1100" b="0" i="0">
                          <a:solidFill>
                            <a:srgbClr val="1F2937"/>
                          </a:solidFill>
                          <a:latin typeface="微软雅黑"/>
                        </a:rPr>
                        <a:t>AD</a:t>
                      </a:r>
                    </a:p>
                  </a:txBody>
                  <a:tcPr marL="45720" marR="45720" anchor="t">
                    <a:solidFill>
                      <a:srgbClr val="F2F5F9"/>
                    </a:solidFill>
                  </a:tcPr>
                </a:tc>
                <a:tc>
                  <a:txBody>
                    <a:bodyPr/>
                    <a:lstStyle/>
                    <a:p>
                      <a:r>
                        <a:rPr sz="1100" b="0" i="0">
                          <a:solidFill>
                            <a:srgbClr val="1F2937"/>
                          </a:solidFill>
                          <a:latin typeface="微软雅黑"/>
                        </a:rPr>
                        <a:t>阿尔茨海默症</a:t>
                      </a:r>
                    </a:p>
                  </a:txBody>
                  <a:tcPr marL="45720" marR="45720" anchor="t">
                    <a:solidFill>
                      <a:srgbClr val="F2F5F9"/>
                    </a:solidFill>
                  </a:tcPr>
                </a:tc>
                <a:tc>
                  <a:txBody>
                    <a:bodyPr/>
                    <a:lstStyle/>
                    <a:p>
                      <a:r>
                        <a:rPr sz="1100" b="0" i="0">
                          <a:solidFill>
                            <a:srgbClr val="1F2937"/>
                          </a:solidFill>
                          <a:latin typeface="微软雅黑"/>
                        </a:rPr>
                        <a:t>疾病相关富集或缺失候选</a:t>
                      </a:r>
                    </a:p>
                  </a:txBody>
                  <a:tcPr marL="45720" marR="45720" anchor="t">
                    <a:solidFill>
                      <a:srgbClr val="F2F5F9"/>
                    </a:solidFill>
                  </a:tcPr>
                </a:tc>
                <a:tc>
                  <a:txBody>
                    <a:bodyPr/>
                    <a:lstStyle/>
                    <a:p>
                      <a:r>
                        <a:rPr sz="1100" b="0" i="0">
                          <a:solidFill>
                            <a:srgbClr val="1F2937"/>
                          </a:solidFill>
                          <a:latin typeface="微软雅黑"/>
                        </a:rPr>
                        <a:t>所有候选都促病理</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24 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12　宏基因组 AMP 差异分析的方法门槛</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从短肽库到病理机制</a:t>
            </a:r>
          </a:p>
        </p:txBody>
      </p:sp>
      <p:graphicFrame>
        <p:nvGraphicFramePr>
          <p:cNvPr id="5" name="Table 4"/>
          <p:cNvGraphicFramePr>
            <a:graphicFrameLocks noGrp="1"/>
          </p:cNvGraphicFramePr>
          <p:nvPr/>
        </p:nvGraphicFramePr>
        <p:xfrm>
          <a:off x="548640" y="1325880"/>
          <a:ext cx="11091672" cy="2450592"/>
        </p:xfrm>
        <a:graphic>
          <a:graphicData uri="http://schemas.openxmlformats.org/drawingml/2006/table">
            <a:tbl>
              <a:tblPr firstRow="1" bandRow="1">
                <a:tableStyleId>{5C22544A-7EE6-4342-B048-85BDC9FD1C3A}</a:tableStyleId>
              </a:tblPr>
              <a:tblGrid>
                <a:gridCol w="2772918"/>
                <a:gridCol w="2772918"/>
                <a:gridCol w="2772918"/>
                <a:gridCol w="2772918"/>
              </a:tblGrid>
              <a:tr h="350084">
                <a:tc>
                  <a:txBody>
                    <a:bodyPr/>
                    <a:lstStyle/>
                    <a:p>
                      <a:pPr algn="ctr"/>
                      <a:r>
                        <a:rPr sz="1100" b="1" i="0">
                          <a:solidFill>
                            <a:srgbClr val="FFFFFF"/>
                          </a:solidFill>
                          <a:latin typeface="微软雅黑"/>
                        </a:rPr>
                        <a:t>环节</a:t>
                      </a:r>
                    </a:p>
                  </a:txBody>
                  <a:tcPr marL="45720" marR="45720">
                    <a:solidFill>
                      <a:srgbClr val="10305A"/>
                    </a:solidFill>
                  </a:tcPr>
                </a:tc>
                <a:tc>
                  <a:txBody>
                    <a:bodyPr/>
                    <a:lstStyle/>
                    <a:p>
                      <a:pPr algn="ctr"/>
                      <a:r>
                        <a:rPr sz="1100" b="1" i="0">
                          <a:solidFill>
                            <a:srgbClr val="FFFFFF"/>
                          </a:solidFill>
                          <a:latin typeface="微软雅黑"/>
                        </a:rPr>
                        <a:t>建议方法</a:t>
                      </a:r>
                    </a:p>
                  </a:txBody>
                  <a:tcPr marL="45720" marR="45720">
                    <a:solidFill>
                      <a:srgbClr val="10305A"/>
                    </a:solidFill>
                  </a:tcPr>
                </a:tc>
                <a:tc>
                  <a:txBody>
                    <a:bodyPr/>
                    <a:lstStyle/>
                    <a:p>
                      <a:pPr algn="ctr"/>
                      <a:r>
                        <a:rPr sz="1100" b="1" i="0">
                          <a:solidFill>
                            <a:srgbClr val="FFFFFF"/>
                          </a:solidFill>
                          <a:latin typeface="微软雅黑"/>
                        </a:rPr>
                        <a:t>关键输出</a:t>
                      </a:r>
                    </a:p>
                  </a:txBody>
                  <a:tcPr marL="45720" marR="45720">
                    <a:solidFill>
                      <a:srgbClr val="10305A"/>
                    </a:solidFill>
                  </a:tcPr>
                </a:tc>
                <a:tc>
                  <a:txBody>
                    <a:bodyPr/>
                    <a:lstStyle/>
                    <a:p>
                      <a:pPr algn="ctr"/>
                      <a:r>
                        <a:rPr sz="1100" b="1" i="0">
                          <a:solidFill>
                            <a:srgbClr val="FFFFFF"/>
                          </a:solidFill>
                          <a:latin typeface="微软雅黑"/>
                        </a:rPr>
                        <a:t>与病理解释的关系</a:t>
                      </a:r>
                    </a:p>
                  </a:txBody>
                  <a:tcPr marL="45720" marR="45720">
                    <a:solidFill>
                      <a:srgbClr val="10305A"/>
                    </a:solidFill>
                  </a:tcPr>
                </a:tc>
              </a:tr>
              <a:tr h="350084">
                <a:tc>
                  <a:txBody>
                    <a:bodyPr/>
                    <a:lstStyle/>
                    <a:p>
                      <a:r>
                        <a:rPr sz="1100" b="0" i="0">
                          <a:solidFill>
                            <a:srgbClr val="1F2937"/>
                          </a:solidFill>
                          <a:latin typeface="微软雅黑"/>
                        </a:rPr>
                        <a:t>候选构建</a:t>
                      </a:r>
                    </a:p>
                  </a:txBody>
                  <a:tcPr marL="45720" marR="45720" anchor="t">
                    <a:solidFill>
                      <a:srgbClr val="F2F5F9"/>
                    </a:solidFill>
                  </a:tcPr>
                </a:tc>
                <a:tc>
                  <a:txBody>
                    <a:bodyPr/>
                    <a:lstStyle/>
                    <a:p>
                      <a:r>
                        <a:rPr sz="1100" b="0" i="0">
                          <a:solidFill>
                            <a:srgbClr val="1F2937"/>
                          </a:solidFill>
                          <a:latin typeface="微软雅黑"/>
                        </a:rPr>
                        <a:t>MEGAHIT/metaSPAdes、Prodigal、CD-HIT</a:t>
                      </a:r>
                    </a:p>
                  </a:txBody>
                  <a:tcPr marL="45720" marR="45720" anchor="t">
                    <a:solidFill>
                      <a:srgbClr val="F2F5F9"/>
                    </a:solidFill>
                  </a:tcPr>
                </a:tc>
                <a:tc>
                  <a:txBody>
                    <a:bodyPr/>
                    <a:lstStyle/>
                    <a:p>
                      <a:r>
                        <a:rPr sz="1100" b="0" i="0">
                          <a:solidFill>
                            <a:srgbClr val="1F2937"/>
                          </a:solidFill>
                          <a:latin typeface="微软雅黑"/>
                        </a:rPr>
                        <a:t>序列、ORF、MAG、来源菌</a:t>
                      </a:r>
                    </a:p>
                  </a:txBody>
                  <a:tcPr marL="45720" marR="45720" anchor="t">
                    <a:solidFill>
                      <a:srgbClr val="F2F5F9"/>
                    </a:solidFill>
                  </a:tcPr>
                </a:tc>
                <a:tc>
                  <a:txBody>
                    <a:bodyPr/>
                    <a:lstStyle/>
                    <a:p>
                      <a:r>
                        <a:rPr sz="1100" b="0" i="0">
                          <a:solidFill>
                            <a:srgbClr val="1F2937"/>
                          </a:solidFill>
                          <a:latin typeface="微软雅黑"/>
                        </a:rPr>
                        <a:t>决定候选是否可追溯</a:t>
                      </a:r>
                    </a:p>
                  </a:txBody>
                  <a:tcPr marL="45720" marR="45720" anchor="t">
                    <a:solidFill>
                      <a:srgbClr val="F2F5F9"/>
                    </a:solidFill>
                  </a:tcPr>
                </a:tc>
              </a:tr>
              <a:tr h="350084">
                <a:tc>
                  <a:txBody>
                    <a:bodyPr/>
                    <a:lstStyle/>
                    <a:p>
                      <a:r>
                        <a:rPr sz="1100" b="0" i="0">
                          <a:solidFill>
                            <a:srgbClr val="1F2937"/>
                          </a:solidFill>
                          <a:latin typeface="微软雅黑"/>
                        </a:rPr>
                        <a:t>模型共识</a:t>
                      </a:r>
                    </a:p>
                  </a:txBody>
                  <a:tcPr marL="45720" marR="45720" anchor="t">
                    <a:solidFill>
                      <a:srgbClr val="FFFFFF"/>
                    </a:solidFill>
                  </a:tcPr>
                </a:tc>
                <a:tc>
                  <a:txBody>
                    <a:bodyPr/>
                    <a:lstStyle/>
                    <a:p>
                      <a:r>
                        <a:rPr sz="1100" b="0" i="0">
                          <a:solidFill>
                            <a:srgbClr val="1F2937"/>
                          </a:solidFill>
                          <a:latin typeface="微软雅黑"/>
                        </a:rPr>
                        <a:t>Attention/LSTM/BERT 或同类模型</a:t>
                      </a:r>
                    </a:p>
                  </a:txBody>
                  <a:tcPr marL="45720" marR="45720" anchor="t">
                    <a:solidFill>
                      <a:srgbClr val="FFFFFF"/>
                    </a:solidFill>
                  </a:tcPr>
                </a:tc>
                <a:tc>
                  <a:txBody>
                    <a:bodyPr/>
                    <a:lstStyle/>
                    <a:p>
                      <a:r>
                        <a:rPr sz="1100" b="0" i="0">
                          <a:solidFill>
                            <a:srgbClr val="1F2937"/>
                          </a:solidFill>
                          <a:latin typeface="微软雅黑"/>
                        </a:rPr>
                        <a:t>AMP 概率和模型一致性</a:t>
                      </a:r>
                    </a:p>
                  </a:txBody>
                  <a:tcPr marL="45720" marR="45720" anchor="t">
                    <a:solidFill>
                      <a:srgbClr val="FFFFFF"/>
                    </a:solidFill>
                  </a:tcPr>
                </a:tc>
                <a:tc>
                  <a:txBody>
                    <a:bodyPr/>
                    <a:lstStyle/>
                    <a:p>
                      <a:r>
                        <a:rPr sz="1100" b="0" i="0">
                          <a:solidFill>
                            <a:srgbClr val="1F2937"/>
                          </a:solidFill>
                          <a:latin typeface="微软雅黑"/>
                        </a:rPr>
                        <a:t>只说明 AMP 候选</a:t>
                      </a:r>
                    </a:p>
                  </a:txBody>
                  <a:tcPr marL="45720" marR="45720" anchor="t">
                    <a:solidFill>
                      <a:srgbClr val="FFFFFF"/>
                    </a:solidFill>
                  </a:tcPr>
                </a:tc>
              </a:tr>
              <a:tr h="350084">
                <a:tc>
                  <a:txBody>
                    <a:bodyPr/>
                    <a:lstStyle/>
                    <a:p>
                      <a:r>
                        <a:rPr sz="1100" b="0" i="0">
                          <a:solidFill>
                            <a:srgbClr val="1F2937"/>
                          </a:solidFill>
                          <a:latin typeface="微软雅黑"/>
                        </a:rPr>
                        <a:t>定量</a:t>
                      </a:r>
                    </a:p>
                  </a:txBody>
                  <a:tcPr marL="45720" marR="45720" anchor="t">
                    <a:solidFill>
                      <a:srgbClr val="F2F5F9"/>
                    </a:solidFill>
                  </a:tcPr>
                </a:tc>
                <a:tc>
                  <a:txBody>
                    <a:bodyPr/>
                    <a:lstStyle/>
                    <a:p>
                      <a:r>
                        <a:rPr sz="1100" b="0" i="0">
                          <a:solidFill>
                            <a:srgbClr val="1F2937"/>
                          </a:solidFill>
                          <a:latin typeface="微软雅黑"/>
                        </a:rPr>
                        <a:t>read 回贴、长度校正、CLR/相对丰度敏感性分析</a:t>
                      </a:r>
                    </a:p>
                  </a:txBody>
                  <a:tcPr marL="45720" marR="45720" anchor="t">
                    <a:solidFill>
                      <a:srgbClr val="F2F5F9"/>
                    </a:solidFill>
                  </a:tcPr>
                </a:tc>
                <a:tc>
                  <a:txBody>
                    <a:bodyPr/>
                    <a:lstStyle/>
                    <a:p>
                      <a:r>
                        <a:rPr sz="1100" b="0" i="0">
                          <a:solidFill>
                            <a:srgbClr val="1F2937"/>
                          </a:solidFill>
                          <a:latin typeface="微软雅黑"/>
                        </a:rPr>
                        <a:t>样本×肽矩阵</a:t>
                      </a:r>
                    </a:p>
                  </a:txBody>
                  <a:tcPr marL="45720" marR="45720" anchor="t">
                    <a:solidFill>
                      <a:srgbClr val="F2F5F9"/>
                    </a:solidFill>
                  </a:tcPr>
                </a:tc>
                <a:tc>
                  <a:txBody>
                    <a:bodyPr/>
                    <a:lstStyle/>
                    <a:p>
                      <a:r>
                        <a:rPr sz="1100" b="0" i="0">
                          <a:solidFill>
                            <a:srgbClr val="1F2937"/>
                          </a:solidFill>
                          <a:latin typeface="微软雅黑"/>
                        </a:rPr>
                        <a:t>提供 AD/健康差异基础</a:t>
                      </a:r>
                    </a:p>
                  </a:txBody>
                  <a:tcPr marL="45720" marR="45720" anchor="t">
                    <a:solidFill>
                      <a:srgbClr val="F2F5F9"/>
                    </a:solidFill>
                  </a:tcPr>
                </a:tc>
              </a:tr>
              <a:tr h="350084">
                <a:tc>
                  <a:txBody>
                    <a:bodyPr/>
                    <a:lstStyle/>
                    <a:p>
                      <a:r>
                        <a:rPr sz="1100" b="0" i="0">
                          <a:solidFill>
                            <a:srgbClr val="1F2937"/>
                          </a:solidFill>
                          <a:latin typeface="微软雅黑"/>
                        </a:rPr>
                        <a:t>差异</a:t>
                      </a:r>
                    </a:p>
                  </a:txBody>
                  <a:tcPr marL="45720" marR="45720" anchor="t">
                    <a:solidFill>
                      <a:srgbClr val="FFFFFF"/>
                    </a:solidFill>
                  </a:tcPr>
                </a:tc>
                <a:tc>
                  <a:txBody>
                    <a:bodyPr/>
                    <a:lstStyle/>
                    <a:p>
                      <a:r>
                        <a:rPr sz="1100" b="0" i="0">
                          <a:solidFill>
                            <a:srgbClr val="1F2937"/>
                          </a:solidFill>
                          <a:latin typeface="微软雅黑"/>
                        </a:rPr>
                        <a:t>ANCOM-BC2/Maaslin2/计数模型</a:t>
                      </a:r>
                    </a:p>
                  </a:txBody>
                  <a:tcPr marL="45720" marR="45720" anchor="t">
                    <a:solidFill>
                      <a:srgbClr val="FFFFFF"/>
                    </a:solidFill>
                  </a:tcPr>
                </a:tc>
                <a:tc>
                  <a:txBody>
                    <a:bodyPr/>
                    <a:lstStyle/>
                    <a:p>
                      <a:r>
                        <a:rPr sz="1100" b="0" i="0">
                          <a:solidFill>
                            <a:srgbClr val="1F2937"/>
                          </a:solidFill>
                          <a:latin typeface="微软雅黑"/>
                        </a:rPr>
                        <a:t>效应量、FDR、检出率、趋势</a:t>
                      </a:r>
                    </a:p>
                  </a:txBody>
                  <a:tcPr marL="45720" marR="45720" anchor="t">
                    <a:solidFill>
                      <a:srgbClr val="FFFFFF"/>
                    </a:solidFill>
                  </a:tcPr>
                </a:tc>
                <a:tc>
                  <a:txBody>
                    <a:bodyPr/>
                    <a:lstStyle/>
                    <a:p>
                      <a:r>
                        <a:rPr sz="1100" b="0" i="0">
                          <a:solidFill>
                            <a:srgbClr val="1F2937"/>
                          </a:solidFill>
                          <a:latin typeface="微软雅黑"/>
                        </a:rPr>
                        <a:t>筛选 AD-associated AMP</a:t>
                      </a:r>
                    </a:p>
                  </a:txBody>
                  <a:tcPr marL="45720" marR="45720" anchor="t">
                    <a:solidFill>
                      <a:srgbClr val="FFFFFF"/>
                    </a:solidFill>
                  </a:tcPr>
                </a:tc>
              </a:tr>
              <a:tr h="350084">
                <a:tc>
                  <a:txBody>
                    <a:bodyPr/>
                    <a:lstStyle/>
                    <a:p>
                      <a:r>
                        <a:rPr sz="1100" b="0" i="0">
                          <a:solidFill>
                            <a:srgbClr val="1F2937"/>
                          </a:solidFill>
                          <a:latin typeface="微软雅黑"/>
                        </a:rPr>
                        <a:t>表达验证</a:t>
                      </a:r>
                    </a:p>
                  </a:txBody>
                  <a:tcPr marL="45720" marR="45720" anchor="t">
                    <a:solidFill>
                      <a:srgbClr val="F2F5F9"/>
                    </a:solidFill>
                  </a:tcPr>
                </a:tc>
                <a:tc>
                  <a:txBody>
                    <a:bodyPr/>
                    <a:lstStyle/>
                    <a:p>
                      <a:r>
                        <a:rPr sz="1100" b="0" i="0">
                          <a:solidFill>
                            <a:srgbClr val="1F2937"/>
                          </a:solidFill>
                          <a:latin typeface="微软雅黑"/>
                        </a:rPr>
                        <a:t>宏转录组/宏蛋白组/肽组学</a:t>
                      </a:r>
                    </a:p>
                  </a:txBody>
                  <a:tcPr marL="45720" marR="45720" anchor="t">
                    <a:solidFill>
                      <a:srgbClr val="F2F5F9"/>
                    </a:solidFill>
                  </a:tcPr>
                </a:tc>
                <a:tc>
                  <a:txBody>
                    <a:bodyPr/>
                    <a:lstStyle/>
                    <a:p>
                      <a:r>
                        <a:rPr sz="1100" b="0" i="0">
                          <a:solidFill>
                            <a:srgbClr val="1F2937"/>
                          </a:solidFill>
                          <a:latin typeface="微软雅黑"/>
                        </a:rPr>
                        <a:t>表达/加工证据</a:t>
                      </a:r>
                    </a:p>
                  </a:txBody>
                  <a:tcPr marL="45720" marR="45720" anchor="t">
                    <a:solidFill>
                      <a:srgbClr val="F2F5F9"/>
                    </a:solidFill>
                  </a:tcPr>
                </a:tc>
                <a:tc>
                  <a:txBody>
                    <a:bodyPr/>
                    <a:lstStyle/>
                    <a:p>
                      <a:r>
                        <a:rPr sz="1100" b="0" i="0">
                          <a:solidFill>
                            <a:srgbClr val="1F2937"/>
                          </a:solidFill>
                          <a:latin typeface="微软雅黑"/>
                        </a:rPr>
                        <a:t>提高真实暴露可信度</a:t>
                      </a:r>
                    </a:p>
                  </a:txBody>
                  <a:tcPr marL="45720" marR="45720" anchor="t">
                    <a:solidFill>
                      <a:srgbClr val="F2F5F9"/>
                    </a:solidFill>
                  </a:tcPr>
                </a:tc>
              </a:tr>
              <a:tr h="350088">
                <a:tc>
                  <a:txBody>
                    <a:bodyPr/>
                    <a:lstStyle/>
                    <a:p>
                      <a:r>
                        <a:rPr sz="1100" b="0" i="0">
                          <a:solidFill>
                            <a:srgbClr val="1F2937"/>
                          </a:solidFill>
                          <a:latin typeface="微软雅黑"/>
                        </a:rPr>
                        <a:t>机制分层</a:t>
                      </a:r>
                    </a:p>
                  </a:txBody>
                  <a:tcPr marL="45720" marR="45720" anchor="t">
                    <a:solidFill>
                      <a:srgbClr val="FFFFFF"/>
                    </a:solidFill>
                  </a:tcPr>
                </a:tc>
                <a:tc>
                  <a:txBody>
                    <a:bodyPr/>
                    <a:lstStyle/>
                    <a:p>
                      <a:r>
                        <a:rPr sz="1100" b="0" i="0">
                          <a:solidFill>
                            <a:srgbClr val="1F2937"/>
                          </a:solidFill>
                          <a:latin typeface="微软雅黑"/>
                        </a:rPr>
                        <a:t>网络、中介、MD/QM、结构和实验</a:t>
                      </a:r>
                    </a:p>
                  </a:txBody>
                  <a:tcPr marL="45720" marR="45720" anchor="t">
                    <a:solidFill>
                      <a:srgbClr val="FFFFFF"/>
                    </a:solidFill>
                  </a:tcPr>
                </a:tc>
                <a:tc>
                  <a:txBody>
                    <a:bodyPr/>
                    <a:lstStyle/>
                    <a:p>
                      <a:r>
                        <a:rPr sz="1100" b="0" i="0">
                          <a:solidFill>
                            <a:srgbClr val="1F2937"/>
                          </a:solidFill>
                          <a:latin typeface="微软雅黑"/>
                        </a:rPr>
                        <a:t>风险/保护/未知标签</a:t>
                      </a:r>
                    </a:p>
                  </a:txBody>
                  <a:tcPr marL="45720" marR="45720" anchor="t">
                    <a:solidFill>
                      <a:srgbClr val="FFFFFF"/>
                    </a:solidFill>
                  </a:tcPr>
                </a:tc>
                <a:tc>
                  <a:txBody>
                    <a:bodyPr/>
                    <a:lstStyle/>
                    <a:p>
                      <a:r>
                        <a:rPr sz="1100" b="0" i="0">
                          <a:solidFill>
                            <a:srgbClr val="1F2937"/>
                          </a:solidFill>
                          <a:latin typeface="微软雅黑"/>
                        </a:rPr>
                        <a:t>提出可检验病理假设</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25 页</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463040" cy="100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06040"/>
            <a:ext cx="10515600" cy="1280160"/>
          </a:xfrm>
          <a:prstGeom prst="rect">
            <a:avLst/>
          </a:prstGeom>
          <a:noFill/>
        </p:spPr>
        <p:txBody>
          <a:bodyPr wrap="square">
            <a:spAutoFit/>
          </a:bodyPr>
          <a:lstStyle/>
          <a:p>
            <a:pPr algn="l"/>
            <a:r>
              <a:rPr sz="3400" b="1" i="0">
                <a:solidFill>
                  <a:srgbClr val="FFFFFF"/>
                </a:solidFill>
                <a:latin typeface="微软雅黑"/>
              </a:rPr>
              <a:t>候选肽分类和计算优先级</a:t>
            </a:r>
          </a:p>
        </p:txBody>
      </p:sp>
      <p:sp>
        <p:nvSpPr>
          <p:cNvPr id="5" name="TextBox 4"/>
          <p:cNvSpPr txBox="1"/>
          <p:nvPr/>
        </p:nvSpPr>
        <p:spPr>
          <a:xfrm>
            <a:off x="822960" y="1600200"/>
            <a:ext cx="10515600" cy="822960"/>
          </a:xfrm>
          <a:prstGeom prst="rect">
            <a:avLst/>
          </a:prstGeom>
          <a:noFill/>
        </p:spPr>
        <p:txBody>
          <a:bodyPr wrap="square">
            <a:spAutoFit/>
          </a:bodyPr>
          <a:lstStyle/>
          <a:p>
            <a:pPr algn="l"/>
            <a:r>
              <a:rPr sz="4400" b="1" i="0">
                <a:solidFill>
                  <a:srgbClr val="C9A227"/>
                </a:solidFill>
                <a:latin typeface="微软雅黑"/>
              </a:rPr>
              <a:t>04</a:t>
            </a:r>
          </a:p>
        </p:txBody>
      </p:sp>
      <p:sp>
        <p:nvSpPr>
          <p:cNvPr id="6" name="TextBox 5"/>
          <p:cNvSpPr txBox="1"/>
          <p:nvPr/>
        </p:nvSpPr>
        <p:spPr>
          <a:xfrm>
            <a:off x="822960" y="3977639"/>
            <a:ext cx="10515600" cy="731520"/>
          </a:xfrm>
          <a:prstGeom prst="rect">
            <a:avLst/>
          </a:prstGeom>
          <a:noFill/>
        </p:spPr>
        <p:txBody>
          <a:bodyPr wrap="square">
            <a:spAutoFit/>
          </a:bodyPr>
          <a:lstStyle/>
          <a:p>
            <a:pPr algn="l"/>
            <a:r>
              <a:rPr sz="1500" b="0" i="0">
                <a:solidFill>
                  <a:srgbClr val="D8E0EA"/>
                </a:solidFill>
                <a:latin typeface="微软雅黑"/>
              </a:rPr>
              <a:t>病理样、保护样、未知样和预测层</a:t>
            </a:r>
          </a:p>
        </p:txBody>
      </p:sp>
      <p:sp>
        <p:nvSpPr>
          <p:cNvPr id="7" name="TextBox 6"/>
          <p:cNvSpPr txBox="1"/>
          <p:nvPr/>
        </p:nvSpPr>
        <p:spPr>
          <a:xfrm>
            <a:off x="822960" y="6126480"/>
            <a:ext cx="10515600" cy="365760"/>
          </a:xfrm>
          <a:prstGeom prst="rect">
            <a:avLst/>
          </a:prstGeom>
          <a:noFill/>
        </p:spPr>
        <p:txBody>
          <a:bodyPr wrap="square">
            <a:spAutoFit/>
          </a:bodyPr>
          <a:lstStyle/>
          <a:p>
            <a:pPr algn="l"/>
            <a:r>
              <a:rPr sz="900" b="0" i="0">
                <a:solidFill>
                  <a:srgbClr val="9AA8BA"/>
                </a:solidFill>
                <a:latin typeface="微软雅黑"/>
              </a:rPr>
              <a:t>抗菌肽与 AD 关联机制说明·八问整合版｜2026-09-26 10:34 北京时间</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13　筛选后的四类候选肽</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这才回答“找什么肽”</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类别</a:t>
                      </a:r>
                    </a:p>
                  </a:txBody>
                  <a:tcPr marL="45720" marR="45720">
                    <a:solidFill>
                      <a:srgbClr val="10305A"/>
                    </a:solidFill>
                  </a:tcPr>
                </a:tc>
                <a:tc>
                  <a:txBody>
                    <a:bodyPr/>
                    <a:lstStyle/>
                    <a:p>
                      <a:pPr algn="ctr"/>
                      <a:r>
                        <a:rPr sz="1250" b="1" i="0">
                          <a:solidFill>
                            <a:srgbClr val="FFFFFF"/>
                          </a:solidFill>
                          <a:latin typeface="微软雅黑"/>
                        </a:rPr>
                        <a:t>数据条件</a:t>
                      </a:r>
                    </a:p>
                  </a:txBody>
                  <a:tcPr marL="45720" marR="45720">
                    <a:solidFill>
                      <a:srgbClr val="10305A"/>
                    </a:solidFill>
                  </a:tcPr>
                </a:tc>
                <a:tc>
                  <a:txBody>
                    <a:bodyPr/>
                    <a:lstStyle/>
                    <a:p>
                      <a:pPr algn="ctr"/>
                      <a:r>
                        <a:rPr sz="1250" b="1" i="0">
                          <a:solidFill>
                            <a:srgbClr val="FFFFFF"/>
                          </a:solidFill>
                          <a:latin typeface="微软雅黑"/>
                        </a:rPr>
                        <a:t>优先机制</a:t>
                      </a:r>
                    </a:p>
                  </a:txBody>
                  <a:tcPr marL="45720" marR="45720">
                    <a:solidFill>
                      <a:srgbClr val="10305A"/>
                    </a:solidFill>
                  </a:tcPr>
                </a:tc>
                <a:tc>
                  <a:txBody>
                    <a:bodyPr/>
                    <a:lstStyle/>
                    <a:p>
                      <a:pPr algn="ctr"/>
                      <a:r>
                        <a:rPr sz="1250" b="1" i="0">
                          <a:solidFill>
                            <a:srgbClr val="FFFFFF"/>
                          </a:solidFill>
                          <a:latin typeface="微软雅黑"/>
                        </a:rPr>
                        <a:t>推荐措辞</a:t>
                      </a:r>
                    </a:p>
                  </a:txBody>
                  <a:tcPr marL="45720" marR="45720">
                    <a:solidFill>
                      <a:srgbClr val="10305A"/>
                    </a:solidFill>
                  </a:tcPr>
                </a:tc>
              </a:tr>
              <a:tr h="365760">
                <a:tc>
                  <a:txBody>
                    <a:bodyPr/>
                    <a:lstStyle/>
                    <a:p>
                      <a:r>
                        <a:rPr sz="1250" b="0" i="0">
                          <a:solidFill>
                            <a:srgbClr val="1F2937"/>
                          </a:solidFill>
                          <a:latin typeface="微软雅黑"/>
                        </a:rPr>
                        <a:t>风险样候选</a:t>
                      </a:r>
                    </a:p>
                  </a:txBody>
                  <a:tcPr marL="45720" marR="45720" anchor="t">
                    <a:solidFill>
                      <a:srgbClr val="F2F5F9"/>
                    </a:solidFill>
                  </a:tcPr>
                </a:tc>
                <a:tc>
                  <a:txBody>
                    <a:bodyPr/>
                    <a:lstStyle/>
                    <a:p>
                      <a:r>
                        <a:rPr sz="1250" b="0" i="0">
                          <a:solidFill>
                            <a:srgbClr val="1F2937"/>
                          </a:solidFill>
                          <a:latin typeface="微软雅黑"/>
                        </a:rPr>
                        <a:t>AD 富集/随病程增加 + 炎症/LPS/屏障或膜/受体证据</a:t>
                      </a:r>
                    </a:p>
                  </a:txBody>
                  <a:tcPr marL="45720" marR="45720" anchor="t">
                    <a:solidFill>
                      <a:srgbClr val="F2F5F9"/>
                    </a:solidFill>
                  </a:tcPr>
                </a:tc>
                <a:tc>
                  <a:txBody>
                    <a:bodyPr/>
                    <a:lstStyle/>
                    <a:p>
                      <a:r>
                        <a:rPr sz="1250" b="0" i="0">
                          <a:solidFill>
                            <a:srgbClr val="1F2937"/>
                          </a:solidFill>
                          <a:latin typeface="微软雅黑"/>
                        </a:rPr>
                        <a:t>生态选择、TLR4/NF-kB、微胶质、Aβ 路径</a:t>
                      </a:r>
                    </a:p>
                  </a:txBody>
                  <a:tcPr marL="45720" marR="45720" anchor="t">
                    <a:solidFill>
                      <a:srgbClr val="F2F5F9"/>
                    </a:solidFill>
                  </a:tcPr>
                </a:tc>
                <a:tc>
                  <a:txBody>
                    <a:bodyPr/>
                    <a:lstStyle/>
                    <a:p>
                      <a:r>
                        <a:rPr sz="1250" b="0" i="0">
                          <a:solidFill>
                            <a:srgbClr val="1F2937"/>
                          </a:solidFill>
                          <a:latin typeface="微软雅黑"/>
                        </a:rPr>
                        <a:t>可能参与病理的 AD-associated candidate</a:t>
                      </a:r>
                    </a:p>
                  </a:txBody>
                  <a:tcPr marL="45720" marR="45720" anchor="t">
                    <a:solidFill>
                      <a:srgbClr val="F2F5F9"/>
                    </a:solidFill>
                  </a:tcPr>
                </a:tc>
              </a:tr>
              <a:tr h="365760">
                <a:tc>
                  <a:txBody>
                    <a:bodyPr/>
                    <a:lstStyle/>
                    <a:p>
                      <a:r>
                        <a:rPr sz="1250" b="0" i="0">
                          <a:solidFill>
                            <a:srgbClr val="1F2937"/>
                          </a:solidFill>
                          <a:latin typeface="微软雅黑"/>
                        </a:rPr>
                        <a:t>保护样候选</a:t>
                      </a:r>
                    </a:p>
                  </a:txBody>
                  <a:tcPr marL="45720" marR="45720" anchor="t">
                    <a:solidFill>
                      <a:srgbClr val="FFFFFF"/>
                    </a:solidFill>
                  </a:tcPr>
                </a:tc>
                <a:tc>
                  <a:txBody>
                    <a:bodyPr/>
                    <a:lstStyle/>
                    <a:p>
                      <a:r>
                        <a:rPr sz="1250" b="0" i="0">
                          <a:solidFill>
                            <a:srgbClr val="1F2937"/>
                          </a:solidFill>
                          <a:latin typeface="微软雅黑"/>
                        </a:rPr>
                        <a:t>健康富集/病程下降 + 有益菌/屏障/抗炎/Aβ 清除证据</a:t>
                      </a:r>
                    </a:p>
                  </a:txBody>
                  <a:tcPr marL="45720" marR="45720" anchor="t">
                    <a:solidFill>
                      <a:srgbClr val="FFFFFF"/>
                    </a:solidFill>
                  </a:tcPr>
                </a:tc>
                <a:tc>
                  <a:txBody>
                    <a:bodyPr/>
                    <a:lstStyle/>
                    <a:p>
                      <a:r>
                        <a:rPr sz="1250" b="0" i="0">
                          <a:solidFill>
                            <a:srgbClr val="1F2937"/>
                          </a:solidFill>
                          <a:latin typeface="微软雅黑"/>
                        </a:rPr>
                        <a:t>选择性抑菌、SCFA、屏障或无毒化</a:t>
                      </a:r>
                    </a:p>
                  </a:txBody>
                  <a:tcPr marL="45720" marR="45720" anchor="t">
                    <a:solidFill>
                      <a:srgbClr val="FFFFFF"/>
                    </a:solidFill>
                  </a:tcPr>
                </a:tc>
                <a:tc>
                  <a:txBody>
                    <a:bodyPr/>
                    <a:lstStyle/>
                    <a:p>
                      <a:r>
                        <a:rPr sz="1250" b="0" i="0">
                          <a:solidFill>
                            <a:srgbClr val="1F2937"/>
                          </a:solidFill>
                          <a:latin typeface="微软雅黑"/>
                        </a:rPr>
                        <a:t>potentially protective candidate</a:t>
                      </a:r>
                    </a:p>
                  </a:txBody>
                  <a:tcPr marL="45720" marR="45720" anchor="t">
                    <a:solidFill>
                      <a:srgbClr val="FFFFFF"/>
                    </a:solidFill>
                  </a:tcPr>
                </a:tc>
              </a:tr>
              <a:tr h="365760">
                <a:tc>
                  <a:txBody>
                    <a:bodyPr/>
                    <a:lstStyle/>
                    <a:p>
                      <a:r>
                        <a:rPr sz="1250" b="0" i="0">
                          <a:solidFill>
                            <a:srgbClr val="1F2937"/>
                          </a:solidFill>
                          <a:latin typeface="微软雅黑"/>
                        </a:rPr>
                        <a:t>方向未知</a:t>
                      </a:r>
                    </a:p>
                  </a:txBody>
                  <a:tcPr marL="45720" marR="45720" anchor="t">
                    <a:solidFill>
                      <a:srgbClr val="F2F5F9"/>
                    </a:solidFill>
                  </a:tcPr>
                </a:tc>
                <a:tc>
                  <a:txBody>
                    <a:bodyPr/>
                    <a:lstStyle/>
                    <a:p>
                      <a:r>
                        <a:rPr sz="1250" b="0" i="0">
                          <a:solidFill>
                            <a:srgbClr val="1F2937"/>
                          </a:solidFill>
                          <a:latin typeface="微软雅黑"/>
                        </a:rPr>
                        <a:t>稳定差异但机制读数矛盾或不足</a:t>
                      </a:r>
                    </a:p>
                  </a:txBody>
                  <a:tcPr marL="45720" marR="45720" anchor="t">
                    <a:solidFill>
                      <a:srgbClr val="F2F5F9"/>
                    </a:solidFill>
                  </a:tcPr>
                </a:tc>
                <a:tc>
                  <a:txBody>
                    <a:bodyPr/>
                    <a:lstStyle/>
                    <a:p>
                      <a:r>
                        <a:rPr sz="1250" b="0" i="0">
                          <a:solidFill>
                            <a:srgbClr val="1F2937"/>
                          </a:solidFill>
                          <a:latin typeface="微软雅黑"/>
                        </a:rPr>
                        <a:t>先做表达和结构/功能验证</a:t>
                      </a:r>
                    </a:p>
                  </a:txBody>
                  <a:tcPr marL="45720" marR="45720" anchor="t">
                    <a:solidFill>
                      <a:srgbClr val="F2F5F9"/>
                    </a:solidFill>
                  </a:tcPr>
                </a:tc>
                <a:tc>
                  <a:txBody>
                    <a:bodyPr/>
                    <a:lstStyle/>
                    <a:p>
                      <a:r>
                        <a:rPr sz="1250" b="0" i="0">
                          <a:solidFill>
                            <a:srgbClr val="1F2937"/>
                          </a:solidFill>
                          <a:latin typeface="微软雅黑"/>
                        </a:rPr>
                        <a:t>AD-associated candidate, direction unresolved</a:t>
                      </a:r>
                    </a:p>
                  </a:txBody>
                  <a:tcPr marL="45720" marR="45720" anchor="t">
                    <a:solidFill>
                      <a:srgbClr val="F2F5F9"/>
                    </a:solidFill>
                  </a:tcPr>
                </a:tc>
              </a:tr>
              <a:tr h="365760">
                <a:tc>
                  <a:txBody>
                    <a:bodyPr/>
                    <a:lstStyle/>
                    <a:p>
                      <a:r>
                        <a:rPr sz="1250" b="0" i="0">
                          <a:solidFill>
                            <a:srgbClr val="1F2937"/>
                          </a:solidFill>
                          <a:latin typeface="微软雅黑"/>
                        </a:rPr>
                        <a:t>预测层候选</a:t>
                      </a:r>
                    </a:p>
                  </a:txBody>
                  <a:tcPr marL="45720" marR="45720" anchor="t">
                    <a:solidFill>
                      <a:srgbClr val="FFFFFF"/>
                    </a:solidFill>
                  </a:tcPr>
                </a:tc>
                <a:tc>
                  <a:txBody>
                    <a:bodyPr/>
                    <a:lstStyle/>
                    <a:p>
                      <a:r>
                        <a:rPr sz="1250" b="0" i="0">
                          <a:solidFill>
                            <a:srgbClr val="1F2937"/>
                          </a:solidFill>
                          <a:latin typeface="微软雅黑"/>
                        </a:rPr>
                        <a:t>只有模型概率或低检出率</a:t>
                      </a:r>
                    </a:p>
                  </a:txBody>
                  <a:tcPr marL="45720" marR="45720" anchor="t">
                    <a:solidFill>
                      <a:srgbClr val="FFFFFF"/>
                    </a:solidFill>
                  </a:tcPr>
                </a:tc>
                <a:tc>
                  <a:txBody>
                    <a:bodyPr/>
                    <a:lstStyle/>
                    <a:p>
                      <a:r>
                        <a:rPr sz="1250" b="0" i="0">
                          <a:solidFill>
                            <a:srgbClr val="1F2937"/>
                          </a:solidFill>
                          <a:latin typeface="微软雅黑"/>
                        </a:rPr>
                        <a:t>不进入病理结论</a:t>
                      </a:r>
                    </a:p>
                  </a:txBody>
                  <a:tcPr marL="45720" marR="45720" anchor="t">
                    <a:solidFill>
                      <a:srgbClr val="FFFFFF"/>
                    </a:solidFill>
                  </a:tcPr>
                </a:tc>
                <a:tc>
                  <a:txBody>
                    <a:bodyPr/>
                    <a:lstStyle/>
                    <a:p>
                      <a:r>
                        <a:rPr sz="1250" b="0" i="0">
                          <a:solidFill>
                            <a:srgbClr val="1F2937"/>
                          </a:solidFill>
                          <a:latin typeface="微软雅黑"/>
                        </a:rPr>
                        <a:t>prediction-only candidate</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27 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14　候选机制卡片字段</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拿到真实结果后逐条填充</a:t>
            </a:r>
          </a:p>
        </p:txBody>
      </p:sp>
      <p:graphicFrame>
        <p:nvGraphicFramePr>
          <p:cNvPr id="5" name="Table 4"/>
          <p:cNvGraphicFramePr>
            <a:graphicFrameLocks noGrp="1"/>
          </p:cNvGraphicFramePr>
          <p:nvPr/>
        </p:nvGraphicFramePr>
        <p:xfrm>
          <a:off x="548640" y="1325880"/>
          <a:ext cx="11091672" cy="2761488"/>
        </p:xfrm>
        <a:graphic>
          <a:graphicData uri="http://schemas.openxmlformats.org/drawingml/2006/table">
            <a:tbl>
              <a:tblPr firstRow="1" bandRow="1">
                <a:tableStyleId>{5C22544A-7EE6-4342-B048-85BDC9FD1C3A}</a:tableStyleId>
              </a:tblPr>
              <a:tblGrid>
                <a:gridCol w="3697224"/>
                <a:gridCol w="3697224"/>
                <a:gridCol w="3697224"/>
              </a:tblGrid>
              <a:tr h="345186">
                <a:tc>
                  <a:txBody>
                    <a:bodyPr/>
                    <a:lstStyle/>
                    <a:p>
                      <a:pPr algn="ctr"/>
                      <a:r>
                        <a:rPr sz="1000" b="1" i="0">
                          <a:solidFill>
                            <a:srgbClr val="FFFFFF"/>
                          </a:solidFill>
                          <a:latin typeface="微软雅黑"/>
                        </a:rPr>
                        <a:t>字段</a:t>
                      </a:r>
                    </a:p>
                  </a:txBody>
                  <a:tcPr marL="45720" marR="45720">
                    <a:solidFill>
                      <a:srgbClr val="10305A"/>
                    </a:solidFill>
                  </a:tcPr>
                </a:tc>
                <a:tc>
                  <a:txBody>
                    <a:bodyPr/>
                    <a:lstStyle/>
                    <a:p>
                      <a:pPr algn="ctr"/>
                      <a:r>
                        <a:rPr sz="1000" b="1" i="0">
                          <a:solidFill>
                            <a:srgbClr val="FFFFFF"/>
                          </a:solidFill>
                          <a:latin typeface="微软雅黑"/>
                        </a:rPr>
                        <a:t>必须记录</a:t>
                      </a:r>
                    </a:p>
                  </a:txBody>
                  <a:tcPr marL="45720" marR="45720">
                    <a:solidFill>
                      <a:srgbClr val="10305A"/>
                    </a:solidFill>
                  </a:tcPr>
                </a:tc>
                <a:tc>
                  <a:txBody>
                    <a:bodyPr/>
                    <a:lstStyle/>
                    <a:p>
                      <a:pPr algn="ctr"/>
                      <a:r>
                        <a:rPr sz="1000" b="1" i="0">
                          <a:solidFill>
                            <a:srgbClr val="FFFFFF"/>
                          </a:solidFill>
                          <a:latin typeface="微软雅黑"/>
                        </a:rPr>
                        <a:t>没有时怎么办</a:t>
                      </a:r>
                    </a:p>
                  </a:txBody>
                  <a:tcPr marL="45720" marR="45720">
                    <a:solidFill>
                      <a:srgbClr val="10305A"/>
                    </a:solidFill>
                  </a:tcPr>
                </a:tc>
              </a:tr>
              <a:tr h="345186">
                <a:tc>
                  <a:txBody>
                    <a:bodyPr/>
                    <a:lstStyle/>
                    <a:p>
                      <a:r>
                        <a:rPr sz="1000" b="0" i="0">
                          <a:solidFill>
                            <a:srgbClr val="1F2937"/>
                          </a:solidFill>
                          <a:latin typeface="微软雅黑"/>
                        </a:rPr>
                        <a:t>身份</a:t>
                      </a:r>
                    </a:p>
                  </a:txBody>
                  <a:tcPr marL="45720" marR="45720" anchor="t">
                    <a:solidFill>
                      <a:srgbClr val="F2F5F9"/>
                    </a:solidFill>
                  </a:tcPr>
                </a:tc>
                <a:tc>
                  <a:txBody>
                    <a:bodyPr/>
                    <a:lstStyle/>
                    <a:p>
                      <a:r>
                        <a:rPr sz="1000" b="0" i="0">
                          <a:solidFill>
                            <a:srgbClr val="1F2937"/>
                          </a:solidFill>
                          <a:latin typeface="微软雅黑"/>
                        </a:rPr>
                        <a:t>candidate ID、序列、长度、电荷、序列簇</a:t>
                      </a:r>
                    </a:p>
                  </a:txBody>
                  <a:tcPr marL="45720" marR="45720" anchor="t">
                    <a:solidFill>
                      <a:srgbClr val="F2F5F9"/>
                    </a:solidFill>
                  </a:tcPr>
                </a:tc>
                <a:tc>
                  <a:txBody>
                    <a:bodyPr/>
                    <a:lstStyle/>
                    <a:p>
                      <a:r>
                        <a:rPr sz="1000" b="0" i="0">
                          <a:solidFill>
                            <a:srgbClr val="1F2937"/>
                          </a:solidFill>
                          <a:latin typeface="微软雅黑"/>
                        </a:rPr>
                        <a:t>不进入最终机制结论</a:t>
                      </a:r>
                    </a:p>
                  </a:txBody>
                  <a:tcPr marL="45720" marR="45720" anchor="t">
                    <a:solidFill>
                      <a:srgbClr val="F2F5F9"/>
                    </a:solidFill>
                  </a:tcPr>
                </a:tc>
              </a:tr>
              <a:tr h="345186">
                <a:tc>
                  <a:txBody>
                    <a:bodyPr/>
                    <a:lstStyle/>
                    <a:p>
                      <a:r>
                        <a:rPr sz="1000" b="0" i="0">
                          <a:solidFill>
                            <a:srgbClr val="1F2937"/>
                          </a:solidFill>
                          <a:latin typeface="微软雅黑"/>
                        </a:rPr>
                        <a:t>来源</a:t>
                      </a:r>
                    </a:p>
                  </a:txBody>
                  <a:tcPr marL="45720" marR="45720" anchor="t">
                    <a:solidFill>
                      <a:srgbClr val="FFFFFF"/>
                    </a:solidFill>
                  </a:tcPr>
                </a:tc>
                <a:tc>
                  <a:txBody>
                    <a:bodyPr/>
                    <a:lstStyle/>
                    <a:p>
                      <a:r>
                        <a:rPr sz="1000" b="0" i="0">
                          <a:solidFill>
                            <a:srgbClr val="1F2937"/>
                          </a:solidFill>
                          <a:latin typeface="微软雅黑"/>
                        </a:rPr>
                        <a:t>ORF、contig、MAG、GTDB-Tk 分类</a:t>
                      </a:r>
                    </a:p>
                  </a:txBody>
                  <a:tcPr marL="45720" marR="45720" anchor="t">
                    <a:solidFill>
                      <a:srgbClr val="FFFFFF"/>
                    </a:solidFill>
                  </a:tcPr>
                </a:tc>
                <a:tc>
                  <a:txBody>
                    <a:bodyPr/>
                    <a:lstStyle/>
                    <a:p>
                      <a:r>
                        <a:rPr sz="1000" b="0" i="0">
                          <a:solidFill>
                            <a:srgbClr val="1F2937"/>
                          </a:solidFill>
                          <a:latin typeface="微软雅黑"/>
                        </a:rPr>
                        <a:t>只能说未知来源</a:t>
                      </a:r>
                    </a:p>
                  </a:txBody>
                  <a:tcPr marL="45720" marR="45720" anchor="t">
                    <a:solidFill>
                      <a:srgbClr val="FFFFFF"/>
                    </a:solidFill>
                  </a:tcPr>
                </a:tc>
              </a:tr>
              <a:tr h="345186">
                <a:tc>
                  <a:txBody>
                    <a:bodyPr/>
                    <a:lstStyle/>
                    <a:p>
                      <a:r>
                        <a:rPr sz="1000" b="0" i="0">
                          <a:solidFill>
                            <a:srgbClr val="1F2937"/>
                          </a:solidFill>
                          <a:latin typeface="微软雅黑"/>
                        </a:rPr>
                        <a:t>预测</a:t>
                      </a:r>
                    </a:p>
                  </a:txBody>
                  <a:tcPr marL="45720" marR="45720" anchor="t">
                    <a:solidFill>
                      <a:srgbClr val="F2F5F9"/>
                    </a:solidFill>
                  </a:tcPr>
                </a:tc>
                <a:tc>
                  <a:txBody>
                    <a:bodyPr/>
                    <a:lstStyle/>
                    <a:p>
                      <a:r>
                        <a:rPr sz="1000" b="0" i="0">
                          <a:solidFill>
                            <a:srgbClr val="1F2937"/>
                          </a:solidFill>
                          <a:latin typeface="微软雅黑"/>
                        </a:rPr>
                        <a:t>Attention/LSTM/BERT 概率与共识</a:t>
                      </a:r>
                    </a:p>
                  </a:txBody>
                  <a:tcPr marL="45720" marR="45720" anchor="t">
                    <a:solidFill>
                      <a:srgbClr val="F2F5F9"/>
                    </a:solidFill>
                  </a:tcPr>
                </a:tc>
                <a:tc>
                  <a:txBody>
                    <a:bodyPr/>
                    <a:lstStyle/>
                    <a:p>
                      <a:r>
                        <a:rPr sz="1000" b="0" i="0">
                          <a:solidFill>
                            <a:srgbClr val="1F2937"/>
                          </a:solidFill>
                          <a:latin typeface="微软雅黑"/>
                        </a:rPr>
                        <a:t>保留模型不确定性</a:t>
                      </a:r>
                    </a:p>
                  </a:txBody>
                  <a:tcPr marL="45720" marR="45720" anchor="t">
                    <a:solidFill>
                      <a:srgbClr val="F2F5F9"/>
                    </a:solidFill>
                  </a:tcPr>
                </a:tc>
              </a:tr>
              <a:tr h="345186">
                <a:tc>
                  <a:txBody>
                    <a:bodyPr/>
                    <a:lstStyle/>
                    <a:p>
                      <a:r>
                        <a:rPr sz="1000" b="0" i="0">
                          <a:solidFill>
                            <a:srgbClr val="1F2937"/>
                          </a:solidFill>
                          <a:latin typeface="微软雅黑"/>
                        </a:rPr>
                        <a:t>差异</a:t>
                      </a:r>
                    </a:p>
                  </a:txBody>
                  <a:tcPr marL="45720" marR="45720" anchor="t">
                    <a:solidFill>
                      <a:srgbClr val="FFFFFF"/>
                    </a:solidFill>
                  </a:tcPr>
                </a:tc>
                <a:tc>
                  <a:txBody>
                    <a:bodyPr/>
                    <a:lstStyle/>
                    <a:p>
                      <a:r>
                        <a:rPr sz="1000" b="0" i="0">
                          <a:solidFill>
                            <a:srgbClr val="1F2937"/>
                          </a:solidFill>
                          <a:latin typeface="微软雅黑"/>
                        </a:rPr>
                        <a:t>效应量、FDR、检出率、分期趋势</a:t>
                      </a:r>
                    </a:p>
                  </a:txBody>
                  <a:tcPr marL="45720" marR="45720" anchor="t">
                    <a:solidFill>
                      <a:srgbClr val="FFFFFF"/>
                    </a:solidFill>
                  </a:tcPr>
                </a:tc>
                <a:tc>
                  <a:txBody>
                    <a:bodyPr/>
                    <a:lstStyle/>
                    <a:p>
                      <a:r>
                        <a:rPr sz="1000" b="0" i="0">
                          <a:solidFill>
                            <a:srgbClr val="1F2937"/>
                          </a:solidFill>
                          <a:latin typeface="微软雅黑"/>
                        </a:rPr>
                        <a:t>只能是 prediction-only</a:t>
                      </a:r>
                    </a:p>
                  </a:txBody>
                  <a:tcPr marL="45720" marR="45720" anchor="t">
                    <a:solidFill>
                      <a:srgbClr val="FFFFFF"/>
                    </a:solidFill>
                  </a:tcPr>
                </a:tc>
              </a:tr>
              <a:tr h="345186">
                <a:tc>
                  <a:txBody>
                    <a:bodyPr/>
                    <a:lstStyle/>
                    <a:p>
                      <a:r>
                        <a:rPr sz="1000" b="0" i="0">
                          <a:solidFill>
                            <a:srgbClr val="1F2937"/>
                          </a:solidFill>
                          <a:latin typeface="微软雅黑"/>
                        </a:rPr>
                        <a:t>表达</a:t>
                      </a:r>
                    </a:p>
                  </a:txBody>
                  <a:tcPr marL="45720" marR="45720" anchor="t">
                    <a:solidFill>
                      <a:srgbClr val="F2F5F9"/>
                    </a:solidFill>
                  </a:tcPr>
                </a:tc>
                <a:tc>
                  <a:txBody>
                    <a:bodyPr/>
                    <a:lstStyle/>
                    <a:p>
                      <a:r>
                        <a:rPr sz="1000" b="0" i="0">
                          <a:solidFill>
                            <a:srgbClr val="1F2937"/>
                          </a:solidFill>
                          <a:latin typeface="微软雅黑"/>
                        </a:rPr>
                        <a:t>转录/蛋白/肽组学或分泌线索</a:t>
                      </a:r>
                    </a:p>
                  </a:txBody>
                  <a:tcPr marL="45720" marR="45720" anchor="t">
                    <a:solidFill>
                      <a:srgbClr val="F2F5F9"/>
                    </a:solidFill>
                  </a:tcPr>
                </a:tc>
                <a:tc>
                  <a:txBody>
                    <a:bodyPr/>
                    <a:lstStyle/>
                    <a:p>
                      <a:r>
                        <a:rPr sz="1000" b="0" i="0">
                          <a:solidFill>
                            <a:srgbClr val="1F2937"/>
                          </a:solidFill>
                          <a:latin typeface="微软雅黑"/>
                        </a:rPr>
                        <a:t>标记为 DNA-level evidence only</a:t>
                      </a:r>
                    </a:p>
                  </a:txBody>
                  <a:tcPr marL="45720" marR="45720" anchor="t">
                    <a:solidFill>
                      <a:srgbClr val="F2F5F9"/>
                    </a:solidFill>
                  </a:tcPr>
                </a:tc>
              </a:tr>
              <a:tr h="345186">
                <a:tc>
                  <a:txBody>
                    <a:bodyPr/>
                    <a:lstStyle/>
                    <a:p>
                      <a:r>
                        <a:rPr sz="1000" b="0" i="0">
                          <a:solidFill>
                            <a:srgbClr val="1F2937"/>
                          </a:solidFill>
                          <a:latin typeface="微软雅黑"/>
                        </a:rPr>
                        <a:t>机制</a:t>
                      </a:r>
                    </a:p>
                  </a:txBody>
                  <a:tcPr marL="45720" marR="45720" anchor="t">
                    <a:solidFill>
                      <a:srgbClr val="FFFFFF"/>
                    </a:solidFill>
                  </a:tcPr>
                </a:tc>
                <a:tc>
                  <a:txBody>
                    <a:bodyPr/>
                    <a:lstStyle/>
                    <a:p>
                      <a:r>
                        <a:rPr sz="1000" b="0" i="0">
                          <a:solidFill>
                            <a:srgbClr val="1F2937"/>
                          </a:solidFill>
                          <a:latin typeface="微软雅黑"/>
                        </a:rPr>
                        <a:t>生态、炎症、MD/QM、Aβ/BBB 证据</a:t>
                      </a:r>
                    </a:p>
                  </a:txBody>
                  <a:tcPr marL="45720" marR="45720" anchor="t">
                    <a:solidFill>
                      <a:srgbClr val="FFFFFF"/>
                    </a:solidFill>
                  </a:tcPr>
                </a:tc>
                <a:tc>
                  <a:txBody>
                    <a:bodyPr/>
                    <a:lstStyle/>
                    <a:p>
                      <a:r>
                        <a:rPr sz="1000" b="0" i="0">
                          <a:solidFill>
                            <a:srgbClr val="1F2937"/>
                          </a:solidFill>
                          <a:latin typeface="微软雅黑"/>
                        </a:rPr>
                        <a:t>方向标为 unknown</a:t>
                      </a:r>
                    </a:p>
                  </a:txBody>
                  <a:tcPr marL="45720" marR="45720" anchor="t">
                    <a:solidFill>
                      <a:srgbClr val="FFFFFF"/>
                    </a:solidFill>
                  </a:tcPr>
                </a:tc>
              </a:tr>
              <a:tr h="345186">
                <a:tc>
                  <a:txBody>
                    <a:bodyPr/>
                    <a:lstStyle/>
                    <a:p>
                      <a:r>
                        <a:rPr sz="1000" b="0" i="0">
                          <a:solidFill>
                            <a:srgbClr val="1F2937"/>
                          </a:solidFill>
                          <a:latin typeface="微软雅黑"/>
                        </a:rPr>
                        <a:t>结论</a:t>
                      </a:r>
                    </a:p>
                  </a:txBody>
                  <a:tcPr marL="45720" marR="45720" anchor="t">
                    <a:solidFill>
                      <a:srgbClr val="F2F5F9"/>
                    </a:solidFill>
                  </a:tcPr>
                </a:tc>
                <a:tc>
                  <a:txBody>
                    <a:bodyPr/>
                    <a:lstStyle/>
                    <a:p>
                      <a:r>
                        <a:rPr sz="1000" b="0" i="0">
                          <a:solidFill>
                            <a:srgbClr val="1F2937"/>
                          </a:solidFill>
                          <a:latin typeface="微软雅黑"/>
                        </a:rPr>
                        <a:t>risk-like/protective/unknown</a:t>
                      </a:r>
                    </a:p>
                  </a:txBody>
                  <a:tcPr marL="45720" marR="45720" anchor="t">
                    <a:solidFill>
                      <a:srgbClr val="F2F5F9"/>
                    </a:solidFill>
                  </a:tcPr>
                </a:tc>
                <a:tc>
                  <a:txBody>
                    <a:bodyPr/>
                    <a:lstStyle/>
                    <a:p>
                      <a:r>
                        <a:rPr sz="1000" b="0" i="0">
                          <a:solidFill>
                            <a:srgbClr val="1F2937"/>
                          </a:solidFill>
                          <a:latin typeface="微软雅黑"/>
                        </a:rPr>
                        <a:t>不用 causative peptide</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28 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15　候选 AMP 的 MD/QM 优先级</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先菌膜/LPS，再受体，最后 Aβ/BBB</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优先级</a:t>
                      </a:r>
                    </a:p>
                  </a:txBody>
                  <a:tcPr marL="45720" marR="45720">
                    <a:solidFill>
                      <a:srgbClr val="10305A"/>
                    </a:solidFill>
                  </a:tcPr>
                </a:tc>
                <a:tc>
                  <a:txBody>
                    <a:bodyPr/>
                    <a:lstStyle/>
                    <a:p>
                      <a:pPr algn="ctr"/>
                      <a:r>
                        <a:rPr sz="1250" b="1" i="0">
                          <a:solidFill>
                            <a:srgbClr val="FFFFFF"/>
                          </a:solidFill>
                          <a:latin typeface="微软雅黑"/>
                        </a:rPr>
                        <a:t>体系</a:t>
                      </a:r>
                    </a:p>
                  </a:txBody>
                  <a:tcPr marL="45720" marR="45720">
                    <a:solidFill>
                      <a:srgbClr val="10305A"/>
                    </a:solidFill>
                  </a:tcPr>
                </a:tc>
                <a:tc>
                  <a:txBody>
                    <a:bodyPr/>
                    <a:lstStyle/>
                    <a:p>
                      <a:pPr algn="ctr"/>
                      <a:r>
                        <a:rPr sz="1250" b="1" i="0">
                          <a:solidFill>
                            <a:srgbClr val="FFFFFF"/>
                          </a:solidFill>
                          <a:latin typeface="微软雅黑"/>
                        </a:rPr>
                        <a:t>主要问题</a:t>
                      </a:r>
                    </a:p>
                  </a:txBody>
                  <a:tcPr marL="45720" marR="45720">
                    <a:solidFill>
                      <a:srgbClr val="10305A"/>
                    </a:solidFill>
                  </a:tcPr>
                </a:tc>
                <a:tc>
                  <a:txBody>
                    <a:bodyPr/>
                    <a:lstStyle/>
                    <a:p>
                      <a:pPr algn="ctr"/>
                      <a:r>
                        <a:rPr sz="1250" b="1" i="0">
                          <a:solidFill>
                            <a:srgbClr val="FFFFFF"/>
                          </a:solidFill>
                          <a:latin typeface="微软雅黑"/>
                        </a:rPr>
                        <a:t>输出</a:t>
                      </a:r>
                    </a:p>
                  </a:txBody>
                  <a:tcPr marL="45720" marR="45720">
                    <a:solidFill>
                      <a:srgbClr val="10305A"/>
                    </a:solidFill>
                  </a:tcPr>
                </a:tc>
              </a:tr>
              <a:tr h="365760">
                <a:tc>
                  <a:txBody>
                    <a:bodyPr/>
                    <a:lstStyle/>
                    <a:p>
                      <a:r>
                        <a:rPr sz="1250" b="0" i="0">
                          <a:solidFill>
                            <a:srgbClr val="1F2937"/>
                          </a:solidFill>
                          <a:latin typeface="微软雅黑"/>
                        </a:rPr>
                        <a:t>1</a:t>
                      </a:r>
                    </a:p>
                  </a:txBody>
                  <a:tcPr marL="45720" marR="45720" anchor="t">
                    <a:solidFill>
                      <a:srgbClr val="F2F5F9"/>
                    </a:solidFill>
                  </a:tcPr>
                </a:tc>
                <a:tc>
                  <a:txBody>
                    <a:bodyPr/>
                    <a:lstStyle/>
                    <a:p>
                      <a:r>
                        <a:rPr sz="1250" b="0" i="0">
                          <a:solidFill>
                            <a:srgbClr val="1F2937"/>
                          </a:solidFill>
                          <a:latin typeface="微软雅黑"/>
                        </a:rPr>
                        <a:t>AMP + LPS/lipid A/细菌膜</a:t>
                      </a:r>
                    </a:p>
                  </a:txBody>
                  <a:tcPr marL="45720" marR="45720" anchor="t">
                    <a:solidFill>
                      <a:srgbClr val="F2F5F9"/>
                    </a:solidFill>
                  </a:tcPr>
                </a:tc>
                <a:tc>
                  <a:txBody>
                    <a:bodyPr/>
                    <a:lstStyle/>
                    <a:p>
                      <a:r>
                        <a:rPr sz="1250" b="0" i="0">
                          <a:solidFill>
                            <a:srgbClr val="1F2937"/>
                          </a:solidFill>
                          <a:latin typeface="微软雅黑"/>
                        </a:rPr>
                        <a:t>是否具有来源相关的膜选择性和生态功能</a:t>
                      </a:r>
                    </a:p>
                  </a:txBody>
                  <a:tcPr marL="45720" marR="45720" anchor="t">
                    <a:solidFill>
                      <a:srgbClr val="F2F5F9"/>
                    </a:solidFill>
                  </a:tcPr>
                </a:tc>
                <a:tc>
                  <a:txBody>
                    <a:bodyPr/>
                    <a:lstStyle/>
                    <a:p>
                      <a:r>
                        <a:rPr sz="1250" b="0" i="0">
                          <a:solidFill>
                            <a:srgbClr val="1F2937"/>
                          </a:solidFill>
                          <a:latin typeface="微软雅黑"/>
                        </a:rPr>
                        <a:t>吸附、PMF、孔形成、离子通量</a:t>
                      </a:r>
                    </a:p>
                  </a:txBody>
                  <a:tcPr marL="45720" marR="45720" anchor="t">
                    <a:solidFill>
                      <a:srgbClr val="F2F5F9"/>
                    </a:solidFill>
                  </a:tcPr>
                </a:tc>
              </a:tr>
              <a:tr h="365760">
                <a:tc>
                  <a:txBody>
                    <a:bodyPr/>
                    <a:lstStyle/>
                    <a:p>
                      <a:r>
                        <a:rPr sz="1250" b="0" i="0">
                          <a:solidFill>
                            <a:srgbClr val="1F2937"/>
                          </a:solidFill>
                          <a:latin typeface="微软雅黑"/>
                        </a:rPr>
                        <a:t>2</a:t>
                      </a:r>
                    </a:p>
                  </a:txBody>
                  <a:tcPr marL="45720" marR="45720" anchor="t">
                    <a:solidFill>
                      <a:srgbClr val="FFFFFF"/>
                    </a:solidFill>
                  </a:tcPr>
                </a:tc>
                <a:tc>
                  <a:txBody>
                    <a:bodyPr/>
                    <a:lstStyle/>
                    <a:p>
                      <a:r>
                        <a:rPr sz="1250" b="0" i="0">
                          <a:solidFill>
                            <a:srgbClr val="1F2937"/>
                          </a:solidFill>
                          <a:latin typeface="微软雅黑"/>
                        </a:rPr>
                        <a:t>AMP + TLR4/MD-2/FPR2 等</a:t>
                      </a:r>
                    </a:p>
                  </a:txBody>
                  <a:tcPr marL="45720" marR="45720" anchor="t">
                    <a:solidFill>
                      <a:srgbClr val="FFFFFF"/>
                    </a:solidFill>
                  </a:tcPr>
                </a:tc>
                <a:tc>
                  <a:txBody>
                    <a:bodyPr/>
                    <a:lstStyle/>
                    <a:p>
                      <a:r>
                        <a:rPr sz="1250" b="0" i="0">
                          <a:solidFill>
                            <a:srgbClr val="1F2937"/>
                          </a:solidFill>
                          <a:latin typeface="微软雅黑"/>
                        </a:rPr>
                        <a:t>是否存在炎症受体结构线索</a:t>
                      </a:r>
                    </a:p>
                  </a:txBody>
                  <a:tcPr marL="45720" marR="45720" anchor="t">
                    <a:solidFill>
                      <a:srgbClr val="FFFFFF"/>
                    </a:solidFill>
                  </a:tcPr>
                </a:tc>
                <a:tc>
                  <a:txBody>
                    <a:bodyPr/>
                    <a:lstStyle/>
                    <a:p>
                      <a:r>
                        <a:rPr sz="1250" b="0" i="0">
                          <a:solidFill>
                            <a:srgbClr val="1F2937"/>
                          </a:solidFill>
                          <a:latin typeface="微软雅黑"/>
                        </a:rPr>
                        <a:t>界面、驻留、构象和网络方向</a:t>
                      </a:r>
                    </a:p>
                  </a:txBody>
                  <a:tcPr marL="45720" marR="45720" anchor="t">
                    <a:solidFill>
                      <a:srgbClr val="FFFFFF"/>
                    </a:solidFill>
                  </a:tcPr>
                </a:tc>
              </a:tr>
              <a:tr h="365760">
                <a:tc>
                  <a:txBody>
                    <a:bodyPr/>
                    <a:lstStyle/>
                    <a:p>
                      <a:r>
                        <a:rPr sz="1250" b="0" i="0">
                          <a:solidFill>
                            <a:srgbClr val="1F2937"/>
                          </a:solidFill>
                          <a:latin typeface="微软雅黑"/>
                        </a:rPr>
                        <a:t>3</a:t>
                      </a:r>
                    </a:p>
                  </a:txBody>
                  <a:tcPr marL="45720" marR="45720" anchor="t">
                    <a:solidFill>
                      <a:srgbClr val="F2F5F9"/>
                    </a:solidFill>
                  </a:tcPr>
                </a:tc>
                <a:tc>
                  <a:txBody>
                    <a:bodyPr/>
                    <a:lstStyle/>
                    <a:p>
                      <a:r>
                        <a:rPr sz="1250" b="0" i="0">
                          <a:solidFill>
                            <a:srgbClr val="1F2937"/>
                          </a:solidFill>
                          <a:latin typeface="微软雅黑"/>
                        </a:rPr>
                        <a:t>AMP + Aβ/AChE-PAS</a:t>
                      </a:r>
                    </a:p>
                  </a:txBody>
                  <a:tcPr marL="45720" marR="45720" anchor="t">
                    <a:solidFill>
                      <a:srgbClr val="F2F5F9"/>
                    </a:solidFill>
                  </a:tcPr>
                </a:tc>
                <a:tc>
                  <a:txBody>
                    <a:bodyPr/>
                    <a:lstStyle/>
                    <a:p>
                      <a:r>
                        <a:rPr sz="1250" b="0" i="0">
                          <a:solidFill>
                            <a:srgbClr val="1F2937"/>
                          </a:solidFill>
                          <a:latin typeface="微软雅黑"/>
                        </a:rPr>
                        <a:t>是否改变聚集路径或竞争界面</a:t>
                      </a:r>
                    </a:p>
                  </a:txBody>
                  <a:tcPr marL="45720" marR="45720" anchor="t">
                    <a:solidFill>
                      <a:srgbClr val="F2F5F9"/>
                    </a:solidFill>
                  </a:tcPr>
                </a:tc>
                <a:tc>
                  <a:txBody>
                    <a:bodyPr/>
                    <a:lstStyle/>
                    <a:p>
                      <a:r>
                        <a:rPr sz="1250" b="0" i="0">
                          <a:solidFill>
                            <a:srgbClr val="1F2937"/>
                          </a:solidFill>
                          <a:latin typeface="微软雅黑"/>
                        </a:rPr>
                        <a:t>寡聚体、β-sheet、PMF、聚集方向</a:t>
                      </a:r>
                    </a:p>
                  </a:txBody>
                  <a:tcPr marL="45720" marR="45720" anchor="t">
                    <a:solidFill>
                      <a:srgbClr val="F2F5F9"/>
                    </a:solidFill>
                  </a:tcPr>
                </a:tc>
              </a:tr>
              <a:tr h="365760">
                <a:tc>
                  <a:txBody>
                    <a:bodyPr/>
                    <a:lstStyle/>
                    <a:p>
                      <a:r>
                        <a:rPr sz="1250" b="0" i="0">
                          <a:solidFill>
                            <a:srgbClr val="1F2937"/>
                          </a:solidFill>
                          <a:latin typeface="微软雅黑"/>
                        </a:rPr>
                        <a:t>4</a:t>
                      </a:r>
                    </a:p>
                  </a:txBody>
                  <a:tcPr marL="45720" marR="45720" anchor="t">
                    <a:solidFill>
                      <a:srgbClr val="FFFFFF"/>
                    </a:solidFill>
                  </a:tcPr>
                </a:tc>
                <a:tc>
                  <a:txBody>
                    <a:bodyPr/>
                    <a:lstStyle/>
                    <a:p>
                      <a:r>
                        <a:rPr sz="1250" b="0" i="0">
                          <a:solidFill>
                            <a:srgbClr val="1F2937"/>
                          </a:solidFill>
                          <a:latin typeface="微软雅黑"/>
                        </a:rPr>
                        <a:t>AMP + BBB 膜/转运体</a:t>
                      </a:r>
                    </a:p>
                  </a:txBody>
                  <a:tcPr marL="45720" marR="45720" anchor="t">
                    <a:solidFill>
                      <a:srgbClr val="FFFFFF"/>
                    </a:solidFill>
                  </a:tcPr>
                </a:tc>
                <a:tc>
                  <a:txBody>
                    <a:bodyPr/>
                    <a:lstStyle/>
                    <a:p>
                      <a:r>
                        <a:rPr sz="1250" b="0" i="0">
                          <a:solidFill>
                            <a:srgbClr val="1F2937"/>
                          </a:solidFill>
                          <a:latin typeface="微软雅黑"/>
                        </a:rPr>
                        <a:t>直接入脑是否物理可行</a:t>
                      </a:r>
                    </a:p>
                  </a:txBody>
                  <a:tcPr marL="45720" marR="45720" anchor="t">
                    <a:solidFill>
                      <a:srgbClr val="FFFFFF"/>
                    </a:solidFill>
                  </a:tcPr>
                </a:tc>
                <a:tc>
                  <a:txBody>
                    <a:bodyPr/>
                    <a:lstStyle/>
                    <a:p>
                      <a:r>
                        <a:rPr sz="1250" b="0" i="0">
                          <a:solidFill>
                            <a:srgbClr val="1F2937"/>
                          </a:solidFill>
                          <a:latin typeface="微软雅黑"/>
                        </a:rPr>
                        <a:t>膜 PMF、Papp、转运路径</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29 页</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16　Aβ/BBB 追加计算的进入条件</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不能默认所有候选都入脑</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3697224"/>
                <a:gridCol w="3697224"/>
                <a:gridCol w="3697224"/>
              </a:tblGrid>
              <a:tr h="356616">
                <a:tc>
                  <a:txBody>
                    <a:bodyPr/>
                    <a:lstStyle/>
                    <a:p>
                      <a:pPr algn="ctr"/>
                      <a:r>
                        <a:rPr sz="1100" b="1" i="0">
                          <a:solidFill>
                            <a:srgbClr val="FFFFFF"/>
                          </a:solidFill>
                          <a:latin typeface="微软雅黑"/>
                        </a:rPr>
                        <a:t>条件</a:t>
                      </a:r>
                    </a:p>
                  </a:txBody>
                  <a:tcPr marL="45720" marR="45720">
                    <a:solidFill>
                      <a:srgbClr val="10305A"/>
                    </a:solidFill>
                  </a:tcPr>
                </a:tc>
                <a:tc>
                  <a:txBody>
                    <a:bodyPr/>
                    <a:lstStyle/>
                    <a:p>
                      <a:pPr algn="ctr"/>
                      <a:r>
                        <a:rPr sz="1100" b="1" i="0">
                          <a:solidFill>
                            <a:srgbClr val="FFFFFF"/>
                          </a:solidFill>
                          <a:latin typeface="微软雅黑"/>
                        </a:rPr>
                        <a:t>必须有的证据</a:t>
                      </a:r>
                    </a:p>
                  </a:txBody>
                  <a:tcPr marL="45720" marR="45720">
                    <a:solidFill>
                      <a:srgbClr val="10305A"/>
                    </a:solidFill>
                  </a:tcPr>
                </a:tc>
                <a:tc>
                  <a:txBody>
                    <a:bodyPr/>
                    <a:lstStyle/>
                    <a:p>
                      <a:pPr algn="ctr"/>
                      <a:r>
                        <a:rPr sz="1100" b="1" i="0">
                          <a:solidFill>
                            <a:srgbClr val="FFFFFF"/>
                          </a:solidFill>
                          <a:latin typeface="微软雅黑"/>
                        </a:rPr>
                        <a:t>没有时的降级写法</a:t>
                      </a:r>
                    </a:p>
                  </a:txBody>
                  <a:tcPr marL="45720" marR="45720">
                    <a:solidFill>
                      <a:srgbClr val="10305A"/>
                    </a:solidFill>
                  </a:tcPr>
                </a:tc>
              </a:tr>
              <a:tr h="356616">
                <a:tc>
                  <a:txBody>
                    <a:bodyPr/>
                    <a:lstStyle/>
                    <a:p>
                      <a:r>
                        <a:rPr sz="1100" b="0" i="0">
                          <a:solidFill>
                            <a:srgbClr val="1F2937"/>
                          </a:solidFill>
                          <a:latin typeface="微软雅黑"/>
                        </a:rPr>
                        <a:t>候选差异</a:t>
                      </a:r>
                    </a:p>
                  </a:txBody>
                  <a:tcPr marL="45720" marR="45720" anchor="t">
                    <a:solidFill>
                      <a:srgbClr val="F2F5F9"/>
                    </a:solidFill>
                  </a:tcPr>
                </a:tc>
                <a:tc>
                  <a:txBody>
                    <a:bodyPr/>
                    <a:lstStyle/>
                    <a:p>
                      <a:r>
                        <a:rPr sz="1100" b="0" i="0">
                          <a:solidFill>
                            <a:srgbClr val="1F2937"/>
                          </a:solidFill>
                          <a:latin typeface="微软雅黑"/>
                        </a:rPr>
                        <a:t>AD/健康或阶段差异稳定</a:t>
                      </a:r>
                    </a:p>
                  </a:txBody>
                  <a:tcPr marL="45720" marR="45720" anchor="t">
                    <a:solidFill>
                      <a:srgbClr val="F2F5F9"/>
                    </a:solidFill>
                  </a:tcPr>
                </a:tc>
                <a:tc>
                  <a:txBody>
                    <a:bodyPr/>
                    <a:lstStyle/>
                    <a:p>
                      <a:r>
                        <a:rPr sz="1100" b="0" i="0">
                          <a:solidFill>
                            <a:srgbClr val="1F2937"/>
                          </a:solidFill>
                          <a:latin typeface="微软雅黑"/>
                        </a:rPr>
                        <a:t>只是 AMP prediction</a:t>
                      </a:r>
                    </a:p>
                  </a:txBody>
                  <a:tcPr marL="45720" marR="45720" anchor="t">
                    <a:solidFill>
                      <a:srgbClr val="F2F5F9"/>
                    </a:solidFill>
                  </a:tcPr>
                </a:tc>
              </a:tr>
              <a:tr h="356616">
                <a:tc>
                  <a:txBody>
                    <a:bodyPr/>
                    <a:lstStyle/>
                    <a:p>
                      <a:r>
                        <a:rPr sz="1100" b="0" i="0">
                          <a:solidFill>
                            <a:srgbClr val="1F2937"/>
                          </a:solidFill>
                          <a:latin typeface="微软雅黑"/>
                        </a:rPr>
                        <a:t>来源表达</a:t>
                      </a:r>
                    </a:p>
                  </a:txBody>
                  <a:tcPr marL="45720" marR="45720" anchor="t">
                    <a:solidFill>
                      <a:srgbClr val="FFFFFF"/>
                    </a:solidFill>
                  </a:tcPr>
                </a:tc>
                <a:tc>
                  <a:txBody>
                    <a:bodyPr/>
                    <a:lstStyle/>
                    <a:p>
                      <a:r>
                        <a:rPr sz="1100" b="0" i="0">
                          <a:solidFill>
                            <a:srgbClr val="1F2937"/>
                          </a:solidFill>
                          <a:latin typeface="微软雅黑"/>
                        </a:rPr>
                        <a:t>宏蛋白组/肽组学/转录或分泌线索</a:t>
                      </a:r>
                    </a:p>
                  </a:txBody>
                  <a:tcPr marL="45720" marR="45720" anchor="t">
                    <a:solidFill>
                      <a:srgbClr val="FFFFFF"/>
                    </a:solidFill>
                  </a:tcPr>
                </a:tc>
                <a:tc>
                  <a:txBody>
                    <a:bodyPr/>
                    <a:lstStyle/>
                    <a:p>
                      <a:r>
                        <a:rPr sz="1100" b="0" i="0">
                          <a:solidFill>
                            <a:srgbClr val="1F2937"/>
                          </a:solidFill>
                          <a:latin typeface="微软雅黑"/>
                        </a:rPr>
                        <a:t>远端肠道关联</a:t>
                      </a:r>
                    </a:p>
                  </a:txBody>
                  <a:tcPr marL="45720" marR="45720" anchor="t">
                    <a:solidFill>
                      <a:srgbClr val="FFFFFF"/>
                    </a:solidFill>
                  </a:tcPr>
                </a:tc>
              </a:tr>
              <a:tr h="356616">
                <a:tc>
                  <a:txBody>
                    <a:bodyPr/>
                    <a:lstStyle/>
                    <a:p>
                      <a:r>
                        <a:rPr sz="1100" b="0" i="0">
                          <a:solidFill>
                            <a:srgbClr val="1F2937"/>
                          </a:solidFill>
                          <a:latin typeface="微软雅黑"/>
                        </a:rPr>
                        <a:t>区室暴露</a:t>
                      </a:r>
                    </a:p>
                  </a:txBody>
                  <a:tcPr marL="45720" marR="45720" anchor="t">
                    <a:solidFill>
                      <a:srgbClr val="F2F5F9"/>
                    </a:solidFill>
                  </a:tcPr>
                </a:tc>
                <a:tc>
                  <a:txBody>
                    <a:bodyPr/>
                    <a:lstStyle/>
                    <a:p>
                      <a:r>
                        <a:rPr sz="1100" b="0" i="0">
                          <a:solidFill>
                            <a:srgbClr val="1F2937"/>
                          </a:solidFill>
                          <a:latin typeface="微软雅黑"/>
                        </a:rPr>
                        <a:t>血液/屏障/稳定性或转运依据</a:t>
                      </a:r>
                    </a:p>
                  </a:txBody>
                  <a:tcPr marL="45720" marR="45720" anchor="t">
                    <a:solidFill>
                      <a:srgbClr val="F2F5F9"/>
                    </a:solidFill>
                  </a:tcPr>
                </a:tc>
                <a:tc>
                  <a:txBody>
                    <a:bodyPr/>
                    <a:lstStyle/>
                    <a:p>
                      <a:r>
                        <a:rPr sz="1100" b="0" i="0">
                          <a:solidFill>
                            <a:srgbClr val="1F2937"/>
                          </a:solidFill>
                          <a:latin typeface="微软雅黑"/>
                        </a:rPr>
                        <a:t>不能说进入脑</a:t>
                      </a:r>
                    </a:p>
                  </a:txBody>
                  <a:tcPr marL="45720" marR="45720" anchor="t">
                    <a:solidFill>
                      <a:srgbClr val="F2F5F9"/>
                    </a:solidFill>
                  </a:tcPr>
                </a:tc>
              </a:tr>
              <a:tr h="356616">
                <a:tc>
                  <a:txBody>
                    <a:bodyPr/>
                    <a:lstStyle/>
                    <a:p>
                      <a:r>
                        <a:rPr sz="1100" b="0" i="0">
                          <a:solidFill>
                            <a:srgbClr val="1F2937"/>
                          </a:solidFill>
                          <a:latin typeface="微软雅黑"/>
                        </a:rPr>
                        <a:t>方向读数</a:t>
                      </a:r>
                    </a:p>
                  </a:txBody>
                  <a:tcPr marL="45720" marR="45720" anchor="t">
                    <a:solidFill>
                      <a:srgbClr val="FFFFFF"/>
                    </a:solidFill>
                  </a:tcPr>
                </a:tc>
                <a:tc>
                  <a:txBody>
                    <a:bodyPr/>
                    <a:lstStyle/>
                    <a:p>
                      <a:r>
                        <a:rPr sz="1100" b="0" i="0">
                          <a:solidFill>
                            <a:srgbClr val="1F2937"/>
                          </a:solidFill>
                          <a:latin typeface="微软雅黑"/>
                        </a:rPr>
                        <a:t>寡聚体、膜、炎症至少一个方向</a:t>
                      </a:r>
                    </a:p>
                  </a:txBody>
                  <a:tcPr marL="45720" marR="45720" anchor="t">
                    <a:solidFill>
                      <a:srgbClr val="FFFFFF"/>
                    </a:solidFill>
                  </a:tcPr>
                </a:tc>
                <a:tc>
                  <a:txBody>
                    <a:bodyPr/>
                    <a:lstStyle/>
                    <a:p>
                      <a:r>
                        <a:rPr sz="1100" b="0" i="0">
                          <a:solidFill>
                            <a:srgbClr val="1F2937"/>
                          </a:solidFill>
                          <a:latin typeface="微软雅黑"/>
                        </a:rPr>
                        <a:t>Aβ binding, direction unresolved</a:t>
                      </a:r>
                    </a:p>
                  </a:txBody>
                  <a:tcPr marL="45720" marR="45720" anchor="t">
                    <a:solidFill>
                      <a:srgbClr val="FFFFFF"/>
                    </a:solidFill>
                  </a:tcPr>
                </a:tc>
              </a:tr>
              <a:tr h="356616">
                <a:tc>
                  <a:txBody>
                    <a:bodyPr/>
                    <a:lstStyle/>
                    <a:p>
                      <a:r>
                        <a:rPr sz="1100" b="0" i="0">
                          <a:solidFill>
                            <a:srgbClr val="1F2937"/>
                          </a:solidFill>
                          <a:latin typeface="微软雅黑"/>
                        </a:rPr>
                        <a:t>验证</a:t>
                      </a:r>
                    </a:p>
                  </a:txBody>
                  <a:tcPr marL="45720" marR="45720" anchor="t">
                    <a:solidFill>
                      <a:srgbClr val="F2F5F9"/>
                    </a:solidFill>
                  </a:tcPr>
                </a:tc>
                <a:tc>
                  <a:txBody>
                    <a:bodyPr/>
                    <a:lstStyle/>
                    <a:p>
                      <a:r>
                        <a:rPr sz="1100" b="0" i="0">
                          <a:solidFill>
                            <a:srgbClr val="1F2937"/>
                          </a:solidFill>
                          <a:latin typeface="微软雅黑"/>
                        </a:rPr>
                        <a:t>阻断/加入/去除改变表型</a:t>
                      </a:r>
                    </a:p>
                  </a:txBody>
                  <a:tcPr marL="45720" marR="45720" anchor="t">
                    <a:solidFill>
                      <a:srgbClr val="F2F5F9"/>
                    </a:solidFill>
                  </a:tcPr>
                </a:tc>
                <a:tc>
                  <a:txBody>
                    <a:bodyPr/>
                    <a:lstStyle/>
                    <a:p>
                      <a:r>
                        <a:rPr sz="1100" b="0" i="0">
                          <a:solidFill>
                            <a:srgbClr val="1F2937"/>
                          </a:solidFill>
                          <a:latin typeface="微软雅黑"/>
                        </a:rPr>
                        <a:t>机制假设，不是因果</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30 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463040" cy="100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06040"/>
            <a:ext cx="10515600" cy="1280160"/>
          </a:xfrm>
          <a:prstGeom prst="rect">
            <a:avLst/>
          </a:prstGeom>
          <a:noFill/>
        </p:spPr>
        <p:txBody>
          <a:bodyPr wrap="square">
            <a:spAutoFit/>
          </a:bodyPr>
          <a:lstStyle/>
          <a:p>
            <a:pPr algn="l"/>
            <a:r>
              <a:rPr sz="3400" b="1" i="0">
                <a:solidFill>
                  <a:srgbClr val="FFFFFF"/>
                </a:solidFill>
                <a:latin typeface="微软雅黑"/>
              </a:rPr>
              <a:t>结果边界与答辩口径</a:t>
            </a:r>
          </a:p>
        </p:txBody>
      </p:sp>
      <p:sp>
        <p:nvSpPr>
          <p:cNvPr id="5" name="TextBox 4"/>
          <p:cNvSpPr txBox="1"/>
          <p:nvPr/>
        </p:nvSpPr>
        <p:spPr>
          <a:xfrm>
            <a:off x="822960" y="1600200"/>
            <a:ext cx="10515600" cy="822960"/>
          </a:xfrm>
          <a:prstGeom prst="rect">
            <a:avLst/>
          </a:prstGeom>
          <a:noFill/>
        </p:spPr>
        <p:txBody>
          <a:bodyPr wrap="square">
            <a:spAutoFit/>
          </a:bodyPr>
          <a:lstStyle/>
          <a:p>
            <a:pPr algn="l"/>
            <a:r>
              <a:rPr sz="4400" b="1" i="0">
                <a:solidFill>
                  <a:srgbClr val="C9A227"/>
                </a:solidFill>
                <a:latin typeface="微软雅黑"/>
              </a:rPr>
              <a:t>05</a:t>
            </a:r>
          </a:p>
        </p:txBody>
      </p:sp>
      <p:sp>
        <p:nvSpPr>
          <p:cNvPr id="6" name="TextBox 5"/>
          <p:cNvSpPr txBox="1"/>
          <p:nvPr/>
        </p:nvSpPr>
        <p:spPr>
          <a:xfrm>
            <a:off x="822960" y="3977639"/>
            <a:ext cx="10515600" cy="731520"/>
          </a:xfrm>
          <a:prstGeom prst="rect">
            <a:avLst/>
          </a:prstGeom>
          <a:noFill/>
        </p:spPr>
        <p:txBody>
          <a:bodyPr wrap="square">
            <a:spAutoFit/>
          </a:bodyPr>
          <a:lstStyle/>
          <a:p>
            <a:pPr algn="l"/>
            <a:r>
              <a:rPr sz="1500" b="0" i="0">
                <a:solidFill>
                  <a:srgbClr val="D8E0EA"/>
                </a:solidFill>
                <a:latin typeface="微软雅黑"/>
              </a:rPr>
              <a:t>计算关联不能直接写成因果</a:t>
            </a:r>
          </a:p>
        </p:txBody>
      </p:sp>
      <p:sp>
        <p:nvSpPr>
          <p:cNvPr id="7" name="TextBox 6"/>
          <p:cNvSpPr txBox="1"/>
          <p:nvPr/>
        </p:nvSpPr>
        <p:spPr>
          <a:xfrm>
            <a:off x="822960" y="6126480"/>
            <a:ext cx="10515600" cy="365760"/>
          </a:xfrm>
          <a:prstGeom prst="rect">
            <a:avLst/>
          </a:prstGeom>
          <a:noFill/>
        </p:spPr>
        <p:txBody>
          <a:bodyPr wrap="square">
            <a:spAutoFit/>
          </a:bodyPr>
          <a:lstStyle/>
          <a:p>
            <a:pPr algn="l"/>
            <a:r>
              <a:rPr sz="900" b="0" i="0">
                <a:solidFill>
                  <a:srgbClr val="9AA8BA"/>
                </a:solidFill>
                <a:latin typeface="微软雅黑"/>
              </a:rPr>
              <a:t>抗菌肽与 AD 关联机制说明·八问整合版｜2026-09-26 10:34 北京时间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17　结果状态和正确措辞</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不把方法示例冒充真实结果</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3697224"/>
                <a:gridCol w="3697224"/>
                <a:gridCol w="3697224"/>
              </a:tblGrid>
              <a:tr h="356616">
                <a:tc>
                  <a:txBody>
                    <a:bodyPr/>
                    <a:lstStyle/>
                    <a:p>
                      <a:pPr algn="ctr"/>
                      <a:r>
                        <a:rPr sz="1100" b="1" i="0">
                          <a:solidFill>
                            <a:srgbClr val="FFFFFF"/>
                          </a:solidFill>
                          <a:latin typeface="微软雅黑"/>
                        </a:rPr>
                        <a:t>状态</a:t>
                      </a:r>
                    </a:p>
                  </a:txBody>
                  <a:tcPr marL="45720" marR="45720">
                    <a:solidFill>
                      <a:srgbClr val="10305A"/>
                    </a:solidFill>
                  </a:tcPr>
                </a:tc>
                <a:tc>
                  <a:txBody>
                    <a:bodyPr/>
                    <a:lstStyle/>
                    <a:p>
                      <a:pPr algn="ctr"/>
                      <a:r>
                        <a:rPr sz="1100" b="1" i="0">
                          <a:solidFill>
                            <a:srgbClr val="FFFFFF"/>
                          </a:solidFill>
                          <a:latin typeface="微软雅黑"/>
                        </a:rPr>
                        <a:t>可以写</a:t>
                      </a:r>
                    </a:p>
                  </a:txBody>
                  <a:tcPr marL="45720" marR="45720">
                    <a:solidFill>
                      <a:srgbClr val="10305A"/>
                    </a:solidFill>
                  </a:tcPr>
                </a:tc>
                <a:tc>
                  <a:txBody>
                    <a:bodyPr/>
                    <a:lstStyle/>
                    <a:p>
                      <a:pPr algn="ctr"/>
                      <a:r>
                        <a:rPr sz="1100" b="1" i="0">
                          <a:solidFill>
                            <a:srgbClr val="FFFFFF"/>
                          </a:solidFill>
                          <a:latin typeface="微软雅黑"/>
                        </a:rPr>
                        <a:t>不能写</a:t>
                      </a:r>
                    </a:p>
                  </a:txBody>
                  <a:tcPr marL="45720" marR="45720">
                    <a:solidFill>
                      <a:srgbClr val="10305A"/>
                    </a:solidFill>
                  </a:tcPr>
                </a:tc>
              </a:tr>
              <a:tr h="356616">
                <a:tc>
                  <a:txBody>
                    <a:bodyPr/>
                    <a:lstStyle/>
                    <a:p>
                      <a:r>
                        <a:rPr sz="1100" b="0" i="0">
                          <a:solidFill>
                            <a:srgbClr val="1F2937"/>
                          </a:solidFill>
                          <a:latin typeface="微软雅黑"/>
                        </a:rPr>
                        <a:t>方法已完成</a:t>
                      </a:r>
                    </a:p>
                  </a:txBody>
                  <a:tcPr marL="45720" marR="45720" anchor="t">
                    <a:solidFill>
                      <a:srgbClr val="F2F5F9"/>
                    </a:solidFill>
                  </a:tcPr>
                </a:tc>
                <a:tc>
                  <a:txBody>
                    <a:bodyPr/>
                    <a:lstStyle/>
                    <a:p>
                      <a:r>
                        <a:rPr sz="1100" b="0" i="0">
                          <a:solidFill>
                            <a:srgbClr val="1F2937"/>
                          </a:solidFill>
                          <a:latin typeface="微软雅黑"/>
                        </a:rPr>
                        <a:t>建立短肽库、模型共识和差异分析流程</a:t>
                      </a:r>
                    </a:p>
                  </a:txBody>
                  <a:tcPr marL="45720" marR="45720" anchor="t">
                    <a:solidFill>
                      <a:srgbClr val="F2F5F9"/>
                    </a:solidFill>
                  </a:tcPr>
                </a:tc>
                <a:tc>
                  <a:txBody>
                    <a:bodyPr/>
                    <a:lstStyle/>
                    <a:p>
                      <a:r>
                        <a:rPr sz="1100" b="0" i="0">
                          <a:solidFill>
                            <a:srgbClr val="1F2937"/>
                          </a:solidFill>
                          <a:latin typeface="微软雅黑"/>
                        </a:rPr>
                        <a:t>已发现致病 AMP</a:t>
                      </a:r>
                    </a:p>
                  </a:txBody>
                  <a:tcPr marL="45720" marR="45720" anchor="t">
                    <a:solidFill>
                      <a:srgbClr val="F2F5F9"/>
                    </a:solidFill>
                  </a:tcPr>
                </a:tc>
              </a:tr>
              <a:tr h="356616">
                <a:tc>
                  <a:txBody>
                    <a:bodyPr/>
                    <a:lstStyle/>
                    <a:p>
                      <a:r>
                        <a:rPr sz="1100" b="0" i="0">
                          <a:solidFill>
                            <a:srgbClr val="1F2937"/>
                          </a:solidFill>
                          <a:latin typeface="微软雅黑"/>
                        </a:rPr>
                        <a:t>预测已完成</a:t>
                      </a:r>
                    </a:p>
                  </a:txBody>
                  <a:tcPr marL="45720" marR="45720" anchor="t">
                    <a:solidFill>
                      <a:srgbClr val="FFFFFF"/>
                    </a:solidFill>
                  </a:tcPr>
                </a:tc>
                <a:tc>
                  <a:txBody>
                    <a:bodyPr/>
                    <a:lstStyle/>
                    <a:p>
                      <a:r>
                        <a:rPr sz="1100" b="0" i="0">
                          <a:solidFill>
                            <a:srgbClr val="1F2937"/>
                          </a:solidFill>
                          <a:latin typeface="微软雅黑"/>
                        </a:rPr>
                        <a:t>得到 AMP prediction candidates</a:t>
                      </a:r>
                    </a:p>
                  </a:txBody>
                  <a:tcPr marL="45720" marR="45720" anchor="t">
                    <a:solidFill>
                      <a:srgbClr val="FFFFFF"/>
                    </a:solidFill>
                  </a:tcPr>
                </a:tc>
                <a:tc>
                  <a:txBody>
                    <a:bodyPr/>
                    <a:lstStyle/>
                    <a:p>
                      <a:r>
                        <a:rPr sz="1100" b="0" i="0">
                          <a:solidFill>
                            <a:srgbClr val="1F2937"/>
                          </a:solidFill>
                          <a:latin typeface="微软雅黑"/>
                        </a:rPr>
                        <a:t>这些肽在脑内起作用</a:t>
                      </a:r>
                    </a:p>
                  </a:txBody>
                  <a:tcPr marL="45720" marR="45720" anchor="t">
                    <a:solidFill>
                      <a:srgbClr val="FFFFFF"/>
                    </a:solidFill>
                  </a:tcPr>
                </a:tc>
              </a:tr>
              <a:tr h="356616">
                <a:tc>
                  <a:txBody>
                    <a:bodyPr/>
                    <a:lstStyle/>
                    <a:p>
                      <a:r>
                        <a:rPr sz="1100" b="0" i="0">
                          <a:solidFill>
                            <a:srgbClr val="1F2937"/>
                          </a:solidFill>
                          <a:latin typeface="微软雅黑"/>
                        </a:rPr>
                        <a:t>差异已完成</a:t>
                      </a:r>
                    </a:p>
                  </a:txBody>
                  <a:tcPr marL="45720" marR="45720" anchor="t">
                    <a:solidFill>
                      <a:srgbClr val="F2F5F9"/>
                    </a:solidFill>
                  </a:tcPr>
                </a:tc>
                <a:tc>
                  <a:txBody>
                    <a:bodyPr/>
                    <a:lstStyle/>
                    <a:p>
                      <a:r>
                        <a:rPr sz="1100" b="0" i="0">
                          <a:solidFill>
                            <a:srgbClr val="1F2937"/>
                          </a:solidFill>
                          <a:latin typeface="微软雅黑"/>
                        </a:rPr>
                        <a:t>得到 AD-associated differential AMP</a:t>
                      </a:r>
                    </a:p>
                  </a:txBody>
                  <a:tcPr marL="45720" marR="45720" anchor="t">
                    <a:solidFill>
                      <a:srgbClr val="F2F5F9"/>
                    </a:solidFill>
                  </a:tcPr>
                </a:tc>
                <a:tc>
                  <a:txBody>
                    <a:bodyPr/>
                    <a:lstStyle/>
                    <a:p>
                      <a:r>
                        <a:rPr sz="1100" b="0" i="0">
                          <a:solidFill>
                            <a:srgbClr val="1F2937"/>
                          </a:solidFill>
                          <a:latin typeface="微软雅黑"/>
                        </a:rPr>
                        <a:t>差异说明因果</a:t>
                      </a:r>
                    </a:p>
                  </a:txBody>
                  <a:tcPr marL="45720" marR="45720" anchor="t">
                    <a:solidFill>
                      <a:srgbClr val="F2F5F9"/>
                    </a:solidFill>
                  </a:tcPr>
                </a:tc>
              </a:tr>
              <a:tr h="356616">
                <a:tc>
                  <a:txBody>
                    <a:bodyPr/>
                    <a:lstStyle/>
                    <a:p>
                      <a:r>
                        <a:rPr sz="1100" b="0" i="0">
                          <a:solidFill>
                            <a:srgbClr val="1F2937"/>
                          </a:solidFill>
                          <a:latin typeface="微软雅黑"/>
                        </a:rPr>
                        <a:t>机制计算完成</a:t>
                      </a:r>
                    </a:p>
                  </a:txBody>
                  <a:tcPr marL="45720" marR="45720" anchor="t">
                    <a:solidFill>
                      <a:srgbClr val="FFFFFF"/>
                    </a:solidFill>
                  </a:tcPr>
                </a:tc>
                <a:tc>
                  <a:txBody>
                    <a:bodyPr/>
                    <a:lstStyle/>
                    <a:p>
                      <a:r>
                        <a:rPr sz="1100" b="0" i="0">
                          <a:solidFill>
                            <a:srgbClr val="1F2937"/>
                          </a:solidFill>
                          <a:latin typeface="微软雅黑"/>
                        </a:rPr>
                        <a:t>提出结构和通路优先级</a:t>
                      </a:r>
                    </a:p>
                  </a:txBody>
                  <a:tcPr marL="45720" marR="45720" anchor="t">
                    <a:solidFill>
                      <a:srgbClr val="FFFFFF"/>
                    </a:solidFill>
                  </a:tcPr>
                </a:tc>
                <a:tc>
                  <a:txBody>
                    <a:bodyPr/>
                    <a:lstStyle/>
                    <a:p>
                      <a:r>
                        <a:rPr sz="1100" b="0" i="0">
                          <a:solidFill>
                            <a:srgbClr val="1F2937"/>
                          </a:solidFill>
                          <a:latin typeface="微软雅黑"/>
                        </a:rPr>
                        <a:t>MD 证明 AD 病因</a:t>
                      </a:r>
                    </a:p>
                  </a:txBody>
                  <a:tcPr marL="45720" marR="45720" anchor="t">
                    <a:solidFill>
                      <a:srgbClr val="FFFFFF"/>
                    </a:solidFill>
                  </a:tcPr>
                </a:tc>
              </a:tr>
              <a:tr h="356616">
                <a:tc>
                  <a:txBody>
                    <a:bodyPr/>
                    <a:lstStyle/>
                    <a:p>
                      <a:r>
                        <a:rPr sz="1100" b="0" i="0">
                          <a:solidFill>
                            <a:srgbClr val="1F2937"/>
                          </a:solidFill>
                          <a:latin typeface="微软雅黑"/>
                        </a:rPr>
                        <a:t>干预验证完成</a:t>
                      </a:r>
                    </a:p>
                  </a:txBody>
                  <a:tcPr marL="45720" marR="45720" anchor="t">
                    <a:solidFill>
                      <a:srgbClr val="F2F5F9"/>
                    </a:solidFill>
                  </a:tcPr>
                </a:tc>
                <a:tc>
                  <a:txBody>
                    <a:bodyPr/>
                    <a:lstStyle/>
                    <a:p>
                      <a:r>
                        <a:rPr sz="1100" b="0" i="0">
                          <a:solidFill>
                            <a:srgbClr val="1F2937"/>
                          </a:solidFill>
                          <a:latin typeface="微软雅黑"/>
                        </a:rPr>
                        <a:t>支持风险或保护方向</a:t>
                      </a:r>
                    </a:p>
                  </a:txBody>
                  <a:tcPr marL="45720" marR="45720" anchor="t">
                    <a:solidFill>
                      <a:srgbClr val="F2F5F9"/>
                    </a:solidFill>
                  </a:tcPr>
                </a:tc>
                <a:tc>
                  <a:txBody>
                    <a:bodyPr/>
                    <a:lstStyle/>
                    <a:p>
                      <a:r>
                        <a:rPr sz="1100" b="0" i="0">
                          <a:solidFill>
                            <a:srgbClr val="1F2937"/>
                          </a:solidFill>
                          <a:latin typeface="微软雅黑"/>
                        </a:rPr>
                        <a:t>直接推广到所有 AD 患者</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32 页</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18　从阶段差异到病理机制的四层证据</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阶段—生态—分子—病理</a:t>
            </a:r>
          </a:p>
        </p:txBody>
      </p:sp>
      <p:graphicFrame>
        <p:nvGraphicFramePr>
          <p:cNvPr id="5" name="Table 4"/>
          <p:cNvGraphicFramePr>
            <a:graphicFrameLocks noGrp="1"/>
          </p:cNvGraphicFramePr>
          <p:nvPr/>
        </p:nvGraphicFramePr>
        <p:xfrm>
          <a:off x="548640" y="1325880"/>
          <a:ext cx="11091672" cy="1828800"/>
        </p:xfrm>
        <a:graphic>
          <a:graphicData uri="http://schemas.openxmlformats.org/drawingml/2006/table">
            <a:tbl>
              <a:tblPr firstRow="1" bandRow="1">
                <a:tableStyleId>{5C22544A-7EE6-4342-B048-85BDC9FD1C3A}</a:tableStyleId>
              </a:tblPr>
              <a:tblGrid>
                <a:gridCol w="2772918"/>
                <a:gridCol w="2772918"/>
                <a:gridCol w="2772918"/>
                <a:gridCol w="2772918"/>
              </a:tblGrid>
              <a:tr h="365760">
                <a:tc>
                  <a:txBody>
                    <a:bodyPr/>
                    <a:lstStyle/>
                    <a:p>
                      <a:pPr algn="ctr"/>
                      <a:r>
                        <a:rPr sz="1250" b="1" i="0">
                          <a:solidFill>
                            <a:srgbClr val="FFFFFF"/>
                          </a:solidFill>
                          <a:latin typeface="微软雅黑"/>
                        </a:rPr>
                        <a:t>层</a:t>
                      </a:r>
                    </a:p>
                  </a:txBody>
                  <a:tcPr marL="45720" marR="45720">
                    <a:solidFill>
                      <a:srgbClr val="10305A"/>
                    </a:solidFill>
                  </a:tcPr>
                </a:tc>
                <a:tc>
                  <a:txBody>
                    <a:bodyPr/>
                    <a:lstStyle/>
                    <a:p>
                      <a:pPr algn="ctr"/>
                      <a:r>
                        <a:rPr sz="1250" b="1" i="0">
                          <a:solidFill>
                            <a:srgbClr val="FFFFFF"/>
                          </a:solidFill>
                          <a:latin typeface="微软雅黑"/>
                        </a:rPr>
                        <a:t>核心问题</a:t>
                      </a:r>
                    </a:p>
                  </a:txBody>
                  <a:tcPr marL="45720" marR="45720">
                    <a:solidFill>
                      <a:srgbClr val="10305A"/>
                    </a:solidFill>
                  </a:tcPr>
                </a:tc>
                <a:tc>
                  <a:txBody>
                    <a:bodyPr/>
                    <a:lstStyle/>
                    <a:p>
                      <a:pPr algn="ctr"/>
                      <a:r>
                        <a:rPr sz="1250" b="1" i="0">
                          <a:solidFill>
                            <a:srgbClr val="FFFFFF"/>
                          </a:solidFill>
                          <a:latin typeface="微软雅黑"/>
                        </a:rPr>
                        <a:t>数据/方法</a:t>
                      </a:r>
                    </a:p>
                  </a:txBody>
                  <a:tcPr marL="45720" marR="45720">
                    <a:solidFill>
                      <a:srgbClr val="10305A"/>
                    </a:solidFill>
                  </a:tcPr>
                </a:tc>
                <a:tc>
                  <a:txBody>
                    <a:bodyPr/>
                    <a:lstStyle/>
                    <a:p>
                      <a:pPr algn="ctr"/>
                      <a:r>
                        <a:rPr sz="1250" b="1" i="0">
                          <a:solidFill>
                            <a:srgbClr val="FFFFFF"/>
                          </a:solidFill>
                          <a:latin typeface="微软雅黑"/>
                        </a:rPr>
                        <a:t>结论边界</a:t>
                      </a:r>
                    </a:p>
                  </a:txBody>
                  <a:tcPr marL="45720" marR="45720">
                    <a:solidFill>
                      <a:srgbClr val="10305A"/>
                    </a:solidFill>
                  </a:tcPr>
                </a:tc>
              </a:tr>
              <a:tr h="365760">
                <a:tc>
                  <a:txBody>
                    <a:bodyPr/>
                    <a:lstStyle/>
                    <a:p>
                      <a:r>
                        <a:rPr sz="1250" b="0" i="0">
                          <a:solidFill>
                            <a:srgbClr val="1F2937"/>
                          </a:solidFill>
                          <a:latin typeface="微软雅黑"/>
                        </a:rPr>
                        <a:t>阶段</a:t>
                      </a:r>
                    </a:p>
                  </a:txBody>
                  <a:tcPr marL="45720" marR="45720" anchor="t">
                    <a:solidFill>
                      <a:srgbClr val="F2F5F9"/>
                    </a:solidFill>
                  </a:tcPr>
                </a:tc>
                <a:tc>
                  <a:txBody>
                    <a:bodyPr/>
                    <a:lstStyle/>
                    <a:p>
                      <a:r>
                        <a:rPr sz="1250" b="0" i="0">
                          <a:solidFill>
                            <a:srgbClr val="1F2937"/>
                          </a:solidFill>
                          <a:latin typeface="微软雅黑"/>
                        </a:rPr>
                        <a:t>哪一组、哪一阶段出现差异</a:t>
                      </a:r>
                    </a:p>
                  </a:txBody>
                  <a:tcPr marL="45720" marR="45720" anchor="t">
                    <a:solidFill>
                      <a:srgbClr val="F2F5F9"/>
                    </a:solidFill>
                  </a:tcPr>
                </a:tc>
                <a:tc>
                  <a:txBody>
                    <a:bodyPr/>
                    <a:lstStyle/>
                    <a:p>
                      <a:r>
                        <a:rPr sz="1250" b="0" i="0">
                          <a:solidFill>
                            <a:srgbClr val="1F2937"/>
                          </a:solidFill>
                          <a:latin typeface="微软雅黑"/>
                        </a:rPr>
                        <a:t>五阶段模型、协变量校正、趋势</a:t>
                      </a:r>
                    </a:p>
                  </a:txBody>
                  <a:tcPr marL="45720" marR="45720" anchor="t">
                    <a:solidFill>
                      <a:srgbClr val="F2F5F9"/>
                    </a:solidFill>
                  </a:tcPr>
                </a:tc>
                <a:tc>
                  <a:txBody>
                    <a:bodyPr/>
                    <a:lstStyle/>
                    <a:p>
                      <a:r>
                        <a:rPr sz="1250" b="0" i="0">
                          <a:solidFill>
                            <a:srgbClr val="1F2937"/>
                          </a:solidFill>
                          <a:latin typeface="微软雅黑"/>
                        </a:rPr>
                        <a:t>时间/状态关联</a:t>
                      </a:r>
                    </a:p>
                  </a:txBody>
                  <a:tcPr marL="45720" marR="45720" anchor="t">
                    <a:solidFill>
                      <a:srgbClr val="F2F5F9"/>
                    </a:solidFill>
                  </a:tcPr>
                </a:tc>
              </a:tr>
              <a:tr h="365760">
                <a:tc>
                  <a:txBody>
                    <a:bodyPr/>
                    <a:lstStyle/>
                    <a:p>
                      <a:r>
                        <a:rPr sz="1250" b="0" i="0">
                          <a:solidFill>
                            <a:srgbClr val="1F2937"/>
                          </a:solidFill>
                          <a:latin typeface="微软雅黑"/>
                        </a:rPr>
                        <a:t>生态</a:t>
                      </a:r>
                    </a:p>
                  </a:txBody>
                  <a:tcPr marL="45720" marR="45720" anchor="t">
                    <a:solidFill>
                      <a:srgbClr val="FFFFFF"/>
                    </a:solidFill>
                  </a:tcPr>
                </a:tc>
                <a:tc>
                  <a:txBody>
                    <a:bodyPr/>
                    <a:lstStyle/>
                    <a:p>
                      <a:r>
                        <a:rPr sz="1250" b="0" i="0">
                          <a:solidFill>
                            <a:srgbClr val="1F2937"/>
                          </a:solidFill>
                          <a:latin typeface="微软雅黑"/>
                        </a:rPr>
                        <a:t>差异肽的来源菌和共现对象是谁</a:t>
                      </a:r>
                    </a:p>
                  </a:txBody>
                  <a:tcPr marL="45720" marR="45720" anchor="t">
                    <a:solidFill>
                      <a:srgbClr val="FFFFFF"/>
                    </a:solidFill>
                  </a:tcPr>
                </a:tc>
                <a:tc>
                  <a:txBody>
                    <a:bodyPr/>
                    <a:lstStyle/>
                    <a:p>
                      <a:r>
                        <a:rPr sz="1250" b="0" i="0">
                          <a:solidFill>
                            <a:srgbClr val="1F2937"/>
                          </a:solidFill>
                          <a:latin typeface="微软雅黑"/>
                        </a:rPr>
                        <a:t>MAG、菌群网络、LPS/SCFA</a:t>
                      </a:r>
                    </a:p>
                  </a:txBody>
                  <a:tcPr marL="45720" marR="45720" anchor="t">
                    <a:solidFill>
                      <a:srgbClr val="FFFFFF"/>
                    </a:solidFill>
                  </a:tcPr>
                </a:tc>
                <a:tc>
                  <a:txBody>
                    <a:bodyPr/>
                    <a:lstStyle/>
                    <a:p>
                      <a:r>
                        <a:rPr sz="1250" b="0" i="0">
                          <a:solidFill>
                            <a:srgbClr val="1F2937"/>
                          </a:solidFill>
                          <a:latin typeface="微软雅黑"/>
                        </a:rPr>
                        <a:t>生态候选路径</a:t>
                      </a:r>
                    </a:p>
                  </a:txBody>
                  <a:tcPr marL="45720" marR="45720" anchor="t">
                    <a:solidFill>
                      <a:srgbClr val="FFFFFF"/>
                    </a:solidFill>
                  </a:tcPr>
                </a:tc>
              </a:tr>
              <a:tr h="365760">
                <a:tc>
                  <a:txBody>
                    <a:bodyPr/>
                    <a:lstStyle/>
                    <a:p>
                      <a:r>
                        <a:rPr sz="1250" b="0" i="0">
                          <a:solidFill>
                            <a:srgbClr val="1F2937"/>
                          </a:solidFill>
                          <a:latin typeface="微软雅黑"/>
                        </a:rPr>
                        <a:t>分子</a:t>
                      </a:r>
                    </a:p>
                  </a:txBody>
                  <a:tcPr marL="45720" marR="45720" anchor="t">
                    <a:solidFill>
                      <a:srgbClr val="F2F5F9"/>
                    </a:solidFill>
                  </a:tcPr>
                </a:tc>
                <a:tc>
                  <a:txBody>
                    <a:bodyPr/>
                    <a:lstStyle/>
                    <a:p>
                      <a:r>
                        <a:rPr sz="1250" b="0" i="0">
                          <a:solidFill>
                            <a:srgbClr val="1F2937"/>
                          </a:solidFill>
                          <a:latin typeface="微软雅黑"/>
                        </a:rPr>
                        <a:t>它能否与膜、LPS、受体或 Aβ 相互作用</a:t>
                      </a:r>
                    </a:p>
                  </a:txBody>
                  <a:tcPr marL="45720" marR="45720" anchor="t">
                    <a:solidFill>
                      <a:srgbClr val="F2F5F9"/>
                    </a:solidFill>
                  </a:tcPr>
                </a:tc>
                <a:tc>
                  <a:txBody>
                    <a:bodyPr/>
                    <a:lstStyle/>
                    <a:p>
                      <a:r>
                        <a:rPr sz="1250" b="0" i="0">
                          <a:solidFill>
                            <a:srgbClr val="1F2937"/>
                          </a:solidFill>
                          <a:latin typeface="微软雅黑"/>
                        </a:rPr>
                        <a:t>MD、PMF、MM-PBSA、DFT</a:t>
                      </a:r>
                    </a:p>
                  </a:txBody>
                  <a:tcPr marL="45720" marR="45720" anchor="t">
                    <a:solidFill>
                      <a:srgbClr val="F2F5F9"/>
                    </a:solidFill>
                  </a:tcPr>
                </a:tc>
                <a:tc>
                  <a:txBody>
                    <a:bodyPr/>
                    <a:lstStyle/>
                    <a:p>
                      <a:r>
                        <a:rPr sz="1250" b="0" i="0">
                          <a:solidFill>
                            <a:srgbClr val="1F2937"/>
                          </a:solidFill>
                          <a:latin typeface="微软雅黑"/>
                        </a:rPr>
                        <a:t>结构机制线索</a:t>
                      </a:r>
                    </a:p>
                  </a:txBody>
                  <a:tcPr marL="45720" marR="45720" anchor="t">
                    <a:solidFill>
                      <a:srgbClr val="F2F5F9"/>
                    </a:solidFill>
                  </a:tcPr>
                </a:tc>
              </a:tr>
              <a:tr h="365760">
                <a:tc>
                  <a:txBody>
                    <a:bodyPr/>
                    <a:lstStyle/>
                    <a:p>
                      <a:r>
                        <a:rPr sz="1250" b="0" i="0">
                          <a:solidFill>
                            <a:srgbClr val="1F2937"/>
                          </a:solidFill>
                          <a:latin typeface="微软雅黑"/>
                        </a:rPr>
                        <a:t>病理</a:t>
                      </a:r>
                    </a:p>
                  </a:txBody>
                  <a:tcPr marL="45720" marR="45720" anchor="t">
                    <a:solidFill>
                      <a:srgbClr val="FFFFFF"/>
                    </a:solidFill>
                  </a:tcPr>
                </a:tc>
                <a:tc>
                  <a:txBody>
                    <a:bodyPr/>
                    <a:lstStyle/>
                    <a:p>
                      <a:r>
                        <a:rPr sz="1250" b="0" i="0">
                          <a:solidFill>
                            <a:srgbClr val="1F2937"/>
                          </a:solidFill>
                          <a:latin typeface="微软雅黑"/>
                        </a:rPr>
                        <a:t>是否指向炎症、BBB、Aβ/Tau 或突触</a:t>
                      </a:r>
                    </a:p>
                  </a:txBody>
                  <a:tcPr marL="45720" marR="45720" anchor="t">
                    <a:solidFill>
                      <a:srgbClr val="FFFFFF"/>
                    </a:solidFill>
                  </a:tcPr>
                </a:tc>
                <a:tc>
                  <a:txBody>
                    <a:bodyPr/>
                    <a:lstStyle/>
                    <a:p>
                      <a:r>
                        <a:rPr sz="1250" b="0" i="0">
                          <a:solidFill>
                            <a:srgbClr val="1F2937"/>
                          </a:solidFill>
                          <a:latin typeface="微软雅黑"/>
                        </a:rPr>
                        <a:t>中介、细胞/动物、干预</a:t>
                      </a:r>
                    </a:p>
                  </a:txBody>
                  <a:tcPr marL="45720" marR="45720" anchor="t">
                    <a:solidFill>
                      <a:srgbClr val="FFFFFF"/>
                    </a:solidFill>
                  </a:tcPr>
                </a:tc>
                <a:tc>
                  <a:txBody>
                    <a:bodyPr/>
                    <a:lstStyle/>
                    <a:p>
                      <a:r>
                        <a:rPr sz="1250" b="0" i="0">
                          <a:solidFill>
                            <a:srgbClr val="1F2937"/>
                          </a:solidFill>
                          <a:latin typeface="微软雅黑"/>
                        </a:rPr>
                        <a:t>病理方向/因果强度</a:t>
                      </a:r>
                    </a:p>
                  </a:txBody>
                  <a:tcPr marL="45720" marR="45720" anchor="t">
                    <a:solidFill>
                      <a:srgbClr val="FFFFFF"/>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33 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19　答辩问答卡</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老师追问时直接按证据边界回答</a:t>
            </a:r>
          </a:p>
        </p:txBody>
      </p:sp>
      <p:graphicFrame>
        <p:nvGraphicFramePr>
          <p:cNvPr id="5" name="Table 4"/>
          <p:cNvGraphicFramePr>
            <a:graphicFrameLocks noGrp="1"/>
          </p:cNvGraphicFramePr>
          <p:nvPr/>
        </p:nvGraphicFramePr>
        <p:xfrm>
          <a:off x="548640" y="1325880"/>
          <a:ext cx="11091672" cy="2761488"/>
        </p:xfrm>
        <a:graphic>
          <a:graphicData uri="http://schemas.openxmlformats.org/drawingml/2006/table">
            <a:tbl>
              <a:tblPr firstRow="1" bandRow="1">
                <a:tableStyleId>{5C22544A-7EE6-4342-B048-85BDC9FD1C3A}</a:tableStyleId>
              </a:tblPr>
              <a:tblGrid>
                <a:gridCol w="5545836"/>
                <a:gridCol w="5545836"/>
              </a:tblGrid>
              <a:tr h="345186">
                <a:tc>
                  <a:txBody>
                    <a:bodyPr/>
                    <a:lstStyle/>
                    <a:p>
                      <a:pPr algn="ctr"/>
                      <a:r>
                        <a:rPr sz="1000" b="1" i="0">
                          <a:solidFill>
                            <a:srgbClr val="FFFFFF"/>
                          </a:solidFill>
                          <a:latin typeface="微软雅黑"/>
                        </a:rPr>
                        <a:t>老师追问</a:t>
                      </a:r>
                    </a:p>
                  </a:txBody>
                  <a:tcPr marL="45720" marR="45720">
                    <a:solidFill>
                      <a:srgbClr val="10305A"/>
                    </a:solidFill>
                  </a:tcPr>
                </a:tc>
                <a:tc>
                  <a:txBody>
                    <a:bodyPr/>
                    <a:lstStyle/>
                    <a:p>
                      <a:pPr algn="ctr"/>
                      <a:r>
                        <a:rPr sz="1000" b="1" i="0">
                          <a:solidFill>
                            <a:srgbClr val="FFFFFF"/>
                          </a:solidFill>
                          <a:latin typeface="微软雅黑"/>
                        </a:rPr>
                        <a:t>推荐回答</a:t>
                      </a:r>
                    </a:p>
                  </a:txBody>
                  <a:tcPr marL="45720" marR="45720">
                    <a:solidFill>
                      <a:srgbClr val="10305A"/>
                    </a:solidFill>
                  </a:tcPr>
                </a:tc>
              </a:tr>
              <a:tr h="345186">
                <a:tc>
                  <a:txBody>
                    <a:bodyPr/>
                    <a:lstStyle/>
                    <a:p>
                      <a:r>
                        <a:rPr sz="1000" b="0" i="0">
                          <a:solidFill>
                            <a:srgbClr val="1F2937"/>
                          </a:solidFill>
                          <a:latin typeface="微软雅黑"/>
                        </a:rPr>
                        <a:t>你找的是致病肽还是抑制剂？</a:t>
                      </a:r>
                    </a:p>
                  </a:txBody>
                  <a:tcPr marL="45720" marR="45720" anchor="t">
                    <a:solidFill>
                      <a:srgbClr val="F2F5F9"/>
                    </a:solidFill>
                  </a:tcPr>
                </a:tc>
                <a:tc>
                  <a:txBody>
                    <a:bodyPr/>
                    <a:lstStyle/>
                    <a:p>
                      <a:r>
                        <a:rPr sz="1000" b="0" i="0">
                          <a:solidFill>
                            <a:srgbClr val="1F2937"/>
                          </a:solidFill>
                          <a:latin typeface="微软雅黑"/>
                        </a:rPr>
                        <a:t>首先找 AD 相关差异微生物源 AMP；致病样和保护/抑制样是后续方向性分类。</a:t>
                      </a:r>
                    </a:p>
                  </a:txBody>
                  <a:tcPr marL="45720" marR="45720" anchor="t">
                    <a:solidFill>
                      <a:srgbClr val="F2F5F9"/>
                    </a:solidFill>
                  </a:tcPr>
                </a:tc>
              </a:tr>
              <a:tr h="345186">
                <a:tc>
                  <a:txBody>
                    <a:bodyPr/>
                    <a:lstStyle/>
                    <a:p>
                      <a:r>
                        <a:rPr sz="1000" b="0" i="0">
                          <a:solidFill>
                            <a:srgbClr val="1F2937"/>
                          </a:solidFill>
                          <a:latin typeface="微软雅黑"/>
                        </a:rPr>
                        <a:t>Aβ 结合能证明什么？</a:t>
                      </a:r>
                    </a:p>
                  </a:txBody>
                  <a:tcPr marL="45720" marR="45720" anchor="t">
                    <a:solidFill>
                      <a:srgbClr val="FFFFFF"/>
                    </a:solidFill>
                  </a:tcPr>
                </a:tc>
                <a:tc>
                  <a:txBody>
                    <a:bodyPr/>
                    <a:lstStyle/>
                    <a:p>
                      <a:r>
                        <a:rPr sz="1000" b="0" i="0">
                          <a:solidFill>
                            <a:srgbClr val="1F2937"/>
                          </a:solidFill>
                          <a:latin typeface="微软雅黑"/>
                        </a:rPr>
                        <a:t>证明一种可能的分子相互作用，必须继续判断聚集方向、炎症、膜损伤和暴露。</a:t>
                      </a:r>
                    </a:p>
                  </a:txBody>
                  <a:tcPr marL="45720" marR="45720" anchor="t">
                    <a:solidFill>
                      <a:srgbClr val="FFFFFF"/>
                    </a:solidFill>
                  </a:tcPr>
                </a:tc>
              </a:tr>
              <a:tr h="345186">
                <a:tc>
                  <a:txBody>
                    <a:bodyPr/>
                    <a:lstStyle/>
                    <a:p>
                      <a:r>
                        <a:rPr sz="1000" b="0" i="0">
                          <a:solidFill>
                            <a:srgbClr val="1F2937"/>
                          </a:solidFill>
                          <a:latin typeface="微软雅黑"/>
                        </a:rPr>
                        <a:t>为什么做 AChE-PAS？</a:t>
                      </a:r>
                    </a:p>
                  </a:txBody>
                  <a:tcPr marL="45720" marR="45720" anchor="t">
                    <a:solidFill>
                      <a:srgbClr val="F2F5F9"/>
                    </a:solidFill>
                  </a:tcPr>
                </a:tc>
                <a:tc>
                  <a:txBody>
                    <a:bodyPr/>
                    <a:lstStyle/>
                    <a:p>
                      <a:r>
                        <a:rPr sz="1000" b="0" i="0">
                          <a:solidFill>
                            <a:srgbClr val="1F2937"/>
                          </a:solidFill>
                          <a:latin typeface="微软雅黑"/>
                        </a:rPr>
                        <a:t>借鉴已有 AChE-Aβ MD 的界面解析方法，为候选肽竞争或调节提出可检验假设。</a:t>
                      </a:r>
                    </a:p>
                  </a:txBody>
                  <a:tcPr marL="45720" marR="45720" anchor="t">
                    <a:solidFill>
                      <a:srgbClr val="F2F5F9"/>
                    </a:solidFill>
                  </a:tcPr>
                </a:tc>
              </a:tr>
              <a:tr h="345186">
                <a:tc>
                  <a:txBody>
                    <a:bodyPr/>
                    <a:lstStyle/>
                    <a:p>
                      <a:r>
                        <a:rPr sz="1000" b="0" i="0">
                          <a:solidFill>
                            <a:srgbClr val="1F2937"/>
                          </a:solidFill>
                          <a:latin typeface="微软雅黑"/>
                        </a:rPr>
                        <a:t>微生物 AMP 会进入脑吗？</a:t>
                      </a:r>
                    </a:p>
                  </a:txBody>
                  <a:tcPr marL="45720" marR="45720" anchor="t">
                    <a:solidFill>
                      <a:srgbClr val="FFFFFF"/>
                    </a:solidFill>
                  </a:tcPr>
                </a:tc>
                <a:tc>
                  <a:txBody>
                    <a:bodyPr/>
                    <a:lstStyle/>
                    <a:p>
                      <a:r>
                        <a:rPr sz="1000" b="0" i="0">
                          <a:solidFill>
                            <a:srgbClr val="1F2937"/>
                          </a:solidFill>
                          <a:latin typeface="微软雅黑"/>
                        </a:rPr>
                        <a:t>目前不能默认；先做生态/炎症主路径，直接入脑只对有暴露证据的候选做条件性验证。</a:t>
                      </a:r>
                    </a:p>
                  </a:txBody>
                  <a:tcPr marL="45720" marR="45720" anchor="t">
                    <a:solidFill>
                      <a:srgbClr val="FFFFFF"/>
                    </a:solidFill>
                  </a:tcPr>
                </a:tc>
              </a:tr>
              <a:tr h="345186">
                <a:tc>
                  <a:txBody>
                    <a:bodyPr/>
                    <a:lstStyle/>
                    <a:p>
                      <a:r>
                        <a:rPr sz="1000" b="0" i="0">
                          <a:solidFill>
                            <a:srgbClr val="1F2937"/>
                          </a:solidFill>
                          <a:latin typeface="微软雅黑"/>
                        </a:rPr>
                        <a:t>为什么 AD 组更多？</a:t>
                      </a:r>
                    </a:p>
                  </a:txBody>
                  <a:tcPr marL="45720" marR="45720" anchor="t">
                    <a:solidFill>
                      <a:srgbClr val="F2F5F9"/>
                    </a:solidFill>
                  </a:tcPr>
                </a:tc>
                <a:tc>
                  <a:txBody>
                    <a:bodyPr/>
                    <a:lstStyle/>
                    <a:p>
                      <a:r>
                        <a:rPr sz="1000" b="0" i="0">
                          <a:solidFill>
                            <a:srgbClr val="1F2937"/>
                          </a:solidFill>
                          <a:latin typeface="微软雅黑"/>
                        </a:rPr>
                        <a:t>部分宿主 AMP/总抗菌活性文献方向偏高，但不是所有 AMP 都高；微生物源 AMP 方向由本课题结果决定。</a:t>
                      </a:r>
                    </a:p>
                  </a:txBody>
                  <a:tcPr marL="45720" marR="45720" anchor="t">
                    <a:solidFill>
                      <a:srgbClr val="F2F5F9"/>
                    </a:solidFill>
                  </a:tcPr>
                </a:tc>
              </a:tr>
              <a:tr h="345186">
                <a:tc>
                  <a:txBody>
                    <a:bodyPr/>
                    <a:lstStyle/>
                    <a:p>
                      <a:r>
                        <a:rPr sz="1000" b="0" i="0">
                          <a:solidFill>
                            <a:srgbClr val="1F2937"/>
                          </a:solidFill>
                          <a:latin typeface="微软雅黑"/>
                        </a:rPr>
                        <a:t>为什么不全部合成验证？</a:t>
                      </a:r>
                    </a:p>
                  </a:txBody>
                  <a:tcPr marL="45720" marR="45720" anchor="t">
                    <a:solidFill>
                      <a:srgbClr val="FFFFFF"/>
                    </a:solidFill>
                  </a:tcPr>
                </a:tc>
                <a:tc>
                  <a:txBody>
                    <a:bodyPr/>
                    <a:lstStyle/>
                    <a:p>
                      <a:r>
                        <a:rPr sz="1000" b="0" i="0">
                          <a:solidFill>
                            <a:srgbClr val="1F2937"/>
                          </a:solidFill>
                          <a:latin typeface="微软雅黑"/>
                        </a:rPr>
                        <a:t>先计算筛选和表达去重，再按风险样/保护样/未知方向选择代表性候选降低成本。</a:t>
                      </a:r>
                    </a:p>
                  </a:txBody>
                  <a:tcPr marL="45720" marR="45720" anchor="t">
                    <a:solidFill>
                      <a:srgbClr val="FFFFFF"/>
                    </a:solidFill>
                  </a:tcPr>
                </a:tc>
              </a:tr>
              <a:tr h="345186">
                <a:tc>
                  <a:txBody>
                    <a:bodyPr/>
                    <a:lstStyle/>
                    <a:p>
                      <a:r>
                        <a:rPr sz="1000" b="0" i="0">
                          <a:solidFill>
                            <a:srgbClr val="1F2937"/>
                          </a:solidFill>
                          <a:latin typeface="微软雅黑"/>
                        </a:rPr>
                        <a:t>能不能说导致 AD？</a:t>
                      </a:r>
                    </a:p>
                  </a:txBody>
                  <a:tcPr marL="45720" marR="45720" anchor="t">
                    <a:solidFill>
                      <a:srgbClr val="F2F5F9"/>
                    </a:solidFill>
                  </a:tcPr>
                </a:tc>
                <a:tc>
                  <a:txBody>
                    <a:bodyPr/>
                    <a:lstStyle/>
                    <a:p>
                      <a:r>
                        <a:rPr sz="1000" b="0" i="0">
                          <a:solidFill>
                            <a:srgbClr val="1F2937"/>
                          </a:solidFill>
                          <a:latin typeface="微软雅黑"/>
                        </a:rPr>
                        <a:t>在横断面和计算证据阶段只能说 AD-associated candidate；因果需要加入、去除、阻断或动物验证。</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34 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11480"/>
            <a:ext cx="118872"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29184"/>
            <a:ext cx="10881360" cy="731520"/>
          </a:xfrm>
          <a:prstGeom prst="rect">
            <a:avLst/>
          </a:prstGeom>
          <a:noFill/>
        </p:spPr>
        <p:txBody>
          <a:bodyPr wrap="square">
            <a:spAutoFit/>
          </a:bodyPr>
          <a:lstStyle/>
          <a:p>
            <a:pPr algn="l"/>
            <a:r>
              <a:rPr sz="2500" b="1" i="0">
                <a:solidFill>
                  <a:srgbClr val="10305A"/>
                </a:solidFill>
                <a:latin typeface="微软雅黑"/>
              </a:rPr>
              <a:t>表 20　从计算关联走向因果还需要什么</a:t>
            </a:r>
          </a:p>
        </p:txBody>
      </p:sp>
      <p:sp>
        <p:nvSpPr>
          <p:cNvPr id="4" name="TextBox 3"/>
          <p:cNvSpPr txBox="1"/>
          <p:nvPr/>
        </p:nvSpPr>
        <p:spPr>
          <a:xfrm>
            <a:off x="795528" y="960120"/>
            <a:ext cx="10881360" cy="320040"/>
          </a:xfrm>
          <a:prstGeom prst="rect">
            <a:avLst/>
          </a:prstGeom>
          <a:noFill/>
        </p:spPr>
        <p:txBody>
          <a:bodyPr wrap="square">
            <a:spAutoFit/>
          </a:bodyPr>
          <a:lstStyle/>
          <a:p>
            <a:pPr algn="l"/>
            <a:r>
              <a:rPr sz="1200" b="0" i="0">
                <a:solidFill>
                  <a:srgbClr val="5B6677"/>
                </a:solidFill>
                <a:latin typeface="微软雅黑"/>
              </a:rPr>
              <a:t>验证路线</a:t>
            </a:r>
          </a:p>
        </p:txBody>
      </p:sp>
      <p:graphicFrame>
        <p:nvGraphicFramePr>
          <p:cNvPr id="5" name="Table 4"/>
          <p:cNvGraphicFramePr>
            <a:graphicFrameLocks noGrp="1"/>
          </p:cNvGraphicFramePr>
          <p:nvPr/>
        </p:nvGraphicFramePr>
        <p:xfrm>
          <a:off x="548640" y="1325880"/>
          <a:ext cx="11091672" cy="2139696"/>
        </p:xfrm>
        <a:graphic>
          <a:graphicData uri="http://schemas.openxmlformats.org/drawingml/2006/table">
            <a:tbl>
              <a:tblPr firstRow="1" bandRow="1">
                <a:tableStyleId>{5C22544A-7EE6-4342-B048-85BDC9FD1C3A}</a:tableStyleId>
              </a:tblPr>
              <a:tblGrid>
                <a:gridCol w="3697224"/>
                <a:gridCol w="3697224"/>
                <a:gridCol w="3697224"/>
              </a:tblGrid>
              <a:tr h="356616">
                <a:tc>
                  <a:txBody>
                    <a:bodyPr/>
                    <a:lstStyle/>
                    <a:p>
                      <a:pPr algn="ctr"/>
                      <a:r>
                        <a:rPr sz="1100" b="1" i="0">
                          <a:solidFill>
                            <a:srgbClr val="FFFFFF"/>
                          </a:solidFill>
                          <a:latin typeface="微软雅黑"/>
                        </a:rPr>
                        <a:t>计算可以提供</a:t>
                      </a:r>
                    </a:p>
                  </a:txBody>
                  <a:tcPr marL="45720" marR="45720">
                    <a:solidFill>
                      <a:srgbClr val="10305A"/>
                    </a:solidFill>
                  </a:tcPr>
                </a:tc>
                <a:tc>
                  <a:txBody>
                    <a:bodyPr/>
                    <a:lstStyle/>
                    <a:p>
                      <a:pPr algn="ctr"/>
                      <a:r>
                        <a:rPr sz="1100" b="1" i="0">
                          <a:solidFill>
                            <a:srgbClr val="FFFFFF"/>
                          </a:solidFill>
                          <a:latin typeface="微软雅黑"/>
                        </a:rPr>
                        <a:t>仍需补的证据</a:t>
                      </a:r>
                    </a:p>
                  </a:txBody>
                  <a:tcPr marL="45720" marR="45720">
                    <a:solidFill>
                      <a:srgbClr val="10305A"/>
                    </a:solidFill>
                  </a:tcPr>
                </a:tc>
                <a:tc>
                  <a:txBody>
                    <a:bodyPr/>
                    <a:lstStyle/>
                    <a:p>
                      <a:pPr algn="ctr"/>
                      <a:r>
                        <a:rPr sz="1100" b="1" i="0">
                          <a:solidFill>
                            <a:srgbClr val="FFFFFF"/>
                          </a:solidFill>
                          <a:latin typeface="微软雅黑"/>
                        </a:rPr>
                        <a:t>验证方式</a:t>
                      </a:r>
                    </a:p>
                  </a:txBody>
                  <a:tcPr marL="45720" marR="45720">
                    <a:solidFill>
                      <a:srgbClr val="10305A"/>
                    </a:solidFill>
                  </a:tcPr>
                </a:tc>
              </a:tr>
              <a:tr h="356616">
                <a:tc>
                  <a:txBody>
                    <a:bodyPr/>
                    <a:lstStyle/>
                    <a:p>
                      <a:r>
                        <a:rPr sz="1100" b="0" i="0">
                          <a:solidFill>
                            <a:srgbClr val="1F2937"/>
                          </a:solidFill>
                          <a:latin typeface="微软雅黑"/>
                        </a:rPr>
                        <a:t>候选身份与差异</a:t>
                      </a:r>
                    </a:p>
                  </a:txBody>
                  <a:tcPr marL="45720" marR="45720" anchor="t">
                    <a:solidFill>
                      <a:srgbClr val="F2F5F9"/>
                    </a:solidFill>
                  </a:tcPr>
                </a:tc>
                <a:tc>
                  <a:txBody>
                    <a:bodyPr/>
                    <a:lstStyle/>
                    <a:p>
                      <a:r>
                        <a:rPr sz="1100" b="0" i="0">
                          <a:solidFill>
                            <a:srgbClr val="1F2937"/>
                          </a:solidFill>
                          <a:latin typeface="微软雅黑"/>
                        </a:rPr>
                        <a:t>真实表达和加工后的肽浓度</a:t>
                      </a:r>
                    </a:p>
                  </a:txBody>
                  <a:tcPr marL="45720" marR="45720" anchor="t">
                    <a:solidFill>
                      <a:srgbClr val="F2F5F9"/>
                    </a:solidFill>
                  </a:tcPr>
                </a:tc>
                <a:tc>
                  <a:txBody>
                    <a:bodyPr/>
                    <a:lstStyle/>
                    <a:p>
                      <a:r>
                        <a:rPr sz="1100" b="0" i="0">
                          <a:solidFill>
                            <a:srgbClr val="1F2937"/>
                          </a:solidFill>
                          <a:latin typeface="微软雅黑"/>
                        </a:rPr>
                        <a:t>宏蛋白组、肽组学、靶向定量</a:t>
                      </a:r>
                    </a:p>
                  </a:txBody>
                  <a:tcPr marL="45720" marR="45720" anchor="t">
                    <a:solidFill>
                      <a:srgbClr val="F2F5F9"/>
                    </a:solidFill>
                  </a:tcPr>
                </a:tc>
              </a:tr>
              <a:tr h="356616">
                <a:tc>
                  <a:txBody>
                    <a:bodyPr/>
                    <a:lstStyle/>
                    <a:p>
                      <a:r>
                        <a:rPr sz="1100" b="0" i="0">
                          <a:solidFill>
                            <a:srgbClr val="1F2937"/>
                          </a:solidFill>
                          <a:latin typeface="微软雅黑"/>
                        </a:rPr>
                        <a:t>来源菌与生态关联</a:t>
                      </a:r>
                    </a:p>
                  </a:txBody>
                  <a:tcPr marL="45720" marR="45720" anchor="t">
                    <a:solidFill>
                      <a:srgbClr val="FFFFFF"/>
                    </a:solidFill>
                  </a:tcPr>
                </a:tc>
                <a:tc>
                  <a:txBody>
                    <a:bodyPr/>
                    <a:lstStyle/>
                    <a:p>
                      <a:r>
                        <a:rPr sz="1100" b="0" i="0">
                          <a:solidFill>
                            <a:srgbClr val="1F2937"/>
                          </a:solidFill>
                          <a:latin typeface="微软雅黑"/>
                        </a:rPr>
                        <a:t>活菌环境中的选择效应</a:t>
                      </a:r>
                    </a:p>
                  </a:txBody>
                  <a:tcPr marL="45720" marR="45720" anchor="t">
                    <a:solidFill>
                      <a:srgbClr val="FFFFFF"/>
                    </a:solidFill>
                  </a:tcPr>
                </a:tc>
                <a:tc>
                  <a:txBody>
                    <a:bodyPr/>
                    <a:lstStyle/>
                    <a:p>
                      <a:r>
                        <a:rPr sz="1100" b="0" i="0">
                          <a:solidFill>
                            <a:srgbClr val="1F2937"/>
                          </a:solidFill>
                          <a:latin typeface="微软雅黑"/>
                        </a:rPr>
                        <a:t>共培养、菌群模拟、动物或 FMT</a:t>
                      </a:r>
                    </a:p>
                  </a:txBody>
                  <a:tcPr marL="45720" marR="45720" anchor="t">
                    <a:solidFill>
                      <a:srgbClr val="FFFFFF"/>
                    </a:solidFill>
                  </a:tcPr>
                </a:tc>
              </a:tr>
              <a:tr h="356616">
                <a:tc>
                  <a:txBody>
                    <a:bodyPr/>
                    <a:lstStyle/>
                    <a:p>
                      <a:r>
                        <a:rPr sz="1100" b="0" i="0">
                          <a:solidFill>
                            <a:srgbClr val="1F2937"/>
                          </a:solidFill>
                          <a:latin typeface="微软雅黑"/>
                        </a:rPr>
                        <a:t>LPS/受体结构线索</a:t>
                      </a:r>
                    </a:p>
                  </a:txBody>
                  <a:tcPr marL="45720" marR="45720" anchor="t">
                    <a:solidFill>
                      <a:srgbClr val="F2F5F9"/>
                    </a:solidFill>
                  </a:tcPr>
                </a:tc>
                <a:tc>
                  <a:txBody>
                    <a:bodyPr/>
                    <a:lstStyle/>
                    <a:p>
                      <a:r>
                        <a:rPr sz="1100" b="0" i="0">
                          <a:solidFill>
                            <a:srgbClr val="1F2937"/>
                          </a:solidFill>
                          <a:latin typeface="微软雅黑"/>
                        </a:rPr>
                        <a:t>细胞信号和炎症方向</a:t>
                      </a:r>
                    </a:p>
                  </a:txBody>
                  <a:tcPr marL="45720" marR="45720" anchor="t">
                    <a:solidFill>
                      <a:srgbClr val="F2F5F9"/>
                    </a:solidFill>
                  </a:tcPr>
                </a:tc>
                <a:tc>
                  <a:txBody>
                    <a:bodyPr/>
                    <a:lstStyle/>
                    <a:p>
                      <a:r>
                        <a:rPr sz="1100" b="0" i="0">
                          <a:solidFill>
                            <a:srgbClr val="1F2937"/>
                          </a:solidFill>
                          <a:latin typeface="微软雅黑"/>
                        </a:rPr>
                        <a:t>受体阻断、微胶质/肠上皮细胞</a:t>
                      </a:r>
                    </a:p>
                  </a:txBody>
                  <a:tcPr marL="45720" marR="45720" anchor="t">
                    <a:solidFill>
                      <a:srgbClr val="F2F5F9"/>
                    </a:solidFill>
                  </a:tcPr>
                </a:tc>
              </a:tr>
              <a:tr h="356616">
                <a:tc>
                  <a:txBody>
                    <a:bodyPr/>
                    <a:lstStyle/>
                    <a:p>
                      <a:r>
                        <a:rPr sz="1100" b="0" i="0">
                          <a:solidFill>
                            <a:srgbClr val="1F2937"/>
                          </a:solidFill>
                          <a:latin typeface="微软雅黑"/>
                        </a:rPr>
                        <a:t>Aβ/BBB 计算方向</a:t>
                      </a:r>
                    </a:p>
                  </a:txBody>
                  <a:tcPr marL="45720" marR="45720" anchor="t">
                    <a:solidFill>
                      <a:srgbClr val="FFFFFF"/>
                    </a:solidFill>
                  </a:tcPr>
                </a:tc>
                <a:tc>
                  <a:txBody>
                    <a:bodyPr/>
                    <a:lstStyle/>
                    <a:p>
                      <a:r>
                        <a:rPr sz="1100" b="0" i="0">
                          <a:solidFill>
                            <a:srgbClr val="1F2937"/>
                          </a:solidFill>
                          <a:latin typeface="微软雅黑"/>
                        </a:rPr>
                        <a:t>体内暴露和病理表型</a:t>
                      </a:r>
                    </a:p>
                  </a:txBody>
                  <a:tcPr marL="45720" marR="45720" anchor="t">
                    <a:solidFill>
                      <a:srgbClr val="FFFFFF"/>
                    </a:solidFill>
                  </a:tcPr>
                </a:tc>
                <a:tc>
                  <a:txBody>
                    <a:bodyPr/>
                    <a:lstStyle/>
                    <a:p>
                      <a:r>
                        <a:rPr sz="1100" b="0" i="0">
                          <a:solidFill>
                            <a:srgbClr val="1F2937"/>
                          </a:solidFill>
                          <a:latin typeface="微软雅黑"/>
                        </a:rPr>
                        <a:t>血液/CSF/脑组织及 BBB 模型</a:t>
                      </a:r>
                    </a:p>
                  </a:txBody>
                  <a:tcPr marL="45720" marR="45720" anchor="t">
                    <a:solidFill>
                      <a:srgbClr val="FFFFFF"/>
                    </a:solidFill>
                  </a:tcPr>
                </a:tc>
              </a:tr>
              <a:tr h="356616">
                <a:tc>
                  <a:txBody>
                    <a:bodyPr/>
                    <a:lstStyle/>
                    <a:p>
                      <a:r>
                        <a:rPr sz="1100" b="0" i="0">
                          <a:solidFill>
                            <a:srgbClr val="1F2937"/>
                          </a:solidFill>
                          <a:latin typeface="微软雅黑"/>
                        </a:rPr>
                        <a:t>风险/保护标签</a:t>
                      </a:r>
                    </a:p>
                  </a:txBody>
                  <a:tcPr marL="45720" marR="45720" anchor="t">
                    <a:solidFill>
                      <a:srgbClr val="F2F5F9"/>
                    </a:solidFill>
                  </a:tcPr>
                </a:tc>
                <a:tc>
                  <a:txBody>
                    <a:bodyPr/>
                    <a:lstStyle/>
                    <a:p>
                      <a:r>
                        <a:rPr sz="1100" b="0" i="0">
                          <a:solidFill>
                            <a:srgbClr val="1F2937"/>
                          </a:solidFill>
                          <a:latin typeface="微软雅黑"/>
                        </a:rPr>
                        <a:t>干预后表型逆转</a:t>
                      </a:r>
                    </a:p>
                  </a:txBody>
                  <a:tcPr marL="45720" marR="45720" anchor="t">
                    <a:solidFill>
                      <a:srgbClr val="F2F5F9"/>
                    </a:solidFill>
                  </a:tcPr>
                </a:tc>
                <a:tc>
                  <a:txBody>
                    <a:bodyPr/>
                    <a:lstStyle/>
                    <a:p>
                      <a:r>
                        <a:rPr sz="1100" b="0" i="0">
                          <a:solidFill>
                            <a:srgbClr val="1F2937"/>
                          </a:solidFill>
                          <a:latin typeface="微软雅黑"/>
                        </a:rPr>
                        <a:t>加入、去除、敲低或中和候选肽</a:t>
                      </a:r>
                    </a:p>
                  </a:txBody>
                  <a:tcPr marL="45720" marR="45720" anchor="t">
                    <a:solidFill>
                      <a:srgbClr val="F2F5F9"/>
                    </a:solidFill>
                  </a:tcPr>
                </a:tc>
              </a:tr>
            </a:tbl>
          </a:graphicData>
        </a:graphic>
      </p:graphicFrame>
      <p:sp>
        <p:nvSpPr>
          <p:cNvPr id="6" name="Rectangle 5"/>
          <p:cNvSpPr/>
          <p:nvPr/>
        </p:nvSpPr>
        <p:spPr>
          <a:xfrm>
            <a:off x="548640" y="6446520"/>
            <a:ext cx="11091672" cy="18288"/>
          </a:xfrm>
          <a:prstGeom prst="rect">
            <a:avLst/>
          </a:prstGeom>
          <a:solidFill>
            <a:srgbClr val="D5D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8229600" cy="274320"/>
          </a:xfrm>
          <a:prstGeom prst="rect">
            <a:avLst/>
          </a:prstGeom>
          <a:noFill/>
        </p:spPr>
        <p:txBody>
          <a:bodyPr wrap="square">
            <a:spAutoFit/>
          </a:bodyPr>
          <a:lstStyle/>
          <a:p>
            <a:pPr algn="l"/>
            <a:r>
              <a:rPr sz="900" b="0" i="0">
                <a:solidFill>
                  <a:srgbClr val="5B6677"/>
                </a:solidFill>
                <a:latin typeface="微软雅黑"/>
              </a:rPr>
              <a:t>抗菌肽与 AD 关联机制说明·八问整合版｜2026-09-26 10:34 北京时间</a:t>
            </a:r>
          </a:p>
        </p:txBody>
      </p:sp>
      <p:sp>
        <p:nvSpPr>
          <p:cNvPr id="8" name="TextBox 7"/>
          <p:cNvSpPr txBox="1"/>
          <p:nvPr/>
        </p:nvSpPr>
        <p:spPr>
          <a:xfrm>
            <a:off x="9144000" y="6473952"/>
            <a:ext cx="2496312" cy="274320"/>
          </a:xfrm>
          <a:prstGeom prst="rect">
            <a:avLst/>
          </a:prstGeom>
          <a:noFill/>
        </p:spPr>
        <p:txBody>
          <a:bodyPr wrap="square">
            <a:spAutoFit/>
          </a:bodyPr>
          <a:lstStyle/>
          <a:p>
            <a:pPr algn="r"/>
            <a:r>
              <a:rPr sz="900" b="0" i="0">
                <a:solidFill>
                  <a:srgbClr val="5B6677"/>
                </a:solidFill>
                <a:latin typeface="微软雅黑"/>
              </a:rPr>
              <a:t>第 35 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737360"/>
            <a:ext cx="2011680"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32720" cy="2377440"/>
          </a:xfrm>
          <a:prstGeom prst="rect">
            <a:avLst/>
          </a:prstGeom>
          <a:noFill/>
        </p:spPr>
        <p:txBody>
          <a:bodyPr wrap="square">
            <a:spAutoFit/>
          </a:bodyPr>
          <a:lstStyle/>
          <a:p>
            <a:pPr algn="l"/>
            <a:r>
              <a:rPr sz="3000" b="1" i="0">
                <a:solidFill>
                  <a:srgbClr val="FFFFFF"/>
                </a:solidFill>
                <a:latin typeface="微软雅黑"/>
              </a:rPr>
              <a:t>三个问题，三条计算主线</a:t>
            </a:r>
          </a:p>
          <a:p>
            <a:pPr>
              <a:spcBef>
                <a:spcPts val="1200"/>
              </a:spcBef>
            </a:pPr>
            <a:r>
              <a:rPr sz="1500" b="0" i="0">
                <a:solidFill>
                  <a:srgbClr val="DCE4EE"/>
                </a:solidFill>
                <a:latin typeface="微软雅黑"/>
              </a:rPr>
              <a:t>主对象：AD 相关差异微生物源 AMP</a:t>
            </a:r>
          </a:p>
          <a:p>
            <a:pPr>
              <a:spcBef>
                <a:spcPts val="1200"/>
              </a:spcBef>
            </a:pPr>
            <a:r>
              <a:rPr sz="1500" b="0" i="0">
                <a:solidFill>
                  <a:srgbClr val="DCE4EE"/>
                </a:solidFill>
                <a:latin typeface="微软雅黑"/>
              </a:rPr>
              <a:t>主路径：AMP—菌群—LPS/SCFA—肠屏障/炎症—脑病理</a:t>
            </a:r>
          </a:p>
          <a:p>
            <a:pPr>
              <a:spcBef>
                <a:spcPts val="1200"/>
              </a:spcBef>
            </a:pPr>
            <a:r>
              <a:rPr sz="1500" b="0" i="0">
                <a:solidFill>
                  <a:srgbClr val="DCE4EE"/>
                </a:solidFill>
                <a:latin typeface="微软雅黑"/>
              </a:rPr>
              <a:t>Aβ/AChE/BBB：高优先级候选的条件性机制验证</a:t>
            </a:r>
          </a:p>
          <a:p>
            <a:pPr>
              <a:spcBef>
                <a:spcPts val="1200"/>
              </a:spcBef>
            </a:pPr>
            <a:r>
              <a:rPr sz="1500" b="0" i="0">
                <a:solidFill>
                  <a:srgbClr val="DCE4EE"/>
                </a:solidFill>
                <a:latin typeface="微软雅黑"/>
              </a:rPr>
              <a:t>最终结论：先说关联和优先级，干预后才讨论因果</a:t>
            </a:r>
          </a:p>
        </p:txBody>
      </p:sp>
      <p:sp>
        <p:nvSpPr>
          <p:cNvPr id="5" name="TextBox 4"/>
          <p:cNvSpPr txBox="1"/>
          <p:nvPr/>
        </p:nvSpPr>
        <p:spPr>
          <a:xfrm>
            <a:off x="914400" y="5852160"/>
            <a:ext cx="10332720" cy="548640"/>
          </a:xfrm>
          <a:prstGeom prst="rect">
            <a:avLst/>
          </a:prstGeom>
          <a:noFill/>
        </p:spPr>
        <p:txBody>
          <a:bodyPr wrap="square">
            <a:spAutoFit/>
          </a:bodyPr>
          <a:lstStyle/>
          <a:p>
            <a:pPr algn="l"/>
            <a:r>
              <a:rPr sz="1000" b="0" i="0">
                <a:solidFill>
                  <a:srgbClr val="9AA8BA"/>
                </a:solidFill>
                <a:latin typeface="微软雅黑"/>
              </a:rPr>
              <a:t>抗菌肽与 AD 关联机制说明·八问整合版｜2026-09-26 10:34 北京时间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