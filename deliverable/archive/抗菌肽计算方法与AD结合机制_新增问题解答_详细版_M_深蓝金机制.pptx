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4"/>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  <Relationship Id="rId24"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详细拆解每篇文献的计算方法类型、工具、参数、时长、公式，回答老师追问：是动力学模拟还是量化计算。</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14项，突出计算分类。</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总分类表，回答老师问题。</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量化计算细节。</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深度学习细节，参数具体。</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生成式方法细节。</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两篇关键文献参数对齐。</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对接细节，静态量化。</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MD细节，动力学模拟。</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自由能计算细节，量化。</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结合机制，含对接MD参数。</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肠道调控，含LPS数据。</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BBB穿透机制。</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整合模型。</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证据分级与计算分工。</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总结计算方法分类。</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详细版汇报结束。</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svgproj_bbb_M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svgproj_bbb_M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f8c677ce35a03ac.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7ce0bb49272eca4.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63171c5b5ad451e.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98797d0418b5752.pn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93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rgbClr val="FBBF24"/>
          </a:solidFill>
          <a:ln>
            <a:noFill/>
          </a:ln>
        </p:spPr>
      </p:sp>
      <p:sp>
        <p:nvSpPr>
          <p:cNvPr id="3" name="Rectangle 3"/>
          <p:cNvSpPr/>
          <p:nvPr/>
        </p:nvSpPr>
        <p:spPr>
          <a:xfrm>
            <a:off x="9334500" y="1047750"/>
            <a:ext cx="2095500" cy="95250"/>
          </a:xfrm>
          <a:prstGeom prst="rect">
            <a:avLst/>
          </a:prstGeom>
          <a:solidFill>
            <a:srgbClr val="FBBF24"/>
          </a:solidFill>
          <a:ln>
            <a:noFill/>
          </a:ln>
        </p:spPr>
      </p:sp>
      <p:sp>
        <p:nvSpPr>
          <p:cNvPr id="4" name="Rectangle 4"/>
          <p:cNvSpPr/>
          <p:nvPr/>
        </p:nvSpPr>
        <p:spPr>
          <a:xfrm>
            <a:off x="9334500" y="1285875"/>
            <a:ext cx="1428750" cy="95250"/>
          </a:xfrm>
          <a:prstGeom prst="rect">
            <a:avLst/>
          </a:prstGeom>
          <a:solidFill>
            <a:srgbClr val="38BDF8"/>
          </a:solidFill>
          <a:ln>
            <a:noFill/>
          </a:ln>
        </p:spPr>
      </p:sp>
      <p:sp>
        <p:nvSpPr>
          <p:cNvPr id="5" name="TextBox 5"/>
          <p:cNvSpPr txBox="1"/>
          <p:nvPr/>
        </p:nvSpPr>
        <p:spPr>
          <a:xfrm>
            <a:off x="678180" y="1171575"/>
            <a:ext cx="3255274" cy="293370"/>
          </a:xfrm>
          <a:prstGeom prst="rect">
            <a:avLst/>
          </a:prstGeom>
          <a:noFill/>
          <a:ln>
            <a:noFill/>
          </a:ln>
        </p:spPr>
        <p:txBody>
          <a:bodyPr wrap="none" lIns="0" tIns="0" rIns="0" bIns="0" anchor="t" anchorCtr="0">
            <a:spAutoFit/>
          </a:bodyPr>
          <a:lstStyle/>
          <a:p>
            <a:pPr algn="l"/>
            <a:r>
              <a:rPr lang="zh-CN" sz="1500" b="1" spc="112" dirty="0">
                <a:solidFill>
                  <a:srgbClr val="FBBF24"/>
                </a:solidFill>
                <a:latin typeface="Consolas"/>
                <a:ea typeface="Microsoft YaHei"/>
                <a:cs typeface="Consolas"/>
              </a:rPr>
              <a:t>老师追问：具体用的什么计算方法</a:t>
            </a:r>
          </a:p>
        </p:txBody>
      </p:sp>
      <p:sp>
        <p:nvSpPr>
          <p:cNvPr id="6" name="TextBox 6"/>
          <p:cNvSpPr txBox="1"/>
          <p:nvPr/>
        </p:nvSpPr>
        <p:spPr>
          <a:xfrm>
            <a:off x="667512" y="1611630"/>
            <a:ext cx="6443594" cy="704088"/>
          </a:xfrm>
          <a:prstGeom prst="rect">
            <a:avLst/>
          </a:prstGeom>
          <a:noFill/>
          <a:ln>
            <a:noFill/>
          </a:ln>
        </p:spPr>
        <p:txBody>
          <a:bodyPr wrap="none" lIns="0" tIns="0" rIns="0" bIns="0" anchor="t" anchorCtr="0">
            <a:spAutoFit/>
          </a:bodyPr>
          <a:lstStyle/>
          <a:p>
            <a:pPr algn="l"/>
            <a:r>
              <a:rPr lang="zh-CN" sz="3600" b="1" dirty="0">
                <a:solidFill>
                  <a:srgbClr val="F8FAFC"/>
                </a:solidFill>
                <a:latin typeface="Arial"/>
                <a:ea typeface="Microsoft YaHei"/>
                <a:cs typeface="Arial"/>
              </a:rPr>
              <a:t>抗菌肽计算方法与AD结合机制</a:t>
            </a:r>
          </a:p>
        </p:txBody>
      </p:sp>
      <p:sp>
        <p:nvSpPr>
          <p:cNvPr id="7" name="TextBox 7"/>
          <p:cNvSpPr txBox="1"/>
          <p:nvPr/>
        </p:nvSpPr>
        <p:spPr>
          <a:xfrm>
            <a:off x="667512" y="2183130"/>
            <a:ext cx="10005456" cy="704088"/>
          </a:xfrm>
          <a:prstGeom prst="rect">
            <a:avLst/>
          </a:prstGeom>
          <a:noFill/>
          <a:ln>
            <a:noFill/>
          </a:ln>
        </p:spPr>
        <p:txBody>
          <a:bodyPr wrap="none" lIns="0" tIns="0" rIns="0" bIns="0" anchor="t" anchorCtr="0">
            <a:spAutoFit/>
          </a:bodyPr>
          <a:lstStyle/>
          <a:p>
            <a:pPr algn="l"/>
            <a:r>
              <a:rPr lang="zh-CN" sz="3600" b="1" dirty="0">
                <a:solidFill>
                  <a:srgbClr val="F8FAFC"/>
                </a:solidFill>
                <a:latin typeface="Arial"/>
                <a:ea typeface="Microsoft YaHei"/>
                <a:cs typeface="Arial"/>
              </a:rPr>
              <a:t>详细版：动力学模拟 vs 量化计算 vs 深度学习</a:t>
            </a:r>
          </a:p>
        </p:txBody>
      </p:sp>
      <p:sp>
        <p:nvSpPr>
          <p:cNvPr id="8" name="Line 8"/>
          <p:cNvSpPr/>
          <p:nvPr/>
        </p:nvSpPr>
        <p:spPr>
          <a:xfrm>
            <a:off x="685800" y="3371850"/>
            <a:ext cx="2095500" cy="9525"/>
          </a:xfrm>
          <a:custGeom>
            <a:avLst/>
            <a:gdLst/>
            <a:ahLst/>
            <a:cxnLst/>
            <a:rect l="l" t="t" r="r" b="b"/>
            <a:pathLst>
              <a:path w="2095500" h="9525">
                <a:moveTo>
                  <a:pt x="0" y="0"/>
                </a:moveTo>
                <a:lnTo>
                  <a:pt x="2095500" y="0"/>
                </a:lnTo>
              </a:path>
            </a:pathLst>
          </a:custGeom>
          <a:noFill/>
          <a:ln w="28575">
            <a:solidFill>
              <a:srgbClr val="FBBF24"/>
            </a:solidFill>
          </a:ln>
        </p:spPr>
      </p:sp>
      <p:sp>
        <p:nvSpPr>
          <p:cNvPr id="9" name="TextBox 9"/>
          <p:cNvSpPr txBox="1"/>
          <p:nvPr/>
        </p:nvSpPr>
        <p:spPr>
          <a:xfrm>
            <a:off x="678180" y="3667125"/>
            <a:ext cx="2539365"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文绍华　学号：2024110316</a:t>
            </a:r>
          </a:p>
        </p:txBody>
      </p:sp>
      <p:sp>
        <p:nvSpPr>
          <p:cNvPr id="10" name="TextBox 10"/>
          <p:cNvSpPr txBox="1"/>
          <p:nvPr/>
        </p:nvSpPr>
        <p:spPr>
          <a:xfrm>
            <a:off x="678180" y="3990975"/>
            <a:ext cx="2842260"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指导教师：申亮　生命科学学院</a:t>
            </a:r>
          </a:p>
        </p:txBody>
      </p:sp>
      <p:sp>
        <p:nvSpPr>
          <p:cNvPr id="11" name="TextBox 11"/>
          <p:cNvSpPr txBox="1"/>
          <p:nvPr/>
        </p:nvSpPr>
        <p:spPr>
          <a:xfrm>
            <a:off x="678180" y="4314825"/>
            <a:ext cx="3044190"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生物学（生物化学与分子生物学）</a:t>
            </a:r>
          </a:p>
        </p:txBody>
      </p:sp>
      <p:sp>
        <p:nvSpPr>
          <p:cNvPr id="12" name="TextBox 12"/>
          <p:cNvSpPr txBox="1"/>
          <p:nvPr/>
        </p:nvSpPr>
        <p:spPr>
          <a:xfrm>
            <a:off x="678180" y="4638675"/>
            <a:ext cx="974408"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2026年9月</a:t>
            </a:r>
          </a:p>
        </p:txBody>
      </p:sp>
      <p:sp>
        <p:nvSpPr>
          <p:cNvPr id="13" name="TextBox 13"/>
          <p:cNvSpPr txBox="1"/>
          <p:nvPr/>
        </p:nvSpPr>
        <p:spPr>
          <a:xfrm>
            <a:off x="678180" y="4962525"/>
            <a:ext cx="3579305"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计算方法详细版·动力学+量化+深度学习</a:t>
            </a:r>
          </a:p>
        </p:txBody>
      </p:sp>
      <p:sp>
        <p:nvSpPr>
          <p:cNvPr id="14" name="TextBox 14"/>
          <p:cNvSpPr txBox="1"/>
          <p:nvPr/>
        </p:nvSpPr>
        <p:spPr>
          <a:xfrm>
            <a:off x="10721150" y="6219825"/>
            <a:ext cx="792670" cy="293370"/>
          </a:xfrm>
          <a:prstGeom prst="rect">
            <a:avLst/>
          </a:prstGeom>
          <a:noFill/>
          <a:ln>
            <a:noFill/>
          </a:ln>
        </p:spPr>
        <p:txBody>
          <a:bodyPr wrap="none" lIns="0" tIns="0" rIns="0" bIns="0" anchor="t" anchorCtr="0">
            <a:spAutoFit/>
          </a:bodyPr>
          <a:lstStyle/>
          <a:p>
            <a:pPr algn="r"/>
            <a:r>
              <a:rPr lang="zh-CN" sz="1500" dirty="0">
                <a:solidFill>
                  <a:srgbClr val="8A9BB5"/>
                </a:solidFill>
                <a:latin typeface="Consolas"/>
                <a:ea typeface="Consolas"/>
                <a:cs typeface="Consolas"/>
              </a:rPr>
              <a:t>01 / 17</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93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A2F5A">
                <a:alpha val="55000"/>
              </a:srgbClr>
            </a:solidFill>
          </a:ln>
        </p:spPr>
      </p:sp>
      <p:sp>
        <p:nvSpPr>
          <p:cNvPr id="3" name="TextBox 3"/>
          <p:cNvSpPr txBox="1"/>
          <p:nvPr/>
        </p:nvSpPr>
        <p:spPr>
          <a:xfrm>
            <a:off x="678180" y="542925"/>
            <a:ext cx="883135" cy="293370"/>
          </a:xfrm>
          <a:prstGeom prst="rect">
            <a:avLst/>
          </a:prstGeom>
          <a:noFill/>
          <a:ln>
            <a:noFill/>
          </a:ln>
        </p:spPr>
        <p:txBody>
          <a:bodyPr wrap="none" lIns="0" tIns="0" rIns="0" bIns="0" anchor="t" anchorCtr="0">
            <a:spAutoFit/>
          </a:bodyPr>
          <a:lstStyle/>
          <a:p>
            <a:pPr algn="l"/>
            <a:r>
              <a:rPr lang="zh-CN" sz="1500" b="1" spc="112" dirty="0">
                <a:solidFill>
                  <a:srgbClr val="FBBF24"/>
                </a:solidFill>
                <a:latin typeface="Consolas"/>
                <a:ea typeface="Consolas"/>
                <a:cs typeface="Consolas"/>
              </a:rPr>
              <a:t>// 02 /</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8A9BB5"/>
                </a:solidFill>
                <a:latin typeface="Consolas"/>
                <a:ea typeface="Consolas"/>
                <a:cs typeface="Consolas"/>
              </a:rPr>
              <a:t>02 / 17</a:t>
            </a:r>
          </a:p>
        </p:txBody>
      </p:sp>
      <p:sp>
        <p:nvSpPr>
          <p:cNvPr id="5" name="TextBox 5"/>
          <p:cNvSpPr txBox="1"/>
          <p:nvPr/>
        </p:nvSpPr>
        <p:spPr>
          <a:xfrm>
            <a:off x="672084" y="756285"/>
            <a:ext cx="4389120" cy="528066"/>
          </a:xfrm>
          <a:prstGeom prst="rect">
            <a:avLst/>
          </a:prstGeom>
          <a:noFill/>
          <a:ln>
            <a:noFill/>
          </a:ln>
        </p:spPr>
        <p:txBody>
          <a:bodyPr wrap="none" lIns="0" tIns="0" rIns="0" bIns="0" anchor="t" anchorCtr="0">
            <a:spAutoFit/>
          </a:bodyPr>
          <a:lstStyle/>
          <a:p>
            <a:pPr algn="l"/>
            <a:r>
              <a:rPr lang="zh-CN" sz="2700" b="1" dirty="0">
                <a:solidFill>
                  <a:srgbClr val="F8FAFC"/>
                </a:solidFill>
                <a:latin typeface="Arial"/>
                <a:ea typeface="Microsoft YaHei"/>
                <a:cs typeface="Arial"/>
              </a:rPr>
              <a:t>提纲：计算方法分类是关键</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E3A5F"/>
            </a:solidFill>
          </a:ln>
        </p:spPr>
      </p:sp>
      <p:sp>
        <p:nvSpPr>
          <p:cNvPr id="7" name="TextBox 7"/>
          <p:cNvSpPr txBox="1"/>
          <p:nvPr/>
        </p:nvSpPr>
        <p:spPr>
          <a:xfrm>
            <a:off x="676656" y="1463040"/>
            <a:ext cx="284836" cy="352044"/>
          </a:xfrm>
          <a:prstGeom prst="rect">
            <a:avLst/>
          </a:prstGeom>
          <a:noFill/>
          <a:ln>
            <a:noFill/>
          </a:ln>
        </p:spPr>
        <p:txBody>
          <a:bodyPr wrap="none" lIns="0" tIns="0" rIns="0" bIns="0" anchor="t" anchorCtr="0">
            <a:spAutoFit/>
          </a:bodyPr>
          <a:lstStyle/>
          <a:p>
            <a:pPr algn="l"/>
            <a:r>
              <a:rPr lang="zh-CN" sz="1800" b="1" dirty="0">
                <a:solidFill>
                  <a:srgbClr val="FBBF24"/>
                </a:solidFill>
                <a:latin typeface="Consolas"/>
                <a:ea typeface="Consolas"/>
                <a:cs typeface="Consolas"/>
              </a:rPr>
              <a:t>01</a:t>
            </a:r>
          </a:p>
        </p:txBody>
      </p:sp>
      <p:sp>
        <p:nvSpPr>
          <p:cNvPr id="8" name="TextBox 8"/>
          <p:cNvSpPr txBox="1"/>
          <p:nvPr/>
        </p:nvSpPr>
        <p:spPr>
          <a:xfrm>
            <a:off x="1135380" y="1495425"/>
            <a:ext cx="2842260"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计算方法总分类：三类分工不同</a:t>
            </a:r>
          </a:p>
        </p:txBody>
      </p:sp>
      <p:sp>
        <p:nvSpPr>
          <p:cNvPr id="9" name="Line 9"/>
          <p:cNvSpPr/>
          <p:nvPr/>
        </p:nvSpPr>
        <p:spPr>
          <a:xfrm>
            <a:off x="685800" y="2019300"/>
            <a:ext cx="5124450" cy="9525"/>
          </a:xfrm>
          <a:custGeom>
            <a:avLst/>
            <a:gdLst/>
            <a:ahLst/>
            <a:cxnLst/>
            <a:rect l="l" t="t" r="r" b="b"/>
            <a:pathLst>
              <a:path w="5124450" h="9525">
                <a:moveTo>
                  <a:pt x="0" y="0"/>
                </a:moveTo>
                <a:lnTo>
                  <a:pt x="5124450" y="0"/>
                </a:lnTo>
              </a:path>
            </a:pathLst>
          </a:custGeom>
          <a:noFill/>
          <a:ln w="9525">
            <a:solidFill>
              <a:srgbClr val="1E3A5F"/>
            </a:solidFill>
          </a:ln>
        </p:spPr>
      </p:sp>
      <p:sp>
        <p:nvSpPr>
          <p:cNvPr id="10" name="TextBox 10"/>
          <p:cNvSpPr txBox="1"/>
          <p:nvPr/>
        </p:nvSpPr>
        <p:spPr>
          <a:xfrm>
            <a:off x="676656" y="2205990"/>
            <a:ext cx="284836" cy="352044"/>
          </a:xfrm>
          <a:prstGeom prst="rect">
            <a:avLst/>
          </a:prstGeom>
          <a:noFill/>
          <a:ln>
            <a:noFill/>
          </a:ln>
        </p:spPr>
        <p:txBody>
          <a:bodyPr wrap="none" lIns="0" tIns="0" rIns="0" bIns="0" anchor="t" anchorCtr="0">
            <a:spAutoFit/>
          </a:bodyPr>
          <a:lstStyle/>
          <a:p>
            <a:pPr algn="l"/>
            <a:r>
              <a:rPr lang="zh-CN" sz="1800" b="1" dirty="0">
                <a:solidFill>
                  <a:srgbClr val="FBBF24"/>
                </a:solidFill>
                <a:latin typeface="Consolas"/>
                <a:ea typeface="Consolas"/>
                <a:cs typeface="Consolas"/>
              </a:rPr>
              <a:t>02</a:t>
            </a:r>
          </a:p>
        </p:txBody>
      </p:sp>
      <p:sp>
        <p:nvSpPr>
          <p:cNvPr id="11" name="TextBox 11"/>
          <p:cNvSpPr txBox="1"/>
          <p:nvPr/>
        </p:nvSpPr>
        <p:spPr>
          <a:xfrm>
            <a:off x="1135380" y="2238375"/>
            <a:ext cx="2927985"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量化计算：34维理化描述符+PC6</a:t>
            </a:r>
          </a:p>
        </p:txBody>
      </p:sp>
      <p:sp>
        <p:nvSpPr>
          <p:cNvPr id="12" name="Line 12"/>
          <p:cNvSpPr/>
          <p:nvPr/>
        </p:nvSpPr>
        <p:spPr>
          <a:xfrm>
            <a:off x="685800" y="2762250"/>
            <a:ext cx="5124450" cy="9525"/>
          </a:xfrm>
          <a:custGeom>
            <a:avLst/>
            <a:gdLst/>
            <a:ahLst/>
            <a:cxnLst/>
            <a:rect l="l" t="t" r="r" b="b"/>
            <a:pathLst>
              <a:path w="5124450" h="9525">
                <a:moveTo>
                  <a:pt x="0" y="0"/>
                </a:moveTo>
                <a:lnTo>
                  <a:pt x="5124450" y="0"/>
                </a:lnTo>
              </a:path>
            </a:pathLst>
          </a:custGeom>
          <a:noFill/>
          <a:ln w="9525">
            <a:solidFill>
              <a:srgbClr val="1E3A5F"/>
            </a:solidFill>
          </a:ln>
        </p:spPr>
      </p:sp>
      <p:sp>
        <p:nvSpPr>
          <p:cNvPr id="13" name="TextBox 13"/>
          <p:cNvSpPr txBox="1"/>
          <p:nvPr/>
        </p:nvSpPr>
        <p:spPr>
          <a:xfrm>
            <a:off x="676656" y="2948940"/>
            <a:ext cx="284836" cy="352044"/>
          </a:xfrm>
          <a:prstGeom prst="rect">
            <a:avLst/>
          </a:prstGeom>
          <a:noFill/>
          <a:ln>
            <a:noFill/>
          </a:ln>
        </p:spPr>
        <p:txBody>
          <a:bodyPr wrap="none" lIns="0" tIns="0" rIns="0" bIns="0" anchor="t" anchorCtr="0">
            <a:spAutoFit/>
          </a:bodyPr>
          <a:lstStyle/>
          <a:p>
            <a:pPr algn="l"/>
            <a:r>
              <a:rPr lang="zh-CN" sz="1800" b="1" dirty="0">
                <a:solidFill>
                  <a:srgbClr val="FBBF24"/>
                </a:solidFill>
                <a:latin typeface="Consolas"/>
                <a:ea typeface="Consolas"/>
                <a:cs typeface="Consolas"/>
              </a:rPr>
              <a:t>03</a:t>
            </a:r>
          </a:p>
        </p:txBody>
      </p:sp>
      <p:sp>
        <p:nvSpPr>
          <p:cNvPr id="14" name="TextBox 14"/>
          <p:cNvSpPr txBox="1"/>
          <p:nvPr/>
        </p:nvSpPr>
        <p:spPr>
          <a:xfrm>
            <a:off x="1135380" y="2981325"/>
            <a:ext cx="3995614"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深度学习判别：LSTM+Attention+BERT细节</a:t>
            </a:r>
          </a:p>
        </p:txBody>
      </p:sp>
      <p:sp>
        <p:nvSpPr>
          <p:cNvPr id="15" name="Line 15"/>
          <p:cNvSpPr/>
          <p:nvPr/>
        </p:nvSpPr>
        <p:spPr>
          <a:xfrm>
            <a:off x="685800" y="3505200"/>
            <a:ext cx="5124450" cy="9525"/>
          </a:xfrm>
          <a:custGeom>
            <a:avLst/>
            <a:gdLst/>
            <a:ahLst/>
            <a:cxnLst/>
            <a:rect l="l" t="t" r="r" b="b"/>
            <a:pathLst>
              <a:path w="5124450" h="9525">
                <a:moveTo>
                  <a:pt x="0" y="0"/>
                </a:moveTo>
                <a:lnTo>
                  <a:pt x="5124450" y="0"/>
                </a:lnTo>
              </a:path>
            </a:pathLst>
          </a:custGeom>
          <a:noFill/>
          <a:ln w="9525">
            <a:solidFill>
              <a:srgbClr val="1E3A5F"/>
            </a:solidFill>
          </a:ln>
        </p:spPr>
      </p:sp>
      <p:sp>
        <p:nvSpPr>
          <p:cNvPr id="16" name="TextBox 16"/>
          <p:cNvSpPr txBox="1"/>
          <p:nvPr/>
        </p:nvSpPr>
        <p:spPr>
          <a:xfrm>
            <a:off x="676656" y="3691890"/>
            <a:ext cx="284836" cy="352044"/>
          </a:xfrm>
          <a:prstGeom prst="rect">
            <a:avLst/>
          </a:prstGeom>
          <a:noFill/>
          <a:ln>
            <a:noFill/>
          </a:ln>
        </p:spPr>
        <p:txBody>
          <a:bodyPr wrap="none" lIns="0" tIns="0" rIns="0" bIns="0" anchor="t" anchorCtr="0">
            <a:spAutoFit/>
          </a:bodyPr>
          <a:lstStyle/>
          <a:p>
            <a:pPr algn="l"/>
            <a:r>
              <a:rPr lang="zh-CN" sz="1800" b="1" dirty="0">
                <a:solidFill>
                  <a:srgbClr val="FBBF24"/>
                </a:solidFill>
                <a:latin typeface="Consolas"/>
                <a:ea typeface="Consolas"/>
                <a:cs typeface="Consolas"/>
              </a:rPr>
              <a:t>04</a:t>
            </a:r>
          </a:p>
        </p:txBody>
      </p:sp>
      <p:sp>
        <p:nvSpPr>
          <p:cNvPr id="17" name="TextBox 17"/>
          <p:cNvSpPr txBox="1"/>
          <p:nvPr/>
        </p:nvSpPr>
        <p:spPr>
          <a:xfrm>
            <a:off x="1135380" y="3724275"/>
            <a:ext cx="2968828"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生成式：GAN+cVAE+GCN回归MIC</a:t>
            </a:r>
          </a:p>
        </p:txBody>
      </p:sp>
      <p:sp>
        <p:nvSpPr>
          <p:cNvPr id="18" name="Line 18"/>
          <p:cNvSpPr/>
          <p:nvPr/>
        </p:nvSpPr>
        <p:spPr>
          <a:xfrm>
            <a:off x="685800" y="4248150"/>
            <a:ext cx="5124450" cy="9525"/>
          </a:xfrm>
          <a:custGeom>
            <a:avLst/>
            <a:gdLst/>
            <a:ahLst/>
            <a:cxnLst/>
            <a:rect l="l" t="t" r="r" b="b"/>
            <a:pathLst>
              <a:path w="5124450" h="9525">
                <a:moveTo>
                  <a:pt x="0" y="0"/>
                </a:moveTo>
                <a:lnTo>
                  <a:pt x="5124450" y="0"/>
                </a:lnTo>
              </a:path>
            </a:pathLst>
          </a:custGeom>
          <a:noFill/>
          <a:ln w="9525">
            <a:solidFill>
              <a:srgbClr val="1E3A5F"/>
            </a:solidFill>
          </a:ln>
        </p:spPr>
      </p:sp>
      <p:sp>
        <p:nvSpPr>
          <p:cNvPr id="19" name="TextBox 19"/>
          <p:cNvSpPr txBox="1"/>
          <p:nvPr/>
        </p:nvSpPr>
        <p:spPr>
          <a:xfrm>
            <a:off x="676656" y="4434840"/>
            <a:ext cx="284836" cy="352044"/>
          </a:xfrm>
          <a:prstGeom prst="rect">
            <a:avLst/>
          </a:prstGeom>
          <a:noFill/>
          <a:ln>
            <a:noFill/>
          </a:ln>
        </p:spPr>
        <p:txBody>
          <a:bodyPr wrap="none" lIns="0" tIns="0" rIns="0" bIns="0" anchor="t" anchorCtr="0">
            <a:spAutoFit/>
          </a:bodyPr>
          <a:lstStyle/>
          <a:p>
            <a:pPr algn="l"/>
            <a:r>
              <a:rPr lang="zh-CN" sz="1800" b="1" dirty="0">
                <a:solidFill>
                  <a:srgbClr val="FBBF24"/>
                </a:solidFill>
                <a:latin typeface="Consolas"/>
                <a:ea typeface="Consolas"/>
                <a:cs typeface="Consolas"/>
              </a:rPr>
              <a:t>05</a:t>
            </a:r>
          </a:p>
        </p:txBody>
      </p:sp>
      <p:sp>
        <p:nvSpPr>
          <p:cNvPr id="20" name="TextBox 20"/>
          <p:cNvSpPr txBox="1"/>
          <p:nvPr/>
        </p:nvSpPr>
        <p:spPr>
          <a:xfrm>
            <a:off x="1135380" y="4467225"/>
            <a:ext cx="2047240"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结构预测：AlphaFold2</a:t>
            </a:r>
          </a:p>
        </p:txBody>
      </p:sp>
      <p:sp>
        <p:nvSpPr>
          <p:cNvPr id="21" name="Line 21"/>
          <p:cNvSpPr/>
          <p:nvPr/>
        </p:nvSpPr>
        <p:spPr>
          <a:xfrm>
            <a:off x="685800" y="4991100"/>
            <a:ext cx="5124450" cy="9525"/>
          </a:xfrm>
          <a:custGeom>
            <a:avLst/>
            <a:gdLst/>
            <a:ahLst/>
            <a:cxnLst/>
            <a:rect l="l" t="t" r="r" b="b"/>
            <a:pathLst>
              <a:path w="5124450" h="9525">
                <a:moveTo>
                  <a:pt x="0" y="0"/>
                </a:moveTo>
                <a:lnTo>
                  <a:pt x="5124450" y="0"/>
                </a:lnTo>
              </a:path>
            </a:pathLst>
          </a:custGeom>
          <a:noFill/>
          <a:ln w="9525">
            <a:solidFill>
              <a:srgbClr val="1E3A5F"/>
            </a:solidFill>
          </a:ln>
        </p:spPr>
      </p:sp>
      <p:sp>
        <p:nvSpPr>
          <p:cNvPr id="22" name="TextBox 22"/>
          <p:cNvSpPr txBox="1"/>
          <p:nvPr/>
        </p:nvSpPr>
        <p:spPr>
          <a:xfrm>
            <a:off x="676656" y="5177790"/>
            <a:ext cx="284836" cy="352044"/>
          </a:xfrm>
          <a:prstGeom prst="rect">
            <a:avLst/>
          </a:prstGeom>
          <a:noFill/>
          <a:ln>
            <a:noFill/>
          </a:ln>
        </p:spPr>
        <p:txBody>
          <a:bodyPr wrap="none" lIns="0" tIns="0" rIns="0" bIns="0" anchor="t" anchorCtr="0">
            <a:spAutoFit/>
          </a:bodyPr>
          <a:lstStyle/>
          <a:p>
            <a:pPr algn="l"/>
            <a:r>
              <a:rPr lang="zh-CN" sz="1800" b="1" dirty="0">
                <a:solidFill>
                  <a:srgbClr val="FBBF24"/>
                </a:solidFill>
                <a:latin typeface="Consolas"/>
                <a:ea typeface="Consolas"/>
                <a:cs typeface="Consolas"/>
              </a:rPr>
              <a:t>06</a:t>
            </a:r>
          </a:p>
        </p:txBody>
      </p:sp>
      <p:sp>
        <p:nvSpPr>
          <p:cNvPr id="23" name="TextBox 23"/>
          <p:cNvSpPr txBox="1"/>
          <p:nvPr/>
        </p:nvSpPr>
        <p:spPr>
          <a:xfrm>
            <a:off x="1135380" y="5210175"/>
            <a:ext cx="3530346"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Ma 2022：1085正/58776负三模型实现</a:t>
            </a:r>
          </a:p>
        </p:txBody>
      </p:sp>
      <p:sp>
        <p:nvSpPr>
          <p:cNvPr id="24" name="Line 24"/>
          <p:cNvSpPr/>
          <p:nvPr/>
        </p:nvSpPr>
        <p:spPr>
          <a:xfrm>
            <a:off x="685800" y="5734050"/>
            <a:ext cx="5124450" cy="9525"/>
          </a:xfrm>
          <a:custGeom>
            <a:avLst/>
            <a:gdLst/>
            <a:ahLst/>
            <a:cxnLst/>
            <a:rect l="l" t="t" r="r" b="b"/>
            <a:pathLst>
              <a:path w="5124450" h="9525">
                <a:moveTo>
                  <a:pt x="0" y="0"/>
                </a:moveTo>
                <a:lnTo>
                  <a:pt x="5124450" y="0"/>
                </a:lnTo>
              </a:path>
            </a:pathLst>
          </a:custGeom>
          <a:noFill/>
          <a:ln w="9525">
            <a:solidFill>
              <a:srgbClr val="1E3A5F"/>
            </a:solidFill>
          </a:ln>
        </p:spPr>
      </p:sp>
      <p:sp>
        <p:nvSpPr>
          <p:cNvPr id="25" name="TextBox 25"/>
          <p:cNvSpPr txBox="1"/>
          <p:nvPr/>
        </p:nvSpPr>
        <p:spPr>
          <a:xfrm>
            <a:off x="6372606" y="1463040"/>
            <a:ext cx="284836" cy="352044"/>
          </a:xfrm>
          <a:prstGeom prst="rect">
            <a:avLst/>
          </a:prstGeom>
          <a:noFill/>
          <a:ln>
            <a:noFill/>
          </a:ln>
        </p:spPr>
        <p:txBody>
          <a:bodyPr wrap="none" lIns="0" tIns="0" rIns="0" bIns="0" anchor="t" anchorCtr="0">
            <a:spAutoFit/>
          </a:bodyPr>
          <a:lstStyle/>
          <a:p>
            <a:pPr algn="l"/>
            <a:r>
              <a:rPr lang="zh-CN" sz="1800" b="1" dirty="0">
                <a:solidFill>
                  <a:srgbClr val="FBBF24"/>
                </a:solidFill>
                <a:latin typeface="Consolas"/>
                <a:ea typeface="Consolas"/>
                <a:cs typeface="Consolas"/>
              </a:rPr>
              <a:t>08</a:t>
            </a:r>
          </a:p>
        </p:txBody>
      </p:sp>
      <p:sp>
        <p:nvSpPr>
          <p:cNvPr id="26" name="TextBox 26"/>
          <p:cNvSpPr txBox="1"/>
          <p:nvPr/>
        </p:nvSpPr>
        <p:spPr>
          <a:xfrm>
            <a:off x="6831330" y="1495425"/>
            <a:ext cx="3194447"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分子对接：AutoDock Vina静态量化</a:t>
            </a:r>
          </a:p>
        </p:txBody>
      </p:sp>
      <p:sp>
        <p:nvSpPr>
          <p:cNvPr id="27" name="Line 27"/>
          <p:cNvSpPr/>
          <p:nvPr/>
        </p:nvSpPr>
        <p:spPr>
          <a:xfrm>
            <a:off x="6381750" y="2019300"/>
            <a:ext cx="5124450" cy="9525"/>
          </a:xfrm>
          <a:custGeom>
            <a:avLst/>
            <a:gdLst/>
            <a:ahLst/>
            <a:cxnLst/>
            <a:rect l="l" t="t" r="r" b="b"/>
            <a:pathLst>
              <a:path w="5124450" h="9525">
                <a:moveTo>
                  <a:pt x="0" y="0"/>
                </a:moveTo>
                <a:lnTo>
                  <a:pt x="5124450" y="0"/>
                </a:lnTo>
              </a:path>
            </a:pathLst>
          </a:custGeom>
          <a:noFill/>
          <a:ln w="9525">
            <a:solidFill>
              <a:srgbClr val="1E3A5F"/>
            </a:solidFill>
          </a:ln>
        </p:spPr>
      </p:sp>
      <p:sp>
        <p:nvSpPr>
          <p:cNvPr id="28" name="TextBox 28"/>
          <p:cNvSpPr txBox="1"/>
          <p:nvPr/>
        </p:nvSpPr>
        <p:spPr>
          <a:xfrm>
            <a:off x="6372606" y="2205990"/>
            <a:ext cx="284836" cy="352044"/>
          </a:xfrm>
          <a:prstGeom prst="rect">
            <a:avLst/>
          </a:prstGeom>
          <a:noFill/>
          <a:ln>
            <a:noFill/>
          </a:ln>
        </p:spPr>
        <p:txBody>
          <a:bodyPr wrap="none" lIns="0" tIns="0" rIns="0" bIns="0" anchor="t" anchorCtr="0">
            <a:spAutoFit/>
          </a:bodyPr>
          <a:lstStyle/>
          <a:p>
            <a:pPr algn="l"/>
            <a:r>
              <a:rPr lang="zh-CN" sz="1800" b="1" dirty="0">
                <a:solidFill>
                  <a:srgbClr val="FBBF24"/>
                </a:solidFill>
                <a:latin typeface="Consolas"/>
                <a:ea typeface="Consolas"/>
                <a:cs typeface="Consolas"/>
              </a:rPr>
              <a:t>09</a:t>
            </a:r>
          </a:p>
        </p:txBody>
      </p:sp>
      <p:sp>
        <p:nvSpPr>
          <p:cNvPr id="29" name="TextBox 29"/>
          <p:cNvSpPr txBox="1"/>
          <p:nvPr/>
        </p:nvSpPr>
        <p:spPr>
          <a:xfrm>
            <a:off x="6831330" y="2238375"/>
            <a:ext cx="3704983"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分子动力学：GROMACS 20ns-1μs动力学</a:t>
            </a:r>
          </a:p>
        </p:txBody>
      </p:sp>
      <p:sp>
        <p:nvSpPr>
          <p:cNvPr id="30" name="Line 30"/>
          <p:cNvSpPr/>
          <p:nvPr/>
        </p:nvSpPr>
        <p:spPr>
          <a:xfrm>
            <a:off x="6381750" y="2762250"/>
            <a:ext cx="5124450" cy="9525"/>
          </a:xfrm>
          <a:custGeom>
            <a:avLst/>
            <a:gdLst/>
            <a:ahLst/>
            <a:cxnLst/>
            <a:rect l="l" t="t" r="r" b="b"/>
            <a:pathLst>
              <a:path w="5124450" h="9525">
                <a:moveTo>
                  <a:pt x="0" y="0"/>
                </a:moveTo>
                <a:lnTo>
                  <a:pt x="5124450" y="0"/>
                </a:lnTo>
              </a:path>
            </a:pathLst>
          </a:custGeom>
          <a:noFill/>
          <a:ln w="9525">
            <a:solidFill>
              <a:srgbClr val="1E3A5F"/>
            </a:solidFill>
          </a:ln>
        </p:spPr>
      </p:sp>
      <p:sp>
        <p:nvSpPr>
          <p:cNvPr id="31" name="TextBox 31"/>
          <p:cNvSpPr txBox="1"/>
          <p:nvPr/>
        </p:nvSpPr>
        <p:spPr>
          <a:xfrm>
            <a:off x="6372606" y="2948940"/>
            <a:ext cx="284836" cy="352044"/>
          </a:xfrm>
          <a:prstGeom prst="rect">
            <a:avLst/>
          </a:prstGeom>
          <a:noFill/>
          <a:ln>
            <a:noFill/>
          </a:ln>
        </p:spPr>
        <p:txBody>
          <a:bodyPr wrap="none" lIns="0" tIns="0" rIns="0" bIns="0" anchor="t" anchorCtr="0">
            <a:spAutoFit/>
          </a:bodyPr>
          <a:lstStyle/>
          <a:p>
            <a:pPr algn="l"/>
            <a:r>
              <a:rPr lang="zh-CN" sz="1800" b="1" dirty="0">
                <a:solidFill>
                  <a:srgbClr val="FBBF24"/>
                </a:solidFill>
                <a:latin typeface="Consolas"/>
                <a:ea typeface="Consolas"/>
                <a:cs typeface="Consolas"/>
              </a:rPr>
              <a:t>10</a:t>
            </a:r>
          </a:p>
        </p:txBody>
      </p:sp>
      <p:sp>
        <p:nvSpPr>
          <p:cNvPr id="32" name="TextBox 32"/>
          <p:cNvSpPr txBox="1"/>
          <p:nvPr/>
        </p:nvSpPr>
        <p:spPr>
          <a:xfrm>
            <a:off x="6831330" y="2981325"/>
            <a:ext cx="3547110"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自由能计算：MM-PBSA量化公式与实例</a:t>
            </a:r>
          </a:p>
        </p:txBody>
      </p:sp>
      <p:sp>
        <p:nvSpPr>
          <p:cNvPr id="33" name="Line 33"/>
          <p:cNvSpPr/>
          <p:nvPr/>
        </p:nvSpPr>
        <p:spPr>
          <a:xfrm>
            <a:off x="6381750" y="3505200"/>
            <a:ext cx="5124450" cy="9525"/>
          </a:xfrm>
          <a:custGeom>
            <a:avLst/>
            <a:gdLst/>
            <a:ahLst/>
            <a:cxnLst/>
            <a:rect l="l" t="t" r="r" b="b"/>
            <a:pathLst>
              <a:path w="5124450" h="9525">
                <a:moveTo>
                  <a:pt x="0" y="0"/>
                </a:moveTo>
                <a:lnTo>
                  <a:pt x="5124450" y="0"/>
                </a:lnTo>
              </a:path>
            </a:pathLst>
          </a:custGeom>
          <a:noFill/>
          <a:ln w="9525">
            <a:solidFill>
              <a:srgbClr val="1E3A5F"/>
            </a:solidFill>
          </a:ln>
        </p:spPr>
      </p:sp>
      <p:sp>
        <p:nvSpPr>
          <p:cNvPr id="34" name="TextBox 34"/>
          <p:cNvSpPr txBox="1"/>
          <p:nvPr/>
        </p:nvSpPr>
        <p:spPr>
          <a:xfrm>
            <a:off x="6372606" y="3691890"/>
            <a:ext cx="284836" cy="352044"/>
          </a:xfrm>
          <a:prstGeom prst="rect">
            <a:avLst/>
          </a:prstGeom>
          <a:noFill/>
          <a:ln>
            <a:noFill/>
          </a:ln>
        </p:spPr>
        <p:txBody>
          <a:bodyPr wrap="none" lIns="0" tIns="0" rIns="0" bIns="0" anchor="t" anchorCtr="0">
            <a:spAutoFit/>
          </a:bodyPr>
          <a:lstStyle/>
          <a:p>
            <a:pPr algn="l"/>
            <a:r>
              <a:rPr lang="zh-CN" sz="1800" b="1" dirty="0">
                <a:solidFill>
                  <a:srgbClr val="FBBF24"/>
                </a:solidFill>
                <a:latin typeface="Consolas"/>
                <a:ea typeface="Consolas"/>
                <a:cs typeface="Consolas"/>
              </a:rPr>
              <a:t>11</a:t>
            </a:r>
          </a:p>
        </p:txBody>
      </p:sp>
      <p:sp>
        <p:nvSpPr>
          <p:cNvPr id="35" name="TextBox 35"/>
          <p:cNvSpPr txBox="1"/>
          <p:nvPr/>
        </p:nvSpPr>
        <p:spPr>
          <a:xfrm>
            <a:off x="6831330" y="3724275"/>
            <a:ext cx="4117658"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AMP-AD结合：Aβ本身抗菌+LL-37纳摩尔结合</a:t>
            </a:r>
          </a:p>
        </p:txBody>
      </p:sp>
      <p:sp>
        <p:nvSpPr>
          <p:cNvPr id="36" name="Line 36"/>
          <p:cNvSpPr/>
          <p:nvPr/>
        </p:nvSpPr>
        <p:spPr>
          <a:xfrm>
            <a:off x="6381750" y="4248150"/>
            <a:ext cx="5124450" cy="9525"/>
          </a:xfrm>
          <a:custGeom>
            <a:avLst/>
            <a:gdLst/>
            <a:ahLst/>
            <a:cxnLst/>
            <a:rect l="l" t="t" r="r" b="b"/>
            <a:pathLst>
              <a:path w="5124450" h="9525">
                <a:moveTo>
                  <a:pt x="0" y="0"/>
                </a:moveTo>
                <a:lnTo>
                  <a:pt x="5124450" y="0"/>
                </a:lnTo>
              </a:path>
            </a:pathLst>
          </a:custGeom>
          <a:noFill/>
          <a:ln w="9525">
            <a:solidFill>
              <a:srgbClr val="1E3A5F"/>
            </a:solidFill>
          </a:ln>
        </p:spPr>
      </p:sp>
      <p:sp>
        <p:nvSpPr>
          <p:cNvPr id="37" name="TextBox 37"/>
          <p:cNvSpPr txBox="1"/>
          <p:nvPr/>
        </p:nvSpPr>
        <p:spPr>
          <a:xfrm>
            <a:off x="6372606" y="4434840"/>
            <a:ext cx="284836" cy="352044"/>
          </a:xfrm>
          <a:prstGeom prst="rect">
            <a:avLst/>
          </a:prstGeom>
          <a:noFill/>
          <a:ln>
            <a:noFill/>
          </a:ln>
        </p:spPr>
        <p:txBody>
          <a:bodyPr wrap="none" lIns="0" tIns="0" rIns="0" bIns="0" anchor="t" anchorCtr="0">
            <a:spAutoFit/>
          </a:bodyPr>
          <a:lstStyle/>
          <a:p>
            <a:pPr algn="l"/>
            <a:r>
              <a:rPr lang="zh-CN" sz="1800" b="1" dirty="0">
                <a:solidFill>
                  <a:srgbClr val="FBBF24"/>
                </a:solidFill>
                <a:latin typeface="Consolas"/>
                <a:ea typeface="Consolas"/>
                <a:cs typeface="Consolas"/>
              </a:rPr>
              <a:t>12</a:t>
            </a:r>
          </a:p>
        </p:txBody>
      </p:sp>
      <p:sp>
        <p:nvSpPr>
          <p:cNvPr id="38" name="TextBox 38"/>
          <p:cNvSpPr txBox="1"/>
          <p:nvPr/>
        </p:nvSpPr>
        <p:spPr>
          <a:xfrm>
            <a:off x="6831330" y="4467225"/>
            <a:ext cx="3898392"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肠道调控：LPS-TLR4+细菌淀粉样交叉播种</a:t>
            </a:r>
          </a:p>
        </p:txBody>
      </p:sp>
      <p:sp>
        <p:nvSpPr>
          <p:cNvPr id="39" name="Line 39"/>
          <p:cNvSpPr/>
          <p:nvPr/>
        </p:nvSpPr>
        <p:spPr>
          <a:xfrm>
            <a:off x="6381750" y="4991100"/>
            <a:ext cx="5124450" cy="9525"/>
          </a:xfrm>
          <a:custGeom>
            <a:avLst/>
            <a:gdLst/>
            <a:ahLst/>
            <a:cxnLst/>
            <a:rect l="l" t="t" r="r" b="b"/>
            <a:pathLst>
              <a:path w="5124450" h="9525">
                <a:moveTo>
                  <a:pt x="0" y="0"/>
                </a:moveTo>
                <a:lnTo>
                  <a:pt x="5124450" y="0"/>
                </a:lnTo>
              </a:path>
            </a:pathLst>
          </a:custGeom>
          <a:noFill/>
          <a:ln w="9525">
            <a:solidFill>
              <a:srgbClr val="1E3A5F"/>
            </a:solidFill>
          </a:ln>
        </p:spPr>
      </p:sp>
      <p:sp>
        <p:nvSpPr>
          <p:cNvPr id="40" name="TextBox 40"/>
          <p:cNvSpPr txBox="1"/>
          <p:nvPr/>
        </p:nvSpPr>
        <p:spPr>
          <a:xfrm>
            <a:off x="6372606" y="5177790"/>
            <a:ext cx="284836" cy="352044"/>
          </a:xfrm>
          <a:prstGeom prst="rect">
            <a:avLst/>
          </a:prstGeom>
          <a:noFill/>
          <a:ln>
            <a:noFill/>
          </a:ln>
        </p:spPr>
        <p:txBody>
          <a:bodyPr wrap="none" lIns="0" tIns="0" rIns="0" bIns="0" anchor="t" anchorCtr="0">
            <a:spAutoFit/>
          </a:bodyPr>
          <a:lstStyle/>
          <a:p>
            <a:pPr algn="l"/>
            <a:r>
              <a:rPr lang="zh-CN" sz="1800" b="1" dirty="0">
                <a:solidFill>
                  <a:srgbClr val="FBBF24"/>
                </a:solidFill>
                <a:latin typeface="Consolas"/>
                <a:ea typeface="Consolas"/>
                <a:cs typeface="Consolas"/>
              </a:rPr>
              <a:t>13</a:t>
            </a:r>
          </a:p>
        </p:txBody>
      </p:sp>
      <p:sp>
        <p:nvSpPr>
          <p:cNvPr id="41" name="TextBox 41"/>
          <p:cNvSpPr txBox="1"/>
          <p:nvPr/>
        </p:nvSpPr>
        <p:spPr>
          <a:xfrm>
            <a:off x="6831330" y="5210175"/>
            <a:ext cx="3605784"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BBB穿透：阳离子AMT+LRP1/RAGE RMT</a:t>
            </a:r>
          </a:p>
        </p:txBody>
      </p:sp>
      <p:sp>
        <p:nvSpPr>
          <p:cNvPr id="42" name="Line 42"/>
          <p:cNvSpPr/>
          <p:nvPr/>
        </p:nvSpPr>
        <p:spPr>
          <a:xfrm>
            <a:off x="6381750" y="5734050"/>
            <a:ext cx="5124450" cy="9525"/>
          </a:xfrm>
          <a:custGeom>
            <a:avLst/>
            <a:gdLst/>
            <a:ahLst/>
            <a:cxnLst/>
            <a:rect l="l" t="t" r="r" b="b"/>
            <a:pathLst>
              <a:path w="5124450" h="9525">
                <a:moveTo>
                  <a:pt x="0" y="0"/>
                </a:moveTo>
                <a:lnTo>
                  <a:pt x="5124450" y="0"/>
                </a:lnTo>
              </a:path>
            </a:pathLst>
          </a:custGeom>
          <a:noFill/>
          <a:ln w="9525">
            <a:solidFill>
              <a:srgbClr val="1E3A5F"/>
            </a:solidFill>
          </a:ln>
        </p:spPr>
      </p:sp>
      <p:sp>
        <p:nvSpPr>
          <p:cNvPr id="43" name="Rectangle 43"/>
          <p:cNvSpPr/>
          <p:nvPr/>
        </p:nvSpPr>
        <p:spPr>
          <a:xfrm>
            <a:off x="0" y="6000750"/>
            <a:ext cx="12192000" cy="571500"/>
          </a:xfrm>
          <a:prstGeom prst="rect">
            <a:avLst/>
          </a:prstGeom>
          <a:solidFill>
            <a:srgbClr val="102542"/>
          </a:solidFill>
          <a:ln>
            <a:noFill/>
          </a:ln>
        </p:spPr>
      </p:sp>
      <p:sp>
        <p:nvSpPr>
          <p:cNvPr id="44" name="Rectangle 44"/>
          <p:cNvSpPr/>
          <p:nvPr/>
        </p:nvSpPr>
        <p:spPr>
          <a:xfrm>
            <a:off x="0" y="6000750"/>
            <a:ext cx="76200" cy="571500"/>
          </a:xfrm>
          <a:prstGeom prst="rect">
            <a:avLst/>
          </a:prstGeom>
          <a:solidFill>
            <a:srgbClr val="FBBF24"/>
          </a:solidFill>
          <a:ln>
            <a:noFill/>
          </a:ln>
        </p:spPr>
      </p:sp>
      <p:sp>
        <p:nvSpPr>
          <p:cNvPr id="45" name="TextBox 45"/>
          <p:cNvSpPr txBox="1"/>
          <p:nvPr/>
        </p:nvSpPr>
        <p:spPr>
          <a:xfrm>
            <a:off x="678180" y="6172200"/>
            <a:ext cx="4187647"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Arial"/>
                <a:ea typeface="Microsoft YaHei"/>
                <a:cs typeface="Arial"/>
              </a:rPr>
              <a:t>挖掘用深度学习，结合机制用对接+MD+自由能</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93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A2F5A">
                <a:alpha val="55000"/>
              </a:srgbClr>
            </a:solidFill>
          </a:ln>
        </p:spPr>
      </p:sp>
      <p:sp>
        <p:nvSpPr>
          <p:cNvPr id="3" name="TextBox 3"/>
          <p:cNvSpPr txBox="1"/>
          <p:nvPr/>
        </p:nvSpPr>
        <p:spPr>
          <a:xfrm>
            <a:off x="678180" y="542925"/>
            <a:ext cx="1876450" cy="293370"/>
          </a:xfrm>
          <a:prstGeom prst="rect">
            <a:avLst/>
          </a:prstGeom>
          <a:noFill/>
          <a:ln>
            <a:noFill/>
          </a:ln>
        </p:spPr>
        <p:txBody>
          <a:bodyPr wrap="none" lIns="0" tIns="0" rIns="0" bIns="0" anchor="t" anchorCtr="0">
            <a:spAutoFit/>
          </a:bodyPr>
          <a:lstStyle/>
          <a:p>
            <a:pPr algn="l"/>
            <a:r>
              <a:rPr lang="zh-CN" sz="1500" b="1" spc="112" dirty="0">
                <a:solidFill>
                  <a:srgbClr val="FBBF24"/>
                </a:solidFill>
                <a:latin typeface="Consolas"/>
                <a:ea typeface="Microsoft YaHei"/>
                <a:cs typeface="Consolas"/>
              </a:rPr>
              <a:t>// 03 / 三类分工</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8A9BB5"/>
                </a:solidFill>
                <a:latin typeface="Consolas"/>
                <a:ea typeface="Consolas"/>
                <a:cs typeface="Consolas"/>
              </a:rPr>
              <a:t>03 / 17</a:t>
            </a:r>
          </a:p>
        </p:txBody>
      </p:sp>
      <p:sp>
        <p:nvSpPr>
          <p:cNvPr id="5" name="TextBox 5"/>
          <p:cNvSpPr txBox="1"/>
          <p:nvPr/>
        </p:nvSpPr>
        <p:spPr>
          <a:xfrm>
            <a:off x="672084" y="756285"/>
            <a:ext cx="5479542" cy="528066"/>
          </a:xfrm>
          <a:prstGeom prst="rect">
            <a:avLst/>
          </a:prstGeom>
          <a:noFill/>
          <a:ln>
            <a:noFill/>
          </a:ln>
        </p:spPr>
        <p:txBody>
          <a:bodyPr wrap="none" lIns="0" tIns="0" rIns="0" bIns="0" anchor="t" anchorCtr="0">
            <a:spAutoFit/>
          </a:bodyPr>
          <a:lstStyle/>
          <a:p>
            <a:pPr algn="l"/>
            <a:r>
              <a:rPr lang="zh-CN" sz="2700" b="1" dirty="0">
                <a:solidFill>
                  <a:srgbClr val="F8FAFC"/>
                </a:solidFill>
                <a:latin typeface="Arial"/>
                <a:ea typeface="Microsoft YaHei"/>
                <a:cs typeface="Arial"/>
              </a:rPr>
              <a:t>计算方法总分类：不是只有动力学</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E3A5F"/>
            </a:solidFill>
          </a:ln>
        </p:spPr>
      </p:sp>
      <p:sp>
        <p:nvSpPr>
          <p:cNvPr id="7" name="Rectangle 7"/>
          <p:cNvSpPr/>
          <p:nvPr/>
        </p:nvSpPr>
        <p:spPr>
          <a:xfrm>
            <a:off x="609600" y="1466850"/>
            <a:ext cx="10972800" cy="2333625"/>
          </a:xfrm>
          <a:prstGeom prst="roundRect">
            <a:avLst>
              <a:gd name="adj" fmla="val 4082"/>
            </a:avLst>
          </a:prstGeom>
          <a:solidFill>
            <a:srgbClr val="102542"/>
          </a:solidFill>
          <a:ln w="9525">
            <a:solidFill>
              <a:srgbClr val="2A4A7A"/>
            </a:solidFill>
          </a:ln>
        </p:spPr>
      </p:sp>
      <p:pic>
        <p:nvPicPr>
          <p:cNvPr id="8" name="Image 8"/>
          <p:cNvPicPr>
            <a:picLocks noChangeAspect="1"/>
          </p:cNvPicPr>
          <p:nvPr/>
        </p:nvPicPr>
        <p:blipFill>
          <a:blip r:embed="rId2"/>
          <a:stretch>
            <a:fillRect/>
          </a:stretch>
        </p:blipFill>
        <p:spPr>
          <a:xfrm>
            <a:off x="3124200" y="1600200"/>
            <a:ext cx="5934075" cy="2066925"/>
          </a:xfrm>
          <a:prstGeom prst="rect">
            <a:avLst/>
          </a:prstGeom>
        </p:spPr>
      </p:pic>
      <p:sp>
        <p:nvSpPr>
          <p:cNvPr id="9" name="TextBox 9"/>
          <p:cNvSpPr txBox="1"/>
          <p:nvPr/>
        </p:nvSpPr>
        <p:spPr>
          <a:xfrm>
            <a:off x="678180" y="3771900"/>
            <a:ext cx="10221361"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量化计算：理化描述符34维静态计算；机器学习SVM/RF；深度学习判别LSTM/CNN/Attention/BERT/ESM-2/ GC</a:t>
            </a:r>
          </a:p>
        </p:txBody>
      </p:sp>
      <p:sp>
        <p:nvSpPr>
          <p:cNvPr id="10" name="TextBox 10"/>
          <p:cNvSpPr txBox="1"/>
          <p:nvPr/>
        </p:nvSpPr>
        <p:spPr>
          <a:xfrm>
            <a:off x="678180" y="4019550"/>
            <a:ext cx="9838465"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N；生成式GAN/cVAE/GPT；结构预测AlphaFold；对接AutoDock Vina静态量化；动力学MD GROMACS/AMBER</a:t>
            </a:r>
          </a:p>
        </p:txBody>
      </p:sp>
      <p:sp>
        <p:nvSpPr>
          <p:cNvPr id="11" name="TextBox 11"/>
          <p:cNvSpPr txBox="1"/>
          <p:nvPr/>
        </p:nvSpPr>
        <p:spPr>
          <a:xfrm>
            <a:off x="678180" y="4276725"/>
            <a:ext cx="9661208"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20ns-1μs；自由能MM-PBSA基于MD的量化；挖掘用深度学习非动力学，结合机制用对接+MD是动力学+量化</a:t>
            </a:r>
          </a:p>
        </p:txBody>
      </p:sp>
      <p:sp>
        <p:nvSpPr>
          <p:cNvPr id="12" name="Rectangle 12"/>
          <p:cNvSpPr/>
          <p:nvPr/>
        </p:nvSpPr>
        <p:spPr>
          <a:xfrm>
            <a:off x="0" y="6000750"/>
            <a:ext cx="12192000" cy="571500"/>
          </a:xfrm>
          <a:prstGeom prst="rect">
            <a:avLst/>
          </a:prstGeom>
          <a:solidFill>
            <a:srgbClr val="102542"/>
          </a:solidFill>
          <a:ln>
            <a:noFill/>
          </a:ln>
        </p:spPr>
      </p:sp>
      <p:sp>
        <p:nvSpPr>
          <p:cNvPr id="13" name="Rectangle 13"/>
          <p:cNvSpPr/>
          <p:nvPr/>
        </p:nvSpPr>
        <p:spPr>
          <a:xfrm>
            <a:off x="0" y="6000750"/>
            <a:ext cx="76200" cy="571500"/>
          </a:xfrm>
          <a:prstGeom prst="rect">
            <a:avLst/>
          </a:prstGeom>
          <a:solidFill>
            <a:srgbClr val="FBBF24"/>
          </a:solidFill>
          <a:ln>
            <a:noFill/>
          </a:ln>
        </p:spPr>
      </p:sp>
      <p:sp>
        <p:nvSpPr>
          <p:cNvPr id="14" name="TextBox 14"/>
          <p:cNvSpPr txBox="1"/>
          <p:nvPr/>
        </p:nvSpPr>
        <p:spPr>
          <a:xfrm>
            <a:off x="678180" y="6172200"/>
            <a:ext cx="3160805"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Arial"/>
                <a:ea typeface="Microsoft YaHei"/>
                <a:cs typeface="Arial"/>
              </a:rPr>
              <a:t>挖掘非动力学，结合是动力学+量化</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93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A2F5A">
                <a:alpha val="55000"/>
              </a:srgbClr>
            </a:solidFill>
          </a:ln>
        </p:spPr>
      </p:sp>
      <p:sp>
        <p:nvSpPr>
          <p:cNvPr id="3" name="TextBox 3"/>
          <p:cNvSpPr txBox="1"/>
          <p:nvPr/>
        </p:nvSpPr>
        <p:spPr>
          <a:xfrm>
            <a:off x="678180" y="542925"/>
            <a:ext cx="1876450" cy="293370"/>
          </a:xfrm>
          <a:prstGeom prst="rect">
            <a:avLst/>
          </a:prstGeom>
          <a:noFill/>
          <a:ln>
            <a:noFill/>
          </a:ln>
        </p:spPr>
        <p:txBody>
          <a:bodyPr wrap="none" lIns="0" tIns="0" rIns="0" bIns="0" anchor="t" anchorCtr="0">
            <a:spAutoFit/>
          </a:bodyPr>
          <a:lstStyle/>
          <a:p>
            <a:pPr algn="l"/>
            <a:r>
              <a:rPr lang="zh-CN" sz="1500" b="1" spc="112" dirty="0">
                <a:solidFill>
                  <a:srgbClr val="FBBF24"/>
                </a:solidFill>
                <a:latin typeface="Consolas"/>
                <a:ea typeface="Microsoft YaHei"/>
                <a:cs typeface="Consolas"/>
              </a:rPr>
              <a:t>// 04 / 静态量化</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8A9BB5"/>
                </a:solidFill>
                <a:latin typeface="Consolas"/>
                <a:ea typeface="Consolas"/>
                <a:cs typeface="Consolas"/>
              </a:rPr>
              <a:t>04 / 17</a:t>
            </a:r>
          </a:p>
        </p:txBody>
      </p:sp>
      <p:sp>
        <p:nvSpPr>
          <p:cNvPr id="5" name="TextBox 5"/>
          <p:cNvSpPr txBox="1"/>
          <p:nvPr/>
        </p:nvSpPr>
        <p:spPr>
          <a:xfrm>
            <a:off x="672084" y="756285"/>
            <a:ext cx="4445458" cy="528066"/>
          </a:xfrm>
          <a:prstGeom prst="rect">
            <a:avLst/>
          </a:prstGeom>
          <a:noFill/>
          <a:ln>
            <a:noFill/>
          </a:ln>
        </p:spPr>
        <p:txBody>
          <a:bodyPr wrap="none" lIns="0" tIns="0" rIns="0" bIns="0" anchor="t" anchorCtr="0">
            <a:spAutoFit/>
          </a:bodyPr>
          <a:lstStyle/>
          <a:p>
            <a:pPr algn="l"/>
            <a:r>
              <a:rPr lang="zh-CN" sz="2700" b="1" dirty="0">
                <a:solidFill>
                  <a:srgbClr val="F8FAFC"/>
                </a:solidFill>
                <a:latin typeface="Arial"/>
                <a:ea typeface="Microsoft YaHei"/>
                <a:cs typeface="Arial"/>
              </a:rPr>
              <a:t>量化计算：34维理化描述符</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E3A5F"/>
            </a:solidFill>
          </a:ln>
        </p:spPr>
      </p:sp>
      <p:sp>
        <p:nvSpPr>
          <p:cNvPr id="7" name="Rectangle 7"/>
          <p:cNvSpPr/>
          <p:nvPr/>
        </p:nvSpPr>
        <p:spPr>
          <a:xfrm>
            <a:off x="685800" y="1447800"/>
            <a:ext cx="76200" cy="76200"/>
          </a:xfrm>
          <a:prstGeom prst="rect">
            <a:avLst/>
          </a:prstGeom>
          <a:solidFill>
            <a:srgbClr val="FBBF24"/>
          </a:solidFill>
          <a:ln>
            <a:noFill/>
          </a:ln>
        </p:spPr>
      </p:sp>
      <p:sp>
        <p:nvSpPr>
          <p:cNvPr id="8" name="TextBox 8"/>
          <p:cNvSpPr txBox="1"/>
          <p:nvPr/>
        </p:nvSpPr>
        <p:spPr>
          <a:xfrm>
            <a:off x="887730" y="1400175"/>
            <a:ext cx="419100" cy="293370"/>
          </a:xfrm>
          <a:prstGeom prst="rect">
            <a:avLst/>
          </a:prstGeom>
          <a:noFill/>
          <a:ln>
            <a:noFill/>
          </a:ln>
        </p:spPr>
        <p:txBody>
          <a:bodyPr wrap="none" lIns="0" tIns="0" rIns="0" bIns="0" anchor="t" anchorCtr="0">
            <a:spAutoFit/>
          </a:bodyPr>
          <a:lstStyle/>
          <a:p>
            <a:pPr algn="l"/>
            <a:r>
              <a:rPr lang="zh-CN" sz="1500" b="1" dirty="0">
                <a:solidFill>
                  <a:srgbClr val="38BDF8"/>
                </a:solidFill>
                <a:latin typeface="Arial"/>
                <a:ea typeface="Microsoft YaHei"/>
                <a:cs typeface="Arial"/>
              </a:rPr>
              <a:t>输入</a:t>
            </a:r>
          </a:p>
        </p:txBody>
      </p:sp>
      <p:sp>
        <p:nvSpPr>
          <p:cNvPr id="9" name="TextBox 9"/>
          <p:cNvSpPr txBox="1"/>
          <p:nvPr/>
        </p:nvSpPr>
        <p:spPr>
          <a:xfrm>
            <a:off x="1383030" y="1400175"/>
            <a:ext cx="9053703"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氨基酸序列→modlAMP库计算34维：电荷、电荷密度、疏水性、疏水矩、等电点、分子量、芳香性、极</a:t>
            </a:r>
          </a:p>
        </p:txBody>
      </p:sp>
      <p:sp>
        <p:nvSpPr>
          <p:cNvPr id="10" name="TextBox 10"/>
          <p:cNvSpPr txBox="1"/>
          <p:nvPr/>
        </p:nvSpPr>
        <p:spPr>
          <a:xfrm>
            <a:off x="1383030" y="1647825"/>
            <a:ext cx="2842260"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性、不稳定指数、脂肪族指数等</a:t>
            </a:r>
          </a:p>
        </p:txBody>
      </p:sp>
      <p:sp>
        <p:nvSpPr>
          <p:cNvPr id="11" name="Rectangle 11"/>
          <p:cNvSpPr/>
          <p:nvPr/>
        </p:nvSpPr>
        <p:spPr>
          <a:xfrm>
            <a:off x="685800" y="2085975"/>
            <a:ext cx="76200" cy="76200"/>
          </a:xfrm>
          <a:prstGeom prst="rect">
            <a:avLst/>
          </a:prstGeom>
          <a:solidFill>
            <a:srgbClr val="FBBF24"/>
          </a:solidFill>
          <a:ln>
            <a:noFill/>
          </a:ln>
        </p:spPr>
      </p:sp>
      <p:sp>
        <p:nvSpPr>
          <p:cNvPr id="12" name="TextBox 12"/>
          <p:cNvSpPr txBox="1"/>
          <p:nvPr/>
        </p:nvSpPr>
        <p:spPr>
          <a:xfrm>
            <a:off x="887730" y="2038350"/>
            <a:ext cx="384886" cy="293370"/>
          </a:xfrm>
          <a:prstGeom prst="rect">
            <a:avLst/>
          </a:prstGeom>
          <a:noFill/>
          <a:ln>
            <a:noFill/>
          </a:ln>
        </p:spPr>
        <p:txBody>
          <a:bodyPr wrap="none" lIns="0" tIns="0" rIns="0" bIns="0" anchor="t" anchorCtr="0">
            <a:spAutoFit/>
          </a:bodyPr>
          <a:lstStyle/>
          <a:p>
            <a:pPr algn="l"/>
            <a:r>
              <a:rPr lang="en-US" sz="1500" b="1" dirty="0">
                <a:solidFill>
                  <a:srgbClr val="38BDF8"/>
                </a:solidFill>
                <a:latin typeface="Arial"/>
                <a:ea typeface="Arial"/>
                <a:cs typeface="Arial"/>
              </a:rPr>
              <a:t>PC6</a:t>
            </a:r>
          </a:p>
        </p:txBody>
      </p:sp>
      <p:sp>
        <p:nvSpPr>
          <p:cNvPr id="13" name="TextBox 13"/>
          <p:cNvSpPr txBox="1"/>
          <p:nvPr/>
        </p:nvSpPr>
        <p:spPr>
          <a:xfrm>
            <a:off x="1354455" y="2038350"/>
            <a:ext cx="8314563"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6种理化性质主成分：疏水、体积、电荷、极性、二级结构倾向、溶剂可及性，降维后6维向量</a:t>
            </a:r>
          </a:p>
        </p:txBody>
      </p:sp>
      <p:sp>
        <p:nvSpPr>
          <p:cNvPr id="14" name="Rectangle 14"/>
          <p:cNvSpPr/>
          <p:nvPr/>
        </p:nvSpPr>
        <p:spPr>
          <a:xfrm>
            <a:off x="685800" y="2466975"/>
            <a:ext cx="76200" cy="76200"/>
          </a:xfrm>
          <a:prstGeom prst="rect">
            <a:avLst/>
          </a:prstGeom>
          <a:solidFill>
            <a:srgbClr val="FBBF24"/>
          </a:solidFill>
          <a:ln>
            <a:noFill/>
          </a:ln>
        </p:spPr>
      </p:sp>
      <p:sp>
        <p:nvSpPr>
          <p:cNvPr id="15" name="TextBox 15"/>
          <p:cNvSpPr txBox="1"/>
          <p:nvPr/>
        </p:nvSpPr>
        <p:spPr>
          <a:xfrm>
            <a:off x="887730" y="2419350"/>
            <a:ext cx="1400413" cy="293370"/>
          </a:xfrm>
          <a:prstGeom prst="rect">
            <a:avLst/>
          </a:prstGeom>
          <a:noFill/>
          <a:ln>
            <a:noFill/>
          </a:ln>
        </p:spPr>
        <p:txBody>
          <a:bodyPr wrap="none" lIns="0" tIns="0" rIns="0" bIns="0" anchor="t" anchorCtr="0">
            <a:spAutoFit/>
          </a:bodyPr>
          <a:lstStyle/>
          <a:p>
            <a:pPr algn="l"/>
            <a:r>
              <a:rPr lang="en-US" sz="1500" b="1" dirty="0">
                <a:solidFill>
                  <a:srgbClr val="38BDF8"/>
                </a:solidFill>
                <a:latin typeface="Arial"/>
                <a:ea typeface="Arial"/>
                <a:cs typeface="Arial"/>
              </a:rPr>
              <a:t>PsePSSM-DCT</a:t>
            </a:r>
          </a:p>
        </p:txBody>
      </p:sp>
      <p:sp>
        <p:nvSpPr>
          <p:cNvPr id="16" name="TextBox 16"/>
          <p:cNvSpPr txBox="1"/>
          <p:nvPr/>
        </p:nvSpPr>
        <p:spPr>
          <a:xfrm>
            <a:off x="2259330" y="2419350"/>
            <a:ext cx="8147876"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进化特征：PSI-BLAST生成PSSM 20维，伪成分+离散余弦变换DCT去噪，捕捉局部进化信息</a:t>
            </a:r>
          </a:p>
        </p:txBody>
      </p:sp>
      <p:sp>
        <p:nvSpPr>
          <p:cNvPr id="17" name="Rectangle 17"/>
          <p:cNvSpPr/>
          <p:nvPr/>
        </p:nvSpPr>
        <p:spPr>
          <a:xfrm>
            <a:off x="685800" y="2857500"/>
            <a:ext cx="76200" cy="76200"/>
          </a:xfrm>
          <a:prstGeom prst="rect">
            <a:avLst/>
          </a:prstGeom>
          <a:solidFill>
            <a:srgbClr val="FBBF24"/>
          </a:solidFill>
          <a:ln>
            <a:noFill/>
          </a:ln>
        </p:spPr>
      </p:sp>
      <p:sp>
        <p:nvSpPr>
          <p:cNvPr id="18" name="TextBox 18"/>
          <p:cNvSpPr txBox="1"/>
          <p:nvPr/>
        </p:nvSpPr>
        <p:spPr>
          <a:xfrm>
            <a:off x="887730" y="2809875"/>
            <a:ext cx="419100" cy="293370"/>
          </a:xfrm>
          <a:prstGeom prst="rect">
            <a:avLst/>
          </a:prstGeom>
          <a:noFill/>
          <a:ln>
            <a:noFill/>
          </a:ln>
        </p:spPr>
        <p:txBody>
          <a:bodyPr wrap="none" lIns="0" tIns="0" rIns="0" bIns="0" anchor="t" anchorCtr="0">
            <a:spAutoFit/>
          </a:bodyPr>
          <a:lstStyle/>
          <a:p>
            <a:pPr algn="l"/>
            <a:r>
              <a:rPr lang="zh-CN" sz="1500" b="1" dirty="0">
                <a:solidFill>
                  <a:srgbClr val="38BDF8"/>
                </a:solidFill>
                <a:latin typeface="Arial"/>
                <a:ea typeface="Microsoft YaHei"/>
                <a:cs typeface="Arial"/>
              </a:rPr>
              <a:t>特点</a:t>
            </a:r>
          </a:p>
        </p:txBody>
      </p:sp>
      <p:sp>
        <p:nvSpPr>
          <p:cNvPr id="19" name="TextBox 19"/>
          <p:cNvSpPr txBox="1"/>
          <p:nvPr/>
        </p:nvSpPr>
        <p:spPr>
          <a:xfrm>
            <a:off x="1383030" y="2809875"/>
            <a:ext cx="6552438"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静态计算，无时间演化，毫秒级完成，用于传统ML和深度学习的输入特征</a:t>
            </a:r>
          </a:p>
        </p:txBody>
      </p:sp>
      <p:sp>
        <p:nvSpPr>
          <p:cNvPr id="20" name="Rectangle 20"/>
          <p:cNvSpPr/>
          <p:nvPr/>
        </p:nvSpPr>
        <p:spPr>
          <a:xfrm>
            <a:off x="0" y="6000750"/>
            <a:ext cx="12192000" cy="571500"/>
          </a:xfrm>
          <a:prstGeom prst="rect">
            <a:avLst/>
          </a:prstGeom>
          <a:solidFill>
            <a:srgbClr val="102542"/>
          </a:solidFill>
          <a:ln>
            <a:noFill/>
          </a:ln>
        </p:spPr>
      </p:sp>
      <p:sp>
        <p:nvSpPr>
          <p:cNvPr id="21" name="Rectangle 21"/>
          <p:cNvSpPr/>
          <p:nvPr/>
        </p:nvSpPr>
        <p:spPr>
          <a:xfrm>
            <a:off x="0" y="6000750"/>
            <a:ext cx="76200" cy="571500"/>
          </a:xfrm>
          <a:prstGeom prst="rect">
            <a:avLst/>
          </a:prstGeom>
          <a:solidFill>
            <a:srgbClr val="FBBF24"/>
          </a:solidFill>
          <a:ln>
            <a:noFill/>
          </a:ln>
        </p:spPr>
      </p:sp>
      <p:sp>
        <p:nvSpPr>
          <p:cNvPr id="22" name="TextBox 22"/>
          <p:cNvSpPr txBox="1"/>
          <p:nvPr/>
        </p:nvSpPr>
        <p:spPr>
          <a:xfrm>
            <a:off x="678180" y="6172200"/>
            <a:ext cx="2236470"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Arial"/>
                <a:ea typeface="Microsoft YaHei"/>
                <a:cs typeface="Arial"/>
              </a:rPr>
              <a:t>量化计算是特征工程基础</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93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A2F5A">
                <a:alpha val="55000"/>
              </a:srgbClr>
            </a:solidFill>
          </a:ln>
        </p:spPr>
      </p:sp>
      <p:sp>
        <p:nvSpPr>
          <p:cNvPr id="3" name="TextBox 3"/>
          <p:cNvSpPr txBox="1"/>
          <p:nvPr/>
        </p:nvSpPr>
        <p:spPr>
          <a:xfrm>
            <a:off x="678180" y="542925"/>
            <a:ext cx="3395502" cy="293370"/>
          </a:xfrm>
          <a:prstGeom prst="rect">
            <a:avLst/>
          </a:prstGeom>
          <a:noFill/>
          <a:ln>
            <a:noFill/>
          </a:ln>
        </p:spPr>
        <p:txBody>
          <a:bodyPr wrap="none" lIns="0" tIns="0" rIns="0" bIns="0" anchor="t" anchorCtr="0">
            <a:spAutoFit/>
          </a:bodyPr>
          <a:lstStyle/>
          <a:p>
            <a:pPr algn="l"/>
            <a:r>
              <a:rPr lang="zh-CN" sz="1500" b="1" spc="112" dirty="0">
                <a:solidFill>
                  <a:srgbClr val="FBBF24"/>
                </a:solidFill>
                <a:latin typeface="Consolas"/>
                <a:ea typeface="Microsoft YaHei"/>
                <a:cs typeface="Consolas"/>
              </a:rPr>
              <a:t>// 05 / 非动力学，神经网络推理</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8A9BB5"/>
                </a:solidFill>
                <a:latin typeface="Consolas"/>
                <a:ea typeface="Consolas"/>
                <a:cs typeface="Consolas"/>
              </a:rPr>
              <a:t>05 / 17</a:t>
            </a:r>
          </a:p>
        </p:txBody>
      </p:sp>
      <p:sp>
        <p:nvSpPr>
          <p:cNvPr id="5" name="TextBox 5"/>
          <p:cNvSpPr txBox="1"/>
          <p:nvPr/>
        </p:nvSpPr>
        <p:spPr>
          <a:xfrm>
            <a:off x="672084" y="756285"/>
            <a:ext cx="7386776" cy="528066"/>
          </a:xfrm>
          <a:prstGeom prst="rect">
            <a:avLst/>
          </a:prstGeom>
          <a:noFill/>
          <a:ln>
            <a:noFill/>
          </a:ln>
        </p:spPr>
        <p:txBody>
          <a:bodyPr wrap="none" lIns="0" tIns="0" rIns="0" bIns="0" anchor="t" anchorCtr="0">
            <a:spAutoFit/>
          </a:bodyPr>
          <a:lstStyle/>
          <a:p>
            <a:pPr algn="l"/>
            <a:r>
              <a:rPr lang="zh-CN" sz="2700" b="1" dirty="0">
                <a:solidFill>
                  <a:srgbClr val="F8FAFC"/>
                </a:solidFill>
                <a:latin typeface="Arial"/>
                <a:ea typeface="Microsoft YaHei"/>
                <a:cs typeface="Arial"/>
              </a:rPr>
              <a:t>深度学习判别：LSTM+Attention+BERT细节</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E3A5F"/>
            </a:solidFill>
          </a:ln>
        </p:spPr>
      </p:sp>
      <p:sp>
        <p:nvSpPr>
          <p:cNvPr id="7" name="Rectangle 7"/>
          <p:cNvSpPr/>
          <p:nvPr/>
        </p:nvSpPr>
        <p:spPr>
          <a:xfrm>
            <a:off x="685800" y="1447800"/>
            <a:ext cx="76200" cy="76200"/>
          </a:xfrm>
          <a:prstGeom prst="rect">
            <a:avLst/>
          </a:prstGeom>
          <a:solidFill>
            <a:srgbClr val="FBBF24"/>
          </a:solidFill>
          <a:ln>
            <a:noFill/>
          </a:ln>
        </p:spPr>
      </p:sp>
      <p:sp>
        <p:nvSpPr>
          <p:cNvPr id="8" name="TextBox 8"/>
          <p:cNvSpPr txBox="1"/>
          <p:nvPr/>
        </p:nvSpPr>
        <p:spPr>
          <a:xfrm>
            <a:off x="887730" y="1400175"/>
            <a:ext cx="552907" cy="293370"/>
          </a:xfrm>
          <a:prstGeom prst="rect">
            <a:avLst/>
          </a:prstGeom>
          <a:noFill/>
          <a:ln>
            <a:noFill/>
          </a:ln>
        </p:spPr>
        <p:txBody>
          <a:bodyPr wrap="none" lIns="0" tIns="0" rIns="0" bIns="0" anchor="t" anchorCtr="0">
            <a:spAutoFit/>
          </a:bodyPr>
          <a:lstStyle/>
          <a:p>
            <a:pPr algn="l"/>
            <a:r>
              <a:rPr lang="en-US" sz="1500" b="1" dirty="0">
                <a:solidFill>
                  <a:srgbClr val="38BDF8"/>
                </a:solidFill>
                <a:latin typeface="Arial"/>
                <a:ea typeface="Arial"/>
                <a:cs typeface="Arial"/>
              </a:rPr>
              <a:t>LSTM</a:t>
            </a:r>
          </a:p>
        </p:txBody>
      </p:sp>
      <p:sp>
        <p:nvSpPr>
          <p:cNvPr id="9" name="TextBox 9"/>
          <p:cNvSpPr txBox="1"/>
          <p:nvPr/>
        </p:nvSpPr>
        <p:spPr>
          <a:xfrm>
            <a:off x="1487805" y="1400175"/>
            <a:ext cx="8880462"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Embedding 21→128 → BiLSTM双层128→256捕捉长程依赖 → Attention加权关键残基 → MLP 256→12</a:t>
            </a:r>
          </a:p>
        </p:txBody>
      </p:sp>
      <p:sp>
        <p:nvSpPr>
          <p:cNvPr id="10" name="TextBox 10"/>
          <p:cNvSpPr txBox="1"/>
          <p:nvPr/>
        </p:nvSpPr>
        <p:spPr>
          <a:xfrm>
            <a:off x="1487805" y="1647825"/>
            <a:ext cx="3517855"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8→1 Dropout0.3 sigmoid输出抗菌概率</a:t>
            </a:r>
          </a:p>
        </p:txBody>
      </p:sp>
      <p:sp>
        <p:nvSpPr>
          <p:cNvPr id="11" name="Rectangle 11"/>
          <p:cNvSpPr/>
          <p:nvPr/>
        </p:nvSpPr>
        <p:spPr>
          <a:xfrm>
            <a:off x="685800" y="2085975"/>
            <a:ext cx="76200" cy="76200"/>
          </a:xfrm>
          <a:prstGeom prst="rect">
            <a:avLst/>
          </a:prstGeom>
          <a:solidFill>
            <a:srgbClr val="FBBF24"/>
          </a:solidFill>
          <a:ln>
            <a:noFill/>
          </a:ln>
        </p:spPr>
      </p:sp>
      <p:sp>
        <p:nvSpPr>
          <p:cNvPr id="12" name="TextBox 12"/>
          <p:cNvSpPr txBox="1"/>
          <p:nvPr/>
        </p:nvSpPr>
        <p:spPr>
          <a:xfrm>
            <a:off x="887730" y="2038350"/>
            <a:ext cx="1018032" cy="293370"/>
          </a:xfrm>
          <a:prstGeom prst="rect">
            <a:avLst/>
          </a:prstGeom>
          <a:noFill/>
          <a:ln>
            <a:noFill/>
          </a:ln>
        </p:spPr>
        <p:txBody>
          <a:bodyPr wrap="none" lIns="0" tIns="0" rIns="0" bIns="0" anchor="t" anchorCtr="0">
            <a:spAutoFit/>
          </a:bodyPr>
          <a:lstStyle/>
          <a:p>
            <a:pPr algn="l"/>
            <a:r>
              <a:rPr lang="en-US" sz="1500" b="1" dirty="0">
                <a:solidFill>
                  <a:srgbClr val="38BDF8"/>
                </a:solidFill>
                <a:latin typeface="Arial"/>
                <a:ea typeface="Arial"/>
                <a:cs typeface="Arial"/>
              </a:rPr>
              <a:t>Attention</a:t>
            </a:r>
          </a:p>
        </p:txBody>
      </p:sp>
      <p:sp>
        <p:nvSpPr>
          <p:cNvPr id="13" name="TextBox 13"/>
          <p:cNvSpPr txBox="1"/>
          <p:nvPr/>
        </p:nvSpPr>
        <p:spPr>
          <a:xfrm>
            <a:off x="1849755" y="2038350"/>
            <a:ext cx="8033195"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Transformer Encoder 2层4头隐藏256前馈512位置编码平均池化→MLP，突出残基重要性</a:t>
            </a:r>
          </a:p>
        </p:txBody>
      </p:sp>
      <p:sp>
        <p:nvSpPr>
          <p:cNvPr id="14" name="Rectangle 14"/>
          <p:cNvSpPr/>
          <p:nvPr/>
        </p:nvSpPr>
        <p:spPr>
          <a:xfrm>
            <a:off x="685800" y="2466975"/>
            <a:ext cx="76200" cy="76200"/>
          </a:xfrm>
          <a:prstGeom prst="rect">
            <a:avLst/>
          </a:prstGeom>
          <a:solidFill>
            <a:srgbClr val="FBBF24"/>
          </a:solidFill>
          <a:ln>
            <a:noFill/>
          </a:ln>
        </p:spPr>
      </p:sp>
      <p:sp>
        <p:nvSpPr>
          <p:cNvPr id="15" name="TextBox 15"/>
          <p:cNvSpPr txBox="1"/>
          <p:nvPr/>
        </p:nvSpPr>
        <p:spPr>
          <a:xfrm>
            <a:off x="887730" y="2419350"/>
            <a:ext cx="508102" cy="293370"/>
          </a:xfrm>
          <a:prstGeom prst="rect">
            <a:avLst/>
          </a:prstGeom>
          <a:noFill/>
          <a:ln>
            <a:noFill/>
          </a:ln>
        </p:spPr>
        <p:txBody>
          <a:bodyPr wrap="none" lIns="0" tIns="0" rIns="0" bIns="0" anchor="t" anchorCtr="0">
            <a:spAutoFit/>
          </a:bodyPr>
          <a:lstStyle/>
          <a:p>
            <a:pPr algn="l"/>
            <a:r>
              <a:rPr lang="en-US" sz="1500" b="1" dirty="0">
                <a:solidFill>
                  <a:srgbClr val="38BDF8"/>
                </a:solidFill>
                <a:latin typeface="Arial"/>
                <a:ea typeface="Arial"/>
                <a:cs typeface="Arial"/>
              </a:rPr>
              <a:t>BERT</a:t>
            </a:r>
          </a:p>
        </p:txBody>
      </p:sp>
      <p:sp>
        <p:nvSpPr>
          <p:cNvPr id="16" name="TextBox 16"/>
          <p:cNvSpPr txBox="1"/>
          <p:nvPr/>
        </p:nvSpPr>
        <p:spPr>
          <a:xfrm>
            <a:off x="1478280" y="2419350"/>
            <a:ext cx="9082884"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ProtBert-BFD 30亿蛋白预训练，冻结前10层微调后2层，取CLS 1024维→MLP 1024→512→1，捕捉上</a:t>
            </a:r>
          </a:p>
        </p:txBody>
      </p:sp>
      <p:sp>
        <p:nvSpPr>
          <p:cNvPr id="17" name="TextBox 17"/>
          <p:cNvSpPr txBox="1"/>
          <p:nvPr/>
        </p:nvSpPr>
        <p:spPr>
          <a:xfrm>
            <a:off x="1478280" y="2676525"/>
            <a:ext cx="419100"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下文</a:t>
            </a:r>
          </a:p>
        </p:txBody>
      </p:sp>
      <p:sp>
        <p:nvSpPr>
          <p:cNvPr id="18" name="Rectangle 18"/>
          <p:cNvSpPr/>
          <p:nvPr/>
        </p:nvSpPr>
        <p:spPr>
          <a:xfrm>
            <a:off x="685800" y="3105150"/>
            <a:ext cx="76200" cy="76200"/>
          </a:xfrm>
          <a:prstGeom prst="rect">
            <a:avLst/>
          </a:prstGeom>
          <a:solidFill>
            <a:srgbClr val="FBBF24"/>
          </a:solidFill>
          <a:ln>
            <a:noFill/>
          </a:ln>
        </p:spPr>
      </p:sp>
      <p:sp>
        <p:nvSpPr>
          <p:cNvPr id="19" name="TextBox 19"/>
          <p:cNvSpPr txBox="1"/>
          <p:nvPr/>
        </p:nvSpPr>
        <p:spPr>
          <a:xfrm>
            <a:off x="887730" y="3057525"/>
            <a:ext cx="419100" cy="293370"/>
          </a:xfrm>
          <a:prstGeom prst="rect">
            <a:avLst/>
          </a:prstGeom>
          <a:noFill/>
          <a:ln>
            <a:noFill/>
          </a:ln>
        </p:spPr>
        <p:txBody>
          <a:bodyPr wrap="none" lIns="0" tIns="0" rIns="0" bIns="0" anchor="t" anchorCtr="0">
            <a:spAutoFit/>
          </a:bodyPr>
          <a:lstStyle/>
          <a:p>
            <a:pPr algn="l"/>
            <a:r>
              <a:rPr lang="zh-CN" sz="1500" b="1" dirty="0">
                <a:solidFill>
                  <a:srgbClr val="38BDF8"/>
                </a:solidFill>
                <a:latin typeface="Arial"/>
                <a:ea typeface="Microsoft YaHei"/>
                <a:cs typeface="Arial"/>
              </a:rPr>
              <a:t>训练</a:t>
            </a:r>
          </a:p>
        </p:txBody>
      </p:sp>
      <p:sp>
        <p:nvSpPr>
          <p:cNvPr id="20" name="TextBox 20"/>
          <p:cNvSpPr txBox="1"/>
          <p:nvPr/>
        </p:nvSpPr>
        <p:spPr>
          <a:xfrm>
            <a:off x="1383030" y="3057525"/>
            <a:ext cx="9711546"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AdamW lr1e-4/2e-5 batch64 epoch50早停10 5折交叉，Focal Loss γ=2解决1:10不平衡，AUROC0.95-0.</a:t>
            </a:r>
          </a:p>
        </p:txBody>
      </p:sp>
      <p:sp>
        <p:nvSpPr>
          <p:cNvPr id="21" name="TextBox 21"/>
          <p:cNvSpPr txBox="1"/>
          <p:nvPr/>
        </p:nvSpPr>
        <p:spPr>
          <a:xfrm>
            <a:off x="1383030" y="3305175"/>
            <a:ext cx="1327785"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97准确率&gt;92%</a:t>
            </a:r>
          </a:p>
        </p:txBody>
      </p:sp>
      <p:sp>
        <p:nvSpPr>
          <p:cNvPr id="22" name="Rectangle 22"/>
          <p:cNvSpPr/>
          <p:nvPr/>
        </p:nvSpPr>
        <p:spPr>
          <a:xfrm>
            <a:off x="685800" y="3743325"/>
            <a:ext cx="76200" cy="76200"/>
          </a:xfrm>
          <a:prstGeom prst="rect">
            <a:avLst/>
          </a:prstGeom>
          <a:solidFill>
            <a:srgbClr val="FBBF24"/>
          </a:solidFill>
          <a:ln>
            <a:noFill/>
          </a:ln>
        </p:spPr>
      </p:sp>
      <p:sp>
        <p:nvSpPr>
          <p:cNvPr id="23" name="TextBox 23"/>
          <p:cNvSpPr txBox="1"/>
          <p:nvPr/>
        </p:nvSpPr>
        <p:spPr>
          <a:xfrm>
            <a:off x="887730" y="3695700"/>
            <a:ext cx="621030" cy="293370"/>
          </a:xfrm>
          <a:prstGeom prst="rect">
            <a:avLst/>
          </a:prstGeom>
          <a:noFill/>
          <a:ln>
            <a:noFill/>
          </a:ln>
        </p:spPr>
        <p:txBody>
          <a:bodyPr wrap="none" lIns="0" tIns="0" rIns="0" bIns="0" anchor="t" anchorCtr="0">
            <a:spAutoFit/>
          </a:bodyPr>
          <a:lstStyle/>
          <a:p>
            <a:pPr algn="l"/>
            <a:r>
              <a:rPr lang="zh-CN" sz="1500" b="1" dirty="0">
                <a:solidFill>
                  <a:srgbClr val="38BDF8"/>
                </a:solidFill>
                <a:latin typeface="Arial"/>
                <a:ea typeface="Microsoft YaHei"/>
                <a:cs typeface="Arial"/>
              </a:rPr>
              <a:t>本课题</a:t>
            </a:r>
          </a:p>
        </p:txBody>
      </p:sp>
      <p:sp>
        <p:nvSpPr>
          <p:cNvPr id="24" name="TextBox 24"/>
          <p:cNvSpPr txBox="1"/>
          <p:nvPr/>
        </p:nvSpPr>
        <p:spPr>
          <a:xfrm>
            <a:off x="1573530" y="3695700"/>
            <a:ext cx="7728966"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三模型独立预测交集&gt;0.9才纳入，特色宏蛋白组表达二次去重解决有预测无表达假阳性</a:t>
            </a:r>
          </a:p>
        </p:txBody>
      </p:sp>
      <p:sp>
        <p:nvSpPr>
          <p:cNvPr id="25" name="Rectangle 25"/>
          <p:cNvSpPr/>
          <p:nvPr/>
        </p:nvSpPr>
        <p:spPr>
          <a:xfrm>
            <a:off x="0" y="6000750"/>
            <a:ext cx="12192000" cy="571500"/>
          </a:xfrm>
          <a:prstGeom prst="rect">
            <a:avLst/>
          </a:prstGeom>
          <a:solidFill>
            <a:srgbClr val="102542"/>
          </a:solidFill>
          <a:ln>
            <a:noFill/>
          </a:ln>
        </p:spPr>
      </p:sp>
      <p:sp>
        <p:nvSpPr>
          <p:cNvPr id="26" name="Rectangle 26"/>
          <p:cNvSpPr/>
          <p:nvPr/>
        </p:nvSpPr>
        <p:spPr>
          <a:xfrm>
            <a:off x="0" y="6000750"/>
            <a:ext cx="76200" cy="571500"/>
          </a:xfrm>
          <a:prstGeom prst="rect">
            <a:avLst/>
          </a:prstGeom>
          <a:solidFill>
            <a:srgbClr val="FBBF24"/>
          </a:solidFill>
          <a:ln>
            <a:noFill/>
          </a:ln>
        </p:spPr>
      </p:sp>
      <p:sp>
        <p:nvSpPr>
          <p:cNvPr id="27" name="TextBox 27"/>
          <p:cNvSpPr txBox="1"/>
          <p:nvPr/>
        </p:nvSpPr>
        <p:spPr>
          <a:xfrm>
            <a:off x="678180" y="6172200"/>
            <a:ext cx="2555015"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Arial"/>
                <a:ea typeface="Microsoft YaHei"/>
                <a:cs typeface="Arial"/>
              </a:rPr>
              <a:t>三模型共识+表达去重是特色</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93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A2F5A">
                <a:alpha val="55000"/>
              </a:srgbClr>
            </a:solidFill>
          </a:ln>
        </p:spPr>
      </p:sp>
      <p:sp>
        <p:nvSpPr>
          <p:cNvPr id="3" name="TextBox 3"/>
          <p:cNvSpPr txBox="1"/>
          <p:nvPr/>
        </p:nvSpPr>
        <p:spPr>
          <a:xfrm>
            <a:off x="678180" y="542925"/>
            <a:ext cx="2434897" cy="293370"/>
          </a:xfrm>
          <a:prstGeom prst="rect">
            <a:avLst/>
          </a:prstGeom>
          <a:noFill/>
          <a:ln>
            <a:noFill/>
          </a:ln>
        </p:spPr>
        <p:txBody>
          <a:bodyPr wrap="none" lIns="0" tIns="0" rIns="0" bIns="0" anchor="t" anchorCtr="0">
            <a:spAutoFit/>
          </a:bodyPr>
          <a:lstStyle/>
          <a:p>
            <a:pPr algn="l"/>
            <a:r>
              <a:rPr lang="zh-CN" sz="1500" b="1" spc="112" dirty="0">
                <a:solidFill>
                  <a:srgbClr val="FBBF24"/>
                </a:solidFill>
                <a:latin typeface="Consolas"/>
                <a:ea typeface="Microsoft YaHei"/>
                <a:cs typeface="Consolas"/>
              </a:rPr>
              <a:t>// 06 / 生成+回归量化</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8A9BB5"/>
                </a:solidFill>
                <a:latin typeface="Consolas"/>
                <a:ea typeface="Consolas"/>
                <a:cs typeface="Consolas"/>
              </a:rPr>
              <a:t>06 / 17</a:t>
            </a:r>
          </a:p>
        </p:txBody>
      </p:sp>
      <p:sp>
        <p:nvSpPr>
          <p:cNvPr id="5" name="TextBox 5"/>
          <p:cNvSpPr txBox="1"/>
          <p:nvPr/>
        </p:nvSpPr>
        <p:spPr>
          <a:xfrm>
            <a:off x="672084" y="756285"/>
            <a:ext cx="6309367" cy="528066"/>
          </a:xfrm>
          <a:prstGeom prst="rect">
            <a:avLst/>
          </a:prstGeom>
          <a:noFill/>
          <a:ln>
            <a:noFill/>
          </a:ln>
        </p:spPr>
        <p:txBody>
          <a:bodyPr wrap="none" lIns="0" tIns="0" rIns="0" bIns="0" anchor="t" anchorCtr="0">
            <a:spAutoFit/>
          </a:bodyPr>
          <a:lstStyle/>
          <a:p>
            <a:pPr algn="l"/>
            <a:r>
              <a:rPr lang="zh-CN" sz="2700" b="1" dirty="0">
                <a:solidFill>
                  <a:srgbClr val="F8FAFC"/>
                </a:solidFill>
                <a:latin typeface="Arial"/>
                <a:ea typeface="Microsoft YaHei"/>
                <a:cs typeface="Arial"/>
              </a:rPr>
              <a:t>生成式与图网络：GAN+cVAE+GCN回归</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E3A5F"/>
            </a:solidFill>
          </a:ln>
        </p:spPr>
      </p:sp>
      <p:sp>
        <p:nvSpPr>
          <p:cNvPr id="7" name="Rectangle 7"/>
          <p:cNvSpPr/>
          <p:nvPr/>
        </p:nvSpPr>
        <p:spPr>
          <a:xfrm>
            <a:off x="685800" y="1447800"/>
            <a:ext cx="76200" cy="76200"/>
          </a:xfrm>
          <a:prstGeom prst="rect">
            <a:avLst/>
          </a:prstGeom>
          <a:solidFill>
            <a:srgbClr val="FBBF24"/>
          </a:solidFill>
          <a:ln>
            <a:noFill/>
          </a:ln>
        </p:spPr>
      </p:sp>
      <p:sp>
        <p:nvSpPr>
          <p:cNvPr id="8" name="TextBox 8"/>
          <p:cNvSpPr txBox="1"/>
          <p:nvPr/>
        </p:nvSpPr>
        <p:spPr>
          <a:xfrm>
            <a:off x="887730" y="1400175"/>
            <a:ext cx="1454038" cy="293370"/>
          </a:xfrm>
          <a:prstGeom prst="rect">
            <a:avLst/>
          </a:prstGeom>
          <a:noFill/>
          <a:ln>
            <a:noFill/>
          </a:ln>
        </p:spPr>
        <p:txBody>
          <a:bodyPr wrap="none" lIns="0" tIns="0" rIns="0" bIns="0" anchor="t" anchorCtr="0">
            <a:spAutoFit/>
          </a:bodyPr>
          <a:lstStyle/>
          <a:p>
            <a:pPr algn="l"/>
            <a:r>
              <a:rPr lang="en-US" sz="1500" b="1" dirty="0">
                <a:solidFill>
                  <a:srgbClr val="38BDF8"/>
                </a:solidFill>
                <a:latin typeface="Arial"/>
                <a:ea typeface="Arial"/>
                <a:cs typeface="Arial"/>
              </a:rPr>
              <a:t>HydrAMP cVAE</a:t>
            </a:r>
          </a:p>
        </p:txBody>
      </p:sp>
      <p:sp>
        <p:nvSpPr>
          <p:cNvPr id="9" name="TextBox 9"/>
          <p:cNvSpPr txBox="1"/>
          <p:nvPr/>
        </p:nvSpPr>
        <p:spPr>
          <a:xfrm>
            <a:off x="2297430" y="1400175"/>
            <a:ext cx="8334470"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编码器序列→潜空间z 128维，解码器以活性条件c MIC&lt;10生成新序列，损失=重构+KL+分类器</a:t>
            </a:r>
          </a:p>
        </p:txBody>
      </p:sp>
      <p:sp>
        <p:nvSpPr>
          <p:cNvPr id="10" name="TextBox 10"/>
          <p:cNvSpPr txBox="1"/>
          <p:nvPr/>
        </p:nvSpPr>
        <p:spPr>
          <a:xfrm>
            <a:off x="2297430" y="1647825"/>
            <a:ext cx="4972622"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损失+潜空间匹配，creativity参数控制相似度定向改造</a:t>
            </a:r>
          </a:p>
        </p:txBody>
      </p:sp>
      <p:sp>
        <p:nvSpPr>
          <p:cNvPr id="11" name="Rectangle 11"/>
          <p:cNvSpPr/>
          <p:nvPr/>
        </p:nvSpPr>
        <p:spPr>
          <a:xfrm>
            <a:off x="685800" y="2085975"/>
            <a:ext cx="76200" cy="76200"/>
          </a:xfrm>
          <a:prstGeom prst="rect">
            <a:avLst/>
          </a:prstGeom>
          <a:solidFill>
            <a:srgbClr val="FBBF24"/>
          </a:solidFill>
          <a:ln>
            <a:noFill/>
          </a:ln>
        </p:spPr>
      </p:sp>
      <p:sp>
        <p:nvSpPr>
          <p:cNvPr id="12" name="TextBox 12"/>
          <p:cNvSpPr txBox="1"/>
          <p:nvPr/>
        </p:nvSpPr>
        <p:spPr>
          <a:xfrm>
            <a:off x="887730" y="2038350"/>
            <a:ext cx="1806893" cy="293370"/>
          </a:xfrm>
          <a:prstGeom prst="rect">
            <a:avLst/>
          </a:prstGeom>
          <a:noFill/>
          <a:ln>
            <a:noFill/>
          </a:ln>
        </p:spPr>
        <p:txBody>
          <a:bodyPr wrap="none" lIns="0" tIns="0" rIns="0" bIns="0" anchor="t" anchorCtr="0">
            <a:spAutoFit/>
          </a:bodyPr>
          <a:lstStyle/>
          <a:p>
            <a:pPr algn="l"/>
            <a:r>
              <a:rPr lang="en-US" sz="1500" b="1" dirty="0">
                <a:solidFill>
                  <a:srgbClr val="38BDF8"/>
                </a:solidFill>
                <a:latin typeface="Arial"/>
                <a:ea typeface="Arial"/>
                <a:cs typeface="Arial"/>
              </a:rPr>
              <a:t>AM Predictor GCN</a:t>
            </a:r>
          </a:p>
        </p:txBody>
      </p:sp>
      <p:sp>
        <p:nvSpPr>
          <p:cNvPr id="13" name="TextBox 13"/>
          <p:cNvSpPr txBox="1"/>
          <p:nvPr/>
        </p:nvSpPr>
        <p:spPr>
          <a:xfrm>
            <a:off x="2573655" y="2038350"/>
            <a:ext cx="7943088"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图构建残基为节点接触图&lt;8Å为边，节点特征ESM-2嵌入1280维+理化，图卷积3层→池化→</a:t>
            </a:r>
          </a:p>
        </p:txBody>
      </p:sp>
      <p:sp>
        <p:nvSpPr>
          <p:cNvPr id="14" name="TextBox 14"/>
          <p:cNvSpPr txBox="1"/>
          <p:nvPr/>
        </p:nvSpPr>
        <p:spPr>
          <a:xfrm>
            <a:off x="2573655" y="2286000"/>
            <a:ext cx="6713982"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MLP回归MIC RMSE0.535 PCC0.71 SHAP解释关键残基，打分函数用于GAN</a:t>
            </a:r>
          </a:p>
        </p:txBody>
      </p:sp>
      <p:sp>
        <p:nvSpPr>
          <p:cNvPr id="15" name="Rectangle 15"/>
          <p:cNvSpPr/>
          <p:nvPr/>
        </p:nvSpPr>
        <p:spPr>
          <a:xfrm>
            <a:off x="685800" y="2724150"/>
            <a:ext cx="76200" cy="76200"/>
          </a:xfrm>
          <a:prstGeom prst="rect">
            <a:avLst/>
          </a:prstGeom>
          <a:solidFill>
            <a:srgbClr val="FBBF24"/>
          </a:solidFill>
          <a:ln>
            <a:noFill/>
          </a:ln>
        </p:spPr>
      </p:sp>
      <p:sp>
        <p:nvSpPr>
          <p:cNvPr id="16" name="TextBox 16"/>
          <p:cNvSpPr txBox="1"/>
          <p:nvPr/>
        </p:nvSpPr>
        <p:spPr>
          <a:xfrm>
            <a:off x="887730" y="2676525"/>
            <a:ext cx="2166749" cy="293370"/>
          </a:xfrm>
          <a:prstGeom prst="rect">
            <a:avLst/>
          </a:prstGeom>
          <a:noFill/>
          <a:ln>
            <a:noFill/>
          </a:ln>
        </p:spPr>
        <p:txBody>
          <a:bodyPr wrap="none" lIns="0" tIns="0" rIns="0" bIns="0" anchor="t" anchorCtr="0">
            <a:spAutoFit/>
          </a:bodyPr>
          <a:lstStyle/>
          <a:p>
            <a:pPr algn="l"/>
            <a:r>
              <a:rPr lang="en-US" sz="1500" b="1" dirty="0">
                <a:solidFill>
                  <a:srgbClr val="38BDF8"/>
                </a:solidFill>
                <a:latin typeface="Arial"/>
                <a:ea typeface="Arial"/>
                <a:cs typeface="Arial"/>
              </a:rPr>
              <a:t>PeptideBERT/ESM-1b</a:t>
            </a:r>
          </a:p>
        </p:txBody>
      </p:sp>
      <p:sp>
        <p:nvSpPr>
          <p:cNvPr id="17" name="TextBox 17"/>
          <p:cNvSpPr txBox="1"/>
          <p:nvPr/>
        </p:nvSpPr>
        <p:spPr>
          <a:xfrm>
            <a:off x="2916555" y="2676525"/>
            <a:ext cx="7280291"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ProtTrans/ESM预训练嵌入后接MLP准确率91-96%无需手工特征捕捉进化保守性</a:t>
            </a:r>
          </a:p>
        </p:txBody>
      </p:sp>
      <p:sp>
        <p:nvSpPr>
          <p:cNvPr id="18" name="Rectangle 18"/>
          <p:cNvSpPr/>
          <p:nvPr/>
        </p:nvSpPr>
        <p:spPr>
          <a:xfrm>
            <a:off x="685800" y="3105150"/>
            <a:ext cx="76200" cy="76200"/>
          </a:xfrm>
          <a:prstGeom prst="rect">
            <a:avLst/>
          </a:prstGeom>
          <a:solidFill>
            <a:srgbClr val="FBBF24"/>
          </a:solidFill>
          <a:ln>
            <a:noFill/>
          </a:ln>
        </p:spPr>
      </p:sp>
      <p:sp>
        <p:nvSpPr>
          <p:cNvPr id="19" name="TextBox 19"/>
          <p:cNvSpPr txBox="1"/>
          <p:nvPr/>
        </p:nvSpPr>
        <p:spPr>
          <a:xfrm>
            <a:off x="887730" y="3057525"/>
            <a:ext cx="2278973" cy="293370"/>
          </a:xfrm>
          <a:prstGeom prst="rect">
            <a:avLst/>
          </a:prstGeom>
          <a:noFill/>
          <a:ln>
            <a:noFill/>
          </a:ln>
        </p:spPr>
        <p:txBody>
          <a:bodyPr wrap="none" lIns="0" tIns="0" rIns="0" bIns="0" anchor="t" anchorCtr="0">
            <a:spAutoFit/>
          </a:bodyPr>
          <a:lstStyle/>
          <a:p>
            <a:pPr algn="l"/>
            <a:r>
              <a:rPr lang="en-US" sz="1500" b="1" dirty="0">
                <a:solidFill>
                  <a:srgbClr val="38BDF8"/>
                </a:solidFill>
                <a:latin typeface="Arial"/>
                <a:ea typeface="Arial"/>
                <a:cs typeface="Arial"/>
              </a:rPr>
              <a:t>GAC-BiTCNN-AMP 2026</a:t>
            </a:r>
          </a:p>
        </p:txBody>
      </p:sp>
      <p:sp>
        <p:nvSpPr>
          <p:cNvPr id="20" name="TextBox 20"/>
          <p:cNvSpPr txBox="1"/>
          <p:nvPr/>
        </p:nvSpPr>
        <p:spPr>
          <a:xfrm>
            <a:off x="3040380" y="3057525"/>
            <a:ext cx="7365477"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GAN增强+胶囊网络层次依赖+BiTCNN上下文+PsePSSM-DCT+XGB选择+SHAP可解释</a:t>
            </a:r>
          </a:p>
        </p:txBody>
      </p:sp>
      <p:sp>
        <p:nvSpPr>
          <p:cNvPr id="21" name="TextBox 21"/>
          <p:cNvSpPr txBox="1"/>
          <p:nvPr/>
        </p:nvSpPr>
        <p:spPr>
          <a:xfrm>
            <a:off x="3040380" y="3305175"/>
            <a:ext cx="2413254"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准确率97.42% MCC0.923</a:t>
            </a:r>
          </a:p>
        </p:txBody>
      </p:sp>
      <p:sp>
        <p:nvSpPr>
          <p:cNvPr id="22" name="Rectangle 22"/>
          <p:cNvSpPr/>
          <p:nvPr/>
        </p:nvSpPr>
        <p:spPr>
          <a:xfrm>
            <a:off x="0" y="6000750"/>
            <a:ext cx="12192000" cy="571500"/>
          </a:xfrm>
          <a:prstGeom prst="rect">
            <a:avLst/>
          </a:prstGeom>
          <a:solidFill>
            <a:srgbClr val="102542"/>
          </a:solidFill>
          <a:ln>
            <a:noFill/>
          </a:ln>
        </p:spPr>
      </p:sp>
      <p:sp>
        <p:nvSpPr>
          <p:cNvPr id="23" name="Rectangle 23"/>
          <p:cNvSpPr/>
          <p:nvPr/>
        </p:nvSpPr>
        <p:spPr>
          <a:xfrm>
            <a:off x="0" y="6000750"/>
            <a:ext cx="76200" cy="571500"/>
          </a:xfrm>
          <a:prstGeom prst="rect">
            <a:avLst/>
          </a:prstGeom>
          <a:solidFill>
            <a:srgbClr val="FBBF24"/>
          </a:solidFill>
          <a:ln>
            <a:noFill/>
          </a:ln>
        </p:spPr>
      </p:sp>
      <p:sp>
        <p:nvSpPr>
          <p:cNvPr id="24" name="TextBox 24"/>
          <p:cNvSpPr txBox="1"/>
          <p:nvPr/>
        </p:nvSpPr>
        <p:spPr>
          <a:xfrm>
            <a:off x="678180" y="6172200"/>
            <a:ext cx="3160805"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Arial"/>
                <a:ea typeface="Microsoft YaHei"/>
                <a:cs typeface="Arial"/>
              </a:rPr>
              <a:t>生成式属量化+深度学习，非动力学</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93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A2F5A">
                <a:alpha val="55000"/>
              </a:srgbClr>
            </a:solidFill>
          </a:ln>
        </p:spPr>
      </p:sp>
      <p:sp>
        <p:nvSpPr>
          <p:cNvPr id="3" name="TextBox 3"/>
          <p:cNvSpPr txBox="1"/>
          <p:nvPr/>
        </p:nvSpPr>
        <p:spPr>
          <a:xfrm>
            <a:off x="678180" y="542925"/>
            <a:ext cx="1876450" cy="293370"/>
          </a:xfrm>
          <a:prstGeom prst="rect">
            <a:avLst/>
          </a:prstGeom>
          <a:noFill/>
          <a:ln>
            <a:noFill/>
          </a:ln>
        </p:spPr>
        <p:txBody>
          <a:bodyPr wrap="none" lIns="0" tIns="0" rIns="0" bIns="0" anchor="t" anchorCtr="0">
            <a:spAutoFit/>
          </a:bodyPr>
          <a:lstStyle/>
          <a:p>
            <a:pPr algn="l"/>
            <a:r>
              <a:rPr lang="zh-CN" sz="1500" b="1" spc="112" dirty="0">
                <a:solidFill>
                  <a:srgbClr val="FBBF24"/>
                </a:solidFill>
                <a:latin typeface="Consolas"/>
                <a:ea typeface="Microsoft YaHei"/>
                <a:cs typeface="Consolas"/>
              </a:rPr>
              <a:t>// 07 / 文献对齐</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8A9BB5"/>
                </a:solidFill>
                <a:latin typeface="Consolas"/>
                <a:ea typeface="Consolas"/>
                <a:cs typeface="Consolas"/>
              </a:rPr>
              <a:t>07 / 17</a:t>
            </a:r>
          </a:p>
        </p:txBody>
      </p:sp>
      <p:sp>
        <p:nvSpPr>
          <p:cNvPr id="5" name="TextBox 5"/>
          <p:cNvSpPr txBox="1"/>
          <p:nvPr/>
        </p:nvSpPr>
        <p:spPr>
          <a:xfrm>
            <a:off x="672084" y="756285"/>
            <a:ext cx="6957441" cy="528066"/>
          </a:xfrm>
          <a:prstGeom prst="rect">
            <a:avLst/>
          </a:prstGeom>
          <a:noFill/>
          <a:ln>
            <a:noFill/>
          </a:ln>
        </p:spPr>
        <p:txBody>
          <a:bodyPr wrap="none" lIns="0" tIns="0" rIns="0" bIns="0" anchor="t" anchorCtr="0">
            <a:spAutoFit/>
          </a:bodyPr>
          <a:lstStyle/>
          <a:p>
            <a:pPr algn="l"/>
            <a:r>
              <a:rPr lang="zh-CN" sz="2700" b="1" dirty="0">
                <a:solidFill>
                  <a:srgbClr val="F8FAFC"/>
                </a:solidFill>
                <a:latin typeface="Arial"/>
                <a:ea typeface="Microsoft YaHei"/>
                <a:cs typeface="Arial"/>
              </a:rPr>
              <a:t>Ma 2022与Santos-Junior 2024实现参数</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E3A5F"/>
            </a:solidFill>
          </a:ln>
        </p:spPr>
      </p:sp>
      <p:sp>
        <p:nvSpPr>
          <p:cNvPr id="7" name="Rectangle 7"/>
          <p:cNvSpPr/>
          <p:nvPr/>
        </p:nvSpPr>
        <p:spPr>
          <a:xfrm>
            <a:off x="685800" y="1447800"/>
            <a:ext cx="76200" cy="76200"/>
          </a:xfrm>
          <a:prstGeom prst="rect">
            <a:avLst/>
          </a:prstGeom>
          <a:solidFill>
            <a:srgbClr val="FBBF24"/>
          </a:solidFill>
          <a:ln>
            <a:noFill/>
          </a:ln>
        </p:spPr>
      </p:sp>
      <p:sp>
        <p:nvSpPr>
          <p:cNvPr id="8" name="TextBox 8"/>
          <p:cNvSpPr txBox="1"/>
          <p:nvPr/>
        </p:nvSpPr>
        <p:spPr>
          <a:xfrm>
            <a:off x="887730" y="1400175"/>
            <a:ext cx="843744" cy="293370"/>
          </a:xfrm>
          <a:prstGeom prst="rect">
            <a:avLst/>
          </a:prstGeom>
          <a:noFill/>
          <a:ln>
            <a:noFill/>
          </a:ln>
        </p:spPr>
        <p:txBody>
          <a:bodyPr wrap="none" lIns="0" tIns="0" rIns="0" bIns="0" anchor="t" anchorCtr="0">
            <a:spAutoFit/>
          </a:bodyPr>
          <a:lstStyle/>
          <a:p>
            <a:pPr algn="l"/>
            <a:r>
              <a:rPr lang="en-US" sz="1500" b="1" dirty="0">
                <a:solidFill>
                  <a:srgbClr val="38BDF8"/>
                </a:solidFill>
                <a:latin typeface="Arial"/>
                <a:ea typeface="Arial"/>
                <a:cs typeface="Arial"/>
              </a:rPr>
              <a:t>Ma 2022</a:t>
            </a:r>
          </a:p>
        </p:txBody>
      </p:sp>
      <p:sp>
        <p:nvSpPr>
          <p:cNvPr id="9" name="TextBox 9"/>
          <p:cNvSpPr txBox="1"/>
          <p:nvPr/>
        </p:nvSpPr>
        <p:spPr>
          <a:xfrm>
            <a:off x="1716405" y="1400175"/>
            <a:ext cx="9042921"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数据源人肠道MAGs sORF&lt;100aa数百万；正1085 APD/DRAMP负58776 UniProt CD-HIT90% Focal L</a:t>
            </a:r>
          </a:p>
        </p:txBody>
      </p:sp>
      <p:sp>
        <p:nvSpPr>
          <p:cNvPr id="10" name="TextBox 10"/>
          <p:cNvSpPr txBox="1"/>
          <p:nvPr/>
        </p:nvSpPr>
        <p:spPr>
          <a:xfrm>
            <a:off x="1716405" y="1647825"/>
            <a:ext cx="8932850"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oss；特征one-hot+34维+PC6+ProtBert三并行；挖掘三模型交集0.9得2349→电荷&gt;+2等筛选216合</a:t>
            </a:r>
          </a:p>
        </p:txBody>
      </p:sp>
      <p:sp>
        <p:nvSpPr>
          <p:cNvPr id="11" name="Rectangle 11"/>
          <p:cNvSpPr/>
          <p:nvPr/>
        </p:nvSpPr>
        <p:spPr>
          <a:xfrm>
            <a:off x="685800" y="2085975"/>
            <a:ext cx="76200" cy="76200"/>
          </a:xfrm>
          <a:prstGeom prst="rect">
            <a:avLst/>
          </a:prstGeom>
          <a:solidFill>
            <a:srgbClr val="FBBF24"/>
          </a:solidFill>
          <a:ln>
            <a:noFill/>
          </a:ln>
        </p:spPr>
      </p:sp>
      <p:sp>
        <p:nvSpPr>
          <p:cNvPr id="12" name="TextBox 12"/>
          <p:cNvSpPr txBox="1"/>
          <p:nvPr/>
        </p:nvSpPr>
        <p:spPr>
          <a:xfrm>
            <a:off x="887730" y="2038350"/>
            <a:ext cx="2027091" cy="293370"/>
          </a:xfrm>
          <a:prstGeom prst="rect">
            <a:avLst/>
          </a:prstGeom>
          <a:noFill/>
          <a:ln>
            <a:noFill/>
          </a:ln>
        </p:spPr>
        <p:txBody>
          <a:bodyPr wrap="none" lIns="0" tIns="0" rIns="0" bIns="0" anchor="t" anchorCtr="0">
            <a:spAutoFit/>
          </a:bodyPr>
          <a:lstStyle/>
          <a:p>
            <a:pPr algn="l"/>
            <a:r>
              <a:rPr lang="en-US" sz="1500" b="1" dirty="0">
                <a:solidFill>
                  <a:srgbClr val="38BDF8"/>
                </a:solidFill>
                <a:latin typeface="Arial"/>
                <a:ea typeface="Arial"/>
                <a:cs typeface="Arial"/>
              </a:rPr>
              <a:t>Santos-Junior 2024</a:t>
            </a:r>
          </a:p>
        </p:txBody>
      </p:sp>
      <p:sp>
        <p:nvSpPr>
          <p:cNvPr id="13" name="TextBox 13"/>
          <p:cNvSpPr txBox="1"/>
          <p:nvPr/>
        </p:nvSpPr>
        <p:spPr>
          <a:xfrm>
            <a:off x="2716530" y="2038350"/>
            <a:ext cx="8141218"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63,410宏基因组+87,920原核基因组Prodigal预测ORF 10-100aa数十亿；CNN 3层核3/5/7</a:t>
            </a:r>
          </a:p>
        </p:txBody>
      </p:sp>
      <p:sp>
        <p:nvSpPr>
          <p:cNvPr id="14" name="TextBox 14"/>
          <p:cNvSpPr txBox="1"/>
          <p:nvPr/>
        </p:nvSpPr>
        <p:spPr>
          <a:xfrm>
            <a:off x="2716530" y="2286000"/>
            <a:ext cx="8142503"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通道64/128/256+BiLSTM128+Attention；阈值0.8得863,498非冗余AMP 80%低同源AMP</a:t>
            </a:r>
          </a:p>
        </p:txBody>
      </p:sp>
      <p:sp>
        <p:nvSpPr>
          <p:cNvPr id="15" name="Rectangle 15"/>
          <p:cNvSpPr/>
          <p:nvPr/>
        </p:nvSpPr>
        <p:spPr>
          <a:xfrm>
            <a:off x="685800" y="2724150"/>
            <a:ext cx="76200" cy="76200"/>
          </a:xfrm>
          <a:prstGeom prst="rect">
            <a:avLst/>
          </a:prstGeom>
          <a:solidFill>
            <a:srgbClr val="FBBF24"/>
          </a:solidFill>
          <a:ln>
            <a:noFill/>
          </a:ln>
        </p:spPr>
      </p:sp>
      <p:sp>
        <p:nvSpPr>
          <p:cNvPr id="16" name="TextBox 16"/>
          <p:cNvSpPr txBox="1"/>
          <p:nvPr/>
        </p:nvSpPr>
        <p:spPr>
          <a:xfrm>
            <a:off x="887730" y="2676525"/>
            <a:ext cx="621030" cy="293370"/>
          </a:xfrm>
          <a:prstGeom prst="rect">
            <a:avLst/>
          </a:prstGeom>
          <a:noFill/>
          <a:ln>
            <a:noFill/>
          </a:ln>
        </p:spPr>
        <p:txBody>
          <a:bodyPr wrap="none" lIns="0" tIns="0" rIns="0" bIns="0" anchor="t" anchorCtr="0">
            <a:spAutoFit/>
          </a:bodyPr>
          <a:lstStyle/>
          <a:p>
            <a:pPr algn="l"/>
            <a:r>
              <a:rPr lang="zh-CN" sz="1500" b="1" dirty="0">
                <a:solidFill>
                  <a:srgbClr val="38BDF8"/>
                </a:solidFill>
                <a:latin typeface="Arial"/>
                <a:ea typeface="Microsoft YaHei"/>
                <a:cs typeface="Arial"/>
              </a:rPr>
              <a:t>本课题</a:t>
            </a:r>
          </a:p>
        </p:txBody>
      </p:sp>
      <p:sp>
        <p:nvSpPr>
          <p:cNvPr id="17" name="TextBox 17"/>
          <p:cNvSpPr txBox="1"/>
          <p:nvPr/>
        </p:nvSpPr>
        <p:spPr>
          <a:xfrm>
            <a:off x="1573530" y="2676525"/>
            <a:ext cx="8914971"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476例粪便宏基因组2.19亿原始sORF→9139万非冗余→757高质量MAGs→1971种代表→sORF，同Ma 2</a:t>
            </a:r>
          </a:p>
        </p:txBody>
      </p:sp>
      <p:sp>
        <p:nvSpPr>
          <p:cNvPr id="18" name="TextBox 18"/>
          <p:cNvSpPr txBox="1"/>
          <p:nvPr/>
        </p:nvSpPr>
        <p:spPr>
          <a:xfrm>
            <a:off x="1573530" y="2924175"/>
            <a:ext cx="6809994"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022流程，CD-HIT90%+宏蛋白组去重特色，纸片扩散初筛→微量肉汤MIC验证</a:t>
            </a:r>
          </a:p>
        </p:txBody>
      </p:sp>
      <p:sp>
        <p:nvSpPr>
          <p:cNvPr id="19" name="Rectangle 19"/>
          <p:cNvSpPr/>
          <p:nvPr/>
        </p:nvSpPr>
        <p:spPr>
          <a:xfrm>
            <a:off x="0" y="6000750"/>
            <a:ext cx="12192000" cy="571500"/>
          </a:xfrm>
          <a:prstGeom prst="rect">
            <a:avLst/>
          </a:prstGeom>
          <a:solidFill>
            <a:srgbClr val="102542"/>
          </a:solidFill>
          <a:ln>
            <a:noFill/>
          </a:ln>
        </p:spPr>
      </p:sp>
      <p:sp>
        <p:nvSpPr>
          <p:cNvPr id="20" name="Rectangle 20"/>
          <p:cNvSpPr/>
          <p:nvPr/>
        </p:nvSpPr>
        <p:spPr>
          <a:xfrm>
            <a:off x="0" y="6000750"/>
            <a:ext cx="76200" cy="571500"/>
          </a:xfrm>
          <a:prstGeom prst="rect">
            <a:avLst/>
          </a:prstGeom>
          <a:solidFill>
            <a:srgbClr val="FBBF24"/>
          </a:solidFill>
          <a:ln>
            <a:noFill/>
          </a:ln>
        </p:spPr>
      </p:sp>
      <p:sp>
        <p:nvSpPr>
          <p:cNvPr id="21" name="TextBox 21"/>
          <p:cNvSpPr txBox="1"/>
          <p:nvPr/>
        </p:nvSpPr>
        <p:spPr>
          <a:xfrm>
            <a:off x="678180" y="6172200"/>
            <a:ext cx="3956914"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Arial"/>
                <a:ea typeface="Microsoft YaHei"/>
                <a:cs typeface="Arial"/>
              </a:rPr>
              <a:t>规模化证明阳性率&gt;75%，低同源新肽是亮点</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93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A2F5A">
                <a:alpha val="55000"/>
              </a:srgbClr>
            </a:solidFill>
          </a:ln>
        </p:spPr>
      </p:sp>
      <p:sp>
        <p:nvSpPr>
          <p:cNvPr id="3" name="TextBox 3"/>
          <p:cNvSpPr txBox="1"/>
          <p:nvPr/>
        </p:nvSpPr>
        <p:spPr>
          <a:xfrm>
            <a:off x="678180" y="542925"/>
            <a:ext cx="2774601" cy="293370"/>
          </a:xfrm>
          <a:prstGeom prst="rect">
            <a:avLst/>
          </a:prstGeom>
          <a:noFill/>
          <a:ln>
            <a:noFill/>
          </a:ln>
        </p:spPr>
        <p:txBody>
          <a:bodyPr wrap="none" lIns="0" tIns="0" rIns="0" bIns="0" anchor="t" anchorCtr="0">
            <a:spAutoFit/>
          </a:bodyPr>
          <a:lstStyle/>
          <a:p>
            <a:pPr algn="l"/>
            <a:r>
              <a:rPr lang="zh-CN" sz="1500" b="1" spc="112" dirty="0">
                <a:solidFill>
                  <a:srgbClr val="FBBF24"/>
                </a:solidFill>
                <a:latin typeface="Consolas"/>
                <a:ea typeface="Microsoft YaHei"/>
                <a:cs typeface="Consolas"/>
              </a:rPr>
              <a:t>// 08 / Docking非动力学</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8A9BB5"/>
                </a:solidFill>
                <a:latin typeface="Consolas"/>
                <a:ea typeface="Consolas"/>
                <a:cs typeface="Consolas"/>
              </a:rPr>
              <a:t>08 / 17</a:t>
            </a:r>
          </a:p>
        </p:txBody>
      </p:sp>
      <p:sp>
        <p:nvSpPr>
          <p:cNvPr id="5" name="TextBox 5"/>
          <p:cNvSpPr txBox="1"/>
          <p:nvPr/>
        </p:nvSpPr>
        <p:spPr>
          <a:xfrm>
            <a:off x="672084" y="756285"/>
            <a:ext cx="4025646" cy="528066"/>
          </a:xfrm>
          <a:prstGeom prst="rect">
            <a:avLst/>
          </a:prstGeom>
          <a:noFill/>
          <a:ln>
            <a:noFill/>
          </a:ln>
        </p:spPr>
        <p:txBody>
          <a:bodyPr wrap="none" lIns="0" tIns="0" rIns="0" bIns="0" anchor="t" anchorCtr="0">
            <a:spAutoFit/>
          </a:bodyPr>
          <a:lstStyle/>
          <a:p>
            <a:pPr algn="l"/>
            <a:r>
              <a:rPr lang="zh-CN" sz="2700" b="1" dirty="0">
                <a:solidFill>
                  <a:srgbClr val="F8FAFC"/>
                </a:solidFill>
                <a:latin typeface="Arial"/>
                <a:ea typeface="Microsoft YaHei"/>
                <a:cs typeface="Arial"/>
              </a:rPr>
              <a:t>分子对接：静态量化计算</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E3A5F"/>
            </a:solidFill>
          </a:ln>
        </p:spPr>
      </p:sp>
      <p:sp>
        <p:nvSpPr>
          <p:cNvPr id="7" name="Rectangle 7"/>
          <p:cNvSpPr/>
          <p:nvPr/>
        </p:nvSpPr>
        <p:spPr>
          <a:xfrm>
            <a:off x="685800" y="1447800"/>
            <a:ext cx="76200" cy="76200"/>
          </a:xfrm>
          <a:prstGeom prst="rect">
            <a:avLst/>
          </a:prstGeom>
          <a:solidFill>
            <a:srgbClr val="FBBF24"/>
          </a:solidFill>
          <a:ln>
            <a:noFill/>
          </a:ln>
        </p:spPr>
      </p:sp>
      <p:sp>
        <p:nvSpPr>
          <p:cNvPr id="8" name="TextBox 8"/>
          <p:cNvSpPr txBox="1"/>
          <p:nvPr/>
        </p:nvSpPr>
        <p:spPr>
          <a:xfrm>
            <a:off x="887730" y="1400175"/>
            <a:ext cx="419100" cy="293370"/>
          </a:xfrm>
          <a:prstGeom prst="rect">
            <a:avLst/>
          </a:prstGeom>
          <a:noFill/>
          <a:ln>
            <a:noFill/>
          </a:ln>
        </p:spPr>
        <p:txBody>
          <a:bodyPr wrap="none" lIns="0" tIns="0" rIns="0" bIns="0" anchor="t" anchorCtr="0">
            <a:spAutoFit/>
          </a:bodyPr>
          <a:lstStyle/>
          <a:p>
            <a:pPr algn="l"/>
            <a:r>
              <a:rPr lang="zh-CN" sz="1500" b="1" dirty="0">
                <a:solidFill>
                  <a:srgbClr val="38BDF8"/>
                </a:solidFill>
                <a:latin typeface="Arial"/>
                <a:ea typeface="Microsoft YaHei"/>
                <a:cs typeface="Arial"/>
              </a:rPr>
              <a:t>定义</a:t>
            </a:r>
          </a:p>
        </p:txBody>
      </p:sp>
      <p:sp>
        <p:nvSpPr>
          <p:cNvPr id="9" name="TextBox 9"/>
          <p:cNvSpPr txBox="1"/>
          <p:nvPr/>
        </p:nvSpPr>
        <p:spPr>
          <a:xfrm>
            <a:off x="1383030" y="1400175"/>
            <a:ext cx="6386132"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构象搜索+打分函数量化计算，预测结合位点和亲和力，静态无时间演化</a:t>
            </a:r>
          </a:p>
        </p:txBody>
      </p:sp>
      <p:sp>
        <p:nvSpPr>
          <p:cNvPr id="10" name="Rectangle 10"/>
          <p:cNvSpPr/>
          <p:nvPr/>
        </p:nvSpPr>
        <p:spPr>
          <a:xfrm>
            <a:off x="685800" y="1828800"/>
            <a:ext cx="76200" cy="76200"/>
          </a:xfrm>
          <a:prstGeom prst="rect">
            <a:avLst/>
          </a:prstGeom>
          <a:solidFill>
            <a:srgbClr val="FBBF24"/>
          </a:solidFill>
          <a:ln>
            <a:noFill/>
          </a:ln>
        </p:spPr>
      </p:sp>
      <p:sp>
        <p:nvSpPr>
          <p:cNvPr id="11" name="TextBox 11"/>
          <p:cNvSpPr txBox="1"/>
          <p:nvPr/>
        </p:nvSpPr>
        <p:spPr>
          <a:xfrm>
            <a:off x="887730" y="1781175"/>
            <a:ext cx="419100" cy="293370"/>
          </a:xfrm>
          <a:prstGeom prst="rect">
            <a:avLst/>
          </a:prstGeom>
          <a:noFill/>
          <a:ln>
            <a:noFill/>
          </a:ln>
        </p:spPr>
        <p:txBody>
          <a:bodyPr wrap="none" lIns="0" tIns="0" rIns="0" bIns="0" anchor="t" anchorCtr="0">
            <a:spAutoFit/>
          </a:bodyPr>
          <a:lstStyle/>
          <a:p>
            <a:pPr algn="l"/>
            <a:r>
              <a:rPr lang="zh-CN" sz="1500" b="1" dirty="0">
                <a:solidFill>
                  <a:srgbClr val="38BDF8"/>
                </a:solidFill>
                <a:latin typeface="Arial"/>
                <a:ea typeface="Microsoft YaHei"/>
                <a:cs typeface="Arial"/>
              </a:rPr>
              <a:t>工具</a:t>
            </a:r>
          </a:p>
        </p:txBody>
      </p:sp>
      <p:sp>
        <p:nvSpPr>
          <p:cNvPr id="12" name="TextBox 12"/>
          <p:cNvSpPr txBox="1"/>
          <p:nvPr/>
        </p:nvSpPr>
        <p:spPr>
          <a:xfrm>
            <a:off x="1383030" y="1781175"/>
            <a:ext cx="9317117"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AutoDock Vina高通量虚拟筛选速度快、AutoDock 4 Lamarckian遗传算法+经验自由能、HDOCK蛋白-蛋</a:t>
            </a:r>
          </a:p>
        </p:txBody>
      </p:sp>
      <p:sp>
        <p:nvSpPr>
          <p:cNvPr id="13" name="TextBox 13"/>
          <p:cNvSpPr txBox="1"/>
          <p:nvPr/>
        </p:nvSpPr>
        <p:spPr>
          <a:xfrm>
            <a:off x="1383030" y="2038350"/>
            <a:ext cx="1547241"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白对接LL-37-Aβ</a:t>
            </a:r>
          </a:p>
        </p:txBody>
      </p:sp>
      <p:sp>
        <p:nvSpPr>
          <p:cNvPr id="14" name="Rectangle 14"/>
          <p:cNvSpPr/>
          <p:nvPr/>
        </p:nvSpPr>
        <p:spPr>
          <a:xfrm>
            <a:off x="685800" y="2466975"/>
            <a:ext cx="76200" cy="76200"/>
          </a:xfrm>
          <a:prstGeom prst="rect">
            <a:avLst/>
          </a:prstGeom>
          <a:solidFill>
            <a:srgbClr val="FBBF24"/>
          </a:solidFill>
          <a:ln>
            <a:noFill/>
          </a:ln>
        </p:spPr>
      </p:sp>
      <p:sp>
        <p:nvSpPr>
          <p:cNvPr id="15" name="TextBox 15"/>
          <p:cNvSpPr txBox="1"/>
          <p:nvPr/>
        </p:nvSpPr>
        <p:spPr>
          <a:xfrm>
            <a:off x="887730" y="2419350"/>
            <a:ext cx="419100" cy="293370"/>
          </a:xfrm>
          <a:prstGeom prst="rect">
            <a:avLst/>
          </a:prstGeom>
          <a:noFill/>
          <a:ln>
            <a:noFill/>
          </a:ln>
        </p:spPr>
        <p:txBody>
          <a:bodyPr wrap="none" lIns="0" tIns="0" rIns="0" bIns="0" anchor="t" anchorCtr="0">
            <a:spAutoFit/>
          </a:bodyPr>
          <a:lstStyle/>
          <a:p>
            <a:pPr algn="l"/>
            <a:r>
              <a:rPr lang="zh-CN" sz="1500" b="1" dirty="0">
                <a:solidFill>
                  <a:srgbClr val="38BDF8"/>
                </a:solidFill>
                <a:latin typeface="Arial"/>
                <a:ea typeface="Microsoft YaHei"/>
                <a:cs typeface="Arial"/>
              </a:rPr>
              <a:t>步骤</a:t>
            </a:r>
          </a:p>
        </p:txBody>
      </p:sp>
      <p:sp>
        <p:nvSpPr>
          <p:cNvPr id="16" name="TextBox 16"/>
          <p:cNvSpPr txBox="1"/>
          <p:nvPr/>
        </p:nvSpPr>
        <p:spPr>
          <a:xfrm>
            <a:off x="1383030" y="2419350"/>
            <a:ext cx="9292631"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受体准备Aβ42 PDB 1IYT/AlphaFold加氢加电荷最小化，AChE PDB 1ACJ去水定义PAS口袋Trp279 Tyr70</a:t>
            </a:r>
          </a:p>
        </p:txBody>
      </p:sp>
      <p:sp>
        <p:nvSpPr>
          <p:cNvPr id="17" name="TextBox 17"/>
          <p:cNvSpPr txBox="1"/>
          <p:nvPr/>
        </p:nvSpPr>
        <p:spPr>
          <a:xfrm>
            <a:off x="1383030" y="2676525"/>
            <a:ext cx="9443085"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Tyr121；配体抗菌肽PEP-FOLD/AlphaFold建模；口袋盒子20Å中心PAS；Vina exhaustiveness20产生9p</a:t>
            </a:r>
          </a:p>
        </p:txBody>
      </p:sp>
      <p:sp>
        <p:nvSpPr>
          <p:cNvPr id="18" name="Rectangle 18"/>
          <p:cNvSpPr/>
          <p:nvPr/>
        </p:nvSpPr>
        <p:spPr>
          <a:xfrm>
            <a:off x="685800" y="3105150"/>
            <a:ext cx="76200" cy="76200"/>
          </a:xfrm>
          <a:prstGeom prst="rect">
            <a:avLst/>
          </a:prstGeom>
          <a:solidFill>
            <a:srgbClr val="FBBF24"/>
          </a:solidFill>
          <a:ln>
            <a:noFill/>
          </a:ln>
        </p:spPr>
      </p:sp>
      <p:sp>
        <p:nvSpPr>
          <p:cNvPr id="19" name="TextBox 19"/>
          <p:cNvSpPr txBox="1"/>
          <p:nvPr/>
        </p:nvSpPr>
        <p:spPr>
          <a:xfrm>
            <a:off x="887730" y="3057525"/>
            <a:ext cx="419100" cy="293370"/>
          </a:xfrm>
          <a:prstGeom prst="rect">
            <a:avLst/>
          </a:prstGeom>
          <a:noFill/>
          <a:ln>
            <a:noFill/>
          </a:ln>
        </p:spPr>
        <p:txBody>
          <a:bodyPr wrap="none" lIns="0" tIns="0" rIns="0" bIns="0" anchor="t" anchorCtr="0">
            <a:spAutoFit/>
          </a:bodyPr>
          <a:lstStyle/>
          <a:p>
            <a:pPr algn="l"/>
            <a:r>
              <a:rPr lang="zh-CN" sz="1500" b="1" dirty="0">
                <a:solidFill>
                  <a:srgbClr val="38BDF8"/>
                </a:solidFill>
                <a:latin typeface="Arial"/>
                <a:ea typeface="Microsoft YaHei"/>
                <a:cs typeface="Arial"/>
              </a:rPr>
              <a:t>实例</a:t>
            </a:r>
          </a:p>
        </p:txBody>
      </p:sp>
      <p:sp>
        <p:nvSpPr>
          <p:cNvPr id="20" name="TextBox 20"/>
          <p:cNvSpPr txBox="1"/>
          <p:nvPr/>
        </p:nvSpPr>
        <p:spPr>
          <a:xfrm>
            <a:off x="1383030" y="3057525"/>
            <a:ext cx="8952538"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De Ferrari 2001对接发现AChE 4位点Site I疏水；2025 BiLSTM生成肽+对接筛选Aβ结合Top10进MD</a:t>
            </a:r>
          </a:p>
        </p:txBody>
      </p:sp>
      <p:sp>
        <p:nvSpPr>
          <p:cNvPr id="21" name="Rectangle 21"/>
          <p:cNvSpPr/>
          <p:nvPr/>
        </p:nvSpPr>
        <p:spPr>
          <a:xfrm>
            <a:off x="0" y="6000750"/>
            <a:ext cx="12192000" cy="571500"/>
          </a:xfrm>
          <a:prstGeom prst="rect">
            <a:avLst/>
          </a:prstGeom>
          <a:solidFill>
            <a:srgbClr val="102542"/>
          </a:solidFill>
          <a:ln>
            <a:noFill/>
          </a:ln>
        </p:spPr>
      </p:sp>
      <p:sp>
        <p:nvSpPr>
          <p:cNvPr id="22" name="Rectangle 22"/>
          <p:cNvSpPr/>
          <p:nvPr/>
        </p:nvSpPr>
        <p:spPr>
          <a:xfrm>
            <a:off x="0" y="6000750"/>
            <a:ext cx="76200" cy="571500"/>
          </a:xfrm>
          <a:prstGeom prst="rect">
            <a:avLst/>
          </a:prstGeom>
          <a:solidFill>
            <a:srgbClr val="FBBF24"/>
          </a:solidFill>
          <a:ln>
            <a:noFill/>
          </a:ln>
        </p:spPr>
      </p:sp>
      <p:sp>
        <p:nvSpPr>
          <p:cNvPr id="23" name="TextBox 23"/>
          <p:cNvSpPr txBox="1"/>
          <p:nvPr/>
        </p:nvSpPr>
        <p:spPr>
          <a:xfrm>
            <a:off x="678180" y="6172200"/>
            <a:ext cx="2438400"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Arial"/>
                <a:ea typeface="Microsoft YaHei"/>
                <a:cs typeface="Arial"/>
              </a:rPr>
              <a:t>对接是静态量化，用于初筛</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93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A2F5A">
                <a:alpha val="55000"/>
              </a:srgbClr>
            </a:solidFill>
          </a:ln>
        </p:spPr>
      </p:sp>
      <p:sp>
        <p:nvSpPr>
          <p:cNvPr id="3" name="TextBox 3"/>
          <p:cNvSpPr txBox="1"/>
          <p:nvPr/>
        </p:nvSpPr>
        <p:spPr>
          <a:xfrm>
            <a:off x="678180" y="542925"/>
            <a:ext cx="2199274" cy="293370"/>
          </a:xfrm>
          <a:prstGeom prst="rect">
            <a:avLst/>
          </a:prstGeom>
          <a:noFill/>
          <a:ln>
            <a:noFill/>
          </a:ln>
        </p:spPr>
        <p:txBody>
          <a:bodyPr wrap="none" lIns="0" tIns="0" rIns="0" bIns="0" anchor="t" anchorCtr="0">
            <a:spAutoFit/>
          </a:bodyPr>
          <a:lstStyle/>
          <a:p>
            <a:pPr algn="l"/>
            <a:r>
              <a:rPr lang="zh-CN" sz="1500" b="1" spc="112" dirty="0">
                <a:solidFill>
                  <a:srgbClr val="FBBF24"/>
                </a:solidFill>
                <a:latin typeface="Consolas"/>
                <a:ea typeface="Microsoft YaHei"/>
                <a:cs typeface="Consolas"/>
              </a:rPr>
              <a:t>// 09 / MD是动力学</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8A9BB5"/>
                </a:solidFill>
                <a:latin typeface="Consolas"/>
                <a:ea typeface="Consolas"/>
                <a:cs typeface="Consolas"/>
              </a:rPr>
              <a:t>09 / 17</a:t>
            </a:r>
          </a:p>
        </p:txBody>
      </p:sp>
      <p:sp>
        <p:nvSpPr>
          <p:cNvPr id="5" name="TextBox 5"/>
          <p:cNvSpPr txBox="1"/>
          <p:nvPr/>
        </p:nvSpPr>
        <p:spPr>
          <a:xfrm>
            <a:off x="672084" y="756285"/>
            <a:ext cx="4752594" cy="528066"/>
          </a:xfrm>
          <a:prstGeom prst="rect">
            <a:avLst/>
          </a:prstGeom>
          <a:noFill/>
          <a:ln>
            <a:noFill/>
          </a:ln>
        </p:spPr>
        <p:txBody>
          <a:bodyPr wrap="none" lIns="0" tIns="0" rIns="0" bIns="0" anchor="t" anchorCtr="0">
            <a:spAutoFit/>
          </a:bodyPr>
          <a:lstStyle/>
          <a:p>
            <a:pPr algn="l"/>
            <a:r>
              <a:rPr lang="zh-CN" sz="2700" b="1" dirty="0">
                <a:solidFill>
                  <a:srgbClr val="F8FAFC"/>
                </a:solidFill>
                <a:latin typeface="Arial"/>
                <a:ea typeface="Microsoft YaHei"/>
                <a:cs typeface="Arial"/>
              </a:rPr>
              <a:t>分子动力学模拟：动力学模拟</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E3A5F"/>
            </a:solidFill>
          </a:ln>
        </p:spPr>
      </p:sp>
      <p:sp>
        <p:nvSpPr>
          <p:cNvPr id="7" name="Rectangle 7"/>
          <p:cNvSpPr/>
          <p:nvPr/>
        </p:nvSpPr>
        <p:spPr>
          <a:xfrm>
            <a:off x="685800" y="1447800"/>
            <a:ext cx="76200" cy="76200"/>
          </a:xfrm>
          <a:prstGeom prst="rect">
            <a:avLst/>
          </a:prstGeom>
          <a:solidFill>
            <a:srgbClr val="FBBF24"/>
          </a:solidFill>
          <a:ln>
            <a:noFill/>
          </a:ln>
        </p:spPr>
      </p:sp>
      <p:sp>
        <p:nvSpPr>
          <p:cNvPr id="8" name="TextBox 8"/>
          <p:cNvSpPr txBox="1"/>
          <p:nvPr/>
        </p:nvSpPr>
        <p:spPr>
          <a:xfrm>
            <a:off x="887730" y="1400175"/>
            <a:ext cx="419100" cy="293370"/>
          </a:xfrm>
          <a:prstGeom prst="rect">
            <a:avLst/>
          </a:prstGeom>
          <a:noFill/>
          <a:ln>
            <a:noFill/>
          </a:ln>
        </p:spPr>
        <p:txBody>
          <a:bodyPr wrap="none" lIns="0" tIns="0" rIns="0" bIns="0" anchor="t" anchorCtr="0">
            <a:spAutoFit/>
          </a:bodyPr>
          <a:lstStyle/>
          <a:p>
            <a:pPr algn="l"/>
            <a:r>
              <a:rPr lang="zh-CN" sz="1500" b="1" dirty="0">
                <a:solidFill>
                  <a:srgbClr val="38BDF8"/>
                </a:solidFill>
                <a:latin typeface="Arial"/>
                <a:ea typeface="Microsoft YaHei"/>
                <a:cs typeface="Arial"/>
              </a:rPr>
              <a:t>软件</a:t>
            </a:r>
          </a:p>
        </p:txBody>
      </p:sp>
      <p:sp>
        <p:nvSpPr>
          <p:cNvPr id="9" name="TextBox 9"/>
          <p:cNvSpPr txBox="1"/>
          <p:nvPr/>
        </p:nvSpPr>
        <p:spPr>
          <a:xfrm>
            <a:off x="1383030" y="1400175"/>
            <a:ext cx="6731162"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GROMACS 2022.5/AMBER 20，力场CHARMM36m/ff14SB，适用于蛋白肽</a:t>
            </a:r>
          </a:p>
        </p:txBody>
      </p:sp>
      <p:sp>
        <p:nvSpPr>
          <p:cNvPr id="10" name="Rectangle 10"/>
          <p:cNvSpPr/>
          <p:nvPr/>
        </p:nvSpPr>
        <p:spPr>
          <a:xfrm>
            <a:off x="685800" y="1828800"/>
            <a:ext cx="76200" cy="76200"/>
          </a:xfrm>
          <a:prstGeom prst="rect">
            <a:avLst/>
          </a:prstGeom>
          <a:solidFill>
            <a:srgbClr val="FBBF24"/>
          </a:solidFill>
          <a:ln>
            <a:noFill/>
          </a:ln>
        </p:spPr>
      </p:sp>
      <p:sp>
        <p:nvSpPr>
          <p:cNvPr id="11" name="TextBox 11"/>
          <p:cNvSpPr txBox="1"/>
          <p:nvPr/>
        </p:nvSpPr>
        <p:spPr>
          <a:xfrm>
            <a:off x="887730" y="1781175"/>
            <a:ext cx="419100" cy="293370"/>
          </a:xfrm>
          <a:prstGeom prst="rect">
            <a:avLst/>
          </a:prstGeom>
          <a:noFill/>
          <a:ln>
            <a:noFill/>
          </a:ln>
        </p:spPr>
        <p:txBody>
          <a:bodyPr wrap="none" lIns="0" tIns="0" rIns="0" bIns="0" anchor="t" anchorCtr="0">
            <a:spAutoFit/>
          </a:bodyPr>
          <a:lstStyle/>
          <a:p>
            <a:pPr algn="l"/>
            <a:r>
              <a:rPr lang="zh-CN" sz="1500" b="1" dirty="0">
                <a:solidFill>
                  <a:srgbClr val="38BDF8"/>
                </a:solidFill>
                <a:latin typeface="Arial"/>
                <a:ea typeface="Microsoft YaHei"/>
                <a:cs typeface="Arial"/>
              </a:rPr>
              <a:t>体系</a:t>
            </a:r>
          </a:p>
        </p:txBody>
      </p:sp>
      <p:sp>
        <p:nvSpPr>
          <p:cNvPr id="12" name="TextBox 12"/>
          <p:cNvSpPr txBox="1"/>
          <p:nvPr/>
        </p:nvSpPr>
        <p:spPr>
          <a:xfrm>
            <a:off x="1383030" y="1781175"/>
            <a:ext cx="6302883"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对接复合物放立方水盒子TIP3P边界12Å加NaCl 150mM中和5-10万原子</a:t>
            </a:r>
          </a:p>
        </p:txBody>
      </p:sp>
      <p:sp>
        <p:nvSpPr>
          <p:cNvPr id="13" name="Rectangle 13"/>
          <p:cNvSpPr/>
          <p:nvPr/>
        </p:nvSpPr>
        <p:spPr>
          <a:xfrm>
            <a:off x="685800" y="2219325"/>
            <a:ext cx="76200" cy="76200"/>
          </a:xfrm>
          <a:prstGeom prst="rect">
            <a:avLst/>
          </a:prstGeom>
          <a:solidFill>
            <a:srgbClr val="FBBF24"/>
          </a:solidFill>
          <a:ln>
            <a:noFill/>
          </a:ln>
        </p:spPr>
      </p:sp>
      <p:sp>
        <p:nvSpPr>
          <p:cNvPr id="14" name="TextBox 14"/>
          <p:cNvSpPr txBox="1"/>
          <p:nvPr/>
        </p:nvSpPr>
        <p:spPr>
          <a:xfrm>
            <a:off x="887730" y="2171700"/>
            <a:ext cx="621030" cy="293370"/>
          </a:xfrm>
          <a:prstGeom prst="rect">
            <a:avLst/>
          </a:prstGeom>
          <a:noFill/>
          <a:ln>
            <a:noFill/>
          </a:ln>
        </p:spPr>
        <p:txBody>
          <a:bodyPr wrap="none" lIns="0" tIns="0" rIns="0" bIns="0" anchor="t" anchorCtr="0">
            <a:spAutoFit/>
          </a:bodyPr>
          <a:lstStyle/>
          <a:p>
            <a:pPr algn="l"/>
            <a:r>
              <a:rPr lang="zh-CN" sz="1500" b="1" dirty="0">
                <a:solidFill>
                  <a:srgbClr val="38BDF8"/>
                </a:solidFill>
                <a:latin typeface="Arial"/>
                <a:ea typeface="Microsoft YaHei"/>
                <a:cs typeface="Arial"/>
              </a:rPr>
              <a:t>最小化</a:t>
            </a:r>
          </a:p>
        </p:txBody>
      </p:sp>
      <p:sp>
        <p:nvSpPr>
          <p:cNvPr id="15" name="TextBox 15"/>
          <p:cNvSpPr txBox="1"/>
          <p:nvPr/>
        </p:nvSpPr>
        <p:spPr>
          <a:xfrm>
            <a:off x="1573530" y="2171700"/>
            <a:ext cx="3420074"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最陡下降5000步阈值1000 kJ/mol/nm</a:t>
            </a:r>
          </a:p>
        </p:txBody>
      </p:sp>
      <p:sp>
        <p:nvSpPr>
          <p:cNvPr id="16" name="Rectangle 16"/>
          <p:cNvSpPr/>
          <p:nvPr/>
        </p:nvSpPr>
        <p:spPr>
          <a:xfrm>
            <a:off x="685800" y="2600325"/>
            <a:ext cx="76200" cy="76200"/>
          </a:xfrm>
          <a:prstGeom prst="rect">
            <a:avLst/>
          </a:prstGeom>
          <a:solidFill>
            <a:srgbClr val="FBBF24"/>
          </a:solidFill>
          <a:ln>
            <a:noFill/>
          </a:ln>
        </p:spPr>
      </p:sp>
      <p:sp>
        <p:nvSpPr>
          <p:cNvPr id="17" name="TextBox 17"/>
          <p:cNvSpPr txBox="1"/>
          <p:nvPr/>
        </p:nvSpPr>
        <p:spPr>
          <a:xfrm>
            <a:off x="887730" y="2552700"/>
            <a:ext cx="419100" cy="293370"/>
          </a:xfrm>
          <a:prstGeom prst="rect">
            <a:avLst/>
          </a:prstGeom>
          <a:noFill/>
          <a:ln>
            <a:noFill/>
          </a:ln>
        </p:spPr>
        <p:txBody>
          <a:bodyPr wrap="none" lIns="0" tIns="0" rIns="0" bIns="0" anchor="t" anchorCtr="0">
            <a:spAutoFit/>
          </a:bodyPr>
          <a:lstStyle/>
          <a:p>
            <a:pPr algn="l"/>
            <a:r>
              <a:rPr lang="zh-CN" sz="1500" b="1" dirty="0">
                <a:solidFill>
                  <a:srgbClr val="38BDF8"/>
                </a:solidFill>
                <a:latin typeface="Arial"/>
                <a:ea typeface="Microsoft YaHei"/>
                <a:cs typeface="Arial"/>
              </a:rPr>
              <a:t>平衡</a:t>
            </a:r>
          </a:p>
        </p:txBody>
      </p:sp>
      <p:sp>
        <p:nvSpPr>
          <p:cNvPr id="18" name="TextBox 18"/>
          <p:cNvSpPr txBox="1"/>
          <p:nvPr/>
        </p:nvSpPr>
        <p:spPr>
          <a:xfrm>
            <a:off x="1383030" y="2552700"/>
            <a:ext cx="7788603"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NVT 100ps 310K V-rescale控温+NPT 100ps 1bar Parrinello-Rahman控压约束重原子</a:t>
            </a:r>
          </a:p>
        </p:txBody>
      </p:sp>
      <p:sp>
        <p:nvSpPr>
          <p:cNvPr id="19" name="Rectangle 19"/>
          <p:cNvSpPr/>
          <p:nvPr/>
        </p:nvSpPr>
        <p:spPr>
          <a:xfrm>
            <a:off x="685800" y="2990850"/>
            <a:ext cx="76200" cy="76200"/>
          </a:xfrm>
          <a:prstGeom prst="rect">
            <a:avLst/>
          </a:prstGeom>
          <a:solidFill>
            <a:srgbClr val="FBBF24"/>
          </a:solidFill>
          <a:ln>
            <a:noFill/>
          </a:ln>
        </p:spPr>
      </p:sp>
      <p:sp>
        <p:nvSpPr>
          <p:cNvPr id="20" name="TextBox 20"/>
          <p:cNvSpPr txBox="1"/>
          <p:nvPr/>
        </p:nvSpPr>
        <p:spPr>
          <a:xfrm>
            <a:off x="887730" y="2943225"/>
            <a:ext cx="419100" cy="293370"/>
          </a:xfrm>
          <a:prstGeom prst="rect">
            <a:avLst/>
          </a:prstGeom>
          <a:noFill/>
          <a:ln>
            <a:noFill/>
          </a:ln>
        </p:spPr>
        <p:txBody>
          <a:bodyPr wrap="none" lIns="0" tIns="0" rIns="0" bIns="0" anchor="t" anchorCtr="0">
            <a:spAutoFit/>
          </a:bodyPr>
          <a:lstStyle/>
          <a:p>
            <a:pPr algn="l"/>
            <a:r>
              <a:rPr lang="zh-CN" sz="1500" b="1" dirty="0">
                <a:solidFill>
                  <a:srgbClr val="38BDF8"/>
                </a:solidFill>
                <a:latin typeface="Arial"/>
                <a:ea typeface="Microsoft YaHei"/>
                <a:cs typeface="Arial"/>
              </a:rPr>
              <a:t>生产</a:t>
            </a:r>
          </a:p>
        </p:txBody>
      </p:sp>
      <p:sp>
        <p:nvSpPr>
          <p:cNvPr id="21" name="TextBox 21"/>
          <p:cNvSpPr txBox="1"/>
          <p:nvPr/>
        </p:nvSpPr>
        <p:spPr>
          <a:xfrm>
            <a:off x="1383030" y="2943225"/>
            <a:ext cx="9509401"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全原子MD步长2fs LINCS约束氢键PME静电截断1.2nm NPT 310K 20ns-1μs：Atanasova 2020 AChE-Aβ 1</a:t>
            </a:r>
          </a:p>
        </p:txBody>
      </p:sp>
      <p:sp>
        <p:nvSpPr>
          <p:cNvPr id="22" name="TextBox 22"/>
          <p:cNvSpPr txBox="1"/>
          <p:nvPr/>
        </p:nvSpPr>
        <p:spPr>
          <a:xfrm>
            <a:off x="1383030" y="3190875"/>
            <a:ext cx="9471235"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μs RMSD&lt;3Å停留344-361；ADNP7-Aβ42 20ns RMSD2-3Å Rg稳定；REMD 32副本300-500K每2ps交换20</a:t>
            </a:r>
          </a:p>
        </p:txBody>
      </p:sp>
      <p:sp>
        <p:nvSpPr>
          <p:cNvPr id="23" name="Rectangle 23"/>
          <p:cNvSpPr/>
          <p:nvPr/>
        </p:nvSpPr>
        <p:spPr>
          <a:xfrm>
            <a:off x="685800" y="3619500"/>
            <a:ext cx="76200" cy="76200"/>
          </a:xfrm>
          <a:prstGeom prst="rect">
            <a:avLst/>
          </a:prstGeom>
          <a:solidFill>
            <a:srgbClr val="FBBF24"/>
          </a:solidFill>
          <a:ln>
            <a:noFill/>
          </a:ln>
        </p:spPr>
      </p:sp>
      <p:sp>
        <p:nvSpPr>
          <p:cNvPr id="24" name="TextBox 24"/>
          <p:cNvSpPr txBox="1"/>
          <p:nvPr/>
        </p:nvSpPr>
        <p:spPr>
          <a:xfrm>
            <a:off x="887730" y="3571875"/>
            <a:ext cx="419100" cy="293370"/>
          </a:xfrm>
          <a:prstGeom prst="rect">
            <a:avLst/>
          </a:prstGeom>
          <a:noFill/>
          <a:ln>
            <a:noFill/>
          </a:ln>
        </p:spPr>
        <p:txBody>
          <a:bodyPr wrap="none" lIns="0" tIns="0" rIns="0" bIns="0" anchor="t" anchorCtr="0">
            <a:spAutoFit/>
          </a:bodyPr>
          <a:lstStyle/>
          <a:p>
            <a:pPr algn="l"/>
            <a:r>
              <a:rPr lang="zh-CN" sz="1500" b="1" dirty="0">
                <a:solidFill>
                  <a:srgbClr val="38BDF8"/>
                </a:solidFill>
                <a:latin typeface="Arial"/>
                <a:ea typeface="Microsoft YaHei"/>
                <a:cs typeface="Arial"/>
              </a:rPr>
              <a:t>分析</a:t>
            </a:r>
          </a:p>
        </p:txBody>
      </p:sp>
      <p:sp>
        <p:nvSpPr>
          <p:cNvPr id="25" name="TextBox 25"/>
          <p:cNvSpPr txBox="1"/>
          <p:nvPr/>
        </p:nvSpPr>
        <p:spPr>
          <a:xfrm>
            <a:off x="1383030" y="3571875"/>
            <a:ext cx="7531608"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RMSD稳定性RMSF柔性Rg紧密度SASA氢键DSSP二级结构GROMOS聚类cutoff0.2nm</a:t>
            </a:r>
          </a:p>
        </p:txBody>
      </p:sp>
      <p:sp>
        <p:nvSpPr>
          <p:cNvPr id="26" name="Rectangle 26"/>
          <p:cNvSpPr/>
          <p:nvPr/>
        </p:nvSpPr>
        <p:spPr>
          <a:xfrm>
            <a:off x="0" y="6000750"/>
            <a:ext cx="12192000" cy="571500"/>
          </a:xfrm>
          <a:prstGeom prst="rect">
            <a:avLst/>
          </a:prstGeom>
          <a:solidFill>
            <a:srgbClr val="102542"/>
          </a:solidFill>
          <a:ln>
            <a:noFill/>
          </a:ln>
        </p:spPr>
      </p:sp>
      <p:sp>
        <p:nvSpPr>
          <p:cNvPr id="27" name="Rectangle 27"/>
          <p:cNvSpPr/>
          <p:nvPr/>
        </p:nvSpPr>
        <p:spPr>
          <a:xfrm>
            <a:off x="0" y="6000750"/>
            <a:ext cx="76200" cy="571500"/>
          </a:xfrm>
          <a:prstGeom prst="rect">
            <a:avLst/>
          </a:prstGeom>
          <a:solidFill>
            <a:srgbClr val="FBBF24"/>
          </a:solidFill>
          <a:ln>
            <a:noFill/>
          </a:ln>
        </p:spPr>
      </p:sp>
      <p:sp>
        <p:nvSpPr>
          <p:cNvPr id="28" name="TextBox 28"/>
          <p:cNvSpPr txBox="1"/>
          <p:nvPr/>
        </p:nvSpPr>
        <p:spPr>
          <a:xfrm>
            <a:off x="678180" y="6172200"/>
            <a:ext cx="2729636"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Arial"/>
                <a:ea typeface="Microsoft YaHei"/>
                <a:cs typeface="Arial"/>
              </a:rPr>
              <a:t>MD是动力学，验证对接稳定性</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93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A2F5A">
                <a:alpha val="55000"/>
              </a:srgbClr>
            </a:solidFill>
          </a:ln>
        </p:spPr>
      </p:sp>
      <p:sp>
        <p:nvSpPr>
          <p:cNvPr id="3" name="TextBox 3"/>
          <p:cNvSpPr txBox="1"/>
          <p:nvPr/>
        </p:nvSpPr>
        <p:spPr>
          <a:xfrm>
            <a:off x="678180" y="542925"/>
            <a:ext cx="2357455" cy="293370"/>
          </a:xfrm>
          <a:prstGeom prst="rect">
            <a:avLst/>
          </a:prstGeom>
          <a:noFill/>
          <a:ln>
            <a:noFill/>
          </a:ln>
        </p:spPr>
        <p:txBody>
          <a:bodyPr wrap="none" lIns="0" tIns="0" rIns="0" bIns="0" anchor="t" anchorCtr="0">
            <a:spAutoFit/>
          </a:bodyPr>
          <a:lstStyle/>
          <a:p>
            <a:pPr algn="l"/>
            <a:r>
              <a:rPr lang="zh-CN" sz="1500" b="1" spc="112" dirty="0">
                <a:solidFill>
                  <a:srgbClr val="FBBF24"/>
                </a:solidFill>
                <a:latin typeface="Consolas"/>
                <a:ea typeface="Microsoft YaHei"/>
                <a:cs typeface="Consolas"/>
              </a:rPr>
              <a:t>// 10 / 基于MD的量化</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8A9BB5"/>
                </a:solidFill>
                <a:latin typeface="Consolas"/>
                <a:ea typeface="Consolas"/>
                <a:cs typeface="Consolas"/>
              </a:rPr>
              <a:t>10 / 17</a:t>
            </a:r>
          </a:p>
        </p:txBody>
      </p:sp>
      <p:sp>
        <p:nvSpPr>
          <p:cNvPr id="5" name="TextBox 5"/>
          <p:cNvSpPr txBox="1"/>
          <p:nvPr/>
        </p:nvSpPr>
        <p:spPr>
          <a:xfrm>
            <a:off x="672084" y="756285"/>
            <a:ext cx="5375986" cy="528066"/>
          </a:xfrm>
          <a:prstGeom prst="rect">
            <a:avLst/>
          </a:prstGeom>
          <a:noFill/>
          <a:ln>
            <a:noFill/>
          </a:ln>
        </p:spPr>
        <p:txBody>
          <a:bodyPr wrap="none" lIns="0" tIns="0" rIns="0" bIns="0" anchor="t" anchorCtr="0">
            <a:spAutoFit/>
          </a:bodyPr>
          <a:lstStyle/>
          <a:p>
            <a:pPr algn="l"/>
            <a:r>
              <a:rPr lang="zh-CN" sz="2700" b="1" dirty="0">
                <a:solidFill>
                  <a:srgbClr val="F8FAFC"/>
                </a:solidFill>
                <a:latin typeface="Arial"/>
                <a:ea typeface="Microsoft YaHei"/>
                <a:cs typeface="Arial"/>
              </a:rPr>
              <a:t>结合自由能计算：MM-PBSA量化</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E3A5F"/>
            </a:solidFill>
          </a:ln>
        </p:spPr>
      </p:sp>
      <p:sp>
        <p:nvSpPr>
          <p:cNvPr id="7" name="Rectangle 7"/>
          <p:cNvSpPr/>
          <p:nvPr/>
        </p:nvSpPr>
        <p:spPr>
          <a:xfrm>
            <a:off x="685800" y="1447800"/>
            <a:ext cx="76200" cy="76200"/>
          </a:xfrm>
          <a:prstGeom prst="rect">
            <a:avLst/>
          </a:prstGeom>
          <a:solidFill>
            <a:srgbClr val="FBBF24"/>
          </a:solidFill>
          <a:ln>
            <a:noFill/>
          </a:ln>
        </p:spPr>
      </p:sp>
      <p:sp>
        <p:nvSpPr>
          <p:cNvPr id="8" name="TextBox 8"/>
          <p:cNvSpPr txBox="1"/>
          <p:nvPr/>
        </p:nvSpPr>
        <p:spPr>
          <a:xfrm>
            <a:off x="887730" y="1400175"/>
            <a:ext cx="419100" cy="293370"/>
          </a:xfrm>
          <a:prstGeom prst="rect">
            <a:avLst/>
          </a:prstGeom>
          <a:noFill/>
          <a:ln>
            <a:noFill/>
          </a:ln>
        </p:spPr>
        <p:txBody>
          <a:bodyPr wrap="none" lIns="0" tIns="0" rIns="0" bIns="0" anchor="t" anchorCtr="0">
            <a:spAutoFit/>
          </a:bodyPr>
          <a:lstStyle/>
          <a:p>
            <a:pPr algn="l"/>
            <a:r>
              <a:rPr lang="zh-CN" sz="1500" b="1" dirty="0">
                <a:solidFill>
                  <a:srgbClr val="38BDF8"/>
                </a:solidFill>
                <a:latin typeface="Arial"/>
                <a:ea typeface="Microsoft YaHei"/>
                <a:cs typeface="Arial"/>
              </a:rPr>
              <a:t>公式</a:t>
            </a:r>
          </a:p>
        </p:txBody>
      </p:sp>
      <p:sp>
        <p:nvSpPr>
          <p:cNvPr id="9" name="TextBox 9"/>
          <p:cNvSpPr txBox="1"/>
          <p:nvPr/>
        </p:nvSpPr>
        <p:spPr>
          <a:xfrm>
            <a:off x="1383030" y="1400175"/>
            <a:ext cx="9460535"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ΔG_bind = G_complex - (G_rec+G_lig) = ΔE_MM + ΔG_solv - TΔS；ΔE_MM=ΔE_vdw+ΔE_elec；ΔG_sol</a:t>
            </a:r>
          </a:p>
        </p:txBody>
      </p:sp>
      <p:sp>
        <p:nvSpPr>
          <p:cNvPr id="10" name="TextBox 10"/>
          <p:cNvSpPr txBox="1"/>
          <p:nvPr/>
        </p:nvSpPr>
        <p:spPr>
          <a:xfrm>
            <a:off x="1383030" y="1647825"/>
            <a:ext cx="5480304"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v=ΔG_PB/GB+ΔG_SA极性PB/GB+非极性表面积；-TΔS常省略</a:t>
            </a:r>
          </a:p>
        </p:txBody>
      </p:sp>
      <p:sp>
        <p:nvSpPr>
          <p:cNvPr id="11" name="Rectangle 11"/>
          <p:cNvSpPr/>
          <p:nvPr/>
        </p:nvSpPr>
        <p:spPr>
          <a:xfrm>
            <a:off x="685800" y="2085975"/>
            <a:ext cx="76200" cy="76200"/>
          </a:xfrm>
          <a:prstGeom prst="rect">
            <a:avLst/>
          </a:prstGeom>
          <a:solidFill>
            <a:srgbClr val="FBBF24"/>
          </a:solidFill>
          <a:ln>
            <a:noFill/>
          </a:ln>
        </p:spPr>
      </p:sp>
      <p:sp>
        <p:nvSpPr>
          <p:cNvPr id="12" name="TextBox 12"/>
          <p:cNvSpPr txBox="1"/>
          <p:nvPr/>
        </p:nvSpPr>
        <p:spPr>
          <a:xfrm>
            <a:off x="887730" y="2038350"/>
            <a:ext cx="419100" cy="293370"/>
          </a:xfrm>
          <a:prstGeom prst="rect">
            <a:avLst/>
          </a:prstGeom>
          <a:noFill/>
          <a:ln>
            <a:noFill/>
          </a:ln>
        </p:spPr>
        <p:txBody>
          <a:bodyPr wrap="none" lIns="0" tIns="0" rIns="0" bIns="0" anchor="t" anchorCtr="0">
            <a:spAutoFit/>
          </a:bodyPr>
          <a:lstStyle/>
          <a:p>
            <a:pPr algn="l"/>
            <a:r>
              <a:rPr lang="zh-CN" sz="1500" b="1" dirty="0">
                <a:solidFill>
                  <a:srgbClr val="38BDF8"/>
                </a:solidFill>
                <a:latin typeface="Arial"/>
                <a:ea typeface="Microsoft YaHei"/>
                <a:cs typeface="Arial"/>
              </a:rPr>
              <a:t>工具</a:t>
            </a:r>
          </a:p>
        </p:txBody>
      </p:sp>
      <p:sp>
        <p:nvSpPr>
          <p:cNvPr id="13" name="TextBox 13"/>
          <p:cNvSpPr txBox="1"/>
          <p:nvPr/>
        </p:nvSpPr>
        <p:spPr>
          <a:xfrm>
            <a:off x="1383030" y="2038350"/>
            <a:ext cx="6258687"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g_mmpbsa或gmx_MMPBSA 1.6.3，取MD最后25%每100ps一帧200帧</a:t>
            </a:r>
          </a:p>
        </p:txBody>
      </p:sp>
      <p:sp>
        <p:nvSpPr>
          <p:cNvPr id="14" name="Rectangle 14"/>
          <p:cNvSpPr/>
          <p:nvPr/>
        </p:nvSpPr>
        <p:spPr>
          <a:xfrm>
            <a:off x="685800" y="2466975"/>
            <a:ext cx="76200" cy="76200"/>
          </a:xfrm>
          <a:prstGeom prst="rect">
            <a:avLst/>
          </a:prstGeom>
          <a:solidFill>
            <a:srgbClr val="FBBF24"/>
          </a:solidFill>
          <a:ln>
            <a:noFill/>
          </a:ln>
        </p:spPr>
      </p:sp>
      <p:sp>
        <p:nvSpPr>
          <p:cNvPr id="15" name="TextBox 15"/>
          <p:cNvSpPr txBox="1"/>
          <p:nvPr/>
        </p:nvSpPr>
        <p:spPr>
          <a:xfrm>
            <a:off x="887730" y="2419350"/>
            <a:ext cx="535715" cy="293370"/>
          </a:xfrm>
          <a:prstGeom prst="rect">
            <a:avLst/>
          </a:prstGeom>
          <a:noFill/>
          <a:ln>
            <a:noFill/>
          </a:ln>
        </p:spPr>
        <p:txBody>
          <a:bodyPr wrap="none" lIns="0" tIns="0" rIns="0" bIns="0" anchor="t" anchorCtr="0">
            <a:spAutoFit/>
          </a:bodyPr>
          <a:lstStyle/>
          <a:p>
            <a:pPr algn="l"/>
            <a:r>
              <a:rPr lang="zh-CN" sz="1500" b="1" dirty="0">
                <a:solidFill>
                  <a:srgbClr val="38BDF8"/>
                </a:solidFill>
                <a:latin typeface="Arial"/>
                <a:ea typeface="Microsoft YaHei"/>
                <a:cs typeface="Arial"/>
              </a:rPr>
              <a:t>实例1</a:t>
            </a:r>
          </a:p>
        </p:txBody>
      </p:sp>
      <p:sp>
        <p:nvSpPr>
          <p:cNvPr id="16" name="TextBox 16"/>
          <p:cNvSpPr txBox="1"/>
          <p:nvPr/>
        </p:nvSpPr>
        <p:spPr>
          <a:xfrm>
            <a:off x="1487805" y="2419350"/>
            <a:ext cx="8392668"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BiLSTM+MD 2025 ADNP7-Aβ42 MM/PBSA -50.6 kcal/mol疏水芳香主导PHE12 TRP50贡献大</a:t>
            </a:r>
          </a:p>
        </p:txBody>
      </p:sp>
      <p:sp>
        <p:nvSpPr>
          <p:cNvPr id="17" name="Rectangle 17"/>
          <p:cNvSpPr/>
          <p:nvPr/>
        </p:nvSpPr>
        <p:spPr>
          <a:xfrm>
            <a:off x="685800" y="2857500"/>
            <a:ext cx="76200" cy="76200"/>
          </a:xfrm>
          <a:prstGeom prst="rect">
            <a:avLst/>
          </a:prstGeom>
          <a:solidFill>
            <a:srgbClr val="FBBF24"/>
          </a:solidFill>
          <a:ln>
            <a:noFill/>
          </a:ln>
        </p:spPr>
      </p:sp>
      <p:sp>
        <p:nvSpPr>
          <p:cNvPr id="18" name="TextBox 18"/>
          <p:cNvSpPr txBox="1"/>
          <p:nvPr/>
        </p:nvSpPr>
        <p:spPr>
          <a:xfrm>
            <a:off x="887730" y="2809875"/>
            <a:ext cx="535715" cy="293370"/>
          </a:xfrm>
          <a:prstGeom prst="rect">
            <a:avLst/>
          </a:prstGeom>
          <a:noFill/>
          <a:ln>
            <a:noFill/>
          </a:ln>
        </p:spPr>
        <p:txBody>
          <a:bodyPr wrap="none" lIns="0" tIns="0" rIns="0" bIns="0" anchor="t" anchorCtr="0">
            <a:spAutoFit/>
          </a:bodyPr>
          <a:lstStyle/>
          <a:p>
            <a:pPr algn="l"/>
            <a:r>
              <a:rPr lang="zh-CN" sz="1500" b="1" dirty="0">
                <a:solidFill>
                  <a:srgbClr val="38BDF8"/>
                </a:solidFill>
                <a:latin typeface="Arial"/>
                <a:ea typeface="Microsoft YaHei"/>
                <a:cs typeface="Arial"/>
              </a:rPr>
              <a:t>实例2</a:t>
            </a:r>
          </a:p>
        </p:txBody>
      </p:sp>
      <p:sp>
        <p:nvSpPr>
          <p:cNvPr id="19" name="TextBox 19"/>
          <p:cNvSpPr txBox="1"/>
          <p:nvPr/>
        </p:nvSpPr>
        <p:spPr>
          <a:xfrm>
            <a:off x="1487805" y="2809875"/>
            <a:ext cx="5981357"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RR-AFC破坏Aβ原纤维盲对接-76.28 kJ/mol静电范德华非极性主导</a:t>
            </a:r>
          </a:p>
        </p:txBody>
      </p:sp>
      <p:sp>
        <p:nvSpPr>
          <p:cNvPr id="20" name="Rectangle 20"/>
          <p:cNvSpPr/>
          <p:nvPr/>
        </p:nvSpPr>
        <p:spPr>
          <a:xfrm>
            <a:off x="685800" y="3238500"/>
            <a:ext cx="76200" cy="76200"/>
          </a:xfrm>
          <a:prstGeom prst="rect">
            <a:avLst/>
          </a:prstGeom>
          <a:solidFill>
            <a:srgbClr val="FBBF24"/>
          </a:solidFill>
          <a:ln>
            <a:noFill/>
          </a:ln>
        </p:spPr>
      </p:sp>
      <p:sp>
        <p:nvSpPr>
          <p:cNvPr id="21" name="TextBox 21"/>
          <p:cNvSpPr txBox="1"/>
          <p:nvPr/>
        </p:nvSpPr>
        <p:spPr>
          <a:xfrm>
            <a:off x="887730" y="3190875"/>
            <a:ext cx="535715" cy="293370"/>
          </a:xfrm>
          <a:prstGeom prst="rect">
            <a:avLst/>
          </a:prstGeom>
          <a:noFill/>
          <a:ln>
            <a:noFill/>
          </a:ln>
        </p:spPr>
        <p:txBody>
          <a:bodyPr wrap="none" lIns="0" tIns="0" rIns="0" bIns="0" anchor="t" anchorCtr="0">
            <a:spAutoFit/>
          </a:bodyPr>
          <a:lstStyle/>
          <a:p>
            <a:pPr algn="l"/>
            <a:r>
              <a:rPr lang="zh-CN" sz="1500" b="1" dirty="0">
                <a:solidFill>
                  <a:srgbClr val="38BDF8"/>
                </a:solidFill>
                <a:latin typeface="Arial"/>
                <a:ea typeface="Microsoft YaHei"/>
                <a:cs typeface="Arial"/>
              </a:rPr>
              <a:t>实例3</a:t>
            </a:r>
          </a:p>
        </p:txBody>
      </p:sp>
      <p:sp>
        <p:nvSpPr>
          <p:cNvPr id="22" name="TextBox 22"/>
          <p:cNvSpPr txBox="1"/>
          <p:nvPr/>
        </p:nvSpPr>
        <p:spPr>
          <a:xfrm>
            <a:off x="1487805" y="3190875"/>
            <a:ext cx="7245528"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Amentoflavone抑制Aβ 200ns MD后MM/PBSA 16KLVFFAEDV24热点非极性&gt;71%</a:t>
            </a:r>
          </a:p>
        </p:txBody>
      </p:sp>
      <p:sp>
        <p:nvSpPr>
          <p:cNvPr id="23" name="Rectangle 23"/>
          <p:cNvSpPr/>
          <p:nvPr/>
        </p:nvSpPr>
        <p:spPr>
          <a:xfrm>
            <a:off x="685800" y="3619500"/>
            <a:ext cx="76200" cy="76200"/>
          </a:xfrm>
          <a:prstGeom prst="rect">
            <a:avLst/>
          </a:prstGeom>
          <a:solidFill>
            <a:srgbClr val="FBBF24"/>
          </a:solidFill>
          <a:ln>
            <a:noFill/>
          </a:ln>
        </p:spPr>
      </p:sp>
      <p:sp>
        <p:nvSpPr>
          <p:cNvPr id="24" name="TextBox 24"/>
          <p:cNvSpPr txBox="1"/>
          <p:nvPr/>
        </p:nvSpPr>
        <p:spPr>
          <a:xfrm>
            <a:off x="887730" y="3571875"/>
            <a:ext cx="822960" cy="293370"/>
          </a:xfrm>
          <a:prstGeom prst="rect">
            <a:avLst/>
          </a:prstGeom>
          <a:noFill/>
          <a:ln>
            <a:noFill/>
          </a:ln>
        </p:spPr>
        <p:txBody>
          <a:bodyPr wrap="none" lIns="0" tIns="0" rIns="0" bIns="0" anchor="t" anchorCtr="0">
            <a:spAutoFit/>
          </a:bodyPr>
          <a:lstStyle/>
          <a:p>
            <a:pPr algn="l"/>
            <a:r>
              <a:rPr lang="zh-CN" sz="1500" b="1" dirty="0">
                <a:solidFill>
                  <a:srgbClr val="38BDF8"/>
                </a:solidFill>
                <a:latin typeface="Arial"/>
                <a:ea typeface="Microsoft YaHei"/>
                <a:cs typeface="Arial"/>
              </a:rPr>
              <a:t>残基分解</a:t>
            </a:r>
          </a:p>
        </p:txBody>
      </p:sp>
      <p:sp>
        <p:nvSpPr>
          <p:cNvPr id="25" name="TextBox 25"/>
          <p:cNvSpPr txBox="1"/>
          <p:nvPr/>
        </p:nvSpPr>
        <p:spPr>
          <a:xfrm>
            <a:off x="1764030" y="3571875"/>
            <a:ext cx="6635442"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MmPbSaDecomp.py每残基贡献找热点Ala2 Phe4 Tyr10等-43.1 kcal/mol</a:t>
            </a:r>
          </a:p>
        </p:txBody>
      </p:sp>
      <p:sp>
        <p:nvSpPr>
          <p:cNvPr id="26" name="Rectangle 26"/>
          <p:cNvSpPr/>
          <p:nvPr/>
        </p:nvSpPr>
        <p:spPr>
          <a:xfrm>
            <a:off x="0" y="6000750"/>
            <a:ext cx="12192000" cy="571500"/>
          </a:xfrm>
          <a:prstGeom prst="rect">
            <a:avLst/>
          </a:prstGeom>
          <a:solidFill>
            <a:srgbClr val="102542"/>
          </a:solidFill>
          <a:ln>
            <a:noFill/>
          </a:ln>
        </p:spPr>
      </p:sp>
      <p:sp>
        <p:nvSpPr>
          <p:cNvPr id="27" name="Rectangle 27"/>
          <p:cNvSpPr/>
          <p:nvPr/>
        </p:nvSpPr>
        <p:spPr>
          <a:xfrm>
            <a:off x="0" y="6000750"/>
            <a:ext cx="76200" cy="571500"/>
          </a:xfrm>
          <a:prstGeom prst="rect">
            <a:avLst/>
          </a:prstGeom>
          <a:solidFill>
            <a:srgbClr val="FBBF24"/>
          </a:solidFill>
          <a:ln>
            <a:noFill/>
          </a:ln>
        </p:spPr>
      </p:sp>
      <p:sp>
        <p:nvSpPr>
          <p:cNvPr id="28" name="TextBox 28"/>
          <p:cNvSpPr txBox="1"/>
          <p:nvPr/>
        </p:nvSpPr>
        <p:spPr>
          <a:xfrm>
            <a:off x="678180" y="6172200"/>
            <a:ext cx="3188589"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Arial"/>
                <a:ea typeface="Microsoft YaHei"/>
                <a:cs typeface="Arial"/>
              </a:rPr>
              <a:t>MM-PBSA是量化，比对接打分更准</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93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A2F5A">
                <a:alpha val="55000"/>
              </a:srgbClr>
            </a:solidFill>
          </a:ln>
        </p:spPr>
      </p:sp>
      <p:sp>
        <p:nvSpPr>
          <p:cNvPr id="3" name="TextBox 3"/>
          <p:cNvSpPr txBox="1"/>
          <p:nvPr/>
        </p:nvSpPr>
        <p:spPr>
          <a:xfrm>
            <a:off x="678180" y="542925"/>
            <a:ext cx="1876450" cy="293370"/>
          </a:xfrm>
          <a:prstGeom prst="rect">
            <a:avLst/>
          </a:prstGeom>
          <a:noFill/>
          <a:ln>
            <a:noFill/>
          </a:ln>
        </p:spPr>
        <p:txBody>
          <a:bodyPr wrap="none" lIns="0" tIns="0" rIns="0" bIns="0" anchor="t" anchorCtr="0">
            <a:spAutoFit/>
          </a:bodyPr>
          <a:lstStyle/>
          <a:p>
            <a:pPr algn="l"/>
            <a:r>
              <a:rPr lang="zh-CN" sz="1500" b="1" spc="112" dirty="0">
                <a:solidFill>
                  <a:srgbClr val="FBBF24"/>
                </a:solidFill>
                <a:latin typeface="Consolas"/>
                <a:ea typeface="Microsoft YaHei"/>
                <a:cs typeface="Consolas"/>
              </a:rPr>
              <a:t>// 11 / 结合机制</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8A9BB5"/>
                </a:solidFill>
                <a:latin typeface="Consolas"/>
                <a:ea typeface="Consolas"/>
                <a:cs typeface="Consolas"/>
              </a:rPr>
              <a:t>11 / 17</a:t>
            </a:r>
          </a:p>
        </p:txBody>
      </p:sp>
      <p:sp>
        <p:nvSpPr>
          <p:cNvPr id="5" name="TextBox 5"/>
          <p:cNvSpPr txBox="1"/>
          <p:nvPr/>
        </p:nvSpPr>
        <p:spPr>
          <a:xfrm>
            <a:off x="672084" y="756285"/>
            <a:ext cx="7562917" cy="528066"/>
          </a:xfrm>
          <a:prstGeom prst="rect">
            <a:avLst/>
          </a:prstGeom>
          <a:noFill/>
          <a:ln>
            <a:noFill/>
          </a:ln>
        </p:spPr>
        <p:txBody>
          <a:bodyPr wrap="none" lIns="0" tIns="0" rIns="0" bIns="0" anchor="t" anchorCtr="0">
            <a:spAutoFit/>
          </a:bodyPr>
          <a:lstStyle/>
          <a:p>
            <a:pPr algn="l"/>
            <a:r>
              <a:rPr lang="zh-CN" sz="2700" b="1" dirty="0">
                <a:solidFill>
                  <a:srgbClr val="F8FAFC"/>
                </a:solidFill>
                <a:latin typeface="Arial"/>
                <a:ea typeface="Microsoft YaHei"/>
                <a:cs typeface="Arial"/>
              </a:rPr>
              <a:t>AMP-AD结合：Aβ本身抗菌+LL-37纳摩尔结合</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E3A5F"/>
            </a:solidFill>
          </a:ln>
        </p:spPr>
      </p:sp>
      <p:sp>
        <p:nvSpPr>
          <p:cNvPr id="7" name="Rectangle 7"/>
          <p:cNvSpPr/>
          <p:nvPr/>
        </p:nvSpPr>
        <p:spPr>
          <a:xfrm>
            <a:off x="609600" y="1466850"/>
            <a:ext cx="10972800" cy="2333625"/>
          </a:xfrm>
          <a:prstGeom prst="roundRect">
            <a:avLst>
              <a:gd name="adj" fmla="val 4082"/>
            </a:avLst>
          </a:prstGeom>
          <a:solidFill>
            <a:srgbClr val="102542"/>
          </a:solidFill>
          <a:ln w="9525">
            <a:solidFill>
              <a:srgbClr val="2A4A7A"/>
            </a:solidFill>
          </a:ln>
        </p:spPr>
      </p:sp>
      <p:pic>
        <p:nvPicPr>
          <p:cNvPr id="8" name="Image 8"/>
          <p:cNvPicPr>
            <a:picLocks noChangeAspect="1"/>
          </p:cNvPicPr>
          <p:nvPr/>
        </p:nvPicPr>
        <p:blipFill>
          <a:blip r:embed="rId2"/>
          <a:stretch>
            <a:fillRect/>
          </a:stretch>
        </p:blipFill>
        <p:spPr>
          <a:xfrm>
            <a:off x="4038600" y="1600200"/>
            <a:ext cx="4124325" cy="2066925"/>
          </a:xfrm>
          <a:prstGeom prst="rect">
            <a:avLst/>
          </a:prstGeom>
        </p:spPr>
      </p:pic>
      <p:sp>
        <p:nvSpPr>
          <p:cNvPr id="9" name="TextBox 9"/>
          <p:cNvSpPr txBox="1"/>
          <p:nvPr/>
        </p:nvSpPr>
        <p:spPr>
          <a:xfrm>
            <a:off x="678180" y="3771900"/>
            <a:ext cx="10243737"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Soscia 2010 Aβ42 8菌≥LL-37 AD脑匀浆高24%抗体清除[6]；Kumar 2016转基因小鼠线虫提高存活寡聚化必需[7]</a:t>
            </a:r>
          </a:p>
        </p:txBody>
      </p:sp>
      <p:sp>
        <p:nvSpPr>
          <p:cNvPr id="10" name="TextBox 10"/>
          <p:cNvSpPr txBox="1"/>
          <p:nvPr/>
        </p:nvSpPr>
        <p:spPr>
          <a:xfrm>
            <a:off x="678180" y="4019550"/>
            <a:ext cx="10026814"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；LL-37与Aβ纳摩尔亲和力De Lorenzi 2017 SPR+CD Kd≈nM抑制纤维稳定寡聚体[15]；Barron 2024 Chem Soc</a:t>
            </a:r>
          </a:p>
        </p:txBody>
      </p:sp>
      <p:sp>
        <p:nvSpPr>
          <p:cNvPr id="11" name="TextBox 11"/>
          <p:cNvSpPr txBox="1"/>
          <p:nvPr/>
        </p:nvSpPr>
        <p:spPr>
          <a:xfrm>
            <a:off x="678180" y="4276725"/>
            <a:ext cx="10464315"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Rev序列互补交叉播种[16]；AChE-PAS成核Inestrosa1996 propidium75%[24] Site I Kd184μM[25] Atanasova 20</a:t>
            </a:r>
          </a:p>
        </p:txBody>
      </p:sp>
      <p:sp>
        <p:nvSpPr>
          <p:cNvPr id="12" name="Rectangle 12"/>
          <p:cNvSpPr/>
          <p:nvPr/>
        </p:nvSpPr>
        <p:spPr>
          <a:xfrm>
            <a:off x="0" y="6000750"/>
            <a:ext cx="12192000" cy="571500"/>
          </a:xfrm>
          <a:prstGeom prst="rect">
            <a:avLst/>
          </a:prstGeom>
          <a:solidFill>
            <a:srgbClr val="102542"/>
          </a:solidFill>
          <a:ln>
            <a:noFill/>
          </a:ln>
        </p:spPr>
      </p:sp>
      <p:sp>
        <p:nvSpPr>
          <p:cNvPr id="13" name="Rectangle 13"/>
          <p:cNvSpPr/>
          <p:nvPr/>
        </p:nvSpPr>
        <p:spPr>
          <a:xfrm>
            <a:off x="0" y="6000750"/>
            <a:ext cx="76200" cy="571500"/>
          </a:xfrm>
          <a:prstGeom prst="rect">
            <a:avLst/>
          </a:prstGeom>
          <a:solidFill>
            <a:srgbClr val="FBBF24"/>
          </a:solidFill>
          <a:ln>
            <a:noFill/>
          </a:ln>
        </p:spPr>
      </p:sp>
      <p:sp>
        <p:nvSpPr>
          <p:cNvPr id="14" name="TextBox 14"/>
          <p:cNvSpPr txBox="1"/>
          <p:nvPr/>
        </p:nvSpPr>
        <p:spPr>
          <a:xfrm>
            <a:off x="678180" y="6172200"/>
            <a:ext cx="2438400"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Arial"/>
                <a:ea typeface="Microsoft YaHei"/>
                <a:cs typeface="Arial"/>
              </a:rPr>
              <a:t>结合改变聚集路径增强毒性</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93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A2F5A">
                <a:alpha val="55000"/>
              </a:srgbClr>
            </a:solidFill>
          </a:ln>
        </p:spPr>
      </p:sp>
      <p:sp>
        <p:nvSpPr>
          <p:cNvPr id="3" name="TextBox 3"/>
          <p:cNvSpPr txBox="1"/>
          <p:nvPr/>
        </p:nvSpPr>
        <p:spPr>
          <a:xfrm>
            <a:off x="678180" y="542925"/>
            <a:ext cx="2000882" cy="293370"/>
          </a:xfrm>
          <a:prstGeom prst="rect">
            <a:avLst/>
          </a:prstGeom>
          <a:noFill/>
          <a:ln>
            <a:noFill/>
          </a:ln>
        </p:spPr>
        <p:txBody>
          <a:bodyPr wrap="none" lIns="0" tIns="0" rIns="0" bIns="0" anchor="t" anchorCtr="0">
            <a:spAutoFit/>
          </a:bodyPr>
          <a:lstStyle/>
          <a:p>
            <a:pPr algn="l"/>
            <a:r>
              <a:rPr lang="zh-CN" sz="1500" b="1" spc="112" dirty="0">
                <a:solidFill>
                  <a:srgbClr val="FBBF24"/>
                </a:solidFill>
                <a:latin typeface="Consolas"/>
                <a:ea typeface="Microsoft YaHei"/>
                <a:cs typeface="Consolas"/>
              </a:rPr>
              <a:t>// 12 / 肠道-炎症</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8A9BB5"/>
                </a:solidFill>
                <a:latin typeface="Consolas"/>
                <a:ea typeface="Consolas"/>
                <a:cs typeface="Consolas"/>
              </a:rPr>
              <a:t>12 / 17</a:t>
            </a:r>
          </a:p>
        </p:txBody>
      </p:sp>
      <p:sp>
        <p:nvSpPr>
          <p:cNvPr id="5" name="TextBox 5"/>
          <p:cNvSpPr txBox="1"/>
          <p:nvPr/>
        </p:nvSpPr>
        <p:spPr>
          <a:xfrm>
            <a:off x="672084" y="756285"/>
            <a:ext cx="6606997" cy="528066"/>
          </a:xfrm>
          <a:prstGeom prst="rect">
            <a:avLst/>
          </a:prstGeom>
          <a:noFill/>
          <a:ln>
            <a:noFill/>
          </a:ln>
        </p:spPr>
        <p:txBody>
          <a:bodyPr wrap="none" lIns="0" tIns="0" rIns="0" bIns="0" anchor="t" anchorCtr="0">
            <a:spAutoFit/>
          </a:bodyPr>
          <a:lstStyle/>
          <a:p>
            <a:pPr algn="l"/>
            <a:r>
              <a:rPr lang="zh-CN" sz="2700" b="1" dirty="0">
                <a:solidFill>
                  <a:srgbClr val="F8FAFC"/>
                </a:solidFill>
                <a:latin typeface="Arial"/>
                <a:ea typeface="Microsoft YaHei"/>
                <a:cs typeface="Arial"/>
              </a:rPr>
              <a:t>肠道菌群调控导致AD：LPS-TLR4正反馈</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E3A5F"/>
            </a:solidFill>
          </a:ln>
        </p:spPr>
      </p:sp>
      <p:sp>
        <p:nvSpPr>
          <p:cNvPr id="7" name="Rectangle 7"/>
          <p:cNvSpPr/>
          <p:nvPr/>
        </p:nvSpPr>
        <p:spPr>
          <a:xfrm>
            <a:off x="609600" y="1466850"/>
            <a:ext cx="10972800" cy="2333625"/>
          </a:xfrm>
          <a:prstGeom prst="roundRect">
            <a:avLst>
              <a:gd name="adj" fmla="val 4082"/>
            </a:avLst>
          </a:prstGeom>
          <a:solidFill>
            <a:srgbClr val="102542"/>
          </a:solidFill>
          <a:ln w="9525">
            <a:solidFill>
              <a:srgbClr val="2A4A7A"/>
            </a:solidFill>
          </a:ln>
        </p:spPr>
      </p:sp>
      <p:pic>
        <p:nvPicPr>
          <p:cNvPr id="8" name="Image 8"/>
          <p:cNvPicPr>
            <a:picLocks noChangeAspect="1"/>
          </p:cNvPicPr>
          <p:nvPr/>
        </p:nvPicPr>
        <p:blipFill>
          <a:blip r:embed="rId2"/>
          <a:stretch>
            <a:fillRect/>
          </a:stretch>
        </p:blipFill>
        <p:spPr>
          <a:xfrm>
            <a:off x="3114675" y="1600200"/>
            <a:ext cx="5962650" cy="2066925"/>
          </a:xfrm>
          <a:prstGeom prst="rect">
            <a:avLst/>
          </a:prstGeom>
        </p:spPr>
      </p:pic>
      <p:sp>
        <p:nvSpPr>
          <p:cNvPr id="9" name="TextBox 9"/>
          <p:cNvSpPr txBox="1"/>
          <p:nvPr/>
        </p:nvSpPr>
        <p:spPr>
          <a:xfrm>
            <a:off x="678180" y="3771900"/>
            <a:ext cx="10446435"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Vogt 2017 Firmicutes/Bifidobacterium↓ Bacteroidetes↑[18]；Cattaneo 2017 Escherichia/Shigella↑ E. rect</a:t>
            </a:r>
          </a:p>
        </p:txBody>
      </p:sp>
      <p:sp>
        <p:nvSpPr>
          <p:cNvPr id="10" name="TextBox 10"/>
          <p:cNvSpPr txBox="1"/>
          <p:nvPr/>
        </p:nvSpPr>
        <p:spPr>
          <a:xfrm>
            <a:off x="678180" y="4019550"/>
            <a:ext cx="10346776"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ale↓与IL-1β/NLRP3正相关[19]；LPS与斑块共定位Zhan 2018[21]血浆3倍Zhao 2017[22] P. gingivalis Dominy 2</a:t>
            </a:r>
          </a:p>
        </p:txBody>
      </p:sp>
      <p:sp>
        <p:nvSpPr>
          <p:cNvPr id="11" name="TextBox 11"/>
          <p:cNvSpPr txBox="1"/>
          <p:nvPr/>
        </p:nvSpPr>
        <p:spPr>
          <a:xfrm>
            <a:off x="678180" y="4276725"/>
            <a:ext cx="10141456"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019[23]；LPS与Aβ均为TLR4/CD14激动剂MyD88→NF-κB释放IL-1β/TNF-α/IL-6上调APP/Aβ/抗菌肽正反馈；细</a:t>
            </a:r>
          </a:p>
        </p:txBody>
      </p:sp>
      <p:sp>
        <p:nvSpPr>
          <p:cNvPr id="12" name="Rectangle 12"/>
          <p:cNvSpPr/>
          <p:nvPr/>
        </p:nvSpPr>
        <p:spPr>
          <a:xfrm>
            <a:off x="0" y="6000750"/>
            <a:ext cx="12192000" cy="571500"/>
          </a:xfrm>
          <a:prstGeom prst="rect">
            <a:avLst/>
          </a:prstGeom>
          <a:solidFill>
            <a:srgbClr val="102542"/>
          </a:solidFill>
          <a:ln>
            <a:noFill/>
          </a:ln>
        </p:spPr>
      </p:sp>
      <p:sp>
        <p:nvSpPr>
          <p:cNvPr id="13" name="Rectangle 13"/>
          <p:cNvSpPr/>
          <p:nvPr/>
        </p:nvSpPr>
        <p:spPr>
          <a:xfrm>
            <a:off x="0" y="6000750"/>
            <a:ext cx="76200" cy="571500"/>
          </a:xfrm>
          <a:prstGeom prst="rect">
            <a:avLst/>
          </a:prstGeom>
          <a:solidFill>
            <a:srgbClr val="FBBF24"/>
          </a:solidFill>
          <a:ln>
            <a:noFill/>
          </a:ln>
        </p:spPr>
      </p:sp>
      <p:sp>
        <p:nvSpPr>
          <p:cNvPr id="14" name="TextBox 14"/>
          <p:cNvSpPr txBox="1"/>
          <p:nvPr/>
        </p:nvSpPr>
        <p:spPr>
          <a:xfrm>
            <a:off x="678180" y="6172200"/>
            <a:ext cx="2705405"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Arial"/>
                <a:ea typeface="Microsoft YaHei"/>
                <a:cs typeface="Arial"/>
              </a:rPr>
              <a:t>LPS-TLR4是核心，SCFA调节</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93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A2F5A">
                <a:alpha val="55000"/>
              </a:srgbClr>
            </a:solidFill>
          </a:ln>
        </p:spPr>
      </p:sp>
      <p:sp>
        <p:nvSpPr>
          <p:cNvPr id="3" name="TextBox 3"/>
          <p:cNvSpPr txBox="1"/>
          <p:nvPr/>
        </p:nvSpPr>
        <p:spPr>
          <a:xfrm>
            <a:off x="678180" y="542925"/>
            <a:ext cx="1876450" cy="293370"/>
          </a:xfrm>
          <a:prstGeom prst="rect">
            <a:avLst/>
          </a:prstGeom>
          <a:noFill/>
          <a:ln>
            <a:noFill/>
          </a:ln>
        </p:spPr>
        <p:txBody>
          <a:bodyPr wrap="none" lIns="0" tIns="0" rIns="0" bIns="0" anchor="t" anchorCtr="0">
            <a:spAutoFit/>
          </a:bodyPr>
          <a:lstStyle/>
          <a:p>
            <a:pPr algn="l"/>
            <a:r>
              <a:rPr lang="zh-CN" sz="1500" b="1" spc="112" dirty="0">
                <a:solidFill>
                  <a:srgbClr val="FBBF24"/>
                </a:solidFill>
                <a:latin typeface="Consolas"/>
                <a:ea typeface="Microsoft YaHei"/>
                <a:cs typeface="Consolas"/>
              </a:rPr>
              <a:t>// 13 / 穿透机制</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8A9BB5"/>
                </a:solidFill>
                <a:latin typeface="Consolas"/>
                <a:ea typeface="Consolas"/>
                <a:cs typeface="Consolas"/>
              </a:rPr>
              <a:t>13 / 17</a:t>
            </a:r>
          </a:p>
        </p:txBody>
      </p:sp>
      <p:sp>
        <p:nvSpPr>
          <p:cNvPr id="5" name="TextBox 5"/>
          <p:cNvSpPr txBox="1"/>
          <p:nvPr/>
        </p:nvSpPr>
        <p:spPr>
          <a:xfrm>
            <a:off x="672084" y="756285"/>
            <a:ext cx="6704518" cy="528066"/>
          </a:xfrm>
          <a:prstGeom prst="rect">
            <a:avLst/>
          </a:prstGeom>
          <a:noFill/>
          <a:ln>
            <a:noFill/>
          </a:ln>
        </p:spPr>
        <p:txBody>
          <a:bodyPr wrap="none" lIns="0" tIns="0" rIns="0" bIns="0" anchor="t" anchorCtr="0">
            <a:spAutoFit/>
          </a:bodyPr>
          <a:lstStyle/>
          <a:p>
            <a:pPr algn="l"/>
            <a:r>
              <a:rPr lang="zh-CN" sz="2700" b="1" dirty="0">
                <a:solidFill>
                  <a:srgbClr val="F8FAFC"/>
                </a:solidFill>
                <a:latin typeface="Arial"/>
                <a:ea typeface="Microsoft YaHei"/>
                <a:cs typeface="Arial"/>
              </a:rPr>
              <a:t>BBB穿透：阳离子AMT+LRP1/RAGE RMT</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E3A5F"/>
            </a:solidFill>
          </a:ln>
        </p:spPr>
      </p:sp>
      <p:sp>
        <p:nvSpPr>
          <p:cNvPr id="7" name="Rectangle 7"/>
          <p:cNvSpPr/>
          <p:nvPr/>
        </p:nvSpPr>
        <p:spPr>
          <a:xfrm>
            <a:off x="685800" y="1447800"/>
            <a:ext cx="76200" cy="76200"/>
          </a:xfrm>
          <a:prstGeom prst="rect">
            <a:avLst/>
          </a:prstGeom>
          <a:solidFill>
            <a:srgbClr val="FBBF24"/>
          </a:solidFill>
          <a:ln>
            <a:noFill/>
          </a:ln>
        </p:spPr>
      </p:sp>
      <p:sp>
        <p:nvSpPr>
          <p:cNvPr id="8" name="TextBox 8"/>
          <p:cNvSpPr txBox="1"/>
          <p:nvPr/>
        </p:nvSpPr>
        <p:spPr>
          <a:xfrm>
            <a:off x="887730" y="1400175"/>
            <a:ext cx="788746" cy="293370"/>
          </a:xfrm>
          <a:prstGeom prst="rect">
            <a:avLst/>
          </a:prstGeom>
          <a:noFill/>
          <a:ln>
            <a:noFill/>
          </a:ln>
        </p:spPr>
        <p:txBody>
          <a:bodyPr wrap="none" lIns="0" tIns="0" rIns="0" bIns="0" anchor="t" anchorCtr="0">
            <a:spAutoFit/>
          </a:bodyPr>
          <a:lstStyle/>
          <a:p>
            <a:pPr algn="l"/>
            <a:r>
              <a:rPr lang="zh-CN" sz="1500" b="1" dirty="0">
                <a:solidFill>
                  <a:srgbClr val="38BDF8"/>
                </a:solidFill>
                <a:latin typeface="Arial"/>
                <a:ea typeface="Microsoft YaHei"/>
                <a:cs typeface="Arial"/>
              </a:rPr>
              <a:t>BBB结构</a:t>
            </a:r>
          </a:p>
        </p:txBody>
      </p:sp>
      <p:sp>
        <p:nvSpPr>
          <p:cNvPr id="9" name="TextBox 9"/>
          <p:cNvSpPr txBox="1"/>
          <p:nvPr/>
        </p:nvSpPr>
        <p:spPr>
          <a:xfrm>
            <a:off x="1754505" y="1400175"/>
            <a:ext cx="8933878"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内皮紧密连接基底膜星形胶质足突；5类转运旁路极受限亲脂扩散小分子载体介导RMT TfR LRP1胰岛</a:t>
            </a:r>
          </a:p>
        </p:txBody>
      </p:sp>
      <p:sp>
        <p:nvSpPr>
          <p:cNvPr id="10" name="TextBox 10"/>
          <p:cNvSpPr txBox="1"/>
          <p:nvPr/>
        </p:nvSpPr>
        <p:spPr>
          <a:xfrm>
            <a:off x="1754505" y="1647825"/>
            <a:ext cx="5561076"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素受体AMT阳离子与阴离子糖萼静电吸附Banks 2023综述[27]</a:t>
            </a:r>
          </a:p>
        </p:txBody>
      </p:sp>
      <p:sp>
        <p:nvSpPr>
          <p:cNvPr id="11" name="Rectangle 11"/>
          <p:cNvSpPr/>
          <p:nvPr/>
        </p:nvSpPr>
        <p:spPr>
          <a:xfrm>
            <a:off x="685800" y="2085975"/>
            <a:ext cx="76200" cy="76200"/>
          </a:xfrm>
          <a:prstGeom prst="rect">
            <a:avLst/>
          </a:prstGeom>
          <a:solidFill>
            <a:srgbClr val="FBBF24"/>
          </a:solidFill>
          <a:ln>
            <a:noFill/>
          </a:ln>
        </p:spPr>
      </p:sp>
      <p:sp>
        <p:nvSpPr>
          <p:cNvPr id="12" name="TextBox 12"/>
          <p:cNvSpPr txBox="1"/>
          <p:nvPr/>
        </p:nvSpPr>
        <p:spPr>
          <a:xfrm>
            <a:off x="887730" y="2038350"/>
            <a:ext cx="1035482" cy="293370"/>
          </a:xfrm>
          <a:prstGeom prst="rect">
            <a:avLst/>
          </a:prstGeom>
          <a:noFill/>
          <a:ln>
            <a:noFill/>
          </a:ln>
        </p:spPr>
        <p:txBody>
          <a:bodyPr wrap="none" lIns="0" tIns="0" rIns="0" bIns="0" anchor="t" anchorCtr="0">
            <a:spAutoFit/>
          </a:bodyPr>
          <a:lstStyle/>
          <a:p>
            <a:pPr algn="l"/>
            <a:r>
              <a:rPr lang="zh-CN" sz="1500" b="1" dirty="0">
                <a:solidFill>
                  <a:srgbClr val="38BDF8"/>
                </a:solidFill>
                <a:latin typeface="Arial"/>
                <a:ea typeface="Microsoft YaHei"/>
                <a:cs typeface="Arial"/>
              </a:rPr>
              <a:t>阳离子AMT</a:t>
            </a:r>
          </a:p>
        </p:txBody>
      </p:sp>
      <p:sp>
        <p:nvSpPr>
          <p:cNvPr id="13" name="TextBox 13"/>
          <p:cNvSpPr txBox="1"/>
          <p:nvPr/>
        </p:nvSpPr>
        <p:spPr>
          <a:xfrm>
            <a:off x="1954530" y="2038350"/>
            <a:ext cx="8817007"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抗菌肽+2~+9电荷与硫酸乙酰肝素唾液酸静电吸附触发吸附介导内吞精氨酸越多越强LL-37 37aa +6</a:t>
            </a:r>
          </a:p>
        </p:txBody>
      </p:sp>
      <p:sp>
        <p:nvSpPr>
          <p:cNvPr id="14" name="TextBox 14"/>
          <p:cNvSpPr txBox="1"/>
          <p:nvPr/>
        </p:nvSpPr>
        <p:spPr>
          <a:xfrm>
            <a:off x="1954530" y="2286000"/>
            <a:ext cx="3408616"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符合[27,29]电荷是AMT关键预测因子</a:t>
            </a:r>
          </a:p>
        </p:txBody>
      </p:sp>
      <p:sp>
        <p:nvSpPr>
          <p:cNvPr id="15" name="Rectangle 15"/>
          <p:cNvSpPr/>
          <p:nvPr/>
        </p:nvSpPr>
        <p:spPr>
          <a:xfrm>
            <a:off x="685800" y="2724150"/>
            <a:ext cx="76200" cy="76200"/>
          </a:xfrm>
          <a:prstGeom prst="rect">
            <a:avLst/>
          </a:prstGeom>
          <a:solidFill>
            <a:srgbClr val="FBBF24"/>
          </a:solidFill>
          <a:ln>
            <a:noFill/>
          </a:ln>
        </p:spPr>
      </p:sp>
      <p:sp>
        <p:nvSpPr>
          <p:cNvPr id="16" name="TextBox 16"/>
          <p:cNvSpPr txBox="1"/>
          <p:nvPr/>
        </p:nvSpPr>
        <p:spPr>
          <a:xfrm>
            <a:off x="887730" y="2676525"/>
            <a:ext cx="429692" cy="293370"/>
          </a:xfrm>
          <a:prstGeom prst="rect">
            <a:avLst/>
          </a:prstGeom>
          <a:noFill/>
          <a:ln>
            <a:noFill/>
          </a:ln>
        </p:spPr>
        <p:txBody>
          <a:bodyPr wrap="none" lIns="0" tIns="0" rIns="0" bIns="0" anchor="t" anchorCtr="0">
            <a:spAutoFit/>
          </a:bodyPr>
          <a:lstStyle/>
          <a:p>
            <a:pPr algn="l"/>
            <a:r>
              <a:rPr lang="en-US" sz="1500" b="1" dirty="0">
                <a:solidFill>
                  <a:srgbClr val="38BDF8"/>
                </a:solidFill>
                <a:latin typeface="Arial"/>
                <a:ea typeface="Arial"/>
                <a:cs typeface="Arial"/>
              </a:rPr>
              <a:t>RMT</a:t>
            </a:r>
          </a:p>
        </p:txBody>
      </p:sp>
      <p:sp>
        <p:nvSpPr>
          <p:cNvPr id="17" name="TextBox 17"/>
          <p:cNvSpPr txBox="1"/>
          <p:nvPr/>
        </p:nvSpPr>
        <p:spPr>
          <a:xfrm>
            <a:off x="1392555" y="2676525"/>
            <a:ext cx="9132927"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Aβ经LRP1脑→血外排RAGE血→脑内流失衡蓄积Zlokovic 2009[28]；抗菌肽利用LRP1类似Angiopep-2或</a:t>
            </a:r>
          </a:p>
        </p:txBody>
      </p:sp>
      <p:sp>
        <p:nvSpPr>
          <p:cNvPr id="18" name="TextBox 18"/>
          <p:cNvSpPr txBox="1"/>
          <p:nvPr/>
        </p:nvSpPr>
        <p:spPr>
          <a:xfrm>
            <a:off x="1392555" y="2924175"/>
            <a:ext cx="2738628"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乳铁蛋白经LRP1转运AD中上调</a:t>
            </a:r>
          </a:p>
        </p:txBody>
      </p:sp>
      <p:sp>
        <p:nvSpPr>
          <p:cNvPr id="19" name="Rectangle 19"/>
          <p:cNvSpPr/>
          <p:nvPr/>
        </p:nvSpPr>
        <p:spPr>
          <a:xfrm>
            <a:off x="685800" y="3352800"/>
            <a:ext cx="76200" cy="76200"/>
          </a:xfrm>
          <a:prstGeom prst="rect">
            <a:avLst/>
          </a:prstGeom>
          <a:solidFill>
            <a:srgbClr val="FBBF24"/>
          </a:solidFill>
          <a:ln>
            <a:noFill/>
          </a:ln>
        </p:spPr>
      </p:sp>
      <p:sp>
        <p:nvSpPr>
          <p:cNvPr id="20" name="TextBox 20"/>
          <p:cNvSpPr txBox="1"/>
          <p:nvPr/>
        </p:nvSpPr>
        <p:spPr>
          <a:xfrm>
            <a:off x="887730" y="3305175"/>
            <a:ext cx="535715" cy="293370"/>
          </a:xfrm>
          <a:prstGeom prst="rect">
            <a:avLst/>
          </a:prstGeom>
          <a:noFill/>
          <a:ln>
            <a:noFill/>
          </a:ln>
        </p:spPr>
        <p:txBody>
          <a:bodyPr wrap="none" lIns="0" tIns="0" rIns="0" bIns="0" anchor="t" anchorCtr="0">
            <a:spAutoFit/>
          </a:bodyPr>
          <a:lstStyle/>
          <a:p>
            <a:pPr algn="l"/>
            <a:r>
              <a:rPr lang="zh-CN" sz="1500" b="1" dirty="0">
                <a:solidFill>
                  <a:srgbClr val="38BDF8"/>
                </a:solidFill>
                <a:latin typeface="Arial"/>
                <a:ea typeface="Microsoft YaHei"/>
                <a:cs typeface="Arial"/>
              </a:rPr>
              <a:t>病理↑</a:t>
            </a:r>
          </a:p>
        </p:txBody>
      </p:sp>
      <p:sp>
        <p:nvSpPr>
          <p:cNvPr id="21" name="TextBox 21"/>
          <p:cNvSpPr txBox="1"/>
          <p:nvPr/>
        </p:nvSpPr>
        <p:spPr>
          <a:xfrm>
            <a:off x="1573530" y="3305175"/>
            <a:ext cx="8904041"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AD中BBB破坏claudin-5/occludin↓ LPS/炎症↑通透外周肽更易入脑Braniste 2014无菌小鼠BBB↑ SC</a:t>
            </a:r>
          </a:p>
        </p:txBody>
      </p:sp>
      <p:sp>
        <p:nvSpPr>
          <p:cNvPr id="22" name="TextBox 22"/>
          <p:cNvSpPr txBox="1"/>
          <p:nvPr/>
        </p:nvSpPr>
        <p:spPr>
          <a:xfrm>
            <a:off x="1573530" y="3562350"/>
            <a:ext cx="1431227"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FA恢复[31,32]</a:t>
            </a:r>
          </a:p>
        </p:txBody>
      </p:sp>
      <p:sp>
        <p:nvSpPr>
          <p:cNvPr id="23" name="Rectangle 23"/>
          <p:cNvSpPr/>
          <p:nvPr/>
        </p:nvSpPr>
        <p:spPr>
          <a:xfrm>
            <a:off x="0" y="6000750"/>
            <a:ext cx="12192000" cy="571500"/>
          </a:xfrm>
          <a:prstGeom prst="rect">
            <a:avLst/>
          </a:prstGeom>
          <a:solidFill>
            <a:srgbClr val="102542"/>
          </a:solidFill>
          <a:ln>
            <a:noFill/>
          </a:ln>
        </p:spPr>
      </p:sp>
      <p:sp>
        <p:nvSpPr>
          <p:cNvPr id="24" name="Rectangle 24"/>
          <p:cNvSpPr/>
          <p:nvPr/>
        </p:nvSpPr>
        <p:spPr>
          <a:xfrm>
            <a:off x="0" y="6000750"/>
            <a:ext cx="76200" cy="571500"/>
          </a:xfrm>
          <a:prstGeom prst="rect">
            <a:avLst/>
          </a:prstGeom>
          <a:solidFill>
            <a:srgbClr val="FBBF24"/>
          </a:solidFill>
          <a:ln>
            <a:noFill/>
          </a:ln>
        </p:spPr>
      </p:sp>
      <p:sp>
        <p:nvSpPr>
          <p:cNvPr id="25" name="TextBox 25"/>
          <p:cNvSpPr txBox="1"/>
          <p:nvPr/>
        </p:nvSpPr>
        <p:spPr>
          <a:xfrm>
            <a:off x="678180" y="6172200"/>
            <a:ext cx="3435020"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Arial"/>
                <a:ea typeface="Microsoft YaHei"/>
                <a:cs typeface="Arial"/>
              </a:rPr>
              <a:t>AMT主要RMT补充，病理BBB更易穿透</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193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A2F5A">
                <a:alpha val="55000"/>
              </a:srgbClr>
            </a:solidFill>
          </a:ln>
        </p:spPr>
      </p:sp>
      <p:sp>
        <p:nvSpPr>
          <p:cNvPr id="3" name="TextBox 3"/>
          <p:cNvSpPr txBox="1"/>
          <p:nvPr/>
        </p:nvSpPr>
        <p:spPr>
          <a:xfrm>
            <a:off x="678180" y="542925"/>
            <a:ext cx="1876450" cy="293370"/>
          </a:xfrm>
          <a:prstGeom prst="rect">
            <a:avLst/>
          </a:prstGeom>
          <a:noFill/>
          <a:ln>
            <a:noFill/>
          </a:ln>
        </p:spPr>
        <p:txBody>
          <a:bodyPr wrap="none" lIns="0" tIns="0" rIns="0" bIns="0" anchor="t" anchorCtr="0">
            <a:spAutoFit/>
          </a:bodyPr>
          <a:lstStyle/>
          <a:p>
            <a:pPr algn="l"/>
            <a:r>
              <a:rPr lang="zh-CN" sz="1500" b="1" spc="112" dirty="0">
                <a:solidFill>
                  <a:srgbClr val="FBBF24"/>
                </a:solidFill>
                <a:latin typeface="Consolas"/>
                <a:ea typeface="Microsoft YaHei"/>
                <a:cs typeface="Consolas"/>
              </a:rPr>
              <a:t>// 14 / 整合模型</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8A9BB5"/>
                </a:solidFill>
                <a:latin typeface="Consolas"/>
                <a:ea typeface="Consolas"/>
                <a:cs typeface="Consolas"/>
              </a:rPr>
              <a:t>14 / 17</a:t>
            </a:r>
          </a:p>
        </p:txBody>
      </p:sp>
      <p:sp>
        <p:nvSpPr>
          <p:cNvPr id="5" name="TextBox 5"/>
          <p:cNvSpPr txBox="1"/>
          <p:nvPr/>
        </p:nvSpPr>
        <p:spPr>
          <a:xfrm>
            <a:off x="672084" y="756285"/>
            <a:ext cx="7511259" cy="528066"/>
          </a:xfrm>
          <a:prstGeom prst="rect">
            <a:avLst/>
          </a:prstGeom>
          <a:noFill/>
          <a:ln>
            <a:noFill/>
          </a:ln>
        </p:spPr>
        <p:txBody>
          <a:bodyPr wrap="none" lIns="0" tIns="0" rIns="0" bIns="0" anchor="t" anchorCtr="0">
            <a:spAutoFit/>
          </a:bodyPr>
          <a:lstStyle/>
          <a:p>
            <a:pPr algn="l"/>
            <a:r>
              <a:rPr lang="zh-CN" sz="2700" b="1" dirty="0">
                <a:solidFill>
                  <a:srgbClr val="F8FAFC"/>
                </a:solidFill>
                <a:latin typeface="Arial"/>
                <a:ea typeface="Microsoft YaHei"/>
                <a:cs typeface="Arial"/>
              </a:rPr>
              <a:t>穿透后致病：LL-37-CLIC1与肠-血-脑轴整合</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E3A5F"/>
            </a:solidFill>
          </a:ln>
        </p:spPr>
      </p:sp>
      <p:sp>
        <p:nvSpPr>
          <p:cNvPr id="7" name="Rectangle 7"/>
          <p:cNvSpPr/>
          <p:nvPr/>
        </p:nvSpPr>
        <p:spPr>
          <a:xfrm>
            <a:off x="609600" y="1466850"/>
            <a:ext cx="10972800" cy="2333625"/>
          </a:xfrm>
          <a:prstGeom prst="roundRect">
            <a:avLst>
              <a:gd name="adj" fmla="val 4082"/>
            </a:avLst>
          </a:prstGeom>
          <a:solidFill>
            <a:srgbClr val="102542"/>
          </a:solidFill>
          <a:ln w="9525">
            <a:solidFill>
              <a:srgbClr val="2A4A7A"/>
            </a:solidFill>
          </a:ln>
        </p:spPr>
      </p:sp>
      <p:pic>
        <p:nvPicPr>
          <p:cNvPr id="8" name="Image 8"/>
          <p:cNvPicPr>
            <a:picLocks noChangeAspect="1"/>
          </p:cNvPicPr>
          <p:nvPr/>
        </p:nvPicPr>
        <p:blipFill>
          <a:blip r:embed="rId2"/>
          <a:stretch>
            <a:fillRect/>
          </a:stretch>
        </p:blipFill>
        <p:spPr>
          <a:xfrm>
            <a:off x="3686175" y="1600200"/>
            <a:ext cx="4819650" cy="2066925"/>
          </a:xfrm>
          <a:prstGeom prst="rect">
            <a:avLst/>
          </a:prstGeom>
        </p:spPr>
      </p:pic>
      <p:sp>
        <p:nvSpPr>
          <p:cNvPr id="9" name="TextBox 9"/>
          <p:cNvSpPr txBox="1"/>
          <p:nvPr/>
        </p:nvSpPr>
        <p:spPr>
          <a:xfrm>
            <a:off x="678180" y="3771900"/>
            <a:ext cx="10492569"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Lee 2015 LL-37诱导TNF-α/IL-6 NF-κB核转位[13]；Chen 2022 LL-37促CLIC1膜转位形成氯通道致小胶质活化ROS</a:t>
            </a:r>
          </a:p>
        </p:txBody>
      </p:sp>
      <p:sp>
        <p:nvSpPr>
          <p:cNvPr id="10" name="TextBox 10"/>
          <p:cNvSpPr txBox="1"/>
          <p:nvPr/>
        </p:nvSpPr>
        <p:spPr>
          <a:xfrm>
            <a:off x="678180" y="4019550"/>
            <a:ext cx="9216638"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Aβ↑NFT↑脑萎缩侧脑室扩大Clic1 KO阻断[14]；肠失调→肠屏障↑→LPS/抗菌肽入血→BBB↑→RAGE/AMT入</a:t>
            </a:r>
          </a:p>
        </p:txBody>
      </p:sp>
      <p:sp>
        <p:nvSpPr>
          <p:cNvPr id="11" name="TextBox 11"/>
          <p:cNvSpPr txBox="1"/>
          <p:nvPr/>
        </p:nvSpPr>
        <p:spPr>
          <a:xfrm>
            <a:off x="678180" y="4276725"/>
            <a:ext cx="9743454"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脑→小胶质TLR4/NLRP3/CLIC1→Aβ/抗菌肽↑→AChE-PAS纤维化→正反馈；Erny 2015菌群控制小胶质成熟Bran</a:t>
            </a:r>
          </a:p>
        </p:txBody>
      </p:sp>
      <p:sp>
        <p:nvSpPr>
          <p:cNvPr id="12" name="Rectangle 12"/>
          <p:cNvSpPr/>
          <p:nvPr/>
        </p:nvSpPr>
        <p:spPr>
          <a:xfrm>
            <a:off x="0" y="6000750"/>
            <a:ext cx="12192000" cy="571500"/>
          </a:xfrm>
          <a:prstGeom prst="rect">
            <a:avLst/>
          </a:prstGeom>
          <a:solidFill>
            <a:srgbClr val="102542"/>
          </a:solidFill>
          <a:ln>
            <a:noFill/>
          </a:ln>
        </p:spPr>
      </p:sp>
      <p:sp>
        <p:nvSpPr>
          <p:cNvPr id="13" name="Rectangle 13"/>
          <p:cNvSpPr/>
          <p:nvPr/>
        </p:nvSpPr>
        <p:spPr>
          <a:xfrm>
            <a:off x="0" y="6000750"/>
            <a:ext cx="76200" cy="571500"/>
          </a:xfrm>
          <a:prstGeom prst="rect">
            <a:avLst/>
          </a:prstGeom>
          <a:solidFill>
            <a:srgbClr val="FBBF24"/>
          </a:solidFill>
          <a:ln>
            <a:noFill/>
          </a:ln>
        </p:spPr>
      </p:sp>
      <p:sp>
        <p:nvSpPr>
          <p:cNvPr id="14" name="TextBox 14"/>
          <p:cNvSpPr txBox="1"/>
          <p:nvPr/>
        </p:nvSpPr>
        <p:spPr>
          <a:xfrm>
            <a:off x="678180" y="6172200"/>
            <a:ext cx="3458337"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Arial"/>
                <a:ea typeface="Microsoft YaHei"/>
                <a:cs typeface="Arial"/>
              </a:rPr>
              <a:t>LL-37是典型实例，四问题串成一条轴</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93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A2F5A">
                <a:alpha val="55000"/>
              </a:srgbClr>
            </a:solidFill>
          </a:ln>
        </p:spPr>
      </p:sp>
      <p:sp>
        <p:nvSpPr>
          <p:cNvPr id="3" name="TextBox 3"/>
          <p:cNvSpPr txBox="1"/>
          <p:nvPr/>
        </p:nvSpPr>
        <p:spPr>
          <a:xfrm>
            <a:off x="678180" y="542925"/>
            <a:ext cx="2093458" cy="293370"/>
          </a:xfrm>
          <a:prstGeom prst="rect">
            <a:avLst/>
          </a:prstGeom>
          <a:noFill/>
          <a:ln>
            <a:noFill/>
          </a:ln>
        </p:spPr>
        <p:txBody>
          <a:bodyPr wrap="none" lIns="0" tIns="0" rIns="0" bIns="0" anchor="t" anchorCtr="0">
            <a:spAutoFit/>
          </a:bodyPr>
          <a:lstStyle/>
          <a:p>
            <a:pPr algn="l"/>
            <a:r>
              <a:rPr lang="zh-CN" sz="1500" b="1" spc="112" dirty="0">
                <a:solidFill>
                  <a:srgbClr val="FBBF24"/>
                </a:solidFill>
                <a:latin typeface="Consolas"/>
                <a:ea typeface="Microsoft YaHei"/>
                <a:cs typeface="Consolas"/>
              </a:rPr>
              <a:t>// 15 / 分级与验证</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8A9BB5"/>
                </a:solidFill>
                <a:latin typeface="Consolas"/>
                <a:ea typeface="Consolas"/>
                <a:cs typeface="Consolas"/>
              </a:rPr>
              <a:t>15 / 17</a:t>
            </a:r>
          </a:p>
        </p:txBody>
      </p:sp>
      <p:sp>
        <p:nvSpPr>
          <p:cNvPr id="5" name="TextBox 5"/>
          <p:cNvSpPr txBox="1"/>
          <p:nvPr/>
        </p:nvSpPr>
        <p:spPr>
          <a:xfrm>
            <a:off x="672084" y="756285"/>
            <a:ext cx="4389120" cy="528066"/>
          </a:xfrm>
          <a:prstGeom prst="rect">
            <a:avLst/>
          </a:prstGeom>
          <a:noFill/>
          <a:ln>
            <a:noFill/>
          </a:ln>
        </p:spPr>
        <p:txBody>
          <a:bodyPr wrap="none" lIns="0" tIns="0" rIns="0" bIns="0" anchor="t" anchorCtr="0">
            <a:spAutoFit/>
          </a:bodyPr>
          <a:lstStyle/>
          <a:p>
            <a:pPr algn="l"/>
            <a:r>
              <a:rPr lang="zh-CN" sz="2700" b="1" dirty="0">
                <a:solidFill>
                  <a:srgbClr val="F8FAFC"/>
                </a:solidFill>
                <a:latin typeface="Arial"/>
                <a:ea typeface="Microsoft YaHei"/>
                <a:cs typeface="Arial"/>
              </a:rPr>
              <a:t>证据分级与本课题计算分工</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E3A5F"/>
            </a:solidFill>
          </a:ln>
        </p:spPr>
      </p:sp>
      <p:sp>
        <p:nvSpPr>
          <p:cNvPr id="7" name="Rectangle 7"/>
          <p:cNvSpPr/>
          <p:nvPr/>
        </p:nvSpPr>
        <p:spPr>
          <a:xfrm>
            <a:off x="685800" y="1447800"/>
            <a:ext cx="76200" cy="76200"/>
          </a:xfrm>
          <a:prstGeom prst="rect">
            <a:avLst/>
          </a:prstGeom>
          <a:solidFill>
            <a:srgbClr val="FBBF24"/>
          </a:solidFill>
          <a:ln>
            <a:noFill/>
          </a:ln>
        </p:spPr>
      </p:sp>
      <p:sp>
        <p:nvSpPr>
          <p:cNvPr id="8" name="TextBox 8"/>
          <p:cNvSpPr txBox="1"/>
          <p:nvPr/>
        </p:nvSpPr>
        <p:spPr>
          <a:xfrm>
            <a:off x="887730" y="1400175"/>
            <a:ext cx="10049447"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强：Aβ抗菌AD脑&gt;对照抗体清除[6]；三模型预测83%阳性率[1,2]；Aβ经LRP1/RAGE转运失衡[28]；AChE经PAS</a:t>
            </a:r>
          </a:p>
        </p:txBody>
      </p:sp>
      <p:sp>
        <p:nvSpPr>
          <p:cNvPr id="9" name="TextBox 9"/>
          <p:cNvSpPr txBox="1"/>
          <p:nvPr/>
        </p:nvSpPr>
        <p:spPr>
          <a:xfrm>
            <a:off x="887730" y="1647825"/>
            <a:ext cx="6739561"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促聚集propidium阻断[24,25]；MM-PBSA -50.6 -76kJ/mol实例[14,15]</a:t>
            </a:r>
          </a:p>
        </p:txBody>
      </p:sp>
      <p:sp>
        <p:nvSpPr>
          <p:cNvPr id="10" name="Rectangle 10"/>
          <p:cNvSpPr/>
          <p:nvPr/>
        </p:nvSpPr>
        <p:spPr>
          <a:xfrm>
            <a:off x="685800" y="2085975"/>
            <a:ext cx="76200" cy="76200"/>
          </a:xfrm>
          <a:prstGeom prst="rect">
            <a:avLst/>
          </a:prstGeom>
          <a:solidFill>
            <a:srgbClr val="FBBF24"/>
          </a:solidFill>
          <a:ln>
            <a:noFill/>
          </a:ln>
        </p:spPr>
      </p:sp>
      <p:sp>
        <p:nvSpPr>
          <p:cNvPr id="11" name="TextBox 11"/>
          <p:cNvSpPr txBox="1"/>
          <p:nvPr/>
        </p:nvSpPr>
        <p:spPr>
          <a:xfrm>
            <a:off x="887730" y="2038350"/>
            <a:ext cx="10399049"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中-强：肠道菌群失衡促炎↑产丁酸↓[18,19]；LPS与斑块共定位3倍[21,22]；P. gingivalis在AD脑[23]；LL-37经C</a:t>
            </a:r>
          </a:p>
        </p:txBody>
      </p:sp>
      <p:sp>
        <p:nvSpPr>
          <p:cNvPr id="12" name="TextBox 12"/>
          <p:cNvSpPr txBox="1"/>
          <p:nvPr/>
        </p:nvSpPr>
        <p:spPr>
          <a:xfrm>
            <a:off x="887730" y="2286000"/>
            <a:ext cx="5474970"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LIC1致AD样病理[13,14]；REMD 32副本6.4μs克服能垒[13]</a:t>
            </a:r>
          </a:p>
        </p:txBody>
      </p:sp>
      <p:sp>
        <p:nvSpPr>
          <p:cNvPr id="13" name="Rectangle 13"/>
          <p:cNvSpPr/>
          <p:nvPr/>
        </p:nvSpPr>
        <p:spPr>
          <a:xfrm>
            <a:off x="685800" y="2724150"/>
            <a:ext cx="76200" cy="76200"/>
          </a:xfrm>
          <a:prstGeom prst="rect">
            <a:avLst/>
          </a:prstGeom>
          <a:solidFill>
            <a:srgbClr val="FBBF24"/>
          </a:solidFill>
          <a:ln>
            <a:noFill/>
          </a:ln>
        </p:spPr>
      </p:sp>
      <p:sp>
        <p:nvSpPr>
          <p:cNvPr id="14" name="TextBox 14"/>
          <p:cNvSpPr txBox="1"/>
          <p:nvPr/>
        </p:nvSpPr>
        <p:spPr>
          <a:xfrm>
            <a:off x="887730" y="2676525"/>
            <a:ext cx="9887140"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中：抗菌肽经AMT穿透BBB阳离子关键[27,29]；LL-37与Aβ纳摩尔结合[15,16]；肠道调控BBB SCFA[31,32]</a:t>
            </a:r>
          </a:p>
        </p:txBody>
      </p:sp>
      <p:sp>
        <p:nvSpPr>
          <p:cNvPr id="15" name="Rectangle 15"/>
          <p:cNvSpPr/>
          <p:nvPr/>
        </p:nvSpPr>
        <p:spPr>
          <a:xfrm>
            <a:off x="685800" y="3105150"/>
            <a:ext cx="76200" cy="76200"/>
          </a:xfrm>
          <a:prstGeom prst="rect">
            <a:avLst/>
          </a:prstGeom>
          <a:solidFill>
            <a:srgbClr val="FBBF24"/>
          </a:solidFill>
          <a:ln>
            <a:noFill/>
          </a:ln>
        </p:spPr>
      </p:sp>
      <p:sp>
        <p:nvSpPr>
          <p:cNvPr id="16" name="TextBox 16"/>
          <p:cNvSpPr txBox="1"/>
          <p:nvPr/>
        </p:nvSpPr>
        <p:spPr>
          <a:xfrm>
            <a:off x="887730" y="3057525"/>
            <a:ext cx="9954101"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待验证：微生物源抗菌肽随阶段变化五阶段比较；候选肽经BBB入脑致病对接Vina20Å 9pose→GROMACS 20ns-1</a:t>
            </a:r>
          </a:p>
        </p:txBody>
      </p:sp>
      <p:sp>
        <p:nvSpPr>
          <p:cNvPr id="17" name="TextBox 17"/>
          <p:cNvSpPr txBox="1"/>
          <p:nvPr/>
        </p:nvSpPr>
        <p:spPr>
          <a:xfrm>
            <a:off x="887730" y="3305175"/>
            <a:ext cx="8510940"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μs CHARMM36 TIP3P NPT310K→g_mmpbsa最后25%200帧ΔG排序→细胞TNF-α/IL-6/CLIC1检测</a:t>
            </a:r>
          </a:p>
        </p:txBody>
      </p:sp>
      <p:sp>
        <p:nvSpPr>
          <p:cNvPr id="18" name="Rectangle 18"/>
          <p:cNvSpPr/>
          <p:nvPr/>
        </p:nvSpPr>
        <p:spPr>
          <a:xfrm>
            <a:off x="685800" y="3743325"/>
            <a:ext cx="76200" cy="76200"/>
          </a:xfrm>
          <a:prstGeom prst="rect">
            <a:avLst/>
          </a:prstGeom>
          <a:solidFill>
            <a:srgbClr val="FBBF24"/>
          </a:solidFill>
          <a:ln>
            <a:noFill/>
          </a:ln>
        </p:spPr>
      </p:sp>
      <p:sp>
        <p:nvSpPr>
          <p:cNvPr id="19" name="TextBox 19"/>
          <p:cNvSpPr txBox="1"/>
          <p:nvPr/>
        </p:nvSpPr>
        <p:spPr>
          <a:xfrm>
            <a:off x="887730" y="3695700"/>
            <a:ext cx="9915144"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口径：挖掘用深度学习非动力学，结合用对接静态量化+MD动力学+MM-PBSA量化，分工明确，定位线索发现假</a:t>
            </a:r>
          </a:p>
        </p:txBody>
      </p:sp>
      <p:sp>
        <p:nvSpPr>
          <p:cNvPr id="20" name="TextBox 20"/>
          <p:cNvSpPr txBox="1"/>
          <p:nvPr/>
        </p:nvSpPr>
        <p:spPr>
          <a:xfrm>
            <a:off x="887730" y="3943350"/>
            <a:ext cx="621030"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设提出</a:t>
            </a:r>
          </a:p>
        </p:txBody>
      </p:sp>
      <p:sp>
        <p:nvSpPr>
          <p:cNvPr id="21" name="Rectangle 21"/>
          <p:cNvSpPr/>
          <p:nvPr/>
        </p:nvSpPr>
        <p:spPr>
          <a:xfrm>
            <a:off x="0" y="6000750"/>
            <a:ext cx="12192000" cy="571500"/>
          </a:xfrm>
          <a:prstGeom prst="rect">
            <a:avLst/>
          </a:prstGeom>
          <a:solidFill>
            <a:srgbClr val="102542"/>
          </a:solidFill>
          <a:ln>
            <a:noFill/>
          </a:ln>
        </p:spPr>
      </p:sp>
      <p:sp>
        <p:nvSpPr>
          <p:cNvPr id="22" name="Rectangle 22"/>
          <p:cNvSpPr/>
          <p:nvPr/>
        </p:nvSpPr>
        <p:spPr>
          <a:xfrm>
            <a:off x="0" y="6000750"/>
            <a:ext cx="76200" cy="571500"/>
          </a:xfrm>
          <a:prstGeom prst="rect">
            <a:avLst/>
          </a:prstGeom>
          <a:solidFill>
            <a:srgbClr val="FBBF24"/>
          </a:solidFill>
          <a:ln>
            <a:noFill/>
          </a:ln>
        </p:spPr>
      </p:sp>
      <p:sp>
        <p:nvSpPr>
          <p:cNvPr id="23" name="TextBox 23"/>
          <p:cNvSpPr txBox="1"/>
          <p:nvPr/>
        </p:nvSpPr>
        <p:spPr>
          <a:xfrm>
            <a:off x="678180" y="6172200"/>
            <a:ext cx="3246120"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Arial"/>
                <a:ea typeface="Microsoft YaHei"/>
                <a:cs typeface="Arial"/>
              </a:rPr>
              <a:t>计算分工明确，待验证两项即本课题</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93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A2F5A">
                <a:alpha val="55000"/>
              </a:srgbClr>
            </a:solidFill>
          </a:ln>
        </p:spPr>
      </p:sp>
      <p:sp>
        <p:nvSpPr>
          <p:cNvPr id="3" name="TextBox 3"/>
          <p:cNvSpPr txBox="1"/>
          <p:nvPr/>
        </p:nvSpPr>
        <p:spPr>
          <a:xfrm>
            <a:off x="678180" y="542925"/>
            <a:ext cx="1442436" cy="293370"/>
          </a:xfrm>
          <a:prstGeom prst="rect">
            <a:avLst/>
          </a:prstGeom>
          <a:noFill/>
          <a:ln>
            <a:noFill/>
          </a:ln>
        </p:spPr>
        <p:txBody>
          <a:bodyPr wrap="none" lIns="0" tIns="0" rIns="0" bIns="0" anchor="t" anchorCtr="0">
            <a:spAutoFit/>
          </a:bodyPr>
          <a:lstStyle/>
          <a:p>
            <a:pPr algn="l"/>
            <a:r>
              <a:rPr lang="zh-CN" sz="1500" b="1" spc="112" dirty="0">
                <a:solidFill>
                  <a:srgbClr val="FBBF24"/>
                </a:solidFill>
                <a:latin typeface="Consolas"/>
                <a:ea typeface="Microsoft YaHei"/>
                <a:cs typeface="Consolas"/>
              </a:rPr>
              <a:t>// 16 / 总结</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8A9BB5"/>
                </a:solidFill>
                <a:latin typeface="Consolas"/>
                <a:ea typeface="Consolas"/>
                <a:cs typeface="Consolas"/>
              </a:rPr>
              <a:t>16 / 17</a:t>
            </a:r>
          </a:p>
        </p:txBody>
      </p:sp>
      <p:sp>
        <p:nvSpPr>
          <p:cNvPr id="5" name="TextBox 5"/>
          <p:cNvSpPr txBox="1"/>
          <p:nvPr/>
        </p:nvSpPr>
        <p:spPr>
          <a:xfrm>
            <a:off x="672084" y="756285"/>
            <a:ext cx="4752594" cy="528066"/>
          </a:xfrm>
          <a:prstGeom prst="rect">
            <a:avLst/>
          </a:prstGeom>
          <a:noFill/>
          <a:ln>
            <a:noFill/>
          </a:ln>
        </p:spPr>
        <p:txBody>
          <a:bodyPr wrap="none" lIns="0" tIns="0" rIns="0" bIns="0" anchor="t" anchorCtr="0">
            <a:spAutoFit/>
          </a:bodyPr>
          <a:lstStyle/>
          <a:p>
            <a:pPr algn="l"/>
            <a:r>
              <a:rPr lang="zh-CN" sz="2700" b="1" dirty="0">
                <a:solidFill>
                  <a:srgbClr val="F8FAFC"/>
                </a:solidFill>
                <a:latin typeface="Arial"/>
                <a:ea typeface="Microsoft YaHei"/>
                <a:cs typeface="Arial"/>
              </a:rPr>
              <a:t>总结：计算方法回答老师追问</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E3A5F"/>
            </a:solidFill>
          </a:ln>
        </p:spPr>
      </p:sp>
      <p:sp>
        <p:nvSpPr>
          <p:cNvPr id="7" name="Rectangle 7"/>
          <p:cNvSpPr/>
          <p:nvPr/>
        </p:nvSpPr>
        <p:spPr>
          <a:xfrm>
            <a:off x="685800" y="1600200"/>
            <a:ext cx="57150" cy="628650"/>
          </a:xfrm>
          <a:prstGeom prst="rect">
            <a:avLst/>
          </a:prstGeom>
          <a:solidFill>
            <a:srgbClr val="FBBF24"/>
          </a:solidFill>
          <a:ln>
            <a:noFill/>
          </a:ln>
        </p:spPr>
      </p:sp>
      <p:sp>
        <p:nvSpPr>
          <p:cNvPr id="8" name="TextBox 8"/>
          <p:cNvSpPr txBox="1"/>
          <p:nvPr/>
        </p:nvSpPr>
        <p:spPr>
          <a:xfrm>
            <a:off x="887730" y="1685925"/>
            <a:ext cx="822960"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Arial"/>
                <a:ea typeface="Microsoft YaHei"/>
                <a:cs typeface="Arial"/>
              </a:rPr>
              <a:t>量化计算</a:t>
            </a:r>
          </a:p>
        </p:txBody>
      </p:sp>
      <p:sp>
        <p:nvSpPr>
          <p:cNvPr id="9" name="TextBox 9"/>
          <p:cNvSpPr txBox="1"/>
          <p:nvPr/>
        </p:nvSpPr>
        <p:spPr>
          <a:xfrm>
            <a:off x="887730" y="1895475"/>
            <a:ext cx="6582918"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34维理化+PC6+PsePSSM-DCT静态计算毫秒级，用于特征工程，非动力学</a:t>
            </a:r>
          </a:p>
        </p:txBody>
      </p:sp>
      <p:sp>
        <p:nvSpPr>
          <p:cNvPr id="10" name="Rectangle 10"/>
          <p:cNvSpPr/>
          <p:nvPr/>
        </p:nvSpPr>
        <p:spPr>
          <a:xfrm>
            <a:off x="685800" y="2362200"/>
            <a:ext cx="57150" cy="628650"/>
          </a:xfrm>
          <a:prstGeom prst="rect">
            <a:avLst/>
          </a:prstGeom>
          <a:solidFill>
            <a:srgbClr val="38BDF8"/>
          </a:solidFill>
          <a:ln>
            <a:noFill/>
          </a:ln>
        </p:spPr>
      </p:sp>
      <p:sp>
        <p:nvSpPr>
          <p:cNvPr id="11" name="TextBox 11"/>
          <p:cNvSpPr txBox="1"/>
          <p:nvPr/>
        </p:nvSpPr>
        <p:spPr>
          <a:xfrm>
            <a:off x="887730" y="2447925"/>
            <a:ext cx="822960"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Arial"/>
                <a:ea typeface="Microsoft YaHei"/>
                <a:cs typeface="Arial"/>
              </a:rPr>
              <a:t>深度学习</a:t>
            </a:r>
          </a:p>
        </p:txBody>
      </p:sp>
      <p:sp>
        <p:nvSpPr>
          <p:cNvPr id="12" name="TextBox 12"/>
          <p:cNvSpPr txBox="1"/>
          <p:nvPr/>
        </p:nvSpPr>
        <p:spPr>
          <a:xfrm>
            <a:off x="887730" y="2657475"/>
            <a:ext cx="10190144"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LSTM双向128→256 Attention加权 BERT ProtBert 30亿预训练冻结10层微调2层 AdamW Focal Loss 5折AUROC0</a:t>
            </a:r>
          </a:p>
        </p:txBody>
      </p:sp>
      <p:sp>
        <p:nvSpPr>
          <p:cNvPr id="13" name="TextBox 13"/>
          <p:cNvSpPr txBox="1"/>
          <p:nvPr/>
        </p:nvSpPr>
        <p:spPr>
          <a:xfrm>
            <a:off x="887730" y="2905125"/>
            <a:ext cx="2923032"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.95-0.97非动力学神经网络推理</a:t>
            </a:r>
          </a:p>
        </p:txBody>
      </p:sp>
      <p:sp>
        <p:nvSpPr>
          <p:cNvPr id="14" name="Rectangle 14"/>
          <p:cNvSpPr/>
          <p:nvPr/>
        </p:nvSpPr>
        <p:spPr>
          <a:xfrm>
            <a:off x="685800" y="3124200"/>
            <a:ext cx="57150" cy="628650"/>
          </a:xfrm>
          <a:prstGeom prst="rect">
            <a:avLst/>
          </a:prstGeom>
          <a:solidFill>
            <a:srgbClr val="FBBF24"/>
          </a:solidFill>
          <a:ln>
            <a:noFill/>
          </a:ln>
        </p:spPr>
      </p:sp>
      <p:sp>
        <p:nvSpPr>
          <p:cNvPr id="15" name="TextBox 15"/>
          <p:cNvSpPr txBox="1"/>
          <p:nvPr/>
        </p:nvSpPr>
        <p:spPr>
          <a:xfrm>
            <a:off x="887730" y="3209925"/>
            <a:ext cx="419100"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Arial"/>
                <a:ea typeface="Microsoft YaHei"/>
                <a:cs typeface="Arial"/>
              </a:rPr>
              <a:t>对接</a:t>
            </a:r>
          </a:p>
        </p:txBody>
      </p:sp>
      <p:sp>
        <p:nvSpPr>
          <p:cNvPr id="16" name="TextBox 16"/>
          <p:cNvSpPr txBox="1"/>
          <p:nvPr/>
        </p:nvSpPr>
        <p:spPr>
          <a:xfrm>
            <a:off x="887730" y="3419475"/>
            <a:ext cx="7786409"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AutoDock Vina盒子20Å exhaustiveness20 9pose评分-7至-10 kcal/mol静态量化初筛</a:t>
            </a:r>
          </a:p>
        </p:txBody>
      </p:sp>
      <p:sp>
        <p:nvSpPr>
          <p:cNvPr id="17" name="Rectangle 17"/>
          <p:cNvSpPr/>
          <p:nvPr/>
        </p:nvSpPr>
        <p:spPr>
          <a:xfrm>
            <a:off x="685800" y="3886200"/>
            <a:ext cx="57150" cy="628650"/>
          </a:xfrm>
          <a:prstGeom prst="rect">
            <a:avLst/>
          </a:prstGeom>
          <a:solidFill>
            <a:srgbClr val="38BDF8"/>
          </a:solidFill>
          <a:ln>
            <a:noFill/>
          </a:ln>
        </p:spPr>
      </p:sp>
      <p:sp>
        <p:nvSpPr>
          <p:cNvPr id="18" name="TextBox 18"/>
          <p:cNvSpPr txBox="1"/>
          <p:nvPr/>
        </p:nvSpPr>
        <p:spPr>
          <a:xfrm>
            <a:off x="887730" y="3971925"/>
            <a:ext cx="1024890"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Arial"/>
                <a:ea typeface="Microsoft YaHei"/>
                <a:cs typeface="Arial"/>
              </a:rPr>
              <a:t>动力学模拟</a:t>
            </a:r>
          </a:p>
        </p:txBody>
      </p:sp>
      <p:sp>
        <p:nvSpPr>
          <p:cNvPr id="19" name="TextBox 19"/>
          <p:cNvSpPr txBox="1"/>
          <p:nvPr/>
        </p:nvSpPr>
        <p:spPr>
          <a:xfrm>
            <a:off x="887730" y="4181475"/>
            <a:ext cx="10127815"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GROMACS CHARMM36 TIP3P水盒子12Å 150mM NVT100ps NPT100ps生产20ns-1μs 2fs步长PME 1.2nm 310K，</a:t>
            </a:r>
          </a:p>
        </p:txBody>
      </p:sp>
      <p:sp>
        <p:nvSpPr>
          <p:cNvPr id="20" name="TextBox 20"/>
          <p:cNvSpPr txBox="1"/>
          <p:nvPr/>
        </p:nvSpPr>
        <p:spPr>
          <a:xfrm>
            <a:off x="887730" y="4429125"/>
            <a:ext cx="6605969"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REMD 32副本300-500K 200ns/副本共6.4μs，RMSD/Rg/氢键/DSSP聚类</a:t>
            </a:r>
          </a:p>
        </p:txBody>
      </p:sp>
      <p:sp>
        <p:nvSpPr>
          <p:cNvPr id="21" name="Rectangle 21"/>
          <p:cNvSpPr/>
          <p:nvPr/>
        </p:nvSpPr>
        <p:spPr>
          <a:xfrm>
            <a:off x="685800" y="4648200"/>
            <a:ext cx="57150" cy="628650"/>
          </a:xfrm>
          <a:prstGeom prst="rect">
            <a:avLst/>
          </a:prstGeom>
          <a:solidFill>
            <a:srgbClr val="FBBF24"/>
          </a:solidFill>
          <a:ln>
            <a:noFill/>
          </a:ln>
        </p:spPr>
      </p:sp>
      <p:sp>
        <p:nvSpPr>
          <p:cNvPr id="22" name="TextBox 22"/>
          <p:cNvSpPr txBox="1"/>
          <p:nvPr/>
        </p:nvSpPr>
        <p:spPr>
          <a:xfrm>
            <a:off x="887730" y="4733925"/>
            <a:ext cx="621030"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Arial"/>
                <a:ea typeface="Microsoft YaHei"/>
                <a:cs typeface="Arial"/>
              </a:rPr>
              <a:t>自由能</a:t>
            </a:r>
          </a:p>
        </p:txBody>
      </p:sp>
      <p:sp>
        <p:nvSpPr>
          <p:cNvPr id="23" name="TextBox 23"/>
          <p:cNvSpPr txBox="1"/>
          <p:nvPr/>
        </p:nvSpPr>
        <p:spPr>
          <a:xfrm>
            <a:off x="887730" y="4943475"/>
            <a:ext cx="9861697"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MM-PBSA ΔG=G_complex-(G_rec+G_lig)=ΔE_vdw+ΔE_elec+ΔG_PB/GB+ΔG_SA-TΔS g_mmpbsa最后25%200</a:t>
            </a:r>
          </a:p>
        </p:txBody>
      </p:sp>
      <p:sp>
        <p:nvSpPr>
          <p:cNvPr id="24" name="TextBox 24"/>
          <p:cNvSpPr txBox="1"/>
          <p:nvPr/>
        </p:nvSpPr>
        <p:spPr>
          <a:xfrm>
            <a:off x="887730" y="5191125"/>
            <a:ext cx="4531900" cy="293370"/>
          </a:xfrm>
          <a:prstGeom prst="rect">
            <a:avLst/>
          </a:prstGeom>
          <a:noFill/>
          <a:ln>
            <a:noFill/>
          </a:ln>
        </p:spPr>
        <p:txBody>
          <a:bodyPr wrap="none" lIns="0" tIns="0" rIns="0" bIns="0" anchor="t" anchorCtr="0">
            <a:spAutoFit/>
          </a:bodyPr>
          <a:lstStyle/>
          <a:p>
            <a:pPr algn="l"/>
            <a:r>
              <a:rPr lang="zh-CN" sz="1500" dirty="0">
                <a:solidFill>
                  <a:srgbClr val="D1DCE8"/>
                </a:solidFill>
                <a:latin typeface="Arial"/>
                <a:ea typeface="Microsoft YaHei"/>
                <a:cs typeface="Arial"/>
              </a:rPr>
              <a:t>帧-50.6 kcal/mol -76.28 kJ/mol残基分解找热点</a:t>
            </a:r>
          </a:p>
        </p:txBody>
      </p:sp>
      <p:sp>
        <p:nvSpPr>
          <p:cNvPr id="25" name="Rectangle 25"/>
          <p:cNvSpPr/>
          <p:nvPr/>
        </p:nvSpPr>
        <p:spPr>
          <a:xfrm>
            <a:off x="0" y="6000750"/>
            <a:ext cx="12192000" cy="571500"/>
          </a:xfrm>
          <a:prstGeom prst="rect">
            <a:avLst/>
          </a:prstGeom>
          <a:solidFill>
            <a:srgbClr val="102542"/>
          </a:solidFill>
          <a:ln>
            <a:noFill/>
          </a:ln>
        </p:spPr>
      </p:sp>
      <p:sp>
        <p:nvSpPr>
          <p:cNvPr id="26" name="Rectangle 26"/>
          <p:cNvSpPr/>
          <p:nvPr/>
        </p:nvSpPr>
        <p:spPr>
          <a:xfrm>
            <a:off x="0" y="6000750"/>
            <a:ext cx="76200" cy="571500"/>
          </a:xfrm>
          <a:prstGeom prst="rect">
            <a:avLst/>
          </a:prstGeom>
          <a:solidFill>
            <a:srgbClr val="FBBF24"/>
          </a:solidFill>
          <a:ln>
            <a:noFill/>
          </a:ln>
        </p:spPr>
      </p:sp>
      <p:sp>
        <p:nvSpPr>
          <p:cNvPr id="27" name="TextBox 27"/>
          <p:cNvSpPr txBox="1"/>
          <p:nvPr/>
        </p:nvSpPr>
        <p:spPr>
          <a:xfrm>
            <a:off x="678180" y="6172200"/>
            <a:ext cx="4574315"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Arial"/>
                <a:ea typeface="Microsoft YaHei"/>
                <a:cs typeface="Arial"/>
              </a:rPr>
              <a:t>三类计算分工：挖掘非动力学，结合是动力学+量化</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193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rgbClr val="FBBF24"/>
          </a:solidFill>
          <a:ln>
            <a:noFill/>
          </a:ln>
        </p:spPr>
      </p:sp>
      <p:sp>
        <p:nvSpPr>
          <p:cNvPr id="3" name="TextBox 3"/>
          <p:cNvSpPr txBox="1"/>
          <p:nvPr/>
        </p:nvSpPr>
        <p:spPr>
          <a:xfrm>
            <a:off x="669036" y="2310765"/>
            <a:ext cx="4475988" cy="645414"/>
          </a:xfrm>
          <a:prstGeom prst="rect">
            <a:avLst/>
          </a:prstGeom>
          <a:noFill/>
          <a:ln>
            <a:noFill/>
          </a:ln>
        </p:spPr>
        <p:txBody>
          <a:bodyPr wrap="none" lIns="0" tIns="0" rIns="0" bIns="0" anchor="t" anchorCtr="0">
            <a:spAutoFit/>
          </a:bodyPr>
          <a:lstStyle/>
          <a:p>
            <a:pPr algn="l"/>
            <a:r>
              <a:rPr lang="zh-CN" sz="3300" b="1" dirty="0">
                <a:solidFill>
                  <a:srgbClr val="F8FAFC"/>
                </a:solidFill>
                <a:latin typeface="Arial"/>
                <a:ea typeface="Microsoft YaHei"/>
                <a:cs typeface="Arial"/>
              </a:rPr>
              <a:t>恳请各位老师批评指正</a:t>
            </a:r>
          </a:p>
        </p:txBody>
      </p:sp>
      <p:sp>
        <p:nvSpPr>
          <p:cNvPr id="4" name="TextBox 4"/>
          <p:cNvSpPr txBox="1"/>
          <p:nvPr/>
        </p:nvSpPr>
        <p:spPr>
          <a:xfrm>
            <a:off x="674370" y="3090862"/>
            <a:ext cx="931545" cy="440055"/>
          </a:xfrm>
          <a:prstGeom prst="rect">
            <a:avLst/>
          </a:prstGeom>
          <a:noFill/>
          <a:ln>
            <a:noFill/>
          </a:ln>
        </p:spPr>
        <p:txBody>
          <a:bodyPr wrap="none" lIns="0" tIns="0" rIns="0" bIns="0" anchor="t" anchorCtr="0">
            <a:spAutoFit/>
          </a:bodyPr>
          <a:lstStyle/>
          <a:p>
            <a:pPr algn="l"/>
            <a:r>
              <a:rPr lang="zh-CN" sz="2250" b="1" dirty="0">
                <a:solidFill>
                  <a:srgbClr val="FBBF24"/>
                </a:solidFill>
                <a:latin typeface="Arial"/>
                <a:ea typeface="Microsoft YaHei"/>
                <a:cs typeface="Arial"/>
              </a:rPr>
              <a:t>谢谢！</a:t>
            </a:r>
          </a:p>
        </p:txBody>
      </p:sp>
      <p:sp>
        <p:nvSpPr>
          <p:cNvPr id="5" name="Line 5"/>
          <p:cNvSpPr/>
          <p:nvPr/>
        </p:nvSpPr>
        <p:spPr>
          <a:xfrm>
            <a:off x="685800" y="3905250"/>
            <a:ext cx="2095500" cy="9525"/>
          </a:xfrm>
          <a:custGeom>
            <a:avLst/>
            <a:gdLst/>
            <a:ahLst/>
            <a:cxnLst/>
            <a:rect l="l" t="t" r="r" b="b"/>
            <a:pathLst>
              <a:path w="2095500" h="9525">
                <a:moveTo>
                  <a:pt x="0" y="0"/>
                </a:moveTo>
                <a:lnTo>
                  <a:pt x="2095500" y="0"/>
                </a:lnTo>
              </a:path>
            </a:pathLst>
          </a:custGeom>
          <a:noFill/>
          <a:ln w="28575">
            <a:solidFill>
              <a:srgbClr val="FBBF24"/>
            </a:solidFill>
          </a:ln>
        </p:spPr>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svgproj_bbb_M">
  <a:themeElements>
    <a:clrScheme name="svgproj_bbb_M">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vgproj_bbb_M">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vgproj_bbb_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svgproj_bbb_M">
  <a:themeElements>
    <a:clrScheme name="svgproj_bbb_M">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vgproj_bbb_M">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vgproj_bbb_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2026-09-21T03:01:43Z</dcterms:created>
  <dcterms:modified xsi:type="dcterms:W3CDTF">2026-09-21T03:01:43Z</dcterms:modified>
  <cp:category/>
  <cp:contentStatus/>
</cp:coreProperties>
</file>