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封面：本报告只回答三问，并把 AChE-Aβ 分子动力学与 AMP-Aβ 交叉成核放到问题一的分子机制部分。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逐条解释：主对象：AD/健康肠道微生物组中的差异微生物源 AMP。；主路径：AMP—菌群—LPS/SCFA—屏障/炎症—脑病理。；分子分支：AChE-Aβ 与 AMP-Aβ 交叉成核。；条件分支：候选 AMP 是否有证据进入 BBB。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读表顺序：先说明表头，再按行解释证据与边界。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进入章节：问题一：抗菌肽与 AD 如何结合。直接复合物、AChE-PAS、膜/免疫和系统反馈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读表顺序：先说明表头，再按行解释证据与边界。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读表顺序：先说明表头，再按行解释证据与边界。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读表顺序：先说明表头，再按行解释证据与边界。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读表顺序：先说明表头，再按行解释证据与边界。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逐条解释：可以说明给定构象和条件下存在结构相容界面。；必须继续判断单体、寡聚体还是纤维。；必须观察聚集方向、膜效应、微胶质和体内暴露。；同一 AMP 可能抑制纤维，也可能稳定另一类寡聚体。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读表顺序：先说明表头，再按行解释证据与边界。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读表顺序：先说明表头，再按行解释证据与边界。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进入章节：分子机制（一）：AChE-Aβ MD。AChE-PAS/344-361 是机制参照界面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逐条解释：No table data found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逐条解释：No table data found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逐条解释：H1：竞争 PAS/344-361，减少 AChE 促成核。；H2：直接改变 Aβ 单体、寡聚体或纤维路径。；H3：主要在膜表面影响微胶质识别和炎症。；先有差异、表达和暴露证据，再做结构模拟。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进入章节：分子机制（二）：AMP-Aβ 交叉成核。促进、抑制或重定向三种方向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读表顺序：先说明表头，再按行解释证据与边界。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逐条解释：No table data found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逐条解释：结构兼容：可能加速成核或形成异源种子。；延伸面封堵：可能抑制纤维和有毒路径。；构象重定向：纤维减少但另一寡聚体可能稳定。；最终要看寡聚体谱、膜损伤和炎症方向。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进入章节：问题二：AMP 与肠道菌群调控如何关联 AD。最贴合你的深度学习肠道 AMP 差异课题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逐条解释：No table data found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逐条解释：候选 AMP 改变细菌竞争和空间分布。；产 LPS 菌、产 SCFA 菌和黏膜相关菌随之改变。；LPS/SCFA/胆汁酸和肠屏障改变外周炎症。；外周炎症再影响 BBB、小胶质和 Aβ 清除。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逐条解释：宏基因组组装和 ORF 翻译，建立微生物源短肽库。；Attention/LSTM/BERT 共识预测 AMP。；建立样本×肽矩阵，比较 AD/健康和五阶段差异。；表达二次去重，再进行来源菌、生态、MD/QM 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读表顺序：先说明表头，再按行解释证据与边界。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读表顺序：先说明表头，再按行解释证据与边界。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读表顺序：先说明表头，再按行解释证据与边界。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读表顺序：先说明表头，再按行解释证据与边界。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进入章节：问题三：AMP 进入 BBB 并参与 AD。直接入脑是条件性分支，不能默认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读表顺序：先说明表头，再按行解释证据与边界。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读表顺序：先说明表头，再按行解释证据与边界。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读表顺序：先说明表头，再按行解释证据与边界。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读表顺序：先说明表头，再按行解释证据与边界。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逐条解释：先证明候选肽产生、表达、稳定并可能进入血液。；再判断被动、吸附、载体/受体或炎症旁路。；最后判断微胶质、Aβ、BBB 紧密连接和清除通路。；没有暴露证据时，只能写条件性假设。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读表顺序：先说明表头，再按行解释证据与边界。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读表顺序：先说明表头，再按行解释证据与边界。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进入章节：三问整合后的候选分层。风险样、保护样、未知样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读表顺序：先说明表头，再按行解释证据与边界。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读表顺序：先说明表头，再按行解释证据与边界。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读表顺序：先说明表头，再按行解释证据与边界。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逐条解释：当前仓库没有真实候选 FASTA、样本×肽丰度矩阵和 FDR 表。；因此不编造某一条微生物源 AMP 已经导致 AD。；实际结果按身份、差异、表达、生态、MD 和 BBB 证据逐条填卡。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进入章节：答辩口径与最终结论。先说关联和优先级，干预后才说因果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读表顺序：先说明表头，再按行解释证据与边界。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读表顺序：先说明表头，再按行解释证据与边界。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读表顺序：先说明表头，再按行解释证据与边界。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读表顺序：先说明表头，再按行解释证据与边界。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结束：主路径是肠道生态和肠脑轴；AChE-Aβ、交叉成核和 BBB 是分层验证，不越级做因果结论。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2103120" cy="11887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icrosoft YaHei"/>
              </a:rPr>
              <a:t>抗菌肽与 AD 三问机制整合说明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327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100" b="0" i="0">
                <a:solidFill>
                  <a:srgbClr val="D9E2EC"/>
                </a:solidFill>
                <a:latin typeface="Microsoft YaHei"/>
              </a:rPr>
              <a:t>AMP-Aβ 交叉成核 + AChE-Aβ 分子动力学 + 肠道菌群/BBB 主线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10332720" cy="685800"/>
          </a:xfrm>
          <a:prstGeom prst="roundRect">
            <a:avLst/>
          </a:prstGeom>
          <a:solidFill>
            <a:srgbClr val="1B4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803904"/>
            <a:ext cx="996696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F0D98A"/>
                </a:solidFill>
                <a:latin typeface="Microsoft YaHei"/>
              </a:rPr>
              <a:t>主对象：AD 相关差异微生物源 AMP；AChE/Aβ/BBB 是高优先级候选的条件性验证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1033272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C8D4E2"/>
                </a:solidFill>
                <a:latin typeface="Microsoft YaHei"/>
              </a:rPr>
              <a:t>对应课题：基于深度学习的 AD 患者与健康人群肠道微生物组 AMP 差异性研究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C8D4E2"/>
                </a:solidFill>
                <a:latin typeface="Microsoft YaHei"/>
              </a:rPr>
              <a:t>重点问题：AMP 与 AD 如何结合；AMP 如何经肠道菌群调控关联 AD；AMP 如何在条件满足时参与 BBB/AD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C8D4E2"/>
                </a:solidFill>
                <a:latin typeface="Microsoft YaHei"/>
              </a:rPr>
              <a:t>分子机制整合：AChE-Aβ 复合物 MD + AMP-Aβ 交叉成核；PPT 所有可见字体不小于 16 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导师新问题的核心答案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三问版只讲三条机制主线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89920" cy="4709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主对象：AD/健康肠道微生物组中的差异微生物源 AMP。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主路径：AMP—菌群—LPS/SCFA—屏障/炎症—脑病理。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分子分支：AChE-Aβ 与 AMP-Aβ 交叉成核。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条件分支：候选 AMP 是否有证据进入 BBB。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2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1　三个问题与论文题目的直接关系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先把研究对象和结论边界放在第一张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072384"/>
                <a:gridCol w="3072384"/>
                <a:gridCol w="3072384"/>
              </a:tblGrid>
              <a:tr h="120015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问题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对应论文环节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首要对象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结论边界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AMP 与 AD 如何结合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差异候选的分子机制排序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候选 AMP、Aβ、AChE-PAS、膜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结构相互作用，不自动等于致病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AMP—菌群调控与 AD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肠道宏基因组、生态和中介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候选 AMP、来源菌、LPS/SCFA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优先解释，最贴合论文题目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AMP 进入 BBB 与 AD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暴露、转运和脑内作用条件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候选 AMP、BBB 膜、转运体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条件性路径，不能默认入脑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424160" cy="8961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 i="0">
                <a:solidFill>
                  <a:srgbClr val="D0A62C"/>
                </a:solidFill>
                <a:latin typeface="Microsoft YaHe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240280"/>
            <a:ext cx="1737360" cy="100584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542032"/>
            <a:ext cx="103327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icrosoft YaHei"/>
              </a:rPr>
              <a:t>问题一：抗菌肽与 AD 如何结合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104241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 i="0">
                <a:solidFill>
                  <a:srgbClr val="D8E0EA"/>
                </a:solidFill>
                <a:latin typeface="Microsoft YaHei"/>
              </a:rPr>
              <a:t>直接复合物、AChE-PAS、膜/免疫和系统反馈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424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A8B8C9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2　宿主 AMP、微生物源 AMP 与抑制剂肽的区别（1/2）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不能把三类对象混成一类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072384"/>
                <a:gridCol w="3072384"/>
                <a:gridCol w="3072384"/>
              </a:tblGrid>
              <a:tr h="120015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对象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来源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本版作用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能否直接说明导致 AD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Aβ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宿主 APP 加工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AD 病理对象和先天免疫背景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不能单独说明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LL-37/防御素/CAP37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宿主细胞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炎症和脑内 AMP 模板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不能外推到微生物 AMP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微生物源 AMP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肠道微生物 ORF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本课题主要筛选对象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需差异、表达和机制证据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5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2　宿主 AMP、微生物源 AMP 与抑制剂肽的区别（2/2）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不能把三类对象混成一类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072384"/>
                <a:gridCol w="3072384"/>
                <a:gridCol w="3072384"/>
              </a:tblGrid>
              <a:tr h="240030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对象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来源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本版作用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能否直接说明导致 AD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</a:tr>
              <a:tr h="240030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Aβ 抑制剂肽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合成/工程设计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潜在治疗或保护方向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不是本课题的预设主对象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6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4　AMP 与 AD 的四层结合关系（1/2）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四种结合不是同一个概念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072384"/>
                <a:gridCol w="3072384"/>
                <a:gridCol w="3072384"/>
              </a:tblGrid>
              <a:tr h="120015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层次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结合对象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主要读数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病理方向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直接复合物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AMP—Aβ 单体/寡聚体/纤维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接触、驻留、PMF、β-sheet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保护、风险或未知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竞争界面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AMP—AChE PAS/344-361—Aβ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界面竞争、成核和构象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可能改变 AChE 促聚集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膜/免疫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AMP—细菌膜/LPS/宿主膜/受体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插膜、孔形成、受体构象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炎症、屏障或生态效应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7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4　AMP 与 AD 的四层结合关系（2/2）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四种结合不是同一个概念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072384"/>
                <a:gridCol w="3072384"/>
                <a:gridCol w="3072384"/>
              </a:tblGrid>
              <a:tr h="240030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层次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结合对象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主要读数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病理方向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</a:tr>
              <a:tr h="240030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系统反馈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菌群/LPS—宿主 AMP/Aβ—微胶质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网络、中介、ODE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肠—血—脑正反馈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8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Aβ 结合到底能说明什么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结合是起点，不是致病结论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89920" cy="4709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可以说明给定构象和条件下存在结构相容界面。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必须继续判断单体、寡聚体还是纤维。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必须观察聚集方向、膜效应、微胶质和体内暴露。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同一 AMP 可能抑制纤维，也可能稳定另一类寡聚体。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9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5　Aβ 计算读数与结论边界（1/2）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不要把 MM-PBSA 写成因果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4608576"/>
                <a:gridCol w="4608576"/>
              </a:tblGrid>
              <a:tr h="120015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计算读数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可以支持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不能单独支持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接触/驻留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形成稳定界面候选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体内结合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MM-PBSA/PMF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某一构象的结合趋势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细胞毒性或因果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β-sheet/寡聚体变化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聚集路径可能被重定向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一定保护或一定致病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10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5　Aβ 计算读数与结论边界（2/2）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不要把 MM-PBSA 写成因果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4608576"/>
                <a:gridCol w="4608576"/>
              </a:tblGrid>
              <a:tr h="240030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计算读数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可以支持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不能单独支持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</a:tr>
              <a:tr h="240030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膜泄漏/炎症模型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病理方向增强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人体 AD 病因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11 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424160" cy="8961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 i="0">
                <a:solidFill>
                  <a:srgbClr val="D0A62C"/>
                </a:solidFill>
                <a:latin typeface="Microsoft YaHe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240280"/>
            <a:ext cx="1737360" cy="100584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542032"/>
            <a:ext cx="103327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icrosoft YaHei"/>
              </a:rPr>
              <a:t>分子机制（一）：AChE-Aβ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104241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 i="0">
                <a:solidFill>
                  <a:srgbClr val="D8E0EA"/>
                </a:solidFill>
                <a:latin typeface="Microsoft YaHei"/>
              </a:rPr>
              <a:t>AChE-PAS/344-361 是机制参照界面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424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A8B8C9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6　AChE-Aβ 参照体系如何服务于候选 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table missing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89920" cy="4709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No table data found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13 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7　AChE-Aβ/候选 AMP 的建议参数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table missing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89920" cy="4709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No table data found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14 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候选 AMP 的三个 AChE-Aβ 假设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H1、H2、H3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89920" cy="4709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H1：竞争 PAS/344-361，减少 AChE 促成核。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H2：直接改变 Aβ 单体、寡聚体或纤维路径。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H3：主要在膜表面影响微胶质识别和炎症。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 i="0">
                <a:solidFill>
                  <a:srgbClr val="1F2937"/>
                </a:solidFill>
                <a:latin typeface="Microsoft YaHei"/>
              </a:rPr>
              <a:t>— 先有差异、表达和暴露证据，再做结构模拟。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15 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424160" cy="8961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 i="0">
                <a:solidFill>
                  <a:srgbClr val="D0A62C"/>
                </a:solidFill>
                <a:latin typeface="Microsoft YaHe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240280"/>
            <a:ext cx="1737360" cy="100584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542032"/>
            <a:ext cx="103327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icrosoft YaHei"/>
              </a:rPr>
              <a:t>分子机制（二）：AMP-Aβ 交叉成核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104241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 i="0">
                <a:solidFill>
                  <a:srgbClr val="D8E0EA"/>
                </a:solidFill>
                <a:latin typeface="Microsoft YaHei"/>
              </a:rPr>
              <a:t>促进、抑制或重定向三种方向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424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A8B8C9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8　交叉成核三种方向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同样的结合可能得到相反病理方向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072384"/>
                <a:gridCol w="3072384"/>
                <a:gridCol w="3072384"/>
              </a:tblGrid>
              <a:tr h="120015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方向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分子表现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AD 解释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必须观察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促进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成核更快、病理寡聚体增加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风险样线索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寡聚体毒性、膜损伤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抑制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延长 lag、减少纤维/有毒寡聚体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潜在保护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off-pathway 是否无毒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重定向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纤维少但另一寡聚体更稳定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方向未定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时间序列和寡聚体谱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17 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9　AMP-Aβ 交叉成核的计算验收指标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table missing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89920" cy="4709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No table data found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18 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交叉成核的实际解释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为什么不能只看结合能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89920" cy="4709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结构兼容：可能加速成核或形成异源种子。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延伸面封堵：可能抑制纤维和有毒路径。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构象重定向：纤维减少但另一寡聚体可能稳定。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最终要看寡聚体谱、膜损伤和炎症方向。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19 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424160" cy="8961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 i="0">
                <a:solidFill>
                  <a:srgbClr val="D0A62C"/>
                </a:solidFill>
                <a:latin typeface="Microsoft YaHe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240280"/>
            <a:ext cx="1737360" cy="100584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542032"/>
            <a:ext cx="103327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icrosoft YaHei"/>
              </a:rPr>
              <a:t>问题二：AMP 与肠道菌群调控如何关联 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104241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 i="0">
                <a:solidFill>
                  <a:srgbClr val="D8E0EA"/>
                </a:solidFill>
                <a:latin typeface="Microsoft YaHei"/>
              </a:rPr>
              <a:t>最贴合你的深度学习肠道 AMP 差异课题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424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A8B8C9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10　肠道 AMP-AD 主路径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table missing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89920" cy="4709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No table data found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21 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问题二的主机制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为什么优先解释菌群和屏障，而不是直接入脑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89920" cy="4709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候选 AMP 改变细菌竞争和空间分布。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产 LPS 菌、产 SCFA 菌和黏膜相关菌随之改变。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LPS/SCFA/胆汁酸和肠屏障改变外周炎症。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外周炎症再影响 BBB、小胶质和 Aβ 清除。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22 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如何衔接深度学习研究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从 476 样本到机制候选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89920" cy="4709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宏基因组组装和 ORF 翻译，建立微生物源短肽库。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Attention/LSTM/BERT 共识预测 AMP。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建立样本×肽矩阵，比较 AD/健康和五阶段差异。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表达二次去重，再进行来源菌、生态、MD/QM 排序。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23 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11　三问版中 AMP 差异分析的输出（1/2）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每一层输出进入哪一个问题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4608576"/>
                <a:gridCol w="4608576"/>
              </a:tblGrid>
              <a:tr h="120015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输出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进入哪一个问题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AMP 模型概率/共识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序列像 AMP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三问共同输入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AD/健康效应量/FDR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是否 AD 相关差异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问题 2 主输入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来源菌/MAG/表达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是否真实、来自谁、可能在哪里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问题 2/3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24 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11　三问版中 AMP 差异分析的输出（2/2）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每一层输出进入哪一个问题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4608576"/>
                <a:gridCol w="4608576"/>
              </a:tblGrid>
              <a:tr h="240030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输出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进入哪一个问题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</a:tr>
              <a:tr h="240030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候选机制标签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风险样、保护样或未知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问题 1/2/3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25 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12　问题二的四种计算证据（1/2）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差异、生态、中介、分子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072384"/>
                <a:gridCol w="3072384"/>
                <a:gridCol w="3072384"/>
              </a:tblGrid>
              <a:tr h="120015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证据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方法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能回答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不能回答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差异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ANCOM-BC2/Maaslin2/趋势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哪些 AMP 与 AD 状态相关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是否因果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生态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网络/生态模型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AMP 可能影响哪些菌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真实抑菌效应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中介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DAG/中介/bootstrap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LPS/SCFA 是否解释部分关联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完整机制链已证实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26 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12　问题二的四种计算证据（2/2）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差异、生态、中介、分子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072384"/>
                <a:gridCol w="3072384"/>
                <a:gridCol w="3072384"/>
              </a:tblGrid>
              <a:tr h="240030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证据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方法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能回答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不能回答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</a:tr>
              <a:tr h="240030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分子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AMP—膜/LPS MD/DFT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膜选择性和作用方式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人群 AD 结果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27 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424160" cy="8961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 i="0">
                <a:solidFill>
                  <a:srgbClr val="D0A62C"/>
                </a:solidFill>
                <a:latin typeface="Microsoft YaHei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240280"/>
            <a:ext cx="1737360" cy="100584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542032"/>
            <a:ext cx="103327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icrosoft YaHei"/>
              </a:rPr>
              <a:t>问题三：AMP 进入 BBB 并参与 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104241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 i="0">
                <a:solidFill>
                  <a:srgbClr val="D8E0EA"/>
                </a:solidFill>
                <a:latin typeface="Microsoft YaHei"/>
              </a:rPr>
              <a:t>直接入脑是条件性分支，不能默认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424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A8B8C9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13　AMP 进入 BBB 的必要条件（1/2）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产生、稳定、入血、跨 BBB、脑内作用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4608576"/>
                <a:gridCol w="4608576"/>
              </a:tblGrid>
              <a:tr h="120015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条件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需要回答的问题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计算/数据证据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产生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来源菌是否编码并表达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ORF、MAG、宏蛋白组/肽组学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稳定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血液中是否保持活性构象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蛋白酶、盐、聚集和稳定性模拟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跨肠屏障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是否进入循环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屏障模型、血液检测、中介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29 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13　AMP 进入 BBB 的必要条件（2/2）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产生、稳定、入血、跨 BBB、脑内作用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4608576"/>
                <a:gridCol w="4608576"/>
              </a:tblGrid>
              <a:tr h="160020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条件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需要回答的问题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计算/数据证据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</a:tr>
              <a:tr h="160020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跨 BBB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被动、AMT、RMT 或旁细胞哪一种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膜 PMF、转运体对接和通量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  <a:tr h="160020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脑内作用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是否影响微胶质/Aβ/BBB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受体、膜、Aβ 和炎症读数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30 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14　BBB 路径与结论边界（1/2）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被动扩散、AMT、RMT 和旁细胞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4608576"/>
                <a:gridCol w="4608576"/>
              </a:tblGrid>
              <a:tr h="120015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路径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可计算问题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不能直接说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被动扩散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膜 PMF、亲脂/电荷和渗透系数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所有阳离子 AMP 都能过 BBB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吸附介导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糖萼/膜接触和跨膜路径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吸附等于进入脑实质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载体/受体转运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PEPT2、LRP1、RAGE 等界面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docking 等于有效转胞吞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31 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14　BBB 路径与结论边界（2/2）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被动扩散、AMT、RMT 和旁细胞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4608576"/>
                <a:gridCol w="4608576"/>
              </a:tblGrid>
              <a:tr h="240030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路径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可计算问题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不能直接说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</a:tr>
              <a:tr h="240030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炎症旁路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紧密连接和通量变化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炎症状态下必然入脑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32 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问题三的正确逻辑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从暴露可行性到脑内病理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89920" cy="4709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先证明候选肽产生、表达、稳定并可能进入血液。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再判断被动、吸附、载体/受体或炎症旁路。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最后判断微胶质、Aβ、BBB 紧密连接和清除通路。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没有暴露证据时，只能写条件性假设。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33 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15　问题三的计算验收（1/2）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PMF、Papp、转运体和脑内作用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4608576"/>
                <a:gridCol w="4608576"/>
              </a:tblGrid>
              <a:tr h="120015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建议输出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最低控制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膜 PMF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吸附、插入、跨膜自由能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3 条重复、bootstrap/块平均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扩散系数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D(z) 和 Papp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不同窗口和时间段敏感性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转运体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界面、驻留和构象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多姿态、多重复、不能只看打分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34 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15　问题三的计算验收（2/2）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PMF、Papp、转运体和脑内作用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4608576"/>
                <a:gridCol w="4608576"/>
              </a:tblGrid>
              <a:tr h="160020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建议输出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最低控制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</a:tr>
              <a:tr h="160020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ML 互证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logBB/暴露分类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独立测试和 SHAP/特征解释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  <a:tr h="160020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脑内作用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微胶质、Aβ、BBB 正反馈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必须有区室/表达前提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35 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424160" cy="8961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 i="0">
                <a:solidFill>
                  <a:srgbClr val="D0A62C"/>
                </a:solidFill>
                <a:latin typeface="Microsoft YaHei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240280"/>
            <a:ext cx="1737360" cy="100584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542032"/>
            <a:ext cx="103327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icrosoft YaHei"/>
              </a:rPr>
              <a:t>三问整合后的候选分层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104241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 i="0">
                <a:solidFill>
                  <a:srgbClr val="D8E0EA"/>
                </a:solidFill>
                <a:latin typeface="Microsoft YaHei"/>
              </a:rPr>
              <a:t>风险样、保护样、未知样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424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A8B8C9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3　候选肽的三种方向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不是所有候选都叫致病肽或抑制剂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4608576"/>
                <a:gridCol w="4608576"/>
              </a:tblGrid>
              <a:tr h="120015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方向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判定逻辑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论文用语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风险样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AD 富集/随病程增加，并与炎症、LPS、屏障或病理性聚集方向一致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可能参与 AD 病理的候选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保护样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健康富集/病程下降，并与屏障、抗炎、选择性抑菌或无毒化方向一致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潜在保护/抑制候选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未知样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有差异但表达、暴露或分子方向不足/矛盾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AD-associated candidate，方向待定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37 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16　三问的结果分类和措辞（1/2）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从预测到因果逐级升级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4608576"/>
                <a:gridCol w="4608576"/>
              </a:tblGrid>
              <a:tr h="120015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结果层级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推荐标签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论文句式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预测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AMP prediction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该序列具有 AMP 模型特征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差异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AD-associated AMP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该肽与 AD 状态/病程相关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机制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risk-like/protective/unknown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该肽具有某方向的机制优先级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38 页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16　三问的结果分类和措辞（2/2）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从预测到因果逐级升级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4608576"/>
                <a:gridCol w="4608576"/>
              </a:tblGrid>
              <a:tr h="240030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结果层级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推荐标签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论文句式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</a:tr>
              <a:tr h="240030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因果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causal candidate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干预后表型改变支持因果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39 页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当前不能伪造候选结果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真实 FASTA/丰度/FDR 到位后再填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89920" cy="4709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当前仓库没有真实候选 FASTA、样本×肽丰度矩阵和 FDR 表。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因此不编造某一条微生物源 AMP 已经导致 AD。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10305A"/>
                </a:solidFill>
                <a:latin typeface="Microsoft YaHei"/>
              </a:rPr>
              <a:t>● 实际结果按身份、差异、表达、生态、MD 和 BBB 证据逐条填卡。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40 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424160" cy="8961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 i="0">
                <a:solidFill>
                  <a:srgbClr val="D0A62C"/>
                </a:solidFill>
                <a:latin typeface="Microsoft YaHei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240280"/>
            <a:ext cx="1737360" cy="100584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542032"/>
            <a:ext cx="103327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icrosoft YaHei"/>
              </a:rPr>
              <a:t>答辩口径与最终结论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1042416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 i="0">
                <a:solidFill>
                  <a:srgbClr val="D8E0EA"/>
                </a:solidFill>
                <a:latin typeface="Microsoft YaHei"/>
              </a:rPr>
              <a:t>先说关联和优先级，干预后才说因果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424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A8B8C9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17　导师可能追问的五个问题（1/2）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可直接用于答辩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120015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追问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建议回答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你找的是致病肽还是抑制剂？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先找 AD 相关差异 AMP，再把候选分为风险样、保护样和未知；抑制剂只是保护性亚类。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Aβ 结合能说明什么？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说明可能存在分子相互作用，还要判断聚集态、炎症、膜损伤和暴露。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为什么做 AChE-PAS？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借鉴已有 AChE-Aβ MD 的界面解析方法，提出候选 AMP 竞争/调节假设。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42 页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17　导师可能追问的五个问题（2/2）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可直接用于答辩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2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160020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追问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建议回答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</a:tr>
              <a:tr h="160020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微生物 AMP 会不会进脑？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不能默认；先做肠道生态主路径，只有有表达和暴露依据的候选才做 BBB。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  <a:tr h="160020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能不能说导致 AD？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在计算和横断面阶段只能说 AD-associated candidate；干预后才讨论因果。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43 页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18　三问版计算证据的优先级（1/2）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先菌膜/LPS，再 Aβ/BBB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4608576"/>
                <a:gridCol w="4608576"/>
              </a:tblGrid>
              <a:tr h="120015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优先级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计算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适合回答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宏基因组差异/生态/表达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哪些 AMP 候选真正与 AD 相关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AMP—膜/LPS MD 与 DFT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候选如何调控肠道生态和屏障炎症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受体/炎症网络与 MD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是否存在免疫激活结构线索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44 页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84048"/>
            <a:ext cx="128016" cy="62179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292608"/>
            <a:ext cx="1078992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10305A"/>
                </a:solidFill>
                <a:latin typeface="Microsoft YaHei"/>
              </a:rPr>
              <a:t>表 18　三问版计算证据的优先级（2/2）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87552"/>
            <a:ext cx="107899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 i="0">
                <a:solidFill>
                  <a:srgbClr val="5B6677"/>
                </a:solidFill>
                <a:latin typeface="Microsoft YaHei"/>
              </a:rPr>
              <a:t>先菌膜/LPS，再 Aβ/BBB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1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4608576"/>
                <a:gridCol w="4608576"/>
              </a:tblGrid>
              <a:tr h="160020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优先级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计算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Microsoft YaHei"/>
                        </a:rPr>
                        <a:t>适合回答</a:t>
                      </a:r>
                    </a:p>
                  </a:txBody>
                  <a:tcPr marL="64008" marR="64008" marT="45720" marB="45720">
                    <a:solidFill>
                      <a:srgbClr val="10305A"/>
                    </a:solidFill>
                  </a:tcPr>
                </a:tc>
              </a:tr>
              <a:tr h="160020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AChE-Aβ/交叉成核 MD/QM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候选是否改变 Aβ 聚集路径</a:t>
                      </a:r>
                    </a:p>
                  </a:txBody>
                  <a:tcPr marL="64008" marR="64008" marT="45720" marB="45720" anchor="t">
                    <a:solidFill>
                      <a:srgbClr val="F2F5F9"/>
                    </a:solidFill>
                  </a:tcPr>
                </a:tc>
              </a:tr>
              <a:tr h="160020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BBB PMF/转运体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Microsoft YaHei"/>
                        </a:rPr>
                        <a:t>直接入脑是否物理可行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82512"/>
            <a:ext cx="11091672" cy="22860"/>
          </a:xfrm>
          <a:prstGeom prst="rect">
            <a:avLst/>
          </a:prstGeom>
          <a:solidFill>
            <a:srgbClr val="D5D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960120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5B6677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5544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600" b="0" i="0">
                <a:solidFill>
                  <a:srgbClr val="5B6677"/>
                </a:solidFill>
                <a:latin typeface="Microsoft YaHei"/>
              </a:rPr>
              <a:t>第 45 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417320"/>
            <a:ext cx="2103120" cy="118872"/>
          </a:xfrm>
          <a:prstGeom prst="rect">
            <a:avLst/>
          </a:prstGeom>
          <a:solidFill>
            <a:srgbClr val="D0A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103327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icrosoft YaHei"/>
              </a:rPr>
              <a:t>三问版最终结论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424160" cy="2377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DCE4EE"/>
                </a:solidFill>
                <a:latin typeface="Microsoft YaHei"/>
              </a:rPr>
              <a:t>● 问题一：结合、AChE-PAS 和交叉成核给出分子方向</a:t>
            </a:r>
          </a:p>
          <a:p>
            <a:pPr>
              <a:spcAft>
                <a:spcPts val="1200"/>
              </a:spcAft>
            </a:pPr>
            <a:r>
              <a:rPr sz="1900" b="0" i="0">
                <a:solidFill>
                  <a:srgbClr val="DCE4EE"/>
                </a:solidFill>
                <a:latin typeface="Microsoft YaHei"/>
              </a:rPr>
              <a:t>● 问题二：肠道 AMP 通过菌群、LPS/SCFA、屏障和炎症连接 AD</a:t>
            </a:r>
          </a:p>
          <a:p>
            <a:pPr>
              <a:spcAft>
                <a:spcPts val="1200"/>
              </a:spcAft>
            </a:pPr>
            <a:r>
              <a:rPr sz="1900" b="0" i="0">
                <a:solidFill>
                  <a:srgbClr val="DCE4EE"/>
                </a:solidFill>
                <a:latin typeface="Microsoft YaHei"/>
              </a:rPr>
              <a:t>● 问题三：只有有表达、稳定性和通量证据的候选才讨论 BBB</a:t>
            </a:r>
          </a:p>
          <a:p>
            <a:pPr>
              <a:spcAft>
                <a:spcPts val="1200"/>
              </a:spcAft>
            </a:pPr>
            <a:r>
              <a:rPr sz="1900" b="0" i="0">
                <a:solidFill>
                  <a:srgbClr val="DCE4EE"/>
                </a:solidFill>
                <a:latin typeface="Microsoft YaHei"/>
              </a:rPr>
              <a:t>● 结论：AD-associated candidate，不越级写 causative peptide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89320"/>
            <a:ext cx="10424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A8B8C9"/>
                </a:solidFill>
                <a:latin typeface="Microsoft YaHei"/>
              </a:rPr>
              <a:t>抗菌肽与 AD 三问机制整合版｜2026-09-26 10:59 北京时间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