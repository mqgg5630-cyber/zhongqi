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847088"/>
            <a:ext cx="12191695" cy="914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E18A2E"/>
                </a:solidFill>
                <a:latin typeface="Arial"/>
                <a:ea typeface="微软雅黑"/>
                <a:cs typeface="Arial"/>
              </a:rPr>
              <a:t>研究生论文中期检查</a:t>
            </a:r>
          </a:p>
        </p:txBody>
      </p:sp>
      <p:sp>
        <p:nvSpPr>
          <p:cNvPr id="4" name="TextBox 3"/>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41B22"/>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41B22"/>
                </a:solidFill>
                <a:latin typeface="Arial"/>
                <a:ea typeface="微软雅黑"/>
                <a:cs typeface="Arial"/>
              </a:rPr>
              <a:t>肠道微生物组中抗菌肽的差异性研究</a:t>
            </a:r>
          </a:p>
        </p:txBody>
      </p:sp>
      <p:sp>
        <p:nvSpPr>
          <p:cNvPr id="5" name="TextBox 4"/>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41B22"/>
                </a:solidFill>
                <a:latin typeface="Arial"/>
                <a:ea typeface="微软雅黑"/>
                <a:cs typeface="Arial"/>
              </a:rPr>
              <a:t>文绍华　　学号：2024110316</a:t>
            </a:r>
          </a:p>
          <a:p>
            <a:pPr algn="ctr">
              <a:lnSpc>
                <a:spcPct val="122000"/>
              </a:lnSpc>
              <a:spcBef>
                <a:spcPts val="1000"/>
              </a:spcBef>
              <a:spcAft>
                <a:spcPts val="0"/>
              </a:spcAft>
            </a:pPr>
            <a:r>
              <a:rPr sz="1700" b="0">
                <a:solidFill>
                  <a:srgbClr val="141B22"/>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41B22"/>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41B22"/>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汇报提纲</a:t>
            </a:r>
          </a:p>
        </p:txBody>
      </p:sp>
      <p:sp>
        <p:nvSpPr>
          <p:cNvPr id="4" name="TextBox 3"/>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02</a:t>
            </a:r>
          </a:p>
        </p:txBody>
      </p:sp>
      <p:sp>
        <p:nvSpPr>
          <p:cNvPr id="5" name="TextBox 4"/>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E18A2E"/>
                </a:solidFill>
                <a:latin typeface="Arial"/>
                <a:ea typeface="微软雅黑"/>
                <a:cs typeface="Arial"/>
              </a:rPr>
              <a:t>01　</a:t>
            </a:r>
            <a:r>
              <a:rPr sz="2200" b="0">
                <a:solidFill>
                  <a:srgbClr val="141B22"/>
                </a:solidFill>
                <a:latin typeface="Arial"/>
                <a:ea typeface="微软雅黑"/>
                <a:cs typeface="Arial"/>
              </a:rPr>
              <a:t>研究思路：从肠道微生物组到候选抗菌肽</a:t>
            </a:r>
          </a:p>
          <a:p>
            <a:pPr algn="l">
              <a:lnSpc>
                <a:spcPct val="125000"/>
              </a:lnSpc>
              <a:spcBef>
                <a:spcPts val="2000"/>
              </a:spcBef>
              <a:spcAft>
                <a:spcPts val="0"/>
              </a:spcAft>
            </a:pPr>
            <a:r>
              <a:rPr sz="2200" b="1">
                <a:solidFill>
                  <a:srgbClr val="E18A2E"/>
                </a:solidFill>
                <a:latin typeface="Arial"/>
                <a:ea typeface="微软雅黑"/>
                <a:cs typeface="Arial"/>
              </a:rPr>
              <a:t>02　</a:t>
            </a:r>
            <a:r>
              <a:rPr sz="2200" b="0">
                <a:solidFill>
                  <a:srgbClr val="141B22"/>
                </a:solidFill>
                <a:latin typeface="Arial"/>
                <a:ea typeface="微软雅黑"/>
                <a:cs typeface="Arial"/>
              </a:rPr>
              <a:t>已完成：数据资源、短肽库与三模型共识预测</a:t>
            </a:r>
          </a:p>
          <a:p>
            <a:pPr algn="l">
              <a:lnSpc>
                <a:spcPct val="125000"/>
              </a:lnSpc>
              <a:spcBef>
                <a:spcPts val="2000"/>
              </a:spcBef>
              <a:spcAft>
                <a:spcPts val="0"/>
              </a:spcAft>
            </a:pPr>
            <a:r>
              <a:rPr sz="2200" b="1">
                <a:solidFill>
                  <a:srgbClr val="E18A2E"/>
                </a:solidFill>
                <a:latin typeface="Arial"/>
                <a:ea typeface="微软雅黑"/>
                <a:cs typeface="Arial"/>
              </a:rPr>
              <a:t>03　</a:t>
            </a:r>
            <a:r>
              <a:rPr sz="2200" b="0">
                <a:solidFill>
                  <a:srgbClr val="141B22"/>
                </a:solidFill>
                <a:latin typeface="Arial"/>
                <a:ea typeface="微软雅黑"/>
                <a:cs typeface="Arial"/>
              </a:rPr>
              <a:t>已完成：分阶段差异分析与宏蛋白组二次去重</a:t>
            </a:r>
          </a:p>
          <a:p>
            <a:pPr algn="l">
              <a:lnSpc>
                <a:spcPct val="125000"/>
              </a:lnSpc>
              <a:spcBef>
                <a:spcPts val="2000"/>
              </a:spcBef>
              <a:spcAft>
                <a:spcPts val="0"/>
              </a:spcAft>
            </a:pPr>
            <a:r>
              <a:rPr sz="2200" b="1">
                <a:solidFill>
                  <a:srgbClr val="E18A2E"/>
                </a:solidFill>
                <a:latin typeface="Arial"/>
                <a:ea typeface="微软雅黑"/>
                <a:cs typeface="Arial"/>
              </a:rPr>
              <a:t>04　</a:t>
            </a:r>
            <a:r>
              <a:rPr sz="2200" b="0">
                <a:solidFill>
                  <a:srgbClr val="141B22"/>
                </a:solidFill>
                <a:latin typeface="Arial"/>
                <a:ea typeface="微软雅黑"/>
                <a:cs typeface="Arial"/>
              </a:rPr>
              <a:t>下一步：与 AD 发病机制的关联分析</a:t>
            </a:r>
          </a:p>
          <a:p>
            <a:pPr algn="l">
              <a:lnSpc>
                <a:spcPct val="125000"/>
              </a:lnSpc>
              <a:spcBef>
                <a:spcPts val="2000"/>
              </a:spcBef>
              <a:spcAft>
                <a:spcPts val="0"/>
              </a:spcAft>
            </a:pPr>
            <a:r>
              <a:rPr sz="2200" b="1">
                <a:solidFill>
                  <a:srgbClr val="E18A2E"/>
                </a:solidFill>
                <a:latin typeface="Arial"/>
                <a:ea typeface="微软雅黑"/>
                <a:cs typeface="Arial"/>
              </a:rPr>
              <a:t>05　</a:t>
            </a:r>
            <a:r>
              <a:rPr sz="2200" b="0">
                <a:solidFill>
                  <a:srgbClr val="141B22"/>
                </a:solidFill>
                <a:latin typeface="Arial"/>
                <a:ea typeface="微软雅黑"/>
                <a:cs typeface="Arial"/>
              </a:rPr>
              <a:t>下一步：候选抗菌肽抑菌实验验证</a:t>
            </a:r>
          </a:p>
          <a:p>
            <a:pPr algn="l">
              <a:lnSpc>
                <a:spcPct val="125000"/>
              </a:lnSpc>
              <a:spcBef>
                <a:spcPts val="2000"/>
              </a:spcBef>
              <a:spcAft>
                <a:spcPts val="0"/>
              </a:spcAft>
            </a:pPr>
            <a:r>
              <a:rPr sz="2200" b="1">
                <a:solidFill>
                  <a:srgbClr val="E18A2E"/>
                </a:solidFill>
                <a:latin typeface="Arial"/>
                <a:ea typeface="微软雅黑"/>
                <a:cs typeface="Arial"/>
              </a:rPr>
              <a:t>06　</a:t>
            </a:r>
            <a:r>
              <a:rPr sz="2200" b="0">
                <a:solidFill>
                  <a:srgbClr val="141B22"/>
                </a:solidFill>
                <a:latin typeface="Arial"/>
                <a:ea typeface="微软雅黑"/>
                <a:cs typeface="Arial"/>
              </a:rPr>
              <a:t>工作进度与后续安排</a:t>
            </a:r>
          </a:p>
        </p:txBody>
      </p:sp>
      <p:sp>
        <p:nvSpPr>
          <p:cNvPr id="6" name="Rectangle 5"/>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本次汇报重点说明研究思路与各项工作的完成程度</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研究思路：八步走的整体框架与完成进度</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研究思路</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03</a:t>
            </a:r>
          </a:p>
        </p:txBody>
      </p:sp>
      <p:pic>
        <p:nvPicPr>
          <p:cNvPr id="6" name="Picture 5"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主线：数据资源 → 短肽库 → 三模型共识预测 → 分阶段差异 → 去重筛选特有肽 → 机制关联与验证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3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科学问题：AD 患者与健康人群的抗菌肽是否存在差异</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研究背景与科学问题</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04</a:t>
            </a:r>
          </a:p>
        </p:txBody>
      </p:sp>
      <p:sp>
        <p:nvSpPr>
          <p:cNvPr id="6" name="TextBox 5"/>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背景　</a:t>
            </a:r>
            <a:r>
              <a:rPr sz="1650" b="0">
                <a:solidFill>
                  <a:srgbClr val="141B22"/>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650" b="1">
                <a:solidFill>
                  <a:srgbClr val="E18A2E"/>
                </a:solidFill>
                <a:latin typeface="Arial"/>
                <a:ea typeface="微软雅黑"/>
                <a:cs typeface="Arial"/>
              </a:rPr>
              <a:t>切入点　</a:t>
            </a:r>
            <a:r>
              <a:rPr sz="1650" b="0">
                <a:solidFill>
                  <a:srgbClr val="141B22"/>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650" b="1">
                <a:solidFill>
                  <a:srgbClr val="E18A2E"/>
                </a:solidFill>
                <a:latin typeface="Arial"/>
                <a:ea typeface="微软雅黑"/>
                <a:cs typeface="Arial"/>
              </a:rPr>
              <a:t>空白　</a:t>
            </a:r>
            <a:r>
              <a:rPr sz="1650" b="0">
                <a:solidFill>
                  <a:srgbClr val="141B22"/>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7" name="Rounded Rectangle 6"/>
          <p:cNvSpPr/>
          <p:nvPr/>
        </p:nvSpPr>
        <p:spPr>
          <a:xfrm>
            <a:off x="566928" y="4553712"/>
            <a:ext cx="11057839" cy="1078992"/>
          </a:xfrm>
          <a:prstGeom prst="roundRect">
            <a:avLst>
              <a:gd name="adj" fmla="val 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41B22"/>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4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已完成：数据资源与微生物源短肽库构建</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第一步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05</a:t>
            </a:r>
          </a:p>
        </p:txBody>
      </p:sp>
      <p:sp>
        <p:nvSpPr>
          <p:cNvPr id="6" name="TextBox 5"/>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完成全队列宏基因组数据的统一处理与质量评估，获得高质量的微生物基因组参考集</a:t>
            </a:r>
          </a:p>
          <a:p>
            <a:pPr algn="l">
              <a:lnSpc>
                <a:spcPct val="125000"/>
              </a:lnSpc>
              <a:spcBef>
                <a:spcPts val="150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基于参考集完成小开放阅读框预测，构建覆盖全队列、非冗余的微生物源短肽库</a:t>
            </a:r>
          </a:p>
          <a:p>
            <a:pPr algn="l">
              <a:lnSpc>
                <a:spcPct val="125000"/>
              </a:lnSpc>
              <a:spcBef>
                <a:spcPts val="150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参考集按物种多样性原则构建，减少因组装质量差异带来的样本偏倚</a:t>
            </a:r>
          </a:p>
        </p:txBody>
      </p:sp>
      <p:sp>
        <p:nvSpPr>
          <p:cNvPr id="7" name="Rectangle 6"/>
          <p:cNvSpPr/>
          <p:nvPr/>
        </p:nvSpPr>
        <p:spPr>
          <a:xfrm>
            <a:off x="7379208" y="1536192"/>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79208" y="1536192"/>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102A43"/>
                </a:solidFill>
                <a:latin typeface="Arial"/>
                <a:ea typeface="微软雅黑"/>
                <a:cs typeface="Arial"/>
              </a:rPr>
              <a:t>队列　</a:t>
            </a:r>
            <a:r>
              <a:rPr sz="1800" b="0">
                <a:solidFill>
                  <a:srgbClr val="141B22"/>
                </a:solidFill>
                <a:latin typeface="Arial"/>
                <a:ea typeface="微软雅黑"/>
                <a:cs typeface="Arial"/>
              </a:rPr>
              <a:t>完整宏基因组样本</a:t>
            </a:r>
          </a:p>
        </p:txBody>
      </p:sp>
      <p:sp>
        <p:nvSpPr>
          <p:cNvPr id="9" name="Rectangle 8"/>
          <p:cNvSpPr/>
          <p:nvPr/>
        </p:nvSpPr>
        <p:spPr>
          <a:xfrm>
            <a:off x="7379208" y="2615184"/>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79208" y="2615184"/>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102A43"/>
                </a:solidFill>
                <a:latin typeface="Arial"/>
                <a:ea typeface="微软雅黑"/>
                <a:cs typeface="Arial"/>
              </a:rPr>
              <a:t>基因组　</a:t>
            </a:r>
            <a:r>
              <a:rPr sz="1800" b="0">
                <a:solidFill>
                  <a:srgbClr val="141B22"/>
                </a:solidFill>
                <a:latin typeface="Arial"/>
                <a:ea typeface="微软雅黑"/>
                <a:cs typeface="Arial"/>
              </a:rPr>
              <a:t>参考集（含高质量基因组）</a:t>
            </a:r>
          </a:p>
        </p:txBody>
      </p:sp>
      <p:sp>
        <p:nvSpPr>
          <p:cNvPr id="11" name="Rectangle 10"/>
          <p:cNvSpPr/>
          <p:nvPr/>
        </p:nvSpPr>
        <p:spPr>
          <a:xfrm>
            <a:off x="7379208" y="3694176"/>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79208" y="3694176"/>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E18A2E"/>
                </a:solidFill>
                <a:latin typeface="Arial"/>
                <a:ea typeface="微软雅黑"/>
                <a:cs typeface="Arial"/>
              </a:rPr>
              <a:t>短肽库　</a:t>
            </a:r>
            <a:r>
              <a:rPr sz="1800" b="0">
                <a:solidFill>
                  <a:srgbClr val="141B22"/>
                </a:solidFill>
                <a:latin typeface="Arial"/>
                <a:ea typeface="微软雅黑"/>
                <a:cs typeface="Arial"/>
              </a:rPr>
              <a:t>非冗余微生物源短肽</a:t>
            </a:r>
          </a:p>
        </p:txBody>
      </p:sp>
      <p:sp>
        <p:nvSpPr>
          <p:cNvPr id="13" name="Rectangle 12"/>
          <p:cNvSpPr/>
          <p:nvPr/>
        </p:nvSpPr>
        <p:spPr>
          <a:xfrm>
            <a:off x="7379208" y="4773168"/>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79208" y="4773168"/>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E18A2E"/>
                </a:solidFill>
                <a:latin typeface="Arial"/>
                <a:ea typeface="微软雅黑"/>
                <a:cs typeface="Arial"/>
              </a:rPr>
              <a:t>可溯源　</a:t>
            </a:r>
            <a:r>
              <a:rPr sz="1800" b="0">
                <a:solidFill>
                  <a:srgbClr val="141B22"/>
                </a:solidFill>
                <a:latin typeface="Arial"/>
                <a:ea typeface="微软雅黑"/>
                <a:cs typeface="Arial"/>
              </a:rPr>
              <a:t>每条短肽可回溯至样本</a:t>
            </a:r>
          </a:p>
        </p:txBody>
      </p:sp>
      <p:sp>
        <p:nvSpPr>
          <p:cNvPr id="15" name="Rectangle 14"/>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第一步与第二步均已完成：数据资源与短肽库已就绪，为后续预测与差异分析提供统一输入</a:t>
            </a:r>
          </a:p>
        </p:txBody>
      </p:sp>
      <p:sp>
        <p:nvSpPr>
          <p:cNvPr id="17" name="TextBox 1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5 / 16</a:t>
            </a:r>
          </a:p>
        </p:txBody>
      </p:sp>
      <p:sp>
        <p:nvSpPr>
          <p:cNvPr id="18" name="TextBox 1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已完成：三模型共识预测候选抗菌肽</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第三步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06</a:t>
            </a:r>
          </a:p>
        </p:txBody>
      </p:sp>
      <p:pic>
        <p:nvPicPr>
          <p:cNvPr id="6" name="Picture 5"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三模型协同提高候选集合可信度；该步骤已完成，候选抗菌肽名单已产出</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6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已完成：分阶段抗菌肽差异分析</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第四步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07</a:t>
            </a:r>
          </a:p>
        </p:txBody>
      </p:sp>
      <p:pic>
        <p:nvPicPr>
          <p:cNvPr id="6" name="Picture 5"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按认知阶段对队列分组，比较各阶段与健康人群之间候选抗菌肽的丰度与组成差异，筛选出随病程变化明显的候选抗菌肽。</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先得到随病程变化的候选抗菌肽，再用表达证据过滤，为特有肽筛选做准备</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7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已完成：宏蛋白组二次去重，筛选特有抗菌肽</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第五步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08</a:t>
            </a:r>
          </a:p>
        </p:txBody>
      </p:sp>
      <p:pic>
        <p:nvPicPr>
          <p:cNvPr id="6" name="Picture 5"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二次去重解决两类问题：序列冗余，以及“有预测、无表达”的假阳性</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8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下一步：与 AD 发病机制的关联分析</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下一步计划 · 第六步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09</a:t>
            </a:r>
          </a:p>
        </p:txBody>
      </p:sp>
      <p:pic>
        <p:nvPicPr>
          <p:cNvPr id="6" name="Picture 5"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关联分析的落点：从“差异肽”推进到“可能与 AD 病理相关的肽”</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9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下一步：候选抗菌肽抑菌实验验证</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下一步计划 · 第七步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10</a:t>
            </a:r>
          </a:p>
        </p:txBody>
      </p:sp>
      <p:pic>
        <p:nvPicPr>
          <p:cNvPr id="6" name="Picture 5"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以通用、可及的微生物学方法，完成候选抗菌肽抑菌活性的直接验证</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10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工作进度：主要分析已完成，进入验证与撰写阶段</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工作进度</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11</a:t>
            </a:r>
          </a:p>
        </p:txBody>
      </p:sp>
      <p:pic>
        <p:nvPicPr>
          <p:cNvPr id="6" name="Picture 5"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前五项已完成，机制关联分析与抑菌实验验证正在推进，整体进度与开题计划一致</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11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后续安排：四项收尾工作</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下一步计划</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12</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1. 机制关联分析　</a:t>
            </a:r>
            <a:r>
              <a:rPr sz="1650" b="0">
                <a:solidFill>
                  <a:srgbClr val="141B22"/>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650" b="1">
                <a:solidFill>
                  <a:srgbClr val="E18A2E"/>
                </a:solidFill>
                <a:latin typeface="Arial"/>
                <a:ea typeface="微软雅黑"/>
                <a:cs typeface="Arial"/>
              </a:rPr>
              <a:t>2. 抑菌实验验证　</a:t>
            </a:r>
            <a:r>
              <a:rPr sz="1650" b="0">
                <a:solidFill>
                  <a:srgbClr val="141B22"/>
                </a:solidFill>
                <a:latin typeface="Arial"/>
                <a:ea typeface="微软雅黑"/>
                <a:cs typeface="Arial"/>
              </a:rPr>
              <a:t>完成候选抗菌肽的合成与抑菌实验，获得抑菌活性初筛结果。</a:t>
            </a:r>
          </a:p>
          <a:p>
            <a:pPr algn="l">
              <a:lnSpc>
                <a:spcPct val="125000"/>
              </a:lnSpc>
              <a:spcBef>
                <a:spcPts val="1800"/>
              </a:spcBef>
              <a:spcAft>
                <a:spcPts val="0"/>
              </a:spcAft>
            </a:pPr>
            <a:r>
              <a:rPr sz="1650" b="1">
                <a:solidFill>
                  <a:srgbClr val="E18A2E"/>
                </a:solidFill>
                <a:latin typeface="Arial"/>
                <a:ea typeface="微软雅黑"/>
                <a:cs typeface="Arial"/>
              </a:rPr>
              <a:t>3. 结果整理　</a:t>
            </a:r>
            <a:r>
              <a:rPr sz="1650" b="0">
                <a:solidFill>
                  <a:srgbClr val="141B22"/>
                </a:solidFill>
                <a:latin typeface="Arial"/>
                <a:ea typeface="微软雅黑"/>
                <a:cs typeface="Arial"/>
              </a:rPr>
              <a:t>汇总候选抗菌肽、特有肽与验证结果，形成完整的图表与结论体系。</a:t>
            </a:r>
          </a:p>
          <a:p>
            <a:pPr algn="l">
              <a:lnSpc>
                <a:spcPct val="125000"/>
              </a:lnSpc>
              <a:spcBef>
                <a:spcPts val="1800"/>
              </a:spcBef>
              <a:spcAft>
                <a:spcPts val="0"/>
              </a:spcAft>
            </a:pPr>
            <a:r>
              <a:rPr sz="1650" b="1">
                <a:solidFill>
                  <a:srgbClr val="E18A2E"/>
                </a:solidFill>
                <a:latin typeface="Arial"/>
                <a:ea typeface="微软雅黑"/>
                <a:cs typeface="Arial"/>
              </a:rPr>
              <a:t>4. 论文撰写　</a:t>
            </a:r>
            <a:r>
              <a:rPr sz="1650" b="0">
                <a:solidFill>
                  <a:srgbClr val="141B22"/>
                </a:solidFill>
                <a:latin typeface="Arial"/>
                <a:ea typeface="微软雅黑"/>
                <a:cs typeface="Arial"/>
              </a:rPr>
              <a:t>完成学位论文撰写与投稿论文准备，按计划申请预答辩。</a:t>
            </a:r>
          </a:p>
        </p:txBody>
      </p:sp>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收尾工作集中在分析结论与实验验证，不再涉及大规模数据生产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12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与开题计划的对应关系</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工作对照</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13</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数据准备　</a:t>
            </a:r>
            <a:r>
              <a:rPr sz="1650" b="0">
                <a:solidFill>
                  <a:srgbClr val="141B22"/>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650" b="1">
                <a:solidFill>
                  <a:srgbClr val="E18A2E"/>
                </a:solidFill>
                <a:latin typeface="Arial"/>
                <a:ea typeface="微软雅黑"/>
                <a:cs typeface="Arial"/>
              </a:rPr>
              <a:t>候选肽挖掘　</a:t>
            </a:r>
            <a:r>
              <a:rPr sz="1650" b="0">
                <a:solidFill>
                  <a:srgbClr val="141B22"/>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650" b="1">
                <a:solidFill>
                  <a:srgbClr val="E18A2E"/>
                </a:solidFill>
                <a:latin typeface="Arial"/>
                <a:ea typeface="微软雅黑"/>
                <a:cs typeface="Arial"/>
              </a:rPr>
              <a:t>差异分析　</a:t>
            </a:r>
            <a:r>
              <a:rPr sz="1650" b="0">
                <a:solidFill>
                  <a:srgbClr val="141B22"/>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650" b="1">
                <a:solidFill>
                  <a:srgbClr val="E18A2E"/>
                </a:solidFill>
                <a:latin typeface="Arial"/>
                <a:ea typeface="微软雅黑"/>
                <a:cs typeface="Arial"/>
              </a:rPr>
              <a:t>模型方案　</a:t>
            </a:r>
            <a:r>
              <a:rPr sz="1650" b="0">
                <a:solidFill>
                  <a:srgbClr val="141B22"/>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650" b="1">
                <a:solidFill>
                  <a:srgbClr val="E18A2E"/>
                </a:solidFill>
                <a:latin typeface="Arial"/>
                <a:ea typeface="微软雅黑"/>
                <a:cs typeface="Arial"/>
              </a:rPr>
              <a:t>机制与验证　</a:t>
            </a:r>
            <a:r>
              <a:rPr sz="1650" b="0">
                <a:solidFill>
                  <a:srgbClr val="141B22"/>
                </a:solidFill>
                <a:latin typeface="Arial"/>
                <a:ea typeface="微软雅黑"/>
                <a:cs typeface="Arial"/>
              </a:rPr>
              <a:t>开题拟做功能与可视化分析 → 下一步进行机制关联分析与抑菌实验验证</a:t>
            </a:r>
          </a:p>
        </p:txBody>
      </p:sp>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研究方向未变，仅在预测模型与去重环节做了更务实的调整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13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存在问题与应对措施</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问题与对策</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14</a:t>
            </a:r>
          </a:p>
        </p:txBody>
      </p:sp>
      <p:sp>
        <p:nvSpPr>
          <p:cNvPr id="6" name="Rounded Rectangle 5"/>
          <p:cNvSpPr/>
          <p:nvPr/>
        </p:nvSpPr>
        <p:spPr>
          <a:xfrm>
            <a:off x="566928" y="1527048"/>
            <a:ext cx="11057839" cy="1170432"/>
          </a:xfrm>
          <a:prstGeom prst="roundRect">
            <a:avLst>
              <a:gd name="adj" fmla="val 800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41B22"/>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41B22"/>
                </a:solidFill>
                <a:latin typeface="Arial"/>
                <a:ea typeface="微软雅黑"/>
                <a:cs typeface="Arial"/>
              </a:rPr>
              <a:t>应对：以三模型共识判定提高候选集合可信度，再用宏蛋白组表达证据二次去重，最后以抑菌实验验证活性。</a:t>
            </a:r>
          </a:p>
        </p:txBody>
      </p:sp>
      <p:sp>
        <p:nvSpPr>
          <p:cNvPr id="7" name="Rounded Rectangle 6"/>
          <p:cNvSpPr/>
          <p:nvPr/>
        </p:nvSpPr>
        <p:spPr>
          <a:xfrm>
            <a:off x="566928" y="2825496"/>
            <a:ext cx="11057839" cy="1170432"/>
          </a:xfrm>
          <a:prstGeom prst="roundRect">
            <a:avLst>
              <a:gd name="adj" fmla="val 800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41B22"/>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41B22"/>
                </a:solidFill>
                <a:latin typeface="Arial"/>
                <a:ea typeface="微软雅黑"/>
                <a:cs typeface="Arial"/>
              </a:rPr>
              <a:t>应对：在丰度分析阶段改用全量基因组回填，恢复样本覆盖，避免参考集筛选造成样本缺失。</a:t>
            </a:r>
          </a:p>
        </p:txBody>
      </p:sp>
      <p:sp>
        <p:nvSpPr>
          <p:cNvPr id="8" name="Rounded Rectangle 7"/>
          <p:cNvSpPr/>
          <p:nvPr/>
        </p:nvSpPr>
        <p:spPr>
          <a:xfrm>
            <a:off x="566928" y="4123944"/>
            <a:ext cx="11057839" cy="1170432"/>
          </a:xfrm>
          <a:prstGeom prst="roundRect">
            <a:avLst>
              <a:gd name="adj" fmla="val 800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41B22"/>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41B22"/>
                </a:solidFill>
                <a:latin typeface="Arial"/>
                <a:ea typeface="微软雅黑"/>
                <a:cs typeface="Arial"/>
              </a:rPr>
              <a:t>应对：以分子对接与动力学模拟、文献比对为主，将研究定位为“线索发现”，不夸大因果结论。</a:t>
            </a:r>
          </a:p>
        </p:txBody>
      </p:sp>
      <p:sp>
        <p:nvSpPr>
          <p:cNvPr id="9" name="Rectangle 8"/>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三个问题都有具体对策，不影响整体进度</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14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预期成果</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成果形式</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15</a:t>
            </a:r>
          </a:p>
        </p:txBody>
      </p:sp>
      <p:sp>
        <p:nvSpPr>
          <p:cNvPr id="6" name="TextBox 5"/>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健康人群与 AD 各阶段特有的候选抗菌肽清单，作为后续研究的线索集</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候选抗菌肽与 AD 发病机制关联的分析结果（Aβ 聚集、AChE 结合、炎症通路）</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候选抗菌肽抑菌活性的初步实验证据</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以第一作者撰写并投稿 SCI 收录论文 1 篇，并完成学位论文</a:t>
            </a:r>
          </a:p>
        </p:txBody>
      </p:sp>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成果既包括数据与清单，也包括机制线索与实验证据</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15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41B22"/>
                </a:solidFill>
                <a:latin typeface="Arial"/>
                <a:ea typeface="微软雅黑"/>
                <a:cs typeface="Arial"/>
              </a:rPr>
              <a:t>恳请各位老师批评指正</a:t>
            </a:r>
          </a:p>
          <a:p>
            <a:pPr algn="ctr">
              <a:lnSpc>
                <a:spcPct val="122000"/>
              </a:lnSpc>
              <a:spcBef>
                <a:spcPts val="0"/>
              </a:spcBef>
              <a:spcAft>
                <a:spcPts val="0"/>
              </a:spcAft>
            </a:pPr>
            <a:r>
              <a:rPr sz="2200" b="0">
                <a:solidFill>
                  <a:srgbClr val="E18A2E"/>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66727D"/>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