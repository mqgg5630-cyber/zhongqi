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深度版，聚焦三大机制的MD与QM方法。</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15项提纲。</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总览分类。</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MD细节。</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增强采样。</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自由能。</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QM细节。</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结合机制1。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结合机制2。</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肠道1。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肠道2。</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BBB1。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BBB2。</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BBB3。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整合。</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总结。</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bbb_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bbb_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7ce0bb49272eca4.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3171c5b5ad451e.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98797d0418b5752.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85725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Line 3"/>
          <p:cNvSpPr/>
          <p:nvPr/>
        </p:nvSpPr>
        <p:spPr>
          <a:xfrm>
            <a:off x="685800" y="933450"/>
            <a:ext cx="10820400" cy="9525"/>
          </a:xfrm>
          <a:custGeom>
            <a:avLst/>
            <a:gdLst/>
            <a:ahLst/>
            <a:cxnLst/>
            <a:rect l="l" t="t" r="r" b="b"/>
            <a:pathLst>
              <a:path w="10820400" h="9525">
                <a:moveTo>
                  <a:pt x="0" y="0"/>
                </a:moveTo>
                <a:lnTo>
                  <a:pt x="10820400" y="0"/>
                </a:lnTo>
              </a:path>
            </a:pathLst>
          </a:custGeom>
          <a:noFill/>
          <a:ln w="9525">
            <a:solidFill>
              <a:srgbClr val="DEDCD7"/>
            </a:solidFill>
          </a:ln>
        </p:spPr>
      </p:sp>
      <p:sp>
        <p:nvSpPr>
          <p:cNvPr id="4" name="TextBox 4"/>
          <p:cNvSpPr txBox="1"/>
          <p:nvPr/>
        </p:nvSpPr>
        <p:spPr>
          <a:xfrm>
            <a:off x="678180" y="1171575"/>
            <a:ext cx="3366390" cy="293370"/>
          </a:xfrm>
          <a:prstGeom prst="rect">
            <a:avLst/>
          </a:prstGeom>
          <a:noFill/>
          <a:ln>
            <a:noFill/>
          </a:ln>
        </p:spPr>
        <p:txBody>
          <a:bodyPr wrap="none" lIns="0" tIns="0" rIns="0" bIns="0" anchor="t" anchorCtr="0">
            <a:spAutoFit/>
          </a:bodyPr>
          <a:lstStyle/>
          <a:p>
            <a:pPr algn="l"/>
            <a:r>
              <a:rPr lang="zh-CN" sz="1500" b="1" spc="112" dirty="0">
                <a:solidFill>
                  <a:srgbClr val="B03A2E"/>
                </a:solidFill>
                <a:latin typeface="Georgia"/>
                <a:ea typeface="SimSun"/>
                <a:cs typeface="Georgia"/>
              </a:rPr>
              <a:t>Light-skills检索·计算方法拆解</a:t>
            </a:r>
          </a:p>
        </p:txBody>
      </p:sp>
      <p:sp>
        <p:nvSpPr>
          <p:cNvPr id="5" name="TextBox 5"/>
          <p:cNvSpPr txBox="1"/>
          <p:nvPr/>
        </p:nvSpPr>
        <p:spPr>
          <a:xfrm>
            <a:off x="669036" y="1644015"/>
            <a:ext cx="6104413" cy="645414"/>
          </a:xfrm>
          <a:prstGeom prst="rect">
            <a:avLst/>
          </a:prstGeom>
          <a:noFill/>
          <a:ln>
            <a:noFill/>
          </a:ln>
        </p:spPr>
        <p:txBody>
          <a:bodyPr wrap="none" lIns="0" tIns="0" rIns="0" bIns="0" anchor="t" anchorCtr="0">
            <a:spAutoFit/>
          </a:bodyPr>
          <a:lstStyle/>
          <a:p>
            <a:pPr algn="l"/>
            <a:r>
              <a:rPr lang="zh-CN" sz="3300" b="1" dirty="0">
                <a:solidFill>
                  <a:srgbClr val="141414"/>
                </a:solidFill>
                <a:latin typeface="Georgia"/>
                <a:ea typeface="SimSun"/>
                <a:cs typeface="Georgia"/>
              </a:rPr>
              <a:t>抗菌肽与AD结合机制深度版</a:t>
            </a:r>
          </a:p>
        </p:txBody>
      </p:sp>
      <p:sp>
        <p:nvSpPr>
          <p:cNvPr id="6" name="TextBox 6"/>
          <p:cNvSpPr txBox="1"/>
          <p:nvPr/>
        </p:nvSpPr>
        <p:spPr>
          <a:xfrm>
            <a:off x="669036" y="2167890"/>
            <a:ext cx="9430146" cy="645414"/>
          </a:xfrm>
          <a:prstGeom prst="rect">
            <a:avLst/>
          </a:prstGeom>
          <a:noFill/>
          <a:ln>
            <a:noFill/>
          </a:ln>
        </p:spPr>
        <p:txBody>
          <a:bodyPr wrap="none" lIns="0" tIns="0" rIns="0" bIns="0" anchor="t" anchorCtr="0">
            <a:spAutoFit/>
          </a:bodyPr>
          <a:lstStyle/>
          <a:p>
            <a:pPr algn="l"/>
            <a:r>
              <a:rPr lang="zh-CN" sz="3300" b="1" dirty="0">
                <a:solidFill>
                  <a:srgbClr val="141414"/>
                </a:solidFill>
                <a:latin typeface="Georgia"/>
                <a:ea typeface="SimSun"/>
                <a:cs typeface="Georgia"/>
              </a:rPr>
              <a:t>分子动力学+量子化学+肠道菌群+BBB穿透</a:t>
            </a:r>
          </a:p>
        </p:txBody>
      </p:sp>
      <p:sp>
        <p:nvSpPr>
          <p:cNvPr id="7" name="Line 7"/>
          <p:cNvSpPr/>
          <p:nvPr/>
        </p:nvSpPr>
        <p:spPr>
          <a:xfrm>
            <a:off x="685800" y="3276600"/>
            <a:ext cx="2095500" cy="9525"/>
          </a:xfrm>
          <a:custGeom>
            <a:avLst/>
            <a:gdLst/>
            <a:ahLst/>
            <a:cxnLst/>
            <a:rect l="l" t="t" r="r" b="b"/>
            <a:pathLst>
              <a:path w="2095500" h="9525">
                <a:moveTo>
                  <a:pt x="0" y="0"/>
                </a:moveTo>
                <a:lnTo>
                  <a:pt x="2095500" y="0"/>
                </a:lnTo>
              </a:path>
            </a:pathLst>
          </a:custGeom>
          <a:noFill/>
          <a:ln w="28575">
            <a:solidFill>
              <a:srgbClr val="B03A2E"/>
            </a:solidFill>
          </a:ln>
        </p:spPr>
      </p:sp>
      <p:sp>
        <p:nvSpPr>
          <p:cNvPr id="8" name="TextBox 8"/>
          <p:cNvSpPr txBox="1"/>
          <p:nvPr/>
        </p:nvSpPr>
        <p:spPr>
          <a:xfrm>
            <a:off x="678180" y="3571875"/>
            <a:ext cx="253936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文绍华　学号：2024110316</a:t>
            </a:r>
          </a:p>
        </p:txBody>
      </p:sp>
      <p:sp>
        <p:nvSpPr>
          <p:cNvPr id="9" name="TextBox 9"/>
          <p:cNvSpPr txBox="1"/>
          <p:nvPr/>
        </p:nvSpPr>
        <p:spPr>
          <a:xfrm>
            <a:off x="678180" y="3895725"/>
            <a:ext cx="284226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指导教师：申亮　生命科学学院</a:t>
            </a:r>
          </a:p>
        </p:txBody>
      </p:sp>
      <p:sp>
        <p:nvSpPr>
          <p:cNvPr id="10" name="TextBox 10"/>
          <p:cNvSpPr txBox="1"/>
          <p:nvPr/>
        </p:nvSpPr>
        <p:spPr>
          <a:xfrm>
            <a:off x="678180" y="4219575"/>
            <a:ext cx="304419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生物学（生物化学与分子生物学）</a:t>
            </a:r>
          </a:p>
        </p:txBody>
      </p:sp>
      <p:sp>
        <p:nvSpPr>
          <p:cNvPr id="11" name="TextBox 11"/>
          <p:cNvSpPr txBox="1"/>
          <p:nvPr/>
        </p:nvSpPr>
        <p:spPr>
          <a:xfrm>
            <a:off x="678180" y="4543425"/>
            <a:ext cx="97440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2026年9月</a:t>
            </a:r>
          </a:p>
        </p:txBody>
      </p:sp>
      <p:sp>
        <p:nvSpPr>
          <p:cNvPr id="12" name="TextBox 12"/>
          <p:cNvSpPr txBox="1"/>
          <p:nvPr/>
        </p:nvSpPr>
        <p:spPr>
          <a:xfrm>
            <a:off x="678180" y="4867275"/>
            <a:ext cx="284759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深度机制版·MD+QM+肠道+BBB</a:t>
            </a:r>
          </a:p>
        </p:txBody>
      </p:sp>
      <p:sp>
        <p:nvSpPr>
          <p:cNvPr id="13" name="TextBox 13"/>
          <p:cNvSpPr txBox="1"/>
          <p:nvPr/>
        </p:nvSpPr>
        <p:spPr>
          <a:xfrm>
            <a:off x="10721150" y="62198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01 / 17</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02 / 17</a:t>
            </a:r>
          </a:p>
        </p:txBody>
      </p:sp>
      <p:sp>
        <p:nvSpPr>
          <p:cNvPr id="4" name="TextBox 4"/>
          <p:cNvSpPr txBox="1"/>
          <p:nvPr/>
        </p:nvSpPr>
        <p:spPr>
          <a:xfrm>
            <a:off x="672084" y="756285"/>
            <a:ext cx="3753888"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提纲：三轴+计算分工</a:t>
            </a:r>
          </a:p>
        </p:txBody>
      </p:sp>
      <p:sp>
        <p:nvSpPr>
          <p:cNvPr id="5" name="Line 5"/>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6" name="TextBox 6"/>
          <p:cNvSpPr txBox="1"/>
          <p:nvPr/>
        </p:nvSpPr>
        <p:spPr>
          <a:xfrm>
            <a:off x="676656" y="1463040"/>
            <a:ext cx="32322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01</a:t>
            </a:r>
          </a:p>
        </p:txBody>
      </p:sp>
      <p:sp>
        <p:nvSpPr>
          <p:cNvPr id="7" name="TextBox 7"/>
          <p:cNvSpPr txBox="1"/>
          <p:nvPr/>
        </p:nvSpPr>
        <p:spPr>
          <a:xfrm>
            <a:off x="1135380" y="1495425"/>
            <a:ext cx="344614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计算方法总览：量化 vs 动力学 vs QM</a:t>
            </a:r>
          </a:p>
        </p:txBody>
      </p:sp>
      <p:sp>
        <p:nvSpPr>
          <p:cNvPr id="8" name="Line 8"/>
          <p:cNvSpPr/>
          <p:nvPr/>
        </p:nvSpPr>
        <p:spPr>
          <a:xfrm>
            <a:off x="685800" y="20193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9" name="TextBox 9"/>
          <p:cNvSpPr txBox="1"/>
          <p:nvPr/>
        </p:nvSpPr>
        <p:spPr>
          <a:xfrm>
            <a:off x="676656" y="2205990"/>
            <a:ext cx="35822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02</a:t>
            </a:r>
          </a:p>
        </p:txBody>
      </p:sp>
      <p:sp>
        <p:nvSpPr>
          <p:cNvPr id="10" name="TextBox 10"/>
          <p:cNvSpPr txBox="1"/>
          <p:nvPr/>
        </p:nvSpPr>
        <p:spPr>
          <a:xfrm>
            <a:off x="1135380" y="2238375"/>
            <a:ext cx="480974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全原子MD：GROMACS CHARMM36m TIP3P 20ns-1μs</a:t>
            </a:r>
          </a:p>
        </p:txBody>
      </p:sp>
      <p:sp>
        <p:nvSpPr>
          <p:cNvPr id="11" name="Line 11"/>
          <p:cNvSpPr/>
          <p:nvPr/>
        </p:nvSpPr>
        <p:spPr>
          <a:xfrm>
            <a:off x="685800" y="27622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2" name="TextBox 12"/>
          <p:cNvSpPr txBox="1"/>
          <p:nvPr/>
        </p:nvSpPr>
        <p:spPr>
          <a:xfrm>
            <a:off x="676656" y="2948940"/>
            <a:ext cx="357710"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03</a:t>
            </a:r>
          </a:p>
        </p:txBody>
      </p:sp>
      <p:sp>
        <p:nvSpPr>
          <p:cNvPr id="13" name="TextBox 13"/>
          <p:cNvSpPr txBox="1"/>
          <p:nvPr/>
        </p:nvSpPr>
        <p:spPr>
          <a:xfrm>
            <a:off x="1135380" y="2981325"/>
            <a:ext cx="469239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增强采样：REMD 32副本6.4μs·伞形采样23窗WHAM</a:t>
            </a:r>
          </a:p>
        </p:txBody>
      </p:sp>
      <p:sp>
        <p:nvSpPr>
          <p:cNvPr id="14" name="Line 14"/>
          <p:cNvSpPr/>
          <p:nvPr/>
        </p:nvSpPr>
        <p:spPr>
          <a:xfrm>
            <a:off x="685800" y="35052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5" name="TextBox 15"/>
          <p:cNvSpPr txBox="1"/>
          <p:nvPr/>
        </p:nvSpPr>
        <p:spPr>
          <a:xfrm>
            <a:off x="676656" y="3691890"/>
            <a:ext cx="364085"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04</a:t>
            </a:r>
          </a:p>
        </p:txBody>
      </p:sp>
      <p:sp>
        <p:nvSpPr>
          <p:cNvPr id="16" name="TextBox 16"/>
          <p:cNvSpPr txBox="1"/>
          <p:nvPr/>
        </p:nvSpPr>
        <p:spPr>
          <a:xfrm>
            <a:off x="1135380" y="3724275"/>
            <a:ext cx="388522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自由能：MM-PBSA与Woo&amp;Roux绝对自由能</a:t>
            </a:r>
          </a:p>
        </p:txBody>
      </p:sp>
      <p:sp>
        <p:nvSpPr>
          <p:cNvPr id="17" name="Line 17"/>
          <p:cNvSpPr/>
          <p:nvPr/>
        </p:nvSpPr>
        <p:spPr>
          <a:xfrm>
            <a:off x="685800" y="42481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8" name="TextBox 18"/>
          <p:cNvSpPr txBox="1"/>
          <p:nvPr/>
        </p:nvSpPr>
        <p:spPr>
          <a:xfrm>
            <a:off x="676656" y="4434840"/>
            <a:ext cx="351206"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05</a:t>
            </a:r>
          </a:p>
        </p:txBody>
      </p:sp>
      <p:sp>
        <p:nvSpPr>
          <p:cNvPr id="19" name="TextBox 19"/>
          <p:cNvSpPr txBox="1"/>
          <p:nvPr/>
        </p:nvSpPr>
        <p:spPr>
          <a:xfrm>
            <a:off x="1135380" y="4467225"/>
            <a:ext cx="315849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量子化学：QM/MM DFT FMO QPE</a:t>
            </a:r>
          </a:p>
        </p:txBody>
      </p:sp>
      <p:sp>
        <p:nvSpPr>
          <p:cNvPr id="20" name="Line 20"/>
          <p:cNvSpPr/>
          <p:nvPr/>
        </p:nvSpPr>
        <p:spPr>
          <a:xfrm>
            <a:off x="685800" y="4991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1" name="TextBox 21"/>
          <p:cNvSpPr txBox="1"/>
          <p:nvPr/>
        </p:nvSpPr>
        <p:spPr>
          <a:xfrm>
            <a:off x="676656" y="5177790"/>
            <a:ext cx="363726"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06</a:t>
            </a:r>
          </a:p>
        </p:txBody>
      </p:sp>
      <p:sp>
        <p:nvSpPr>
          <p:cNvPr id="22" name="TextBox 22"/>
          <p:cNvSpPr txBox="1"/>
          <p:nvPr/>
        </p:nvSpPr>
        <p:spPr>
          <a:xfrm>
            <a:off x="1135380" y="5210175"/>
            <a:ext cx="387305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结合：Aβ抗菌+LL-37纳摩尔+HNP-1双位点</a:t>
            </a:r>
          </a:p>
        </p:txBody>
      </p:sp>
      <p:sp>
        <p:nvSpPr>
          <p:cNvPr id="23" name="Line 23"/>
          <p:cNvSpPr/>
          <p:nvPr/>
        </p:nvSpPr>
        <p:spPr>
          <a:xfrm>
            <a:off x="685800" y="57340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4" name="TextBox 24"/>
          <p:cNvSpPr txBox="1"/>
          <p:nvPr/>
        </p:nvSpPr>
        <p:spPr>
          <a:xfrm>
            <a:off x="6372606" y="1463040"/>
            <a:ext cx="37097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08</a:t>
            </a:r>
          </a:p>
        </p:txBody>
      </p:sp>
      <p:sp>
        <p:nvSpPr>
          <p:cNvPr id="25" name="TextBox 25"/>
          <p:cNvSpPr txBox="1"/>
          <p:nvPr/>
        </p:nvSpPr>
        <p:spPr>
          <a:xfrm>
            <a:off x="6831330" y="1495425"/>
            <a:ext cx="401495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肠道：LPS-TLR4/MD-2 Papiliocin R13/R16</a:t>
            </a:r>
          </a:p>
        </p:txBody>
      </p:sp>
      <p:sp>
        <p:nvSpPr>
          <p:cNvPr id="26" name="Line 26"/>
          <p:cNvSpPr/>
          <p:nvPr/>
        </p:nvSpPr>
        <p:spPr>
          <a:xfrm>
            <a:off x="6381750" y="20193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7" name="TextBox 27"/>
          <p:cNvSpPr txBox="1"/>
          <p:nvPr/>
        </p:nvSpPr>
        <p:spPr>
          <a:xfrm>
            <a:off x="6372606" y="2205990"/>
            <a:ext cx="363726"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09</a:t>
            </a:r>
          </a:p>
        </p:txBody>
      </p:sp>
      <p:sp>
        <p:nvSpPr>
          <p:cNvPr id="28" name="TextBox 28"/>
          <p:cNvSpPr txBox="1"/>
          <p:nvPr/>
        </p:nvSpPr>
        <p:spPr>
          <a:xfrm>
            <a:off x="6831330" y="2238375"/>
            <a:ext cx="344805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肠道：网络药理与细菌淀粉样交叉播种</a:t>
            </a:r>
          </a:p>
        </p:txBody>
      </p:sp>
      <p:sp>
        <p:nvSpPr>
          <p:cNvPr id="29" name="Line 29"/>
          <p:cNvSpPr/>
          <p:nvPr/>
        </p:nvSpPr>
        <p:spPr>
          <a:xfrm>
            <a:off x="6381750" y="27622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0" name="TextBox 30"/>
          <p:cNvSpPr txBox="1"/>
          <p:nvPr/>
        </p:nvSpPr>
        <p:spPr>
          <a:xfrm>
            <a:off x="6372606" y="2948940"/>
            <a:ext cx="32322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10</a:t>
            </a:r>
          </a:p>
        </p:txBody>
      </p:sp>
      <p:sp>
        <p:nvSpPr>
          <p:cNvPr id="31" name="TextBox 31"/>
          <p:cNvSpPr txBox="1"/>
          <p:nvPr/>
        </p:nvSpPr>
        <p:spPr>
          <a:xfrm>
            <a:off x="6831330" y="2981325"/>
            <a:ext cx="403098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BBB：AMT/RMT·R9/MPG真实膜MD自由能垒</a:t>
            </a:r>
          </a:p>
        </p:txBody>
      </p:sp>
      <p:sp>
        <p:nvSpPr>
          <p:cNvPr id="32" name="Line 32"/>
          <p:cNvSpPr/>
          <p:nvPr/>
        </p:nvSpPr>
        <p:spPr>
          <a:xfrm>
            <a:off x="6381750" y="35052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3" name="TextBox 33"/>
          <p:cNvSpPr txBox="1"/>
          <p:nvPr/>
        </p:nvSpPr>
        <p:spPr>
          <a:xfrm>
            <a:off x="6372606" y="3691890"/>
            <a:ext cx="269097"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11</a:t>
            </a:r>
          </a:p>
        </p:txBody>
      </p:sp>
      <p:sp>
        <p:nvSpPr>
          <p:cNvPr id="34" name="TextBox 34"/>
          <p:cNvSpPr txBox="1"/>
          <p:nvPr/>
        </p:nvSpPr>
        <p:spPr>
          <a:xfrm>
            <a:off x="6831330" y="3724275"/>
            <a:ext cx="446255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BBB：ApoE Angiopep-2 O-BBB EC50 0.41-0.83</a:t>
            </a:r>
          </a:p>
        </p:txBody>
      </p:sp>
      <p:sp>
        <p:nvSpPr>
          <p:cNvPr id="35" name="Line 35"/>
          <p:cNvSpPr/>
          <p:nvPr/>
        </p:nvSpPr>
        <p:spPr>
          <a:xfrm>
            <a:off x="6381750" y="42481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6" name="TextBox 36"/>
          <p:cNvSpPr txBox="1"/>
          <p:nvPr/>
        </p:nvSpPr>
        <p:spPr>
          <a:xfrm>
            <a:off x="6372606" y="4434840"/>
            <a:ext cx="304097"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12</a:t>
            </a:r>
          </a:p>
        </p:txBody>
      </p:sp>
      <p:sp>
        <p:nvSpPr>
          <p:cNvPr id="37" name="TextBox 37"/>
          <p:cNvSpPr txBox="1"/>
          <p:nvPr/>
        </p:nvSpPr>
        <p:spPr>
          <a:xfrm>
            <a:off x="6831330" y="4467225"/>
            <a:ext cx="326631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整合：肠-血-脑轴正反馈与证据分级</a:t>
            </a:r>
          </a:p>
        </p:txBody>
      </p:sp>
      <p:sp>
        <p:nvSpPr>
          <p:cNvPr id="38" name="Line 38"/>
          <p:cNvSpPr/>
          <p:nvPr/>
        </p:nvSpPr>
        <p:spPr>
          <a:xfrm>
            <a:off x="6381750" y="4991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9" name="Line 39"/>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40" name="Rectangle 40"/>
          <p:cNvSpPr/>
          <p:nvPr/>
        </p:nvSpPr>
        <p:spPr>
          <a:xfrm>
            <a:off x="685800" y="6210300"/>
            <a:ext cx="133350" cy="133350"/>
          </a:xfrm>
          <a:prstGeom prst="rect">
            <a:avLst/>
          </a:prstGeom>
          <a:solidFill>
            <a:srgbClr val="B03A2E"/>
          </a:solidFill>
          <a:ln>
            <a:noFill/>
          </a:ln>
        </p:spPr>
      </p:sp>
      <p:sp>
        <p:nvSpPr>
          <p:cNvPr id="41" name="TextBox 41"/>
          <p:cNvSpPr txBox="1"/>
          <p:nvPr/>
        </p:nvSpPr>
        <p:spPr>
          <a:xfrm>
            <a:off x="963930" y="6172200"/>
            <a:ext cx="7252364"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结合用MD+自由能+QM，肠道用对接+网络药理+MD，BBB用真实膜MD+增强采样</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03 / 17</a:t>
            </a:r>
          </a:p>
        </p:txBody>
      </p:sp>
      <p:sp>
        <p:nvSpPr>
          <p:cNvPr id="4" name="TextBox 4"/>
          <p:cNvSpPr txBox="1"/>
          <p:nvPr/>
        </p:nvSpPr>
        <p:spPr>
          <a:xfrm>
            <a:off x="672084" y="756285"/>
            <a:ext cx="4251960"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计算方法总览：三类分工</a:t>
            </a:r>
          </a:p>
        </p:txBody>
      </p:sp>
      <p:sp>
        <p:nvSpPr>
          <p:cNvPr id="5" name="TextBox 5"/>
          <p:cNvSpPr txBox="1"/>
          <p:nvPr/>
        </p:nvSpPr>
        <p:spPr>
          <a:xfrm>
            <a:off x="678180" y="1190625"/>
            <a:ext cx="2537625"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量化 vs 动力学 vs 量子化学</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量化计算</a:t>
            </a:r>
          </a:p>
        </p:txBody>
      </p:sp>
      <p:sp>
        <p:nvSpPr>
          <p:cNvPr id="9" name="TextBox 9"/>
          <p:cNvSpPr txBox="1"/>
          <p:nvPr/>
        </p:nvSpPr>
        <p:spPr>
          <a:xfrm>
            <a:off x="1764030" y="1704975"/>
            <a:ext cx="905427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34维理化+PC6+PsePSSM-DCT静态毫秒级，CB-Dock2盲对接-6.8~-8.1，Vina盒子20Å exhaustiven</a:t>
            </a:r>
          </a:p>
        </p:txBody>
      </p:sp>
      <p:sp>
        <p:nvSpPr>
          <p:cNvPr id="10" name="TextBox 10"/>
          <p:cNvSpPr txBox="1"/>
          <p:nvPr/>
        </p:nvSpPr>
        <p:spPr>
          <a:xfrm>
            <a:off x="1764030" y="1952625"/>
            <a:ext cx="556164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ess20 9pose -7~-10 kcal/mol，HDOCK蛋白-蛋白，非动力学</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102489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动力学模拟</a:t>
            </a:r>
          </a:p>
        </p:txBody>
      </p:sp>
      <p:sp>
        <p:nvSpPr>
          <p:cNvPr id="13" name="TextBox 13"/>
          <p:cNvSpPr txBox="1"/>
          <p:nvPr/>
        </p:nvSpPr>
        <p:spPr>
          <a:xfrm>
            <a:off x="1954530" y="2343150"/>
            <a:ext cx="872602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GROMACS/AMBER/LAMMPS CHARMM36m/ff14SB TIP3P 12Å 150mM NVT100ps NPT100ps生产</a:t>
            </a:r>
          </a:p>
        </p:txBody>
      </p:sp>
      <p:sp>
        <p:nvSpPr>
          <p:cNvPr id="14" name="TextBox 14"/>
          <p:cNvSpPr txBox="1"/>
          <p:nvPr/>
        </p:nvSpPr>
        <p:spPr>
          <a:xfrm>
            <a:off x="1954530" y="2590800"/>
            <a:ext cx="906533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20ns-1μs 2fs LINCS PME1.2nm 310K，REMD 32副本300-500K 200ns/副本6.4μs，伞形采样23窗0</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102489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自由能量化</a:t>
            </a:r>
          </a:p>
        </p:txBody>
      </p:sp>
      <p:sp>
        <p:nvSpPr>
          <p:cNvPr id="17" name="TextBox 17"/>
          <p:cNvSpPr txBox="1"/>
          <p:nvPr/>
        </p:nvSpPr>
        <p:spPr>
          <a:xfrm>
            <a:off x="1954530" y="2981325"/>
            <a:ext cx="878889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MM-PBSA ΔG=ΔEvdw+ΔEelec+ΔGPB+ΔGSA-TΔS g_mmpbsa最后25%200帧 -50.6 kcal/mol -76.2</a:t>
            </a:r>
          </a:p>
        </p:txBody>
      </p:sp>
      <p:sp>
        <p:nvSpPr>
          <p:cNvPr id="18" name="TextBox 18"/>
          <p:cNvSpPr txBox="1"/>
          <p:nvPr/>
        </p:nvSpPr>
        <p:spPr>
          <a:xfrm>
            <a:off x="1954530" y="3228975"/>
            <a:ext cx="717035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8 kJ/mol -8.7±0.7，Woo&amp;Roux绝对结合自由能校正无序熵，FEP 2.3μs偏差大</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量子化学</a:t>
            </a:r>
          </a:p>
        </p:txBody>
      </p:sp>
      <p:sp>
        <p:nvSpPr>
          <p:cNvPr id="21" name="TextBox 21"/>
          <p:cNvSpPr txBox="1"/>
          <p:nvPr/>
        </p:nvSpPr>
        <p:spPr>
          <a:xfrm>
            <a:off x="1764030" y="3609975"/>
            <a:ext cx="912050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QM/MM DFT B3LYP/GFN2-xTB QM区金属+配位残基，FMO碎片能量组合，QPE双因子化qubitizatio</a:t>
            </a:r>
          </a:p>
        </p:txBody>
      </p:sp>
      <p:sp>
        <p:nvSpPr>
          <p:cNvPr id="22" name="TextBox 22"/>
          <p:cNvSpPr txBox="1"/>
          <p:nvPr/>
        </p:nvSpPr>
        <p:spPr>
          <a:xfrm>
            <a:off x="1764030" y="3867150"/>
            <a:ext cx="601389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n，键长偏差0.01-0.05Å氢键0.1Å，探索Glu/Asp/主链O多种配位</a:t>
            </a:r>
          </a:p>
        </p:txBody>
      </p:sp>
      <p:sp>
        <p:nvSpPr>
          <p:cNvPr id="23" name="Line 23"/>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4" name="Rectangle 24"/>
          <p:cNvSpPr/>
          <p:nvPr/>
        </p:nvSpPr>
        <p:spPr>
          <a:xfrm>
            <a:off x="685800" y="6210300"/>
            <a:ext cx="133350" cy="133350"/>
          </a:xfrm>
          <a:prstGeom prst="rect">
            <a:avLst/>
          </a:prstGeom>
          <a:solidFill>
            <a:srgbClr val="B03A2E"/>
          </a:solidFill>
          <a:ln>
            <a:noFill/>
          </a:ln>
        </p:spPr>
      </p:sp>
      <p:sp>
        <p:nvSpPr>
          <p:cNvPr id="25" name="TextBox 25"/>
          <p:cNvSpPr txBox="1"/>
          <p:nvPr/>
        </p:nvSpPr>
        <p:spPr>
          <a:xfrm>
            <a:off x="963930" y="6172200"/>
            <a:ext cx="4191638"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挖掘非动力学，结合与BBB是动力学+量化+QM</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04 / 17</a:t>
            </a:r>
          </a:p>
        </p:txBody>
      </p:sp>
      <p:sp>
        <p:nvSpPr>
          <p:cNvPr id="4" name="TextBox 4"/>
          <p:cNvSpPr txBox="1"/>
          <p:nvPr/>
        </p:nvSpPr>
        <p:spPr>
          <a:xfrm>
            <a:off x="672084" y="756285"/>
            <a:ext cx="10450752"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全原子MD：GROMACS CHARMM36m 20ns-1μs</a:t>
            </a:r>
          </a:p>
        </p:txBody>
      </p:sp>
      <p:sp>
        <p:nvSpPr>
          <p:cNvPr id="5" name="TextBox 5"/>
          <p:cNvSpPr txBox="1"/>
          <p:nvPr/>
        </p:nvSpPr>
        <p:spPr>
          <a:xfrm>
            <a:off x="678180" y="1190625"/>
            <a:ext cx="1302976"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经典MD参数</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软件力场</a:t>
            </a:r>
          </a:p>
        </p:txBody>
      </p:sp>
      <p:sp>
        <p:nvSpPr>
          <p:cNvPr id="9" name="TextBox 9"/>
          <p:cNvSpPr txBox="1"/>
          <p:nvPr/>
        </p:nvSpPr>
        <p:spPr>
          <a:xfrm>
            <a:off x="1764030" y="1704975"/>
            <a:ext cx="9232769" cy="293370"/>
          </a:xfrm>
          <a:prstGeom prst="rect">
            <a:avLst/>
          </a:prstGeom>
          <a:noFill/>
          <a:ln>
            <a:noFill/>
          </a:ln>
        </p:spPr>
        <p:txBody>
          <a:bodyPr wrap="none" lIns="0" tIns="0" rIns="0" bIns="0" anchor="t" anchorCtr="0">
            <a:spAutoFit/>
          </a:bodyPr>
          <a:lstStyle/>
          <a:p>
            <a:pPr algn="l"/>
            <a:r>
              <a:rPr lang="en-US" sz="1500" dirty="0">
                <a:solidFill>
                  <a:srgbClr val="2B2B2B"/>
                </a:solidFill>
                <a:latin typeface="Arial"/>
                <a:ea typeface="Arial"/>
                <a:cs typeface="Arial"/>
              </a:rPr>
              <a:t>GROMACS 2022.5/5.1.4 AMBER 20 LAMMPS CHARMM36m ff14SB GROMOS96 OPLS-AA TIP3P/SP</a:t>
            </a:r>
          </a:p>
        </p:txBody>
      </p:sp>
      <p:sp>
        <p:nvSpPr>
          <p:cNvPr id="10" name="TextBox 10"/>
          <p:cNvSpPr txBox="1"/>
          <p:nvPr/>
        </p:nvSpPr>
        <p:spPr>
          <a:xfrm>
            <a:off x="1764030" y="1952625"/>
            <a:ext cx="778592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C，5-10万原子，真实脑内皮膜模型PC/PE/PS/胆固醇/多不饱和脂肪酸PLUMED 2.2.0</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平衡生产</a:t>
            </a:r>
          </a:p>
        </p:txBody>
      </p:sp>
      <p:sp>
        <p:nvSpPr>
          <p:cNvPr id="13" name="TextBox 13"/>
          <p:cNvSpPr txBox="1"/>
          <p:nvPr/>
        </p:nvSpPr>
        <p:spPr>
          <a:xfrm>
            <a:off x="1764030" y="2343150"/>
            <a:ext cx="908021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最陡下降5000步阈值1000 kJ/mol/nm，NVT100ps 310K V-rescale+NPT100ps 1bar Parrinello-Rah</a:t>
            </a:r>
          </a:p>
        </p:txBody>
      </p:sp>
      <p:sp>
        <p:nvSpPr>
          <p:cNvPr id="14" name="TextBox 14"/>
          <p:cNvSpPr txBox="1"/>
          <p:nvPr/>
        </p:nvSpPr>
        <p:spPr>
          <a:xfrm>
            <a:off x="1764030" y="2590800"/>
            <a:ext cx="915020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man，2fs LINCS PME1.2nm NPT 310K 20ns-1μs：Atanasova 2020 AChE-Aβ 1μs RMSD&lt;3Å 344-36</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分析</a:t>
            </a:r>
          </a:p>
        </p:txBody>
      </p:sp>
      <p:sp>
        <p:nvSpPr>
          <p:cNvPr id="17" name="TextBox 17"/>
          <p:cNvSpPr txBox="1"/>
          <p:nvPr/>
        </p:nvSpPr>
        <p:spPr>
          <a:xfrm>
            <a:off x="1383030" y="2981325"/>
            <a:ext cx="941356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RMSD/RMSF/Rg/SASA/氢键/DSSP二级结构/GROMOS聚类0.2nm/PCA/接触图，氢键数&gt;5稳定，46个氢</a:t>
            </a:r>
          </a:p>
        </p:txBody>
      </p:sp>
      <p:sp>
        <p:nvSpPr>
          <p:cNvPr id="18" name="TextBox 18"/>
          <p:cNvSpPr txBox="1"/>
          <p:nvPr/>
        </p:nvSpPr>
        <p:spPr>
          <a:xfrm>
            <a:off x="1383030" y="3228975"/>
            <a:ext cx="350650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键Tachystatin -780k kcal/mol更稳定</a:t>
            </a:r>
          </a:p>
        </p:txBody>
      </p:sp>
      <p:sp>
        <p:nvSpPr>
          <p:cNvPr id="19" name="Line 19"/>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0" name="Rectangle 20"/>
          <p:cNvSpPr/>
          <p:nvPr/>
        </p:nvSpPr>
        <p:spPr>
          <a:xfrm>
            <a:off x="685800" y="6210300"/>
            <a:ext cx="133350" cy="133350"/>
          </a:xfrm>
          <a:prstGeom prst="rect">
            <a:avLst/>
          </a:prstGeom>
          <a:solidFill>
            <a:srgbClr val="B03A2E"/>
          </a:solidFill>
          <a:ln>
            <a:noFill/>
          </a:ln>
        </p:spPr>
      </p:sp>
      <p:sp>
        <p:nvSpPr>
          <p:cNvPr id="21" name="TextBox 21"/>
          <p:cNvSpPr txBox="1"/>
          <p:nvPr/>
        </p:nvSpPr>
        <p:spPr>
          <a:xfrm>
            <a:off x="963930" y="6172200"/>
            <a:ext cx="3133496"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经典MD验证对接稳定性，参数具体</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05 / 17</a:t>
            </a:r>
          </a:p>
        </p:txBody>
      </p:sp>
      <p:sp>
        <p:nvSpPr>
          <p:cNvPr id="4" name="TextBox 4"/>
          <p:cNvSpPr txBox="1"/>
          <p:nvPr/>
        </p:nvSpPr>
        <p:spPr>
          <a:xfrm>
            <a:off x="672084" y="756285"/>
            <a:ext cx="8284431"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增强采样：REMD·伞形采样·Metadynamics</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克服能垒</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552907"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REMD</a:t>
            </a:r>
          </a:p>
        </p:txBody>
      </p:sp>
      <p:sp>
        <p:nvSpPr>
          <p:cNvPr id="9" name="TextBox 9"/>
          <p:cNvSpPr txBox="1"/>
          <p:nvPr/>
        </p:nvSpPr>
        <p:spPr>
          <a:xfrm>
            <a:off x="1525905" y="1704975"/>
            <a:ext cx="930680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32副本300-500K每2ps交换200ns/副本共6.4μs Amentoflavone抑制Aβ，克服能垒得构象簇，AChE-Aβ</a:t>
            </a:r>
          </a:p>
        </p:txBody>
      </p:sp>
      <p:sp>
        <p:nvSpPr>
          <p:cNvPr id="10" name="TextBox 10"/>
          <p:cNvSpPr txBox="1"/>
          <p:nvPr/>
        </p:nvSpPr>
        <p:spPr>
          <a:xfrm>
            <a:off x="1525905" y="1952625"/>
            <a:ext cx="122682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第二界面验证</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伞形采样</a:t>
            </a:r>
          </a:p>
        </p:txBody>
      </p:sp>
      <p:sp>
        <p:nvSpPr>
          <p:cNvPr id="13" name="TextBox 13"/>
          <p:cNvSpPr txBox="1"/>
          <p:nvPr/>
        </p:nvSpPr>
        <p:spPr>
          <a:xfrm>
            <a:off x="1764030" y="2343150"/>
            <a:ext cx="887425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CV质心距离0.20-1.30nm 23窗0.05nm每窗145ns+5ns平衡谐振偏置WHAM构建PMF，用于ΔG_Dime</a:t>
            </a:r>
          </a:p>
        </p:txBody>
      </p:sp>
      <p:sp>
        <p:nvSpPr>
          <p:cNvPr id="14" name="TextBox 14"/>
          <p:cNvSpPr txBox="1"/>
          <p:nvPr/>
        </p:nvSpPr>
        <p:spPr>
          <a:xfrm>
            <a:off x="1764030" y="2590800"/>
            <a:ext cx="896838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rization=ΔG_Release+ΔG_Dissociation，Aβ9-40原纤维延伸，标准结合自由能不加约束偏差大，加</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1453170"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Metadynamics</a:t>
            </a:r>
          </a:p>
        </p:txBody>
      </p:sp>
      <p:sp>
        <p:nvSpPr>
          <p:cNvPr id="17" name="TextBox 17"/>
          <p:cNvSpPr txBox="1"/>
          <p:nvPr/>
        </p:nvSpPr>
        <p:spPr>
          <a:xfrm>
            <a:off x="2287905" y="2981325"/>
            <a:ext cx="860842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CV RMSD/配位数沉积高斯偏置探索自由能面，QM中Al(III)与Aβ N端GFN2-xTB k_i/N=0.025 E_</a:t>
            </a:r>
          </a:p>
        </p:txBody>
      </p:sp>
      <p:sp>
        <p:nvSpPr>
          <p:cNvPr id="18" name="TextBox 18"/>
          <p:cNvSpPr txBox="1"/>
          <p:nvPr/>
        </p:nvSpPr>
        <p:spPr>
          <a:xfrm>
            <a:off x="2287905" y="3228975"/>
            <a:ext cx="696582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h，20-50ps肽灵活后配位键断裂探索Glu/Asp/主链O多种模式，证明高度易变</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508102"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REUS</a:t>
            </a:r>
          </a:p>
        </p:txBody>
      </p:sp>
      <p:sp>
        <p:nvSpPr>
          <p:cNvPr id="21" name="TextBox 21"/>
          <p:cNvSpPr txBox="1"/>
          <p:nvPr/>
        </p:nvSpPr>
        <p:spPr>
          <a:xfrm>
            <a:off x="1487805" y="3609975"/>
            <a:ext cx="892664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副本交换伞形采样从不同初始条件增强膜蛋白二聚化收敛，解决粗粒化力场近天然占优但Kd合理问题</a:t>
            </a:r>
          </a:p>
        </p:txBody>
      </p:sp>
      <p:sp>
        <p:nvSpPr>
          <p:cNvPr id="22" name="Line 2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3" name="Rectangle 23"/>
          <p:cNvSpPr/>
          <p:nvPr/>
        </p:nvSpPr>
        <p:spPr>
          <a:xfrm>
            <a:off x="685800" y="6210300"/>
            <a:ext cx="133350" cy="133350"/>
          </a:xfrm>
          <a:prstGeom prst="rect">
            <a:avLst/>
          </a:prstGeom>
          <a:solidFill>
            <a:srgbClr val="B03A2E"/>
          </a:solidFill>
          <a:ln>
            <a:noFill/>
          </a:ln>
        </p:spPr>
      </p:sp>
      <p:sp>
        <p:nvSpPr>
          <p:cNvPr id="24" name="TextBox 24"/>
          <p:cNvSpPr txBox="1"/>
          <p:nvPr/>
        </p:nvSpPr>
        <p:spPr>
          <a:xfrm>
            <a:off x="963930" y="6172200"/>
            <a:ext cx="284226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增强采样解决无序肽构象空间大</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06 / 17</a:t>
            </a:r>
          </a:p>
        </p:txBody>
      </p:sp>
      <p:sp>
        <p:nvSpPr>
          <p:cNvPr id="4" name="TextBox 4"/>
          <p:cNvSpPr txBox="1"/>
          <p:nvPr/>
        </p:nvSpPr>
        <p:spPr>
          <a:xfrm>
            <a:off x="672084" y="756285"/>
            <a:ext cx="7103621"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自由能：MM-PBSA与绝对结合自由能</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量化计算</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公式</a:t>
            </a:r>
          </a:p>
        </p:txBody>
      </p:sp>
      <p:sp>
        <p:nvSpPr>
          <p:cNvPr id="9" name="TextBox 9"/>
          <p:cNvSpPr txBox="1"/>
          <p:nvPr/>
        </p:nvSpPr>
        <p:spPr>
          <a:xfrm>
            <a:off x="1383030" y="1704975"/>
            <a:ext cx="9254606" cy="293370"/>
          </a:xfrm>
          <a:prstGeom prst="rect">
            <a:avLst/>
          </a:prstGeom>
          <a:noFill/>
          <a:ln>
            <a:noFill/>
          </a:ln>
        </p:spPr>
        <p:txBody>
          <a:bodyPr wrap="none" lIns="0" tIns="0" rIns="0" bIns="0" anchor="t" anchorCtr="0">
            <a:spAutoFit/>
          </a:bodyPr>
          <a:lstStyle/>
          <a:p>
            <a:pPr algn="l"/>
            <a:r>
              <a:rPr lang="el-GR" sz="1500" dirty="0">
                <a:solidFill>
                  <a:srgbClr val="2B2B2B"/>
                </a:solidFill>
                <a:latin typeface="Arial"/>
                <a:ea typeface="Arial"/>
                <a:cs typeface="Arial"/>
              </a:rPr>
              <a:t>ΔG_bind=G_complex-(G_rec+G_lig)=ΔE_MM+ΔG_solv-TΔS ΔE_MM=ΔE_vdw+ΔE_elec ΔG_solv=ΔG_P</a:t>
            </a:r>
          </a:p>
        </p:txBody>
      </p:sp>
      <p:sp>
        <p:nvSpPr>
          <p:cNvPr id="10" name="TextBox 10"/>
          <p:cNvSpPr txBox="1"/>
          <p:nvPr/>
        </p:nvSpPr>
        <p:spPr>
          <a:xfrm>
            <a:off x="1383030" y="1952625"/>
            <a:ext cx="358654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B/GB+ΔG_SA极性+非极性，-TΔS常省略</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实例</a:t>
            </a:r>
          </a:p>
        </p:txBody>
      </p:sp>
      <p:sp>
        <p:nvSpPr>
          <p:cNvPr id="13" name="TextBox 13"/>
          <p:cNvSpPr txBox="1"/>
          <p:nvPr/>
        </p:nvSpPr>
        <p:spPr>
          <a:xfrm>
            <a:off x="1383030" y="2343150"/>
            <a:ext cx="948106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BiLSTM+MD ADNP7-Aβ42 -50.6 kcal/mol疏水芳香PHE12 TRP50；RR-AFC -76.28 kJ/mol静电范德华非</a:t>
            </a:r>
          </a:p>
        </p:txBody>
      </p:sp>
      <p:sp>
        <p:nvSpPr>
          <p:cNvPr id="14" name="TextBox 14"/>
          <p:cNvSpPr txBox="1"/>
          <p:nvPr/>
        </p:nvSpPr>
        <p:spPr>
          <a:xfrm>
            <a:off x="1383030" y="2590800"/>
            <a:ext cx="936373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极性；Amentoflavone 16KLVFFAEDV24非极性&gt;71%；Mint2-APP 400ns 5重复氢键&gt;20%筛选突变体低6</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绝对结合</a:t>
            </a:r>
          </a:p>
        </p:txBody>
      </p:sp>
      <p:sp>
        <p:nvSpPr>
          <p:cNvPr id="17" name="TextBox 17"/>
          <p:cNvSpPr txBox="1"/>
          <p:nvPr/>
        </p:nvSpPr>
        <p:spPr>
          <a:xfrm>
            <a:off x="1764030" y="2981325"/>
            <a:ext cx="894763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Woo&amp;Roux约束法：引入构象/取向约束校正PMF ΔG°=-ΔG_Ω(x_B)+ΔU_Ω(x_B)+ΔG_V，解决无序熵</a:t>
            </a:r>
          </a:p>
        </p:txBody>
      </p:sp>
      <p:sp>
        <p:nvSpPr>
          <p:cNvPr id="18" name="TextBox 18"/>
          <p:cNvSpPr txBox="1"/>
          <p:nvPr/>
        </p:nvSpPr>
        <p:spPr>
          <a:xfrm>
            <a:off x="1764030" y="3228975"/>
            <a:ext cx="702067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惩罚，实验Kd -7.87 vs 计算-8.7±0.7吻合，FEP 2.3μs得0.55±30.25偏差大</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分解</a:t>
            </a:r>
          </a:p>
        </p:txBody>
      </p:sp>
      <p:sp>
        <p:nvSpPr>
          <p:cNvPr id="21" name="TextBox 21"/>
          <p:cNvSpPr txBox="1"/>
          <p:nvPr/>
        </p:nvSpPr>
        <p:spPr>
          <a:xfrm>
            <a:off x="1383030" y="3609975"/>
            <a:ext cx="344666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MmPbSaDecomp.py每残基贡献找热点</a:t>
            </a:r>
          </a:p>
        </p:txBody>
      </p:sp>
      <p:sp>
        <p:nvSpPr>
          <p:cNvPr id="22" name="Line 2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3" name="Rectangle 23"/>
          <p:cNvSpPr/>
          <p:nvPr/>
        </p:nvSpPr>
        <p:spPr>
          <a:xfrm>
            <a:off x="685800" y="6210300"/>
            <a:ext cx="133350" cy="133350"/>
          </a:xfrm>
          <a:prstGeom prst="rect">
            <a:avLst/>
          </a:prstGeom>
          <a:solidFill>
            <a:srgbClr val="B03A2E"/>
          </a:solidFill>
          <a:ln>
            <a:noFill/>
          </a:ln>
        </p:spPr>
      </p:sp>
      <p:sp>
        <p:nvSpPr>
          <p:cNvPr id="24" name="TextBox 24"/>
          <p:cNvSpPr txBox="1"/>
          <p:nvPr/>
        </p:nvSpPr>
        <p:spPr>
          <a:xfrm>
            <a:off x="963930" y="6172200"/>
            <a:ext cx="4804029"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MM-PBSA比对接打分更准，绝对自由能解决无序问题</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07 / 17</a:t>
            </a:r>
          </a:p>
        </p:txBody>
      </p:sp>
      <p:sp>
        <p:nvSpPr>
          <p:cNvPr id="4" name="TextBox 4"/>
          <p:cNvSpPr txBox="1"/>
          <p:nvPr/>
        </p:nvSpPr>
        <p:spPr>
          <a:xfrm>
            <a:off x="672084" y="756285"/>
            <a:ext cx="7576304"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量子化学：QM/MM DFT FMO QPE</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金属结合</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背景</a:t>
            </a:r>
          </a:p>
        </p:txBody>
      </p:sp>
      <p:sp>
        <p:nvSpPr>
          <p:cNvPr id="9" name="TextBox 9"/>
          <p:cNvSpPr txBox="1"/>
          <p:nvPr/>
        </p:nvSpPr>
        <p:spPr>
          <a:xfrm>
            <a:off x="1383030" y="1704975"/>
            <a:ext cx="667559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Aβ与Al/Cu/Zn结合影响聚集，经典力场无法描述电荷转移配位断裂，需QM</a:t>
            </a:r>
          </a:p>
        </p:txBody>
      </p:sp>
      <p:sp>
        <p:nvSpPr>
          <p:cNvPr id="10" name="Rectangle 10"/>
          <p:cNvSpPr/>
          <p:nvPr/>
        </p:nvSpPr>
        <p:spPr>
          <a:xfrm>
            <a:off x="685800" y="2133600"/>
            <a:ext cx="76200" cy="76200"/>
          </a:xfrm>
          <a:prstGeom prst="rect">
            <a:avLst/>
          </a:prstGeom>
          <a:solidFill>
            <a:srgbClr val="B03A2E"/>
          </a:solidFill>
          <a:ln>
            <a:noFill/>
          </a:ln>
        </p:spPr>
      </p:sp>
      <p:sp>
        <p:nvSpPr>
          <p:cNvPr id="11" name="TextBox 11"/>
          <p:cNvSpPr txBox="1"/>
          <p:nvPr/>
        </p:nvSpPr>
        <p:spPr>
          <a:xfrm>
            <a:off x="887730" y="2085975"/>
            <a:ext cx="810539"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QM/MM</a:t>
            </a:r>
          </a:p>
        </p:txBody>
      </p:sp>
      <p:sp>
        <p:nvSpPr>
          <p:cNvPr id="12" name="TextBox 12"/>
          <p:cNvSpPr txBox="1"/>
          <p:nvPr/>
        </p:nvSpPr>
        <p:spPr>
          <a:xfrm>
            <a:off x="1678305" y="2085975"/>
            <a:ext cx="897693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QM区金属+配位残基Glu3 Asp7 Glu11+水DFT B3LYP/6-31G*或GFN2-xTB半经验，MM区CHARMM36</a:t>
            </a:r>
          </a:p>
        </p:txBody>
      </p:sp>
      <p:sp>
        <p:nvSpPr>
          <p:cNvPr id="13" name="TextBox 13"/>
          <p:cNvSpPr txBox="1"/>
          <p:nvPr/>
        </p:nvSpPr>
        <p:spPr>
          <a:xfrm>
            <a:off x="1678305" y="2343150"/>
            <a:ext cx="183261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，每步自洽响应环境</a:t>
            </a:r>
          </a:p>
        </p:txBody>
      </p:sp>
      <p:sp>
        <p:nvSpPr>
          <p:cNvPr id="14" name="Rectangle 14"/>
          <p:cNvSpPr/>
          <p:nvPr/>
        </p:nvSpPr>
        <p:spPr>
          <a:xfrm>
            <a:off x="685800" y="2771775"/>
            <a:ext cx="76200" cy="76200"/>
          </a:xfrm>
          <a:prstGeom prst="rect">
            <a:avLst/>
          </a:prstGeom>
          <a:solidFill>
            <a:srgbClr val="B03A2E"/>
          </a:solidFill>
          <a:ln>
            <a:noFill/>
          </a:ln>
        </p:spPr>
      </p:sp>
      <p:sp>
        <p:nvSpPr>
          <p:cNvPr id="15" name="TextBox 15"/>
          <p:cNvSpPr txBox="1"/>
          <p:nvPr/>
        </p:nvSpPr>
        <p:spPr>
          <a:xfrm>
            <a:off x="887730" y="2724150"/>
            <a:ext cx="1396022"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GFN2-xTB验证</a:t>
            </a:r>
          </a:p>
        </p:txBody>
      </p:sp>
      <p:sp>
        <p:nvSpPr>
          <p:cNvPr id="16" name="TextBox 16"/>
          <p:cNvSpPr txBox="1"/>
          <p:nvPr/>
        </p:nvSpPr>
        <p:spPr>
          <a:xfrm>
            <a:off x="2259330" y="2724150"/>
            <a:ext cx="884067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Al-A单齿Asp键长比DFT短0.01-0.03Å水配位&lt;0.05Å氢键0.1Å可接受，ns级可达，用于Al(H2O)6</a:t>
            </a:r>
          </a:p>
        </p:txBody>
      </p:sp>
      <p:sp>
        <p:nvSpPr>
          <p:cNvPr id="17" name="TextBox 17"/>
          <p:cNvSpPr txBox="1"/>
          <p:nvPr/>
        </p:nvSpPr>
        <p:spPr>
          <a:xfrm>
            <a:off x="2259330" y="2981325"/>
            <a:ext cx="322707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与EAAAD从氢键接触到配位无偏发现</a:t>
            </a:r>
          </a:p>
        </p:txBody>
      </p:sp>
      <p:sp>
        <p:nvSpPr>
          <p:cNvPr id="18" name="Rectangle 18"/>
          <p:cNvSpPr/>
          <p:nvPr/>
        </p:nvSpPr>
        <p:spPr>
          <a:xfrm>
            <a:off x="685800" y="3409950"/>
            <a:ext cx="76200" cy="76200"/>
          </a:xfrm>
          <a:prstGeom prst="rect">
            <a:avLst/>
          </a:prstGeom>
          <a:solidFill>
            <a:srgbClr val="B03A2E"/>
          </a:solidFill>
          <a:ln>
            <a:noFill/>
          </a:ln>
        </p:spPr>
      </p:sp>
      <p:sp>
        <p:nvSpPr>
          <p:cNvPr id="19" name="TextBox 19"/>
          <p:cNvSpPr txBox="1"/>
          <p:nvPr/>
        </p:nvSpPr>
        <p:spPr>
          <a:xfrm>
            <a:off x="887730" y="3362325"/>
            <a:ext cx="1012165"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FMO+QPE</a:t>
            </a:r>
          </a:p>
        </p:txBody>
      </p:sp>
      <p:sp>
        <p:nvSpPr>
          <p:cNvPr id="20" name="TextBox 20"/>
          <p:cNvSpPr txBox="1"/>
          <p:nvPr/>
        </p:nvSpPr>
        <p:spPr>
          <a:xfrm>
            <a:off x="1887855" y="3362325"/>
            <a:ext cx="849401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碎片分子轨道分碎片QM后组合，工作流PDB→经典粗优化多个极小→QM/MM精优化→FMO能量比</a:t>
            </a:r>
          </a:p>
        </p:txBody>
      </p:sp>
      <p:sp>
        <p:nvSpPr>
          <p:cNvPr id="21" name="TextBox 21"/>
          <p:cNvSpPr txBox="1"/>
          <p:nvPr/>
        </p:nvSpPr>
        <p:spPr>
          <a:xfrm>
            <a:off x="1887855" y="3609975"/>
            <a:ext cx="764494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较+色散溶剂化校正→亲和力，QPE双因子化qubitization T门复杂度评估未来量子加速</a:t>
            </a:r>
          </a:p>
        </p:txBody>
      </p:sp>
      <p:sp>
        <p:nvSpPr>
          <p:cNvPr id="22" name="Rectangle 22"/>
          <p:cNvSpPr/>
          <p:nvPr/>
        </p:nvSpPr>
        <p:spPr>
          <a:xfrm>
            <a:off x="685800" y="4048125"/>
            <a:ext cx="76200" cy="76200"/>
          </a:xfrm>
          <a:prstGeom prst="rect">
            <a:avLst/>
          </a:prstGeom>
          <a:solidFill>
            <a:srgbClr val="B03A2E"/>
          </a:solidFill>
          <a:ln>
            <a:noFill/>
          </a:ln>
        </p:spPr>
      </p:sp>
      <p:sp>
        <p:nvSpPr>
          <p:cNvPr id="23" name="TextBox 23"/>
          <p:cNvSpPr txBox="1"/>
          <p:nvPr/>
        </p:nvSpPr>
        <p:spPr>
          <a:xfrm>
            <a:off x="887730" y="4000500"/>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发现</a:t>
            </a:r>
          </a:p>
        </p:txBody>
      </p:sp>
      <p:sp>
        <p:nvSpPr>
          <p:cNvPr id="24" name="TextBox 24"/>
          <p:cNvSpPr txBox="1"/>
          <p:nvPr/>
        </p:nvSpPr>
        <p:spPr>
          <a:xfrm>
            <a:off x="1383030" y="4000500"/>
            <a:ext cx="952862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Al(III) N端酸性残基高度易变内层4外层2-3单齿Glu3 Asp7双齿Glu11主链O也参与，破坏盐桥Asp23-Lys28</a:t>
            </a:r>
          </a:p>
        </p:txBody>
      </p:sp>
      <p:sp>
        <p:nvSpPr>
          <p:cNvPr id="25" name="TextBox 25"/>
          <p:cNvSpPr txBox="1"/>
          <p:nvPr/>
        </p:nvSpPr>
        <p:spPr>
          <a:xfrm>
            <a:off x="1383030" y="4248150"/>
            <a:ext cx="857097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重要纤维，高螺旋锚定Asp7-Glu11 RMSF&lt;3.6Å CHC Leu17-Ala21 C端高易变Gly33氢键低RMSF</a:t>
            </a:r>
          </a:p>
        </p:txBody>
      </p:sp>
      <p:sp>
        <p:nvSpPr>
          <p:cNvPr id="26" name="Line 26"/>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7" name="Rectangle 27"/>
          <p:cNvSpPr/>
          <p:nvPr/>
        </p:nvSpPr>
        <p:spPr>
          <a:xfrm>
            <a:off x="685800" y="6210300"/>
            <a:ext cx="133350" cy="133350"/>
          </a:xfrm>
          <a:prstGeom prst="rect">
            <a:avLst/>
          </a:prstGeom>
          <a:solidFill>
            <a:srgbClr val="B03A2E"/>
          </a:solidFill>
          <a:ln>
            <a:noFill/>
          </a:ln>
        </p:spPr>
      </p:sp>
      <p:sp>
        <p:nvSpPr>
          <p:cNvPr id="28" name="TextBox 28"/>
          <p:cNvSpPr txBox="1"/>
          <p:nvPr/>
        </p:nvSpPr>
        <p:spPr>
          <a:xfrm>
            <a:off x="963930" y="6172200"/>
            <a:ext cx="2774442"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QM揭示配位易变性与盐桥破坏</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08 / 17</a:t>
            </a:r>
          </a:p>
        </p:txBody>
      </p:sp>
      <p:sp>
        <p:nvSpPr>
          <p:cNvPr id="4" name="TextBox 4"/>
          <p:cNvSpPr txBox="1"/>
          <p:nvPr/>
        </p:nvSpPr>
        <p:spPr>
          <a:xfrm>
            <a:off x="672084" y="756285"/>
            <a:ext cx="9503932"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AMP-AD结合1：Aβ抗菌+LL-37纳摩尔+HNP-1</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结合机制</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771650"/>
            <a:ext cx="10972800" cy="2162175"/>
          </a:xfrm>
          <a:prstGeom prst="roundRect">
            <a:avLst>
              <a:gd name="adj" fmla="val 440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4210050" y="1905000"/>
            <a:ext cx="3781425" cy="1895475"/>
          </a:xfrm>
          <a:prstGeom prst="rect">
            <a:avLst/>
          </a:prstGeom>
        </p:spPr>
      </p:pic>
      <p:sp>
        <p:nvSpPr>
          <p:cNvPr id="9" name="TextBox 9"/>
          <p:cNvSpPr txBox="1"/>
          <p:nvPr/>
        </p:nvSpPr>
        <p:spPr>
          <a:xfrm>
            <a:off x="678180" y="3905250"/>
            <a:ext cx="1013134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Soscia 2010 Aβ42 8菌≥LL-37 AD脑匀浆高24%抗体清除；Kumar 2016转基因小鼠线虫提高存活寡聚化必需；LL-</a:t>
            </a:r>
          </a:p>
        </p:txBody>
      </p:sp>
      <p:sp>
        <p:nvSpPr>
          <p:cNvPr id="10" name="TextBox 10"/>
          <p:cNvSpPr txBox="1"/>
          <p:nvPr/>
        </p:nvSpPr>
        <p:spPr>
          <a:xfrm>
            <a:off x="678180" y="4152900"/>
            <a:ext cx="1002344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37与Aβ纳摩尔亲和De Lorenzi 2017 SPR+CD Kd≈nM抑制纤维稳定寡聚体；Barron 2024 Chem Soc Rev序列互补</a:t>
            </a:r>
          </a:p>
        </p:txBody>
      </p:sp>
      <p:sp>
        <p:nvSpPr>
          <p:cNvPr id="11" name="TextBox 11"/>
          <p:cNvSpPr txBox="1"/>
          <p:nvPr/>
        </p:nvSpPr>
        <p:spPr>
          <a:xfrm>
            <a:off x="678180" y="4410075"/>
            <a:ext cx="1007951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交叉播种α-防御素序列非依赖β结构接合构象选择结合，HNP-1二聚体对接+MD结合Aβ/hIAPP五聚体β-sheet和U-</a:t>
            </a:r>
          </a:p>
        </p:txBody>
      </p:sp>
      <p:sp>
        <p:nvSpPr>
          <p:cNvPr id="12" name="Line 1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3" name="Rectangle 13"/>
          <p:cNvSpPr/>
          <p:nvPr/>
        </p:nvSpPr>
        <p:spPr>
          <a:xfrm>
            <a:off x="685800" y="6210300"/>
            <a:ext cx="133350" cy="133350"/>
          </a:xfrm>
          <a:prstGeom prst="rect">
            <a:avLst/>
          </a:prstGeom>
          <a:solidFill>
            <a:srgbClr val="B03A2E"/>
          </a:solidFill>
          <a:ln>
            <a:noFill/>
          </a:ln>
        </p:spPr>
      </p:sp>
      <p:sp>
        <p:nvSpPr>
          <p:cNvPr id="14" name="TextBox 14"/>
          <p:cNvSpPr txBox="1"/>
          <p:nvPr/>
        </p:nvSpPr>
        <p:spPr>
          <a:xfrm>
            <a:off x="963930" y="6172200"/>
            <a:ext cx="3766595"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结合改变聚集路径增强毒性，β结构是模板</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09 / 17</a:t>
            </a:r>
          </a:p>
        </p:txBody>
      </p:sp>
      <p:sp>
        <p:nvSpPr>
          <p:cNvPr id="4" name="TextBox 4"/>
          <p:cNvSpPr txBox="1"/>
          <p:nvPr/>
        </p:nvSpPr>
        <p:spPr>
          <a:xfrm>
            <a:off x="672084" y="756285"/>
            <a:ext cx="9545635"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AMP-AD结合2：AChE-PAS 344-361 1μs MD</a:t>
            </a:r>
          </a:p>
        </p:txBody>
      </p:sp>
      <p:sp>
        <p:nvSpPr>
          <p:cNvPr id="5" name="TextBox 5"/>
          <p:cNvSpPr txBox="1"/>
          <p:nvPr/>
        </p:nvSpPr>
        <p:spPr>
          <a:xfrm>
            <a:off x="678180" y="1190625"/>
            <a:ext cx="1452238"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AChE-Aβ机制</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771650"/>
            <a:ext cx="10972800" cy="2162175"/>
          </a:xfrm>
          <a:prstGeom prst="roundRect">
            <a:avLst>
              <a:gd name="adj" fmla="val 440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3362325" y="1905000"/>
            <a:ext cx="5467350" cy="1895475"/>
          </a:xfrm>
          <a:prstGeom prst="rect">
            <a:avLst/>
          </a:prstGeom>
        </p:spPr>
      </p:pic>
      <p:sp>
        <p:nvSpPr>
          <p:cNvPr id="9" name="TextBox 9"/>
          <p:cNvSpPr txBox="1"/>
          <p:nvPr/>
        </p:nvSpPr>
        <p:spPr>
          <a:xfrm>
            <a:off x="678180" y="3905250"/>
            <a:ext cx="1020964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Inestrosa1996 AChE-PAS成核propidium75%阻断；De Ferrari 2001对接4位点Site I疏水Kd184μM ΔG≈-5；Ines</a:t>
            </a:r>
          </a:p>
        </p:txBody>
      </p:sp>
      <p:sp>
        <p:nvSpPr>
          <p:cNvPr id="10" name="TextBox 10"/>
          <p:cNvSpPr txBox="1"/>
          <p:nvPr/>
        </p:nvSpPr>
        <p:spPr>
          <a:xfrm>
            <a:off x="678180" y="4152900"/>
            <a:ext cx="1025561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trosa2008第二界面；Atanasova 2020 1μs MD RMSD&lt;3Å Aβ停留344-361第二界面，REMD验证，自由能-8.7吻合</a:t>
            </a:r>
          </a:p>
        </p:txBody>
      </p:sp>
      <p:sp>
        <p:nvSpPr>
          <p:cNvPr id="11" name="TextBox 11"/>
          <p:cNvSpPr txBox="1"/>
          <p:nvPr/>
        </p:nvSpPr>
        <p:spPr>
          <a:xfrm>
            <a:off x="678180" y="4410075"/>
            <a:ext cx="1002639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实验；候选肽两亲阳离子匹配344-361可竞争PAS H1或结合Aβ H2，设计：对接Vina20Å 9pose→GROMACS 20ns-</a:t>
            </a:r>
          </a:p>
        </p:txBody>
      </p:sp>
      <p:sp>
        <p:nvSpPr>
          <p:cNvPr id="12" name="Line 1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3" name="Rectangle 13"/>
          <p:cNvSpPr/>
          <p:nvPr/>
        </p:nvSpPr>
        <p:spPr>
          <a:xfrm>
            <a:off x="685800" y="6210300"/>
            <a:ext cx="133350" cy="133350"/>
          </a:xfrm>
          <a:prstGeom prst="rect">
            <a:avLst/>
          </a:prstGeom>
          <a:solidFill>
            <a:srgbClr val="B03A2E"/>
          </a:solidFill>
          <a:ln>
            <a:noFill/>
          </a:ln>
        </p:spPr>
      </p:sp>
      <p:sp>
        <p:nvSpPr>
          <p:cNvPr id="14" name="TextBox 14"/>
          <p:cNvSpPr txBox="1"/>
          <p:nvPr/>
        </p:nvSpPr>
        <p:spPr>
          <a:xfrm>
            <a:off x="963930" y="6172200"/>
            <a:ext cx="3302889"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AChE经PAS促聚集，344-361是热点</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10 / 17</a:t>
            </a:r>
          </a:p>
        </p:txBody>
      </p:sp>
      <p:sp>
        <p:nvSpPr>
          <p:cNvPr id="4" name="TextBox 4"/>
          <p:cNvSpPr txBox="1"/>
          <p:nvPr/>
        </p:nvSpPr>
        <p:spPr>
          <a:xfrm>
            <a:off x="672084" y="756285"/>
            <a:ext cx="8871713"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肠道调控1：LPS-TLR4/MD-2 Papiliocin对接</a:t>
            </a:r>
          </a:p>
        </p:txBody>
      </p:sp>
      <p:sp>
        <p:nvSpPr>
          <p:cNvPr id="5" name="TextBox 5"/>
          <p:cNvSpPr txBox="1"/>
          <p:nvPr/>
        </p:nvSpPr>
        <p:spPr>
          <a:xfrm>
            <a:off x="678180" y="1190625"/>
            <a:ext cx="1161837"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肠道-炎症轴</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通路</a:t>
            </a:r>
          </a:p>
        </p:txBody>
      </p:sp>
      <p:sp>
        <p:nvSpPr>
          <p:cNvPr id="9" name="TextBox 9"/>
          <p:cNvSpPr txBox="1"/>
          <p:nvPr/>
        </p:nvSpPr>
        <p:spPr>
          <a:xfrm>
            <a:off x="1383030" y="1704975"/>
            <a:ext cx="949525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Vogt 2017 Firmicutes/Bifidobacterium↓ Bacteroidetes↑；Cattaneo 2017 Escherichia/Shigella↑ E.</a:t>
            </a:r>
          </a:p>
        </p:txBody>
      </p:sp>
      <p:sp>
        <p:nvSpPr>
          <p:cNvPr id="10" name="TextBox 10"/>
          <p:cNvSpPr txBox="1"/>
          <p:nvPr/>
        </p:nvSpPr>
        <p:spPr>
          <a:xfrm>
            <a:off x="1383030" y="1952625"/>
            <a:ext cx="938733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rectale↓与IL-1β/NLRP3正相关；LPS与斑块共定位Zhan 2018血浆3倍Zhao 2017 P.gingivalis Dominy 2</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974760"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Papiliocin</a:t>
            </a:r>
          </a:p>
        </p:txBody>
      </p:sp>
      <p:sp>
        <p:nvSpPr>
          <p:cNvPr id="13" name="TextBox 13"/>
          <p:cNvSpPr txBox="1"/>
          <p:nvPr/>
        </p:nvSpPr>
        <p:spPr>
          <a:xfrm>
            <a:off x="1897380" y="2343150"/>
            <a:ext cx="881748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PNAS 2022昆虫抗菌肽双机制：直接结合LPS中和+竞争结合TLR4/MD-2抑制LPS，STD NMR+对接+</a:t>
            </a:r>
          </a:p>
        </p:txBody>
      </p:sp>
      <p:sp>
        <p:nvSpPr>
          <p:cNvPr id="14" name="TextBox 14"/>
          <p:cNvSpPr txBox="1"/>
          <p:nvPr/>
        </p:nvSpPr>
        <p:spPr>
          <a:xfrm>
            <a:off x="1897380" y="2590800"/>
            <a:ext cx="894892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流式，TLR4/MD-2/LPS晶体对接N端螺旋界面C端疏水口袋氢键K7-S118 Q31-K122静电R1-D294模</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1045769"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AMP-TLR4</a:t>
            </a:r>
          </a:p>
        </p:txBody>
      </p:sp>
      <p:sp>
        <p:nvSpPr>
          <p:cNvPr id="17" name="TextBox 17"/>
          <p:cNvSpPr txBox="1"/>
          <p:nvPr/>
        </p:nvSpPr>
        <p:spPr>
          <a:xfrm>
            <a:off x="1906905" y="2981325"/>
            <a:ext cx="891371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PMC 2025 Tachystatin Pleurocidin Subtilisin A与ACE2/CRP/MMP9/NLRP3/TLR4 HADDOCK，TL</a:t>
            </a:r>
          </a:p>
        </p:txBody>
      </p:sp>
      <p:sp>
        <p:nvSpPr>
          <p:cNvPr id="18" name="TextBox 18"/>
          <p:cNvSpPr txBox="1"/>
          <p:nvPr/>
        </p:nvSpPr>
        <p:spPr>
          <a:xfrm>
            <a:off x="1906905" y="3228975"/>
            <a:ext cx="589990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R4结合能与范德华r=0.61，Tachystatin氢键46势能-780k更稳定</a:t>
            </a:r>
          </a:p>
        </p:txBody>
      </p:sp>
      <p:sp>
        <p:nvSpPr>
          <p:cNvPr id="19" name="Line 19"/>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0" name="Rectangle 20"/>
          <p:cNvSpPr/>
          <p:nvPr/>
        </p:nvSpPr>
        <p:spPr>
          <a:xfrm>
            <a:off x="685800" y="6210300"/>
            <a:ext cx="133350" cy="133350"/>
          </a:xfrm>
          <a:prstGeom prst="rect">
            <a:avLst/>
          </a:prstGeom>
          <a:solidFill>
            <a:srgbClr val="B03A2E"/>
          </a:solidFill>
          <a:ln>
            <a:noFill/>
          </a:ln>
        </p:spPr>
      </p:sp>
      <p:sp>
        <p:nvSpPr>
          <p:cNvPr id="21" name="TextBox 21"/>
          <p:cNvSpPr txBox="1"/>
          <p:nvPr/>
        </p:nvSpPr>
        <p:spPr>
          <a:xfrm>
            <a:off x="963930" y="6172200"/>
            <a:ext cx="3276981"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LPS-TLR4是核心，R13/R16是关键</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11 / 17</a:t>
            </a:r>
          </a:p>
        </p:txBody>
      </p:sp>
      <p:sp>
        <p:nvSpPr>
          <p:cNvPr id="4" name="TextBox 4"/>
          <p:cNvSpPr txBox="1"/>
          <p:nvPr/>
        </p:nvSpPr>
        <p:spPr>
          <a:xfrm>
            <a:off x="672084" y="756285"/>
            <a:ext cx="5914734"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肠道调控2：网络药理+细菌淀粉样</a:t>
            </a:r>
          </a:p>
        </p:txBody>
      </p:sp>
      <p:sp>
        <p:nvSpPr>
          <p:cNvPr id="5" name="TextBox 5"/>
          <p:cNvSpPr txBox="1"/>
          <p:nvPr/>
        </p:nvSpPr>
        <p:spPr>
          <a:xfrm>
            <a:off x="678180" y="1190625"/>
            <a:ext cx="172212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代谢物与交叉播种</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网络药理</a:t>
            </a:r>
          </a:p>
        </p:txBody>
      </p:sp>
      <p:sp>
        <p:nvSpPr>
          <p:cNvPr id="9" name="TextBox 9"/>
          <p:cNvSpPr txBox="1"/>
          <p:nvPr/>
        </p:nvSpPr>
        <p:spPr>
          <a:xfrm>
            <a:off x="1764030" y="1704975"/>
            <a:ext cx="878133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260代谢物→196靶点→14核心IL6/NFKB1/IL1B/PTGS2/TLR4/PPARG KEGG NOD/TNF/NF-κB，CB-</a:t>
            </a:r>
          </a:p>
        </p:txBody>
      </p:sp>
      <p:sp>
        <p:nvSpPr>
          <p:cNvPr id="10" name="TextBox 10"/>
          <p:cNvSpPr txBox="1"/>
          <p:nvPr/>
        </p:nvSpPr>
        <p:spPr>
          <a:xfrm>
            <a:off x="1764030" y="1952625"/>
            <a:ext cx="942150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Dock2盲对接IL6 1ALU Enterodiol -7.2 NFKB1 1SVC Coumarin -6.8 3,9-dihydroxy -8.1表面口袋非验</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102489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细菌淀粉样</a:t>
            </a:r>
          </a:p>
        </p:txBody>
      </p:sp>
      <p:sp>
        <p:nvSpPr>
          <p:cNvPr id="13" name="TextBox 13"/>
          <p:cNvSpPr txBox="1"/>
          <p:nvPr/>
        </p:nvSpPr>
        <p:spPr>
          <a:xfrm>
            <a:off x="1954530" y="2343150"/>
            <a:ext cx="867765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CsgA等分子模拟与Aβ共聚集，粗粒化MD自由能面接触图氢键网络，分子模拟交叉播种促进Aβ错误</a:t>
            </a:r>
          </a:p>
        </p:txBody>
      </p:sp>
      <p:sp>
        <p:nvSpPr>
          <p:cNvPr id="14" name="TextBox 14"/>
          <p:cNvSpPr txBox="1"/>
          <p:nvPr/>
        </p:nvSpPr>
        <p:spPr>
          <a:xfrm>
            <a:off x="1954530" y="2590800"/>
            <a:ext cx="174174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折叠微胶质priming</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62103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代谢物</a:t>
            </a:r>
          </a:p>
        </p:txBody>
      </p:sp>
      <p:sp>
        <p:nvSpPr>
          <p:cNvPr id="17" name="TextBox 17"/>
          <p:cNvSpPr txBox="1"/>
          <p:nvPr/>
        </p:nvSpPr>
        <p:spPr>
          <a:xfrm>
            <a:off x="1573530" y="2981325"/>
            <a:ext cx="898306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SCFA丁酸抑制Tau磷酸化氧化应激促炎调节小胶质稳态AD中↓ TMAO激活NLRP3 胆汁酸调节Tau/Aβ线</a:t>
            </a:r>
          </a:p>
        </p:txBody>
      </p:sp>
      <p:sp>
        <p:nvSpPr>
          <p:cNvPr id="18" name="TextBox 18"/>
          <p:cNvSpPr txBox="1"/>
          <p:nvPr/>
        </p:nvSpPr>
        <p:spPr>
          <a:xfrm>
            <a:off x="1573530" y="3228975"/>
            <a:ext cx="921443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粒体 GABA/5-HT/乙酰胆碱/多巴胺/NE由Lactobacillus/Bacteroides产生影响突触可塑性BDNF淀粉样</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62103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本课题</a:t>
            </a:r>
          </a:p>
        </p:txBody>
      </p:sp>
      <p:sp>
        <p:nvSpPr>
          <p:cNvPr id="21" name="TextBox 21"/>
          <p:cNvSpPr txBox="1"/>
          <p:nvPr/>
        </p:nvSpPr>
        <p:spPr>
          <a:xfrm>
            <a:off x="1573530" y="3609975"/>
            <a:ext cx="886772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476例粪便宏基因组2.19亿sORF→9139万非冗余→757 MAGs→1971种代表→sORF挖掘差异健康vs AD</a:t>
            </a:r>
          </a:p>
        </p:txBody>
      </p:sp>
      <p:sp>
        <p:nvSpPr>
          <p:cNvPr id="22" name="TextBox 22"/>
          <p:cNvSpPr txBox="1"/>
          <p:nvPr/>
        </p:nvSpPr>
        <p:spPr>
          <a:xfrm>
            <a:off x="1573530" y="3867150"/>
            <a:ext cx="905860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特有抗菌肽电荷&gt;+2疏水30-70%筛选对接TLR4/MD-2 Vina20Å→MD 20ns-1μs CHARMM36 TIP3P→MM</a:t>
            </a:r>
          </a:p>
        </p:txBody>
      </p:sp>
      <p:sp>
        <p:nvSpPr>
          <p:cNvPr id="23" name="Line 23"/>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4" name="Rectangle 24"/>
          <p:cNvSpPr/>
          <p:nvPr/>
        </p:nvSpPr>
        <p:spPr>
          <a:xfrm>
            <a:off x="685800" y="6210300"/>
            <a:ext cx="133350" cy="133350"/>
          </a:xfrm>
          <a:prstGeom prst="rect">
            <a:avLst/>
          </a:prstGeom>
          <a:solidFill>
            <a:srgbClr val="B03A2E"/>
          </a:solidFill>
          <a:ln>
            <a:noFill/>
          </a:ln>
        </p:spPr>
      </p:sp>
      <p:sp>
        <p:nvSpPr>
          <p:cNvPr id="25" name="TextBox 25"/>
          <p:cNvSpPr txBox="1"/>
          <p:nvPr/>
        </p:nvSpPr>
        <p:spPr>
          <a:xfrm>
            <a:off x="963930" y="6172200"/>
            <a:ext cx="2671629"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肠道代谢物-免疫-淀粉样网络</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12 / 17</a:t>
            </a:r>
          </a:p>
        </p:txBody>
      </p:sp>
      <p:sp>
        <p:nvSpPr>
          <p:cNvPr id="4" name="TextBox 4"/>
          <p:cNvSpPr txBox="1"/>
          <p:nvPr/>
        </p:nvSpPr>
        <p:spPr>
          <a:xfrm>
            <a:off x="672084" y="756285"/>
            <a:ext cx="6669079"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BBB穿透1：5类转运·AMT与RMT</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转运分类</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788746"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BBB结构</a:t>
            </a:r>
          </a:p>
        </p:txBody>
      </p:sp>
      <p:sp>
        <p:nvSpPr>
          <p:cNvPr id="9" name="TextBox 9"/>
          <p:cNvSpPr txBox="1"/>
          <p:nvPr/>
        </p:nvSpPr>
        <p:spPr>
          <a:xfrm>
            <a:off x="1754505" y="1704975"/>
            <a:ext cx="899102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内皮紧密连接claudin-5/occludin基底膜星形胶质足突，5类转运旁路极受限亲脂扩散小分子载体介导</a:t>
            </a:r>
          </a:p>
        </p:txBody>
      </p:sp>
      <p:sp>
        <p:nvSpPr>
          <p:cNvPr id="10" name="TextBox 10"/>
          <p:cNvSpPr txBox="1"/>
          <p:nvPr/>
        </p:nvSpPr>
        <p:spPr>
          <a:xfrm>
            <a:off x="1754505" y="1952625"/>
            <a:ext cx="543572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RMT TfR LRP1胰岛素RMT AMT阳离子与阴离子糖萼静电吸附</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429692"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AMT</a:t>
            </a:r>
          </a:p>
        </p:txBody>
      </p:sp>
      <p:sp>
        <p:nvSpPr>
          <p:cNvPr id="13" name="TextBox 13"/>
          <p:cNvSpPr txBox="1"/>
          <p:nvPr/>
        </p:nvSpPr>
        <p:spPr>
          <a:xfrm>
            <a:off x="1383030" y="2343150"/>
            <a:ext cx="924439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抗菌肽+2~+9阳离子与硫酸乙酰肝素唾液酸静电吸附触发吸附介导内吞精氨酸胍基双齿氢键PO4更稳定平</a:t>
            </a:r>
          </a:p>
        </p:txBody>
      </p:sp>
      <p:sp>
        <p:nvSpPr>
          <p:cNvPr id="14" name="TextBox 14"/>
          <p:cNvSpPr txBox="1"/>
          <p:nvPr/>
        </p:nvSpPr>
        <p:spPr>
          <a:xfrm>
            <a:off x="1383030" y="2590800"/>
            <a:ext cx="917581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面疏水可溶入膜，B2088分支AMP高浓度细菌膜快速积累氢键稳定浓度依赖水跨膜↑电荷是AMT关键预测</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429692"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RMT</a:t>
            </a:r>
          </a:p>
        </p:txBody>
      </p:sp>
      <p:sp>
        <p:nvSpPr>
          <p:cNvPr id="17" name="TextBox 17"/>
          <p:cNvSpPr txBox="1"/>
          <p:nvPr/>
        </p:nvSpPr>
        <p:spPr>
          <a:xfrm>
            <a:off x="1392555" y="2981325"/>
            <a:ext cx="901784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Aβ经LRP1脑→血外排RAGE血→脑内流失衡蓄积Zlokovic 2009；抗菌肽利用LRP1类似Angiopep-2 TFFY</a:t>
            </a:r>
          </a:p>
        </p:txBody>
      </p:sp>
      <p:sp>
        <p:nvSpPr>
          <p:cNvPr id="18" name="TextBox 18"/>
          <p:cNvSpPr txBox="1"/>
          <p:nvPr/>
        </p:nvSpPr>
        <p:spPr>
          <a:xfrm>
            <a:off x="1392555" y="3228975"/>
            <a:ext cx="876684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GGSRGKRNNFKTEEY净电荷+2乳铁蛋白经LRP1 AD上调对接Angiopep-2与LRP1盒子20Å Vina -7~-9</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535715"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病理↑</a:t>
            </a:r>
          </a:p>
        </p:txBody>
      </p:sp>
      <p:sp>
        <p:nvSpPr>
          <p:cNvPr id="21" name="TextBox 21"/>
          <p:cNvSpPr txBox="1"/>
          <p:nvPr/>
        </p:nvSpPr>
        <p:spPr>
          <a:xfrm>
            <a:off x="1573530" y="3609975"/>
            <a:ext cx="890404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AD中BBB破坏claudin-5/occludin↓ LPS/炎症↑通透外周肽更易入脑Braniste 2014无菌小鼠BBB↑ SC</a:t>
            </a:r>
          </a:p>
        </p:txBody>
      </p:sp>
      <p:sp>
        <p:nvSpPr>
          <p:cNvPr id="22" name="TextBox 22"/>
          <p:cNvSpPr txBox="1"/>
          <p:nvPr/>
        </p:nvSpPr>
        <p:spPr>
          <a:xfrm>
            <a:off x="1573530" y="3867150"/>
            <a:ext cx="316430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FA恢复LPS 3倍P.gingivalis在AD脑</a:t>
            </a:r>
          </a:p>
        </p:txBody>
      </p:sp>
      <p:sp>
        <p:nvSpPr>
          <p:cNvPr id="23" name="Line 23"/>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4" name="Rectangle 24"/>
          <p:cNvSpPr/>
          <p:nvPr/>
        </p:nvSpPr>
        <p:spPr>
          <a:xfrm>
            <a:off x="685800" y="6210300"/>
            <a:ext cx="133350" cy="133350"/>
          </a:xfrm>
          <a:prstGeom prst="rect">
            <a:avLst/>
          </a:prstGeom>
          <a:solidFill>
            <a:srgbClr val="B03A2E"/>
          </a:solidFill>
          <a:ln>
            <a:noFill/>
          </a:ln>
        </p:spPr>
      </p:sp>
      <p:sp>
        <p:nvSpPr>
          <p:cNvPr id="25" name="TextBox 25"/>
          <p:cNvSpPr txBox="1"/>
          <p:nvPr/>
        </p:nvSpPr>
        <p:spPr>
          <a:xfrm>
            <a:off x="963930" y="6172200"/>
            <a:ext cx="343502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AMT主要RMT补充，病理BBB更易穿透</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13 / 17</a:t>
            </a:r>
          </a:p>
        </p:txBody>
      </p:sp>
      <p:sp>
        <p:nvSpPr>
          <p:cNvPr id="4" name="TextBox 4"/>
          <p:cNvSpPr txBox="1"/>
          <p:nvPr/>
        </p:nvSpPr>
        <p:spPr>
          <a:xfrm>
            <a:off x="672084" y="756285"/>
            <a:ext cx="8108864"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BBB穿透2：R9/MPG真实膜MD自由能垒</a:t>
            </a:r>
          </a:p>
        </p:txBody>
      </p:sp>
      <p:sp>
        <p:nvSpPr>
          <p:cNvPr id="5" name="TextBox 5"/>
          <p:cNvSpPr txBox="1"/>
          <p:nvPr/>
        </p:nvSpPr>
        <p:spPr>
          <a:xfrm>
            <a:off x="678180" y="1190625"/>
            <a:ext cx="1366322"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2026最新MD</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文献</a:t>
            </a:r>
          </a:p>
        </p:txBody>
      </p:sp>
      <p:sp>
        <p:nvSpPr>
          <p:cNvPr id="9" name="TextBox 9"/>
          <p:cNvSpPr txBox="1"/>
          <p:nvPr/>
        </p:nvSpPr>
        <p:spPr>
          <a:xfrm>
            <a:off x="1383030" y="1704975"/>
            <a:ext cx="952020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Mechanisms of BBB penetration MD study R9 and MPG translocation 2026，真实人脑微血管内皮细胞</a:t>
            </a:r>
          </a:p>
        </p:txBody>
      </p:sp>
      <p:sp>
        <p:nvSpPr>
          <p:cNvPr id="10" name="TextBox 10"/>
          <p:cNvSpPr txBox="1"/>
          <p:nvPr/>
        </p:nvSpPr>
        <p:spPr>
          <a:xfrm>
            <a:off x="1383030" y="1952625"/>
            <a:ext cx="942784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膜模型PC/PE/PS/胆固醇/多不饱和脂肪酸，MD+增强采样伞形采样/偏置交换CV膜弯曲肽部分去折叠COM</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结果</a:t>
            </a:r>
          </a:p>
        </p:txBody>
      </p:sp>
      <p:sp>
        <p:nvSpPr>
          <p:cNvPr id="13" name="TextBox 13"/>
          <p:cNvSpPr txBox="1"/>
          <p:nvPr/>
        </p:nvSpPr>
        <p:spPr>
          <a:xfrm>
            <a:off x="1383030" y="2343150"/>
            <a:ext cx="911390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R9诱导更大膜扰动vs MPG但均面临显著自由能垒，首次相互作用N端发起精氨酸突出即使MPG也以精氨</a:t>
            </a:r>
          </a:p>
        </p:txBody>
      </p:sp>
      <p:sp>
        <p:nvSpPr>
          <p:cNvPr id="14" name="TextBox 14"/>
          <p:cNvSpPr txBox="1"/>
          <p:nvPr/>
        </p:nvSpPr>
        <p:spPr>
          <a:xfrm>
            <a:off x="1383030" y="2590800"/>
            <a:ext cx="851001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酸起始，可塑性关键BBB弯曲+CPP部分去折叠长链多不饱和酰基脂质重要，为合理设计提供指导</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对比</a:t>
            </a:r>
          </a:p>
        </p:txBody>
      </p:sp>
      <p:sp>
        <p:nvSpPr>
          <p:cNvPr id="17" name="TextBox 17"/>
          <p:cNvSpPr txBox="1"/>
          <p:nvPr/>
        </p:nvSpPr>
        <p:spPr>
          <a:xfrm>
            <a:off x="1383030" y="2981325"/>
            <a:ext cx="932649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R9 Arg9全精氨酸强AMT，MPG两亲含疏水段+核定位自由能垒略低仍高，力峰对应肽进入膜656次steere</a:t>
            </a:r>
          </a:p>
        </p:txBody>
      </p:sp>
      <p:sp>
        <p:nvSpPr>
          <p:cNvPr id="18" name="TextBox 18"/>
          <p:cNvSpPr txBox="1"/>
          <p:nvPr/>
        </p:nvSpPr>
        <p:spPr>
          <a:xfrm>
            <a:off x="1383030" y="3228975"/>
            <a:ext cx="601341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d MD拉取7种淀粉样抗菌肽+多肽Poly Ala/Leu 10聚体研究最小阻力</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参数</a:t>
            </a:r>
          </a:p>
        </p:txBody>
      </p:sp>
      <p:sp>
        <p:nvSpPr>
          <p:cNvPr id="21" name="TextBox 21"/>
          <p:cNvSpPr txBox="1"/>
          <p:nvPr/>
        </p:nvSpPr>
        <p:spPr>
          <a:xfrm>
            <a:off x="1383030" y="3609975"/>
            <a:ext cx="915847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CHARMM36m TIP3P 150mM 310K 2fs PME1.2nm伞形采样23窗0.05nm WHAM自由能面收敛需REUS不</a:t>
            </a:r>
          </a:p>
        </p:txBody>
      </p:sp>
      <p:sp>
        <p:nvSpPr>
          <p:cNvPr id="22" name="TextBox 22"/>
          <p:cNvSpPr txBox="1"/>
          <p:nvPr/>
        </p:nvSpPr>
        <p:spPr>
          <a:xfrm>
            <a:off x="1383030" y="3867150"/>
            <a:ext cx="102489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同初始条件</a:t>
            </a:r>
          </a:p>
        </p:txBody>
      </p:sp>
      <p:sp>
        <p:nvSpPr>
          <p:cNvPr id="23" name="Line 23"/>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4" name="Rectangle 24"/>
          <p:cNvSpPr/>
          <p:nvPr/>
        </p:nvSpPr>
        <p:spPr>
          <a:xfrm>
            <a:off x="685800" y="6210300"/>
            <a:ext cx="133350" cy="133350"/>
          </a:xfrm>
          <a:prstGeom prst="rect">
            <a:avLst/>
          </a:prstGeom>
          <a:solidFill>
            <a:srgbClr val="B03A2E"/>
          </a:solidFill>
          <a:ln>
            <a:noFill/>
          </a:ln>
        </p:spPr>
      </p:sp>
      <p:sp>
        <p:nvSpPr>
          <p:cNvPr id="25" name="TextBox 25"/>
          <p:cNvSpPr txBox="1"/>
          <p:nvPr/>
        </p:nvSpPr>
        <p:spPr>
          <a:xfrm>
            <a:off x="963930" y="6172200"/>
            <a:ext cx="3335426"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真实膜MD揭示精氨酸与膜可塑性关键</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14 / 17</a:t>
            </a:r>
          </a:p>
        </p:txBody>
      </p:sp>
      <p:sp>
        <p:nvSpPr>
          <p:cNvPr id="4" name="TextBox 4"/>
          <p:cNvSpPr txBox="1"/>
          <p:nvPr/>
        </p:nvSpPr>
        <p:spPr>
          <a:xfrm>
            <a:off x="672084" y="756285"/>
            <a:ext cx="7796009"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BBB穿透3：ApoE Angiopep-2 O-BBB</a:t>
            </a:r>
          </a:p>
        </p:txBody>
      </p:sp>
      <p:sp>
        <p:nvSpPr>
          <p:cNvPr id="5" name="TextBox 5"/>
          <p:cNvSpPr txBox="1"/>
          <p:nvPr/>
        </p:nvSpPr>
        <p:spPr>
          <a:xfrm>
            <a:off x="678180" y="1190625"/>
            <a:ext cx="108204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穿透肽表征</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1230811"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9种肽MD表征</a:t>
            </a:r>
          </a:p>
        </p:txBody>
      </p:sp>
      <p:sp>
        <p:nvSpPr>
          <p:cNvPr id="9" name="TextBox 9"/>
          <p:cNvSpPr txBox="1"/>
          <p:nvPr/>
        </p:nvSpPr>
        <p:spPr>
          <a:xfrm>
            <a:off x="2154555" y="1704975"/>
            <a:ext cx="847858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Int J Nanomedicine 2019 ApoE Angiopep-2 RVG29 TGN CooP tLyp1 RiGD等ApoE 600ns后β-h</a:t>
            </a:r>
          </a:p>
        </p:txBody>
      </p:sp>
      <p:sp>
        <p:nvSpPr>
          <p:cNvPr id="10" name="TextBox 10"/>
          <p:cNvSpPr txBox="1"/>
          <p:nvPr/>
        </p:nvSpPr>
        <p:spPr>
          <a:xfrm>
            <a:off x="2154555" y="1952625"/>
            <a:ext cx="858894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airpin CHARMM36m和OPLS-AA均如此水中构象RMSD 500ns平台CLT-1 300ns后多构象tLyp1 3</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974560"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Fc-PepH3</a:t>
            </a:r>
          </a:p>
        </p:txBody>
      </p:sp>
      <p:sp>
        <p:nvSpPr>
          <p:cNvPr id="13" name="TextBox 13"/>
          <p:cNvSpPr txBox="1"/>
          <p:nvPr/>
        </p:nvSpPr>
        <p:spPr>
          <a:xfrm>
            <a:off x="1859280" y="2343150"/>
            <a:ext cx="883818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ACS Med Chem Lett 2021 PepH3可逆跨内皮AMT静电快速vs FC5 RMT需受体动力学不同DPepH3对</a:t>
            </a:r>
          </a:p>
        </p:txBody>
      </p:sp>
      <p:sp>
        <p:nvSpPr>
          <p:cNvPr id="14" name="TextBox 14"/>
          <p:cNvSpPr txBox="1"/>
          <p:nvPr/>
        </p:nvSpPr>
        <p:spPr>
          <a:xfrm>
            <a:off x="1859280" y="2590800"/>
            <a:ext cx="339756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映体验证受体非依赖巨胞饮血清t1/2↑</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1494434"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O-BBB融合AMP</a:t>
            </a:r>
          </a:p>
        </p:txBody>
      </p:sp>
      <p:sp>
        <p:nvSpPr>
          <p:cNvPr id="17" name="TextBox 17"/>
          <p:cNvSpPr txBox="1"/>
          <p:nvPr/>
        </p:nvSpPr>
        <p:spPr>
          <a:xfrm>
            <a:off x="2354580" y="2981325"/>
            <a:ext cx="865877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Sci Rep 2025 Borrelia OspA内皮结合域N端β-sheet10-11 O-BBB净电荷-3.4减少非特异静电融</a:t>
            </a:r>
          </a:p>
        </p:txBody>
      </p:sp>
      <p:sp>
        <p:nvSpPr>
          <p:cNvPr id="18" name="TextBox 18"/>
          <p:cNvSpPr txBox="1"/>
          <p:nvPr/>
        </p:nvSpPr>
        <p:spPr>
          <a:xfrm>
            <a:off x="2354580" y="3228975"/>
            <a:ext cx="862472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合Cx7C环肽Bor-11/16/18/26 EC50 0.41-0.83μM对螺旋体/囊性1h膜去极化BBB模型1h显著高</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788746"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CPP体内</a:t>
            </a:r>
          </a:p>
        </p:txBody>
      </p:sp>
      <p:sp>
        <p:nvSpPr>
          <p:cNvPr id="21" name="TextBox 21"/>
          <p:cNvSpPr txBox="1"/>
          <p:nvPr/>
        </p:nvSpPr>
        <p:spPr>
          <a:xfrm>
            <a:off x="1754505" y="3609975"/>
            <a:ext cx="934440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PLoS One 2015 Tat47-57 4.73 SynB3 5.63 pVEC 6.02 μl/g/min高流入TP10 0.05接近零非饱和机制p</a:t>
            </a:r>
          </a:p>
        </p:txBody>
      </p:sp>
      <p:sp>
        <p:nvSpPr>
          <p:cNvPr id="22" name="TextBox 22"/>
          <p:cNvSpPr txBox="1"/>
          <p:nvPr/>
        </p:nvSpPr>
        <p:spPr>
          <a:xfrm>
            <a:off x="1754505" y="3867150"/>
            <a:ext cx="902364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VEC Vi 24→1饱和结合位点二级结构膜界面pVEC β-sheet TP10 α-helix SynB3/Tat无规卷曲脑内流不</a:t>
            </a:r>
          </a:p>
        </p:txBody>
      </p:sp>
      <p:sp>
        <p:nvSpPr>
          <p:cNvPr id="23" name="Line 23"/>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4" name="Rectangle 24"/>
          <p:cNvSpPr/>
          <p:nvPr/>
        </p:nvSpPr>
        <p:spPr>
          <a:xfrm>
            <a:off x="685800" y="6210300"/>
            <a:ext cx="133350" cy="133350"/>
          </a:xfrm>
          <a:prstGeom prst="rect">
            <a:avLst/>
          </a:prstGeom>
          <a:solidFill>
            <a:srgbClr val="B03A2E"/>
          </a:solidFill>
          <a:ln>
            <a:noFill/>
          </a:ln>
        </p:spPr>
      </p:sp>
      <p:sp>
        <p:nvSpPr>
          <p:cNvPr id="25" name="TextBox 25"/>
          <p:cNvSpPr txBox="1"/>
          <p:nvPr/>
        </p:nvSpPr>
        <p:spPr>
          <a:xfrm>
            <a:off x="963930" y="6172200"/>
            <a:ext cx="4414352"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O-BBB优于angiopep-2，穿透不能等同细胞穿透</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15 / 17</a:t>
            </a:r>
          </a:p>
        </p:txBody>
      </p:sp>
      <p:sp>
        <p:nvSpPr>
          <p:cNvPr id="4" name="TextBox 4"/>
          <p:cNvSpPr txBox="1"/>
          <p:nvPr/>
        </p:nvSpPr>
        <p:spPr>
          <a:xfrm>
            <a:off x="672084" y="756285"/>
            <a:ext cx="6079184"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整合：肠-血-脑轴正反馈与证据分级</a:t>
            </a:r>
          </a:p>
        </p:txBody>
      </p:sp>
      <p:sp>
        <p:nvSpPr>
          <p:cNvPr id="5" name="TextBox 5"/>
          <p:cNvSpPr txBox="1"/>
          <p:nvPr/>
        </p:nvSpPr>
        <p:spPr>
          <a:xfrm>
            <a:off x="678180" y="1190625"/>
            <a:ext cx="1028273"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肠-血-脑轴</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771650"/>
            <a:ext cx="10972800" cy="2162175"/>
          </a:xfrm>
          <a:prstGeom prst="roundRect">
            <a:avLst>
              <a:gd name="adj" fmla="val 440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3886200" y="1905000"/>
            <a:ext cx="4419600" cy="1895475"/>
          </a:xfrm>
          <a:prstGeom prst="rect">
            <a:avLst/>
          </a:prstGeom>
        </p:spPr>
      </p:pic>
      <p:sp>
        <p:nvSpPr>
          <p:cNvPr id="9" name="TextBox 9"/>
          <p:cNvSpPr txBox="1"/>
          <p:nvPr/>
        </p:nvSpPr>
        <p:spPr>
          <a:xfrm>
            <a:off x="678180" y="3905250"/>
            <a:ext cx="921722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肠失调→肠屏障↑→LPS/抗菌肽入血→BBB↑→RAGE/AMT入脑→小胶质TLR4/NLRP3/CLIC1→Aβ/抗菌肽↑→AC</a:t>
            </a:r>
          </a:p>
        </p:txBody>
      </p:sp>
      <p:sp>
        <p:nvSpPr>
          <p:cNvPr id="10" name="TextBox 10"/>
          <p:cNvSpPr txBox="1"/>
          <p:nvPr/>
        </p:nvSpPr>
        <p:spPr>
          <a:xfrm>
            <a:off x="678180" y="4152900"/>
            <a:ext cx="1025928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hE-PAS纤维化→正反馈；Lee 2015 LL-37诱导TNF-α/IL-6 NF-κB；Chen 2022 LL-37促CLIC1膜转位氯通道小胶质</a:t>
            </a:r>
          </a:p>
        </p:txBody>
      </p:sp>
      <p:sp>
        <p:nvSpPr>
          <p:cNvPr id="11" name="TextBox 11"/>
          <p:cNvSpPr txBox="1"/>
          <p:nvPr/>
        </p:nvSpPr>
        <p:spPr>
          <a:xfrm>
            <a:off x="678180" y="4410075"/>
            <a:ext cx="993643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活化ROS Aβ↑NFT↑脑萎缩Clic1 KO阻断；Erny 2015菌群控制小胶质成熟Braniste 2014 SCFA调控BBB；强证据</a:t>
            </a:r>
          </a:p>
        </p:txBody>
      </p:sp>
      <p:sp>
        <p:nvSpPr>
          <p:cNvPr id="12" name="Line 1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3" name="Rectangle 13"/>
          <p:cNvSpPr/>
          <p:nvPr/>
        </p:nvSpPr>
        <p:spPr>
          <a:xfrm>
            <a:off x="685800" y="6210300"/>
            <a:ext cx="133350" cy="133350"/>
          </a:xfrm>
          <a:prstGeom prst="rect">
            <a:avLst/>
          </a:prstGeom>
          <a:solidFill>
            <a:srgbClr val="B03A2E"/>
          </a:solidFill>
          <a:ln>
            <a:noFill/>
          </a:ln>
        </p:spPr>
      </p:sp>
      <p:sp>
        <p:nvSpPr>
          <p:cNvPr id="14" name="TextBox 14"/>
          <p:cNvSpPr txBox="1"/>
          <p:nvPr/>
        </p:nvSpPr>
        <p:spPr>
          <a:xfrm>
            <a:off x="963930" y="6172200"/>
            <a:ext cx="304419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四问题串成一条轴，证据分级明确</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16 / 17</a:t>
            </a:r>
          </a:p>
        </p:txBody>
      </p:sp>
      <p:sp>
        <p:nvSpPr>
          <p:cNvPr id="4" name="TextBox 4"/>
          <p:cNvSpPr txBox="1"/>
          <p:nvPr/>
        </p:nvSpPr>
        <p:spPr>
          <a:xfrm>
            <a:off x="672084" y="756285"/>
            <a:ext cx="5020056"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总结：计算方法回答老师追问</a:t>
            </a:r>
          </a:p>
        </p:txBody>
      </p:sp>
      <p:sp>
        <p:nvSpPr>
          <p:cNvPr id="5" name="TextBox 5"/>
          <p:cNvSpPr txBox="1"/>
          <p:nvPr/>
        </p:nvSpPr>
        <p:spPr>
          <a:xfrm>
            <a:off x="678180" y="1190625"/>
            <a:ext cx="44196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总结</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905000"/>
            <a:ext cx="57150" cy="628650"/>
          </a:xfrm>
          <a:prstGeom prst="rect">
            <a:avLst/>
          </a:prstGeom>
          <a:solidFill>
            <a:srgbClr val="B03A2E"/>
          </a:solidFill>
          <a:ln>
            <a:noFill/>
          </a:ln>
        </p:spPr>
      </p:sp>
      <p:sp>
        <p:nvSpPr>
          <p:cNvPr id="8" name="TextBox 8"/>
          <p:cNvSpPr txBox="1"/>
          <p:nvPr/>
        </p:nvSpPr>
        <p:spPr>
          <a:xfrm>
            <a:off x="887730" y="1990725"/>
            <a:ext cx="82296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量化计算</a:t>
            </a:r>
          </a:p>
        </p:txBody>
      </p:sp>
      <p:sp>
        <p:nvSpPr>
          <p:cNvPr id="9" name="TextBox 9"/>
          <p:cNvSpPr txBox="1"/>
          <p:nvPr/>
        </p:nvSpPr>
        <p:spPr>
          <a:xfrm>
            <a:off x="887730" y="2200275"/>
            <a:ext cx="1039839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34维理化+PC6+PsePSSM-DCT静态毫秒级，CB-Dock2盲对接-6.8~-8.1，Vina盒子20Å exhaustiveness20 9pose -</a:t>
            </a:r>
          </a:p>
        </p:txBody>
      </p:sp>
      <p:sp>
        <p:nvSpPr>
          <p:cNvPr id="10" name="TextBox 10"/>
          <p:cNvSpPr txBox="1"/>
          <p:nvPr/>
        </p:nvSpPr>
        <p:spPr>
          <a:xfrm>
            <a:off x="887730" y="2447925"/>
            <a:ext cx="246869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7~-10 kcal/mol，非动力学</a:t>
            </a:r>
          </a:p>
        </p:txBody>
      </p:sp>
      <p:sp>
        <p:nvSpPr>
          <p:cNvPr id="11" name="Rectangle 11"/>
          <p:cNvSpPr/>
          <p:nvPr/>
        </p:nvSpPr>
        <p:spPr>
          <a:xfrm>
            <a:off x="685800" y="2667000"/>
            <a:ext cx="57150" cy="628650"/>
          </a:xfrm>
          <a:prstGeom prst="rect">
            <a:avLst/>
          </a:prstGeom>
          <a:solidFill>
            <a:srgbClr val="2F5D62"/>
          </a:solidFill>
          <a:ln>
            <a:noFill/>
          </a:ln>
        </p:spPr>
      </p:sp>
      <p:sp>
        <p:nvSpPr>
          <p:cNvPr id="12" name="TextBox 12"/>
          <p:cNvSpPr txBox="1"/>
          <p:nvPr/>
        </p:nvSpPr>
        <p:spPr>
          <a:xfrm>
            <a:off x="887730" y="2752725"/>
            <a:ext cx="102489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动力学模拟</a:t>
            </a:r>
          </a:p>
        </p:txBody>
      </p:sp>
      <p:sp>
        <p:nvSpPr>
          <p:cNvPr id="13" name="TextBox 13"/>
          <p:cNvSpPr txBox="1"/>
          <p:nvPr/>
        </p:nvSpPr>
        <p:spPr>
          <a:xfrm>
            <a:off x="887730" y="2962275"/>
            <a:ext cx="1011381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GROMACS CHARMM36m TIP3P 12Å 150mM NVT/NPT100ps生产20ns-1μs 2fs LINCS PME1.2nm 310K REMD 32</a:t>
            </a:r>
          </a:p>
        </p:txBody>
      </p:sp>
      <p:sp>
        <p:nvSpPr>
          <p:cNvPr id="14" name="TextBox 14"/>
          <p:cNvSpPr txBox="1"/>
          <p:nvPr/>
        </p:nvSpPr>
        <p:spPr>
          <a:xfrm>
            <a:off x="887730" y="3209925"/>
            <a:ext cx="874671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副本300-500K 200ns/副本6.4μs伞形采样23窗0.05nm 145ns/窗WHAM Metadynamics RMSD CV</a:t>
            </a:r>
          </a:p>
        </p:txBody>
      </p:sp>
      <p:sp>
        <p:nvSpPr>
          <p:cNvPr id="15" name="Rectangle 15"/>
          <p:cNvSpPr/>
          <p:nvPr/>
        </p:nvSpPr>
        <p:spPr>
          <a:xfrm>
            <a:off x="685800" y="3429000"/>
            <a:ext cx="57150" cy="628650"/>
          </a:xfrm>
          <a:prstGeom prst="rect">
            <a:avLst/>
          </a:prstGeom>
          <a:solidFill>
            <a:srgbClr val="B03A2E"/>
          </a:solidFill>
          <a:ln>
            <a:noFill/>
          </a:ln>
        </p:spPr>
      </p:sp>
      <p:sp>
        <p:nvSpPr>
          <p:cNvPr id="16" name="TextBox 16"/>
          <p:cNvSpPr txBox="1"/>
          <p:nvPr/>
        </p:nvSpPr>
        <p:spPr>
          <a:xfrm>
            <a:off x="887730" y="3514725"/>
            <a:ext cx="62103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自由能</a:t>
            </a:r>
          </a:p>
        </p:txBody>
      </p:sp>
      <p:sp>
        <p:nvSpPr>
          <p:cNvPr id="17" name="TextBox 17"/>
          <p:cNvSpPr txBox="1"/>
          <p:nvPr/>
        </p:nvSpPr>
        <p:spPr>
          <a:xfrm>
            <a:off x="887730" y="3724275"/>
            <a:ext cx="986169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MM-PBSA ΔG=G_complex-(G_rec+G_lig)=ΔE_vdw+ΔE_elec+ΔG_PB/GB+ΔG_SA-TΔS g_mmpbsa最后25%200</a:t>
            </a:r>
          </a:p>
        </p:txBody>
      </p:sp>
      <p:sp>
        <p:nvSpPr>
          <p:cNvPr id="18" name="TextBox 18"/>
          <p:cNvSpPr txBox="1"/>
          <p:nvPr/>
        </p:nvSpPr>
        <p:spPr>
          <a:xfrm>
            <a:off x="887730" y="3971925"/>
            <a:ext cx="784285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帧-50.6 kcal/mol -76.28 kJ/mol -8.7±0.7残基分解Woo&amp;Roux绝对自由能校正无序熵</a:t>
            </a:r>
          </a:p>
        </p:txBody>
      </p:sp>
      <p:sp>
        <p:nvSpPr>
          <p:cNvPr id="19" name="Rectangle 19"/>
          <p:cNvSpPr/>
          <p:nvPr/>
        </p:nvSpPr>
        <p:spPr>
          <a:xfrm>
            <a:off x="685800" y="4191000"/>
            <a:ext cx="57150" cy="628650"/>
          </a:xfrm>
          <a:prstGeom prst="rect">
            <a:avLst/>
          </a:prstGeom>
          <a:solidFill>
            <a:srgbClr val="2F5D62"/>
          </a:solidFill>
          <a:ln>
            <a:noFill/>
          </a:ln>
        </p:spPr>
      </p:sp>
      <p:sp>
        <p:nvSpPr>
          <p:cNvPr id="20" name="TextBox 20"/>
          <p:cNvSpPr txBox="1"/>
          <p:nvPr/>
        </p:nvSpPr>
        <p:spPr>
          <a:xfrm>
            <a:off x="887730" y="4276725"/>
            <a:ext cx="82296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量子化学</a:t>
            </a:r>
          </a:p>
        </p:txBody>
      </p:sp>
      <p:sp>
        <p:nvSpPr>
          <p:cNvPr id="21" name="TextBox 21"/>
          <p:cNvSpPr txBox="1"/>
          <p:nvPr/>
        </p:nvSpPr>
        <p:spPr>
          <a:xfrm>
            <a:off x="887730" y="4486275"/>
            <a:ext cx="1051987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QM/MM DFT B3LYP/GFN2-xTB FMO碎片组合QPE量子相位估计，键长偏差0.01-0.05Å氢键0.1Å，探索Glu/Asp/主</a:t>
            </a:r>
          </a:p>
        </p:txBody>
      </p:sp>
      <p:sp>
        <p:nvSpPr>
          <p:cNvPr id="22" name="TextBox 22"/>
          <p:cNvSpPr txBox="1"/>
          <p:nvPr/>
        </p:nvSpPr>
        <p:spPr>
          <a:xfrm>
            <a:off x="887730" y="4733925"/>
            <a:ext cx="424700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链O多种配位，破坏盐桥Asp23-Lys28诱导螺旋</a:t>
            </a:r>
          </a:p>
        </p:txBody>
      </p:sp>
      <p:sp>
        <p:nvSpPr>
          <p:cNvPr id="23" name="Rectangle 23"/>
          <p:cNvSpPr/>
          <p:nvPr/>
        </p:nvSpPr>
        <p:spPr>
          <a:xfrm>
            <a:off x="685800" y="4953000"/>
            <a:ext cx="57150" cy="628650"/>
          </a:xfrm>
          <a:prstGeom prst="rect">
            <a:avLst/>
          </a:prstGeom>
          <a:solidFill>
            <a:srgbClr val="B03A2E"/>
          </a:solidFill>
          <a:ln>
            <a:noFill/>
          </a:ln>
        </p:spPr>
      </p:sp>
      <p:sp>
        <p:nvSpPr>
          <p:cNvPr id="24" name="TextBox 24"/>
          <p:cNvSpPr txBox="1"/>
          <p:nvPr/>
        </p:nvSpPr>
        <p:spPr>
          <a:xfrm>
            <a:off x="887730" y="5038725"/>
            <a:ext cx="41910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结合</a:t>
            </a:r>
          </a:p>
        </p:txBody>
      </p:sp>
      <p:sp>
        <p:nvSpPr>
          <p:cNvPr id="25" name="TextBox 25"/>
          <p:cNvSpPr txBox="1"/>
          <p:nvPr/>
        </p:nvSpPr>
        <p:spPr>
          <a:xfrm>
            <a:off x="887730" y="5248275"/>
            <a:ext cx="1025578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Aβ抗菌+LL-37纳摩尔Kd+HNP-1双位点β-sheet/U-turn，AChE-PAS 344-361 1μs MD RMSD&lt;3Å，β结构模板构象</a:t>
            </a:r>
          </a:p>
        </p:txBody>
      </p:sp>
      <p:sp>
        <p:nvSpPr>
          <p:cNvPr id="26" name="TextBox 26"/>
          <p:cNvSpPr txBox="1"/>
          <p:nvPr/>
        </p:nvSpPr>
        <p:spPr>
          <a:xfrm>
            <a:off x="887730" y="5495925"/>
            <a:ext cx="82296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选择结合</a:t>
            </a:r>
          </a:p>
        </p:txBody>
      </p:sp>
      <p:sp>
        <p:nvSpPr>
          <p:cNvPr id="27" name="Line 27"/>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8" name="Rectangle 28"/>
          <p:cNvSpPr/>
          <p:nvPr/>
        </p:nvSpPr>
        <p:spPr>
          <a:xfrm>
            <a:off x="685800" y="6210300"/>
            <a:ext cx="133350" cy="133350"/>
          </a:xfrm>
          <a:prstGeom prst="rect">
            <a:avLst/>
          </a:prstGeom>
          <a:solidFill>
            <a:srgbClr val="B03A2E"/>
          </a:solidFill>
          <a:ln>
            <a:noFill/>
          </a:ln>
        </p:spPr>
      </p:sp>
      <p:sp>
        <p:nvSpPr>
          <p:cNvPr id="29" name="TextBox 29"/>
          <p:cNvSpPr txBox="1"/>
          <p:nvPr/>
        </p:nvSpPr>
        <p:spPr>
          <a:xfrm>
            <a:off x="963930" y="6172200"/>
            <a:ext cx="4893335"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三类计算分工明确，MD+QM+自由能是结合与BBB核心</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85725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TextBox 3"/>
          <p:cNvSpPr txBox="1"/>
          <p:nvPr/>
        </p:nvSpPr>
        <p:spPr>
          <a:xfrm>
            <a:off x="669036" y="2310765"/>
            <a:ext cx="4727448" cy="645414"/>
          </a:xfrm>
          <a:prstGeom prst="rect">
            <a:avLst/>
          </a:prstGeom>
          <a:noFill/>
          <a:ln>
            <a:noFill/>
          </a:ln>
        </p:spPr>
        <p:txBody>
          <a:bodyPr wrap="none" lIns="0" tIns="0" rIns="0" bIns="0" anchor="t" anchorCtr="0">
            <a:spAutoFit/>
          </a:bodyPr>
          <a:lstStyle/>
          <a:p>
            <a:pPr algn="l"/>
            <a:r>
              <a:rPr lang="zh-CN" sz="3300" b="1" dirty="0">
                <a:solidFill>
                  <a:srgbClr val="141414"/>
                </a:solidFill>
                <a:latin typeface="Georgia"/>
                <a:ea typeface="SimSun"/>
                <a:cs typeface="Georgia"/>
              </a:rPr>
              <a:t>恳请各位老师批评指正</a:t>
            </a:r>
          </a:p>
        </p:txBody>
      </p:sp>
      <p:sp>
        <p:nvSpPr>
          <p:cNvPr id="4" name="TextBox 4"/>
          <p:cNvSpPr txBox="1"/>
          <p:nvPr/>
        </p:nvSpPr>
        <p:spPr>
          <a:xfrm>
            <a:off x="674370" y="3090862"/>
            <a:ext cx="3543300"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SimSun"/>
                <a:cs typeface="Georgia"/>
              </a:rPr>
              <a:t>谢谢！常驻窗口版已就绪</a:t>
            </a:r>
          </a:p>
        </p:txBody>
      </p:sp>
      <p:sp>
        <p:nvSpPr>
          <p:cNvPr id="5" name="Line 5"/>
          <p:cNvSpPr/>
          <p:nvPr/>
        </p:nvSpPr>
        <p:spPr>
          <a:xfrm>
            <a:off x="685800" y="3905250"/>
            <a:ext cx="2095500" cy="9525"/>
          </a:xfrm>
          <a:custGeom>
            <a:avLst/>
            <a:gdLst/>
            <a:ahLst/>
            <a:cxnLst/>
            <a:rect l="l" t="t" r="r" b="b"/>
            <a:pathLst>
              <a:path w="2095500" h="9525">
                <a:moveTo>
                  <a:pt x="0" y="0"/>
                </a:moveTo>
                <a:lnTo>
                  <a:pt x="2095500" y="0"/>
                </a:lnTo>
              </a:path>
            </a:pathLst>
          </a:custGeom>
          <a:noFill/>
          <a:ln w="28575">
            <a:solidFill>
              <a:srgbClr val="B03A2E"/>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bbb_G">
  <a:themeElements>
    <a:clrScheme name="svgproj_bbb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bbb_G">
  <a:themeElements>
    <a:clrScheme name="svgproj_bbb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2026-09-21T03:10:56Z</dcterms:created>
  <dcterms:modified xsi:type="dcterms:W3CDTF">2026-09-21T03:10:56Z</dcterms:modified>
  <cp:category/>
  <cp:contentStatus/>
</cp:coreProperties>
</file>