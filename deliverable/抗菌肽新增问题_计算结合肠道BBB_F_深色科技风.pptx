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本材料针对老师新增的4个问题：计算方法具体如何做、抗菌肽与AD如何结合、肠道菌群调控导致AD、血脑屏障穿透导致AD，补充具体文献与实现细节。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13项提纲，覆盖4大新增问题。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计算方法总览，说明领域演进。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Ma 2022细节，说明计算可行性。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AMPSphere规模化，说明方法普适。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本课题与文献对齐，说明实现细节。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Aβ本身抗菌，最直接结合。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LL-37与Aβ结合机制，纳摩尔亲和力。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肠道菌群失调上游驱动。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肠道调控介质，LPS关键。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BBB结构与转运，5类通路。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抗菌肽穿透BBB机制，阳离子关键。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LL-37穿透后致病，CLIC1关键。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肠-血-脑轴整合，串联4问题。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证据分级，避免夸大因果。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总结4问串联。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新增问题汇报结束。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vgproj_bbb_F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vgproj_bbb_F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f8c677ce35a03ac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c9795cc5e36c372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98797d0418b5752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7ce0bb49272eca4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63171c5b5ad451e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7ce0bb49272eca4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9f7d02b4efedf0d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98797d0418b5752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334500" y="1047750"/>
            <a:ext cx="2095500" cy="952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9334500" y="1285875"/>
            <a:ext cx="1428750" cy="95250"/>
          </a:xfrm>
          <a:prstGeom prst="rect">
            <a:avLst/>
          </a:prstGeom>
          <a:solidFill>
            <a:srgbClr val="F5A52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78180" y="1171575"/>
            <a:ext cx="276395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老师新增提问专项·38篇文献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8274" y="1627822"/>
            <a:ext cx="6175111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抗菌肽计算方法与AD结合机制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8274" y="2180272"/>
            <a:ext cx="9932247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新增问题专项解答·计算细节+结合+肠道+血脑屏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8274" y="2723198"/>
            <a:ext cx="499491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障</a:t>
            </a:r>
          </a:p>
        </p:txBody>
      </p:sp>
      <p:sp>
        <p:nvSpPr>
          <p:cNvPr id="9" name="Line 9"/>
          <p:cNvSpPr/>
          <p:nvPr/>
        </p:nvSpPr>
        <p:spPr>
          <a:xfrm>
            <a:off x="685800" y="38671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rgbClr val="22D3EE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78180" y="4162425"/>
            <a:ext cx="27412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文绍华　　学号：2024110316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86275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指导教师：申亮　　生命科学学院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8180" y="4810125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生物学（生物化学与分子生物学）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8180" y="5133975"/>
            <a:ext cx="9744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2026年9月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8180" y="5457825"/>
            <a:ext cx="38467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抗菌肽新增问题·计算方法+结合+肠道+BBB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21150" y="62198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01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8831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// 02 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02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387207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汇报提纲：4大新增问题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6656" y="146304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5380" y="1495425"/>
            <a:ext cx="35234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计算方法总览：传统ML到深度学习演进</a:t>
            </a:r>
          </a:p>
        </p:txBody>
      </p:sp>
      <p:sp>
        <p:nvSpPr>
          <p:cNvPr id="9" name="Line 9"/>
          <p:cNvSpPr/>
          <p:nvPr/>
        </p:nvSpPr>
        <p:spPr>
          <a:xfrm>
            <a:off x="685800" y="20193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76656" y="220599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5380" y="2238375"/>
            <a:ext cx="37625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Ma 2022方法细节：数据+特征+模型+验证</a:t>
            </a:r>
          </a:p>
        </p:txBody>
      </p:sp>
      <p:sp>
        <p:nvSpPr>
          <p:cNvPr id="12" name="Line 12"/>
          <p:cNvSpPr/>
          <p:nvPr/>
        </p:nvSpPr>
        <p:spPr>
          <a:xfrm>
            <a:off x="685800" y="276225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76656" y="294894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5380" y="2981325"/>
            <a:ext cx="36681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Santos-Junior 2024 AMPSphere规模化</a:t>
            </a:r>
          </a:p>
        </p:txBody>
      </p:sp>
      <p:sp>
        <p:nvSpPr>
          <p:cNvPr id="15" name="Line 15"/>
          <p:cNvSpPr/>
          <p:nvPr/>
        </p:nvSpPr>
        <p:spPr>
          <a:xfrm>
            <a:off x="685800" y="35052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76656" y="369189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5380" y="3724275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本课题三模型共识与文献对齐</a:t>
            </a:r>
          </a:p>
        </p:txBody>
      </p:sp>
      <p:sp>
        <p:nvSpPr>
          <p:cNvPr id="18" name="Line 18"/>
          <p:cNvSpPr/>
          <p:nvPr/>
        </p:nvSpPr>
        <p:spPr>
          <a:xfrm>
            <a:off x="685800" y="424815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6656" y="443484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35380" y="4467225"/>
            <a:ext cx="310343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抗菌肽与AD如何结合：Aβ本身抗菌</a:t>
            </a:r>
          </a:p>
        </p:txBody>
      </p:sp>
      <p:sp>
        <p:nvSpPr>
          <p:cNvPr id="21" name="Line 21"/>
          <p:cNvSpPr/>
          <p:nvPr/>
        </p:nvSpPr>
        <p:spPr>
          <a:xfrm>
            <a:off x="685800" y="49911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6656" y="517779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5380" y="5210175"/>
            <a:ext cx="37419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结合机制：LL-37纳摩尔亲和力+交叉播种</a:t>
            </a:r>
          </a:p>
        </p:txBody>
      </p:sp>
      <p:sp>
        <p:nvSpPr>
          <p:cNvPr id="24" name="Line 24"/>
          <p:cNvSpPr/>
          <p:nvPr/>
        </p:nvSpPr>
        <p:spPr>
          <a:xfrm>
            <a:off x="685800" y="573405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372606" y="146304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31330" y="1495425"/>
            <a:ext cx="34945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肠道调控介质：LPS+细菌淀粉样+SCFA</a:t>
            </a:r>
          </a:p>
        </p:txBody>
      </p:sp>
      <p:sp>
        <p:nvSpPr>
          <p:cNvPr id="27" name="Line 27"/>
          <p:cNvSpPr/>
          <p:nvPr/>
        </p:nvSpPr>
        <p:spPr>
          <a:xfrm>
            <a:off x="6381750" y="20193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372606" y="220599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31330" y="2238375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血脑屏障结构与转运通路</a:t>
            </a:r>
          </a:p>
        </p:txBody>
      </p:sp>
      <p:sp>
        <p:nvSpPr>
          <p:cNvPr id="30" name="Line 30"/>
          <p:cNvSpPr/>
          <p:nvPr/>
        </p:nvSpPr>
        <p:spPr>
          <a:xfrm>
            <a:off x="6381750" y="276225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372606" y="294894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31330" y="2981325"/>
            <a:ext cx="37528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抗菌肽穿透BBB：阳离子AMT+LRP1/RAGE</a:t>
            </a:r>
          </a:p>
        </p:txBody>
      </p:sp>
      <p:sp>
        <p:nvSpPr>
          <p:cNvPr id="33" name="Line 33"/>
          <p:cNvSpPr/>
          <p:nvPr/>
        </p:nvSpPr>
        <p:spPr>
          <a:xfrm>
            <a:off x="6381750" y="35052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372606" y="369189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31330" y="3724275"/>
            <a:ext cx="32720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穿透后致病：LL-37-CLIC1神经炎症</a:t>
            </a:r>
          </a:p>
        </p:txBody>
      </p:sp>
      <p:sp>
        <p:nvSpPr>
          <p:cNvPr id="36" name="Line 36"/>
          <p:cNvSpPr/>
          <p:nvPr/>
        </p:nvSpPr>
        <p:spPr>
          <a:xfrm>
            <a:off x="6381750" y="424815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372606" y="443484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31330" y="4467225"/>
            <a:ext cx="18528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肠-血-脑轴整合模型</a:t>
            </a:r>
          </a:p>
        </p:txBody>
      </p:sp>
      <p:sp>
        <p:nvSpPr>
          <p:cNvPr id="39" name="Line 39"/>
          <p:cNvSpPr/>
          <p:nvPr/>
        </p:nvSpPr>
        <p:spPr>
          <a:xfrm>
            <a:off x="6381750" y="49911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6372606" y="517779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31330" y="521017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证据分级与验证路径</a:t>
            </a:r>
          </a:p>
        </p:txBody>
      </p:sp>
      <p:sp>
        <p:nvSpPr>
          <p:cNvPr id="42" name="Line 42"/>
          <p:cNvSpPr/>
          <p:nvPr/>
        </p:nvSpPr>
        <p:spPr>
          <a:xfrm>
            <a:off x="6381750" y="573405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78180" y="6172200"/>
            <a:ext cx="34480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每问配具体文献与实现细节，避免空泛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8764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03 / 方法演进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03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584301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计算方法总览：从数据库到生成模型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333625"/>
          </a:xfrm>
          <a:prstGeom prst="roundRect">
            <a:avLst>
              <a:gd name="adj" fmla="val 4082"/>
            </a:avLst>
          </a:prstGeom>
          <a:solidFill>
            <a:srgbClr val="0B1220"/>
          </a:solidFill>
          <a:ln w="9525">
            <a:solidFill>
              <a:srgbClr val="1E3A5F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600200"/>
            <a:ext cx="5934075" cy="206692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771900"/>
            <a:ext cx="10036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Wan 2024综述六类：数据库挖掘、特征工程ML、CNN/RNN判别、注意力/Transformer、蛋白语言模型pLM、生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019550"/>
            <a:ext cx="101988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成模型GAN/VAE/LLM；Ma 2022三模型LSTM+Attention+BERT属3-5类组合，Santos-Junior 2024 CNN+BiLSTM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276725"/>
            <a:ext cx="38750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规模化，AMPSphere 86万肽，阳性率&gt;75%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37665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本课题属判别式挖掘+表达去重，符合主流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8764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04 / 具体实现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04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660737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Ma 2022方法细节：人肠道宏基因组挖掘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47800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4001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数据源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73530" y="1400175"/>
            <a:ext cx="634841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人肠道宏基因组组装MAGs，sORF&lt;100aa，数百万候选，与本课题同源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1828800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87730" y="17811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样本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83030" y="1781175"/>
            <a:ext cx="922465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正1085条APD/DRAMP抗菌肽，负58776条UniProt非抗菌肽，CD-HIT 90%去冗余，Focal Loss解决不平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3030" y="2038350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衡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85800" y="2466975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87730" y="2419350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特征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83030" y="2419350"/>
            <a:ext cx="666773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one-hot+34维理化（电荷/疏水/等电点）+PC6向量+ProtBert嵌入三并行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85800" y="2857500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87730" y="28098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模型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83030" y="2809875"/>
            <a:ext cx="9071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LSTM双向+Attention关键残基+BERT上下文，每模型后接MLP，AdamW优化，5折交叉，独立集&gt;92%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85800" y="3238500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87730" y="31908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挖掘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83030" y="3190875"/>
            <a:ext cx="91203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三模型交集阈值0.9得2349条→按电荷&gt;2等筛选216条合成→181条活性83.8%，11条对耐药革兰阴性MIC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83030" y="3438525"/>
            <a:ext cx="15297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≤8，低同源&lt;40%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85800" y="3876675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87730" y="3829050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体内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83030" y="3829050"/>
            <a:ext cx="51412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小鼠肺感染K. pneumoniae模型，菌量降10倍，溶血&lt;10%</a:t>
            </a:r>
          </a:p>
        </p:txBody>
      </p:sp>
      <p:sp>
        <p:nvSpPr>
          <p:cNvPr id="27" name="Rectangle 27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78180" y="6172200"/>
            <a:ext cx="27453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阳性率83%+低同源新肽是亮点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0934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05 / 规模化验证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05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796740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Santos-Junior 2024 AMPSphere：全球规模化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333625"/>
          </a:xfrm>
          <a:prstGeom prst="roundRect">
            <a:avLst>
              <a:gd name="adj" fmla="val 4082"/>
            </a:avLst>
          </a:prstGeom>
          <a:solidFill>
            <a:srgbClr val="0B1220"/>
          </a:solidFill>
          <a:ln w="9525">
            <a:solidFill>
              <a:srgbClr val="1E3A5F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25" y="1600200"/>
            <a:ext cx="3800475" cy="206692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771900"/>
            <a:ext cx="97688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63,410宏基因组+87,920原核基因组→CNN+BiLSTM分类器→863,498非冗余抗菌肽，80%低同源&lt;40%→随机100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019550"/>
            <a:ext cx="877976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条合成79条活性63条靶向病原，SYTOX Green验证膜破坏机制，证明深度学习可系统发现新抗菌肽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78180" y="6172200"/>
            <a:ext cx="25434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规模化证明预测阳性率&gt;75%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0934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06 / 本课题实现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06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475259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本课题三模型共识与文献对齐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47800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4001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数据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3030" y="1400175"/>
            <a:ext cx="898345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476例粪便宏基因组→2.19亿原始sORF→9139万非冗余→757高质量MAGs→1971种水平代表→sORF，与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83030" y="1647825"/>
            <a:ext cx="12081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Ma 2022同源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85800" y="2085975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87730" y="2038350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样本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3030" y="2038350"/>
            <a:ext cx="75403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同Ma 2022：1085正/58776负，CD-HIT去冗余，Focal Loss，5折交叉AUROC&gt;0.92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85800" y="2466975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87730" y="2419350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共识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83030" y="2419350"/>
            <a:ext cx="94881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Attention/LSTM/BERT三模型独立预测，交集&gt;0.9才纳入，降低单一偏倚，特色为宏蛋白组表达二次去重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83030" y="2676525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解决有预测无表达假阳性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85800" y="3105150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7730" y="305752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验证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3030" y="3057525"/>
            <a:ext cx="883881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纸片扩散初筛→微量肉汤稀释测MIC，阳性对照LL-37，阴性溶剂，重复3次，定位为候选肽直接验证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85800" y="3486150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87730" y="343852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生成式补充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54530" y="3438525"/>
            <a:ext cx="87484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HydrAMP cVAE条件生成+AM Predictor GCN回归MIC RMSE0.535，本课题暂不涉及生成但流程一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54530" y="3695700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致</a:t>
            </a:r>
          </a:p>
        </p:txBody>
      </p:sp>
      <p:sp>
        <p:nvSpPr>
          <p:cNvPr id="25" name="Rectangle 25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78180" y="6172200"/>
            <a:ext cx="25550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三模型共识+表达去重是特色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0934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07 / 最直接结合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07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671828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抗菌肽与AD如何结合：Aβ本身就是抗菌肽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333625"/>
          </a:xfrm>
          <a:prstGeom prst="roundRect">
            <a:avLst>
              <a:gd name="adj" fmla="val 4082"/>
            </a:avLst>
          </a:prstGeom>
          <a:solidFill>
            <a:srgbClr val="0B1220"/>
          </a:solidFill>
          <a:ln w="9525">
            <a:solidFill>
              <a:srgbClr val="1E3A5F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175" y="1600200"/>
            <a:ext cx="4819650" cy="206692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771900"/>
            <a:ext cx="1001144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Soscia 2010 PLoS ONE：Aβ42对8种临床菌活性≥LL-37，反向/打乱无活性，AD脑匀浆活性高24%可被抗Aβ抗体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019550"/>
            <a:ext cx="103412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清除[6]；Kumar 2016 Sci Transl Med：转基因小鼠/线虫Aβ表达提高抗感染存活，寡聚化必需更耐蛋白酶[7]；Mo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276725"/>
            <a:ext cx="54938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ir 2018抗菌保护假说：Aβ聚集从生理抗菌到病理沉积失调[8]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31265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Aβ抗菌是核心环，解释为何AD更多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8764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08 / 物理结合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08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679838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结合机制：LL-37纳摩尔亲和力+交叉播种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333625"/>
          </a:xfrm>
          <a:prstGeom prst="roundRect">
            <a:avLst>
              <a:gd name="adj" fmla="val 4082"/>
            </a:avLst>
          </a:prstGeom>
          <a:solidFill>
            <a:srgbClr val="0B1220"/>
          </a:solidFill>
          <a:ln w="9525">
            <a:solidFill>
              <a:srgbClr val="1E3A5F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600200"/>
            <a:ext cx="4124325" cy="206692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771900"/>
            <a:ext cx="991676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LL-37与Aβ纳摩尔亲和力结合：De Lorenzi 2017 SPR+CD证明Kd≈nM，抑制长纤维但稳定更毒寡聚体/异源寡聚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019550"/>
            <a:ext cx="102847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体[15]；Barron 2024 Chem Soc Rev综述序列互补性交叉播种[16]；α-防御素β-丰富结构与Aβ交叉互作阻止斑块[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276725"/>
            <a:ext cx="104688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综述]；AChE-PAS成核中心Inestrosa 1996 propidium抑制75%[24]，De Ferrari 2001 Site I 35肽Kd184μM[25]，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结合改变聚集路径，增强毒性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8764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09 / 菌群失调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09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511606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肠道菌群调控上游：失调是驱动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8180" y="1419225"/>
            <a:ext cx="55913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CBD5E1"/>
              </a:buClr>
              <a:buSzTx/>
              <a:buFontTx/>
              <a:buChar char="•"/>
            </a:pPr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AD患者菌群特征是促炎菌↑抗炎菌↓，为抗菌肽↑提供上游合理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8180" y="1666875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性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8180" y="2009775"/>
            <a:ext cx="566508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CBD5E1"/>
              </a:buClr>
              <a:buSzTx/>
              <a:buFontTx/>
              <a:buChar char="•"/>
            </a:pPr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本课题预期微生物源抗菌肽随NC→MCI→AD升高，与促炎菌正相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2257425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关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239000" y="1543050"/>
            <a:ext cx="4267200" cy="742950"/>
          </a:xfrm>
          <a:prstGeom prst="roundRect">
            <a:avLst>
              <a:gd name="adj" fmla="val 10256"/>
            </a:avLst>
          </a:prstGeom>
          <a:solidFill>
            <a:srgbClr val="0E1A2B"/>
          </a:solidFill>
          <a:ln w="9525">
            <a:solidFill>
              <a:srgbClr val="1E3A5F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239000" y="1543050"/>
            <a:ext cx="57150" cy="7429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459980" y="1647825"/>
            <a:ext cx="10258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22D3EE"/>
                </a:solidFill>
                <a:latin typeface="Arial"/>
                <a:ea typeface="Arial"/>
                <a:cs typeface="Arial"/>
              </a:rPr>
              <a:t>Vogt 2017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59980" y="1857375"/>
            <a:ext cx="40931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Firmicutes/Bifidobacterium↓ Bacteroidet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59980" y="208597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es↑[18]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239000" y="2362200"/>
            <a:ext cx="4267200" cy="742950"/>
          </a:xfrm>
          <a:prstGeom prst="roundRect">
            <a:avLst>
              <a:gd name="adj" fmla="val 10256"/>
            </a:avLst>
          </a:prstGeom>
          <a:solidFill>
            <a:srgbClr val="0E1A2B"/>
          </a:solidFill>
          <a:ln w="9525">
            <a:solidFill>
              <a:srgbClr val="1E3A5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7239000" y="2362200"/>
            <a:ext cx="57150" cy="7429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459980" y="2466975"/>
            <a:ext cx="148857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22D3EE"/>
                </a:solidFill>
                <a:latin typeface="Arial"/>
                <a:ea typeface="Arial"/>
                <a:cs typeface="Arial"/>
              </a:rPr>
              <a:t>Cattaneo 2017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59980" y="2676525"/>
            <a:ext cx="408368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Escherichia/Shigella↑ E. rectale↓ 与IL-1β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59980" y="2905125"/>
            <a:ext cx="176936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/NLRP3正相关[19]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239000" y="3181350"/>
            <a:ext cx="4267200" cy="742950"/>
          </a:xfrm>
          <a:prstGeom prst="roundRect">
            <a:avLst>
              <a:gd name="adj" fmla="val 10256"/>
            </a:avLst>
          </a:prstGeom>
          <a:solidFill>
            <a:srgbClr val="0E1A2B"/>
          </a:solidFill>
          <a:ln w="9525">
            <a:solidFill>
              <a:srgbClr val="1E3A5F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239000" y="3181350"/>
            <a:ext cx="57150" cy="7429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459980" y="3286125"/>
            <a:ext cx="126160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Liu 2020综述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59980" y="3495675"/>
            <a:ext cx="30655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肠道失调与AD关联，LPS入血[20]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239000" y="4000500"/>
            <a:ext cx="4267200" cy="742950"/>
          </a:xfrm>
          <a:prstGeom prst="roundRect">
            <a:avLst>
              <a:gd name="adj" fmla="val 10256"/>
            </a:avLst>
          </a:prstGeom>
          <a:solidFill>
            <a:srgbClr val="0E1A2B"/>
          </a:solidFill>
          <a:ln w="9525">
            <a:solidFill>
              <a:srgbClr val="1E3A5F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239000" y="4000500"/>
            <a:ext cx="57150" cy="742950"/>
          </a:xfrm>
          <a:prstGeom prst="rect">
            <a:avLst/>
          </a:prstGeom>
          <a:solidFill>
            <a:srgbClr val="F5A524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459980" y="41052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本课题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59980" y="4314825"/>
            <a:ext cx="198272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五阶段比较，预期AD↑</a:t>
            </a:r>
          </a:p>
        </p:txBody>
      </p:sp>
      <p:sp>
        <p:nvSpPr>
          <p:cNvPr id="29" name="Rectangle 29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78180" y="6172200"/>
            <a:ext cx="25550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菌群失调为抗菌肽↑提供驱动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0934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10 / 介质与机制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10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638520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肠道调控介质：LPS+细菌淀粉样+SCFA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333625"/>
          </a:xfrm>
          <a:prstGeom prst="roundRect">
            <a:avLst>
              <a:gd name="adj" fmla="val 4082"/>
            </a:avLst>
          </a:prstGeom>
          <a:solidFill>
            <a:srgbClr val="0B1220"/>
          </a:solidFill>
          <a:ln w="9525">
            <a:solidFill>
              <a:srgbClr val="1E3A5F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1600200"/>
            <a:ext cx="5962650" cy="206692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771900"/>
            <a:ext cx="102777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LPS与斑块共定位Zhan 2018[21]，血浆LPS 3倍Zhao 2017[22]，P. gingivalis在AD脑Dominy 2019[23]；LPS与A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019550"/>
            <a:ext cx="101326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β均为TLR4/CD14激动剂经MyD88→NF-κB释放IL-1β/TNF-α/IL-6上调APP/Aβ/抗菌肽形成正反馈；细菌淀粉样Cs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276725"/>
            <a:ext cx="988733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gA与Aβ交叉播种分子模拟；SCFA丁酸盐抗炎，AD中产丁酸菌降低；TMAO激活NLRP3；GV-971重塑菌群降苯丙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29073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LPS-TLR4是核心，SCFA是调节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89853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11 / BBB基础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11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402564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血脑屏障结构与转运通路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333625"/>
          </a:xfrm>
          <a:prstGeom prst="roundRect">
            <a:avLst>
              <a:gd name="adj" fmla="val 4082"/>
            </a:avLst>
          </a:prstGeom>
          <a:solidFill>
            <a:srgbClr val="0B1220"/>
          </a:solidFill>
          <a:ln w="9525">
            <a:solidFill>
              <a:srgbClr val="1E3A5F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600200"/>
            <a:ext cx="4124325" cy="206692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771900"/>
            <a:ext cx="99690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BBB由脑微血管内皮紧密连接、基底膜、星形胶质足突构成；转运分5类：细胞旁路极受限、跨细胞亲脂扩散小分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019550"/>
            <a:ext cx="100163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子、载体介导、受体介导RMT（TfR、LRP1、胰岛素受体）、吸附介导AMT（阳离子与阴离子糖萼静电吸附）；B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276725"/>
            <a:ext cx="74941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anks 2023 Viktor Mutt讲座综述肽穿透机制：亲脂性、饱和转运、吸附转胞吞[27]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306537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RMT与AMT是抗菌肽入脑主要途径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8764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12 / 穿透机制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12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692795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抗菌肽穿透BBB：阳离子AMT+LRP1/RAGE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47800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400175"/>
            <a:ext cx="103548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阳离子AMT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54530" y="1400175"/>
            <a:ext cx="875880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抗菌肽+2~+9电荷与内皮阴离子硫酸乙酰肝素/唾液酸静电吸附触发吸附介导内吞，精氨酸越多穿透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54530" y="1647825"/>
            <a:ext cx="69664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越强，LL-37 37aa +6电荷符合[27,29]；Banks综述电荷是AMT关键预测因子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85800" y="2085975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87730" y="2038350"/>
            <a:ext cx="8335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RMT途径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3555" y="2038350"/>
            <a:ext cx="833799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Aβ经LRP1脑→血外排和RAGE血→脑内流，LRP1↓或RAGE↑致脑内蓄积[28]；抗菌肽可利用LRP1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73555" y="2286000"/>
            <a:ext cx="68352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类似配体Angiopep-2或乳铁蛋白经LRP1转运，乳铁蛋白在AD神经元胶质上调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2724150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7730" y="267652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分子量亲脂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54530" y="2676525"/>
            <a:ext cx="62350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小肽&lt;5kDa更易，两亲螺旋插入脂膜形成孔道，类似抗菌机制用于穿膜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85800" y="3105150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7730" y="3057525"/>
            <a:ext cx="9395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病理通透↑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54530" y="3057525"/>
            <a:ext cx="85499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AD中BBB破坏claudin-5/occludin↓，LPS/炎症因子进一步↑通透，外周肽更易入脑；Braniste 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54530" y="3305175"/>
            <a:ext cx="33002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014无菌小鼠BBB通透↑，SCFA可恢复</a:t>
            </a:r>
          </a:p>
        </p:txBody>
      </p:sp>
      <p:sp>
        <p:nvSpPr>
          <p:cNvPr id="22" name="Rectangle 2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78180" y="6172200"/>
            <a:ext cx="34692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阳离子AMT是主要，RMT是特异性补充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0934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13 / 进入后作用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13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60010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穿透后致病：LL-37-CLIC1神经炎症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333625"/>
          </a:xfrm>
          <a:prstGeom prst="roundRect">
            <a:avLst>
              <a:gd name="adj" fmla="val 4082"/>
            </a:avLst>
          </a:prstGeom>
          <a:solidFill>
            <a:srgbClr val="0B1220"/>
          </a:solidFill>
          <a:ln w="9525">
            <a:solidFill>
              <a:srgbClr val="1E3A5F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975" y="1600200"/>
            <a:ext cx="6505575" cy="206692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771900"/>
            <a:ext cx="102730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Lee 2015 Biochem Pharmacol：LL-37在人小胶质/星形胶质诱导TNF-α/IL-6释放，NF-κB核转位[13]；Chen 202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019550"/>
            <a:ext cx="1025363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2 Mol Psychiatry：LL-37促进CLIC1膜转位整合形成氯离子通道致小胶质过度活化ROS神经毒性，小鼠猴模型致Aβ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276725"/>
            <a:ext cx="990461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↑NFT↑脑萎缩侧脑室扩大突触认知受损，Clic1敲除阻断[14]；LL-37结合Aβ抑制长纤维但稳定寡聚体/异源寡聚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265061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LL-37是穿透后致病典型实例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8764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14 / 综合模型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14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335503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肠-血-脑轴整合模型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333625"/>
          </a:xfrm>
          <a:prstGeom prst="roundRect">
            <a:avLst>
              <a:gd name="adj" fmla="val 4082"/>
            </a:avLst>
          </a:prstGeom>
          <a:solidFill>
            <a:srgbClr val="0B1220"/>
          </a:solidFill>
          <a:ln w="9525">
            <a:solidFill>
              <a:srgbClr val="1E3A5F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175" y="1600200"/>
            <a:ext cx="4819650" cy="206692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771900"/>
            <a:ext cx="96002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肠道菌群失调→肠屏障↑→LPS/细菌淀粉样/微生物源抗菌肽入血→BBB通透性↑（炎症因子/LPS）→抗菌肽与Aβ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019550"/>
            <a:ext cx="959930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经RAGE/AMT入脑→小胶质活化TLR4/NLRP3/CLIC1→释放更多Aβ/抗菌肽炎症介质→AChE-PAS促纤维化→正反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276725"/>
            <a:ext cx="78135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馈环→AD病理；Erny 2015菌群持续控制小胶质成熟功能，Braniste 2014 SCFA调控BBB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四问题串成一条轴，解释新增提问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0934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15 / 分级与口径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15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402564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证据强度分级与验证路径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47800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400175"/>
            <a:ext cx="102439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强：Aβ抗菌活性AD脑&gt;对照可被抗体清除[6]；三模型预测83%阳性率[1,2]；Aβ经LRP1/RAGE转运失衡致蓄积[28]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7730" y="1647825"/>
            <a:ext cx="39603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；AChE经PAS促聚集propidium阻断[24,25]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2085975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87730" y="2038350"/>
            <a:ext cx="102489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中-强：AD肠道菌群失衡促炎↑产丁酸↓[18,19]；LPS与斑块共定位血浆3倍[21,22]；P. gingivalis在AD脑[23]；L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7730" y="2286000"/>
            <a:ext cx="30398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L-37经CLIC1致AD样病理[13,14]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85800" y="2724150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87730" y="2676525"/>
            <a:ext cx="1038853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中：抗菌肽经AMT穿透BBB阳离子关键[27,29]；肠道菌群调控BBB通透性SCFA[31,32]；LL-37与Aβ纳摩尔结合[15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7730" y="2924175"/>
            <a:ext cx="4594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,16]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85800" y="3352800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87730" y="3305175"/>
            <a:ext cx="99799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待验证：微生物源抗菌肽随AD阶段变化（本课题五阶段比较）；候选肽经BBB入脑致病H1-H3（本课题对接+MD+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7730" y="3562350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细胞炎症检测）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85800" y="3990975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87730" y="3943350"/>
            <a:ext cx="1000791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口径：计算方法强调三模型共识是主流阳性率&gt;80%已被验证；结合机制先讲Aβ本身抗菌生理再讲宿主AMP参照最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7730" y="4200525"/>
            <a:ext cx="101018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后落到微生物源新层面；肠道调控用LPS-TLR4正反馈环避免直接因果；BBB穿透用AMT+RMT解释可行性LL-37-C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7730" y="4448175"/>
            <a:ext cx="103708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LIC1作实例</a:t>
            </a:r>
          </a:p>
        </p:txBody>
      </p:sp>
      <p:sp>
        <p:nvSpPr>
          <p:cNvPr id="23" name="Rectangle 23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78180" y="6172200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待验证两项即本课题要回答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44243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16 / 总结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16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350860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总结：4问串联与后续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600200"/>
            <a:ext cx="57150" cy="6286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68592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计算方法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7730" y="1895475"/>
            <a:ext cx="101007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Ma 2022 1085正/58776负LSTM+Attention+BERT 2349→216→181 83%+体内；Santos 2024 86万肽100→79活性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7730" y="2143125"/>
            <a:ext cx="44778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；本课题三模型共识+宏蛋白组去重+抑菌实验验证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85800" y="2362200"/>
            <a:ext cx="57150" cy="628650"/>
          </a:xfrm>
          <a:prstGeom prst="rect">
            <a:avLst/>
          </a:prstGeom>
          <a:solidFill>
            <a:srgbClr val="F5A524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87730" y="2447925"/>
            <a:ext cx="66553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AD结合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7730" y="2657475"/>
            <a:ext cx="102417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Aβ本身抗菌AD脑&gt;对照抗体清除[6]；LL-37纳摩尔结合Aβ抑制纤维但稳定寡聚体[15,16]；AChE-PAS成核中心pro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7730" y="2905125"/>
            <a:ext cx="55512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pidium 75%[24] Site I Kd184μM[25] 344-361第二界面[26]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3124200"/>
            <a:ext cx="57150" cy="6286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7730" y="320992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肠道调控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7730" y="3419475"/>
            <a:ext cx="98661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菌群失调促炎↑产丁酸↓[18,19]→LPS 3倍与斑块共定位[21,22]→TLR4/MyD88/NF-κB→Aβ/抗菌肽↑→细菌淀粉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7730" y="3667125"/>
            <a:ext cx="360635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样交叉播种→SCFA/TMAO调节→正反馈环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85800" y="3886200"/>
            <a:ext cx="57150" cy="628650"/>
          </a:xfrm>
          <a:prstGeom prst="rect">
            <a:avLst/>
          </a:prstGeom>
          <a:solidFill>
            <a:srgbClr val="F5A524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87730" y="3971925"/>
            <a:ext cx="7887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BBB穿透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7730" y="4181475"/>
            <a:ext cx="102639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BBB 5类转运RMT/AMT[27-30]；抗菌肽阳离子+2~+9利于AMT精氨酸越多越强[27]；LRP1外排RAGE内流失衡致蓄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7730" y="4429125"/>
            <a:ext cx="82771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积[28]；LL-37经CLIC1致小胶质活化Aβ↑NFT↑脑萎缩[13,14]；病理BBB通透↑外周更易入脑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85800" y="4648200"/>
            <a:ext cx="57150" cy="6286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87730" y="473392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整合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7730" y="4943475"/>
            <a:ext cx="92276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肠-血-脑轴：肠失调→LPS/抗菌肽入血→BBB↑→入脑→小胶质活化→Aβ/抗菌肽↑→AChE-PAS纤维化→循环；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7730" y="5191125"/>
            <a:ext cx="47615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本课题五阶段比较+对接MD+炎症检测验证待验证两项</a:t>
            </a:r>
          </a:p>
        </p:txBody>
      </p:sp>
      <p:sp>
        <p:nvSpPr>
          <p:cNvPr id="27" name="Rectangle 27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78180" y="6172200"/>
            <a:ext cx="52757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定位线索发现与假设提出，用H1-H3加验证路径说明下一步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69036" y="2310765"/>
            <a:ext cx="447598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恳请各位老师批评指正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4370" y="3090862"/>
            <a:ext cx="93154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谢谢！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39052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rgbClr val="22D3EE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vgproj_bbb_F">
  <a:themeElements>
    <a:clrScheme name="svgproj_bbb_F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vgproj_bbb_F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vgproj_bbb_F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vgproj_bbb_F">
  <a:themeElements>
    <a:clrScheme name="svgproj_bbb_F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vgproj_bbb_F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vgproj_bbb_F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2026-09-21T02:49:19Z</dcterms:created>
  <dcterms:modified xsi:type="dcterms:W3CDTF">2026-09-21T02:49:19Z</dcterms:modified>
  <cp:category/>
  <cp:contentStatus/>
</cp:coreProperties>
</file>