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各位老师好，本材料是中期检查的机制补充，全面回答抗菌肽与AD的8个核心问题，并把动力学从1篇扩展到多文献链，抗菌活性预测补充Ma 2022和Santos-Junior 2024等大规模验证。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提纲10项，覆盖用户追问的所有维度。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一句话讲清关联。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七环逻辑链图，蓝色已有证据，绿色计算可给出优先序，橙色本课题待验证。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抗菌肽与AD关联分三层：Aβ本身抗菌、宿主AMP上调、微生物源待验证。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AD与感染关联已从假说到多病原多机制证据链。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抗菌活性预测部分补充文献，说明三模型共识的可行性。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谁更多问题必须分三层，避免过度表述。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为什么多：正反馈环，上游菌群失衡提供持续驱动。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抑制感染是抗菌肽生理功能，Aβ的抗菌活性有体内外证据。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促进AD分聚集和炎症两条路径，都有多文献支撑。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机制落点强调多文献链，不只Atanasova一篇，344-361是第二界面。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证据分级表，强/中/待验证，避免夸大因果。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总结口径：线索发现，不夸大因果，多文献链支撑。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机制说明汇报结束，谢谢。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mech_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mech_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334500" y="1047750"/>
            <a:ext cx="2095500" cy="952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334500" y="1285875"/>
            <a:ext cx="1428750" cy="952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8180" y="1171575"/>
            <a:ext cx="25116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中期检查补充材料·全面版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1595438"/>
            <a:ext cx="5702427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抗菌肽与AD关联机制说明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2185988"/>
            <a:ext cx="8989909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从抗菌活性预测到双刃剑效应·38篇文献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341947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BBF2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8180" y="3714750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5765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0055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743450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180" y="5086350"/>
            <a:ext cx="34101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抗菌肽与AD关联机制·38篇文献全面版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8831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02 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84342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汇报提纲：8个问题+动力学多文献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5132" y="14687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1533525"/>
            <a:ext cx="38140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总体结论：感染—炎症—Aβ/抗菌肽正反馈环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5132" y="23450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4098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七环逻辑链：证据强度分层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5132" y="32213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580" y="32861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抗菌肽与AD关联：Aβ本身是抗菌肽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5132" y="40976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580" y="4162425"/>
            <a:ext cx="35010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AD与感染关联：病毒/细菌/肠道三证据</a:t>
            </a:r>
          </a:p>
        </p:txBody>
      </p:sp>
      <p:sp>
        <p:nvSpPr>
          <p:cNvPr id="18" name="Line 18"/>
          <p:cNvSpPr/>
          <p:nvPr/>
        </p:nvSpPr>
        <p:spPr>
          <a:xfrm>
            <a:off x="68580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5132" y="49739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580" y="50387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抗菌活性为何可预测：深度学习大规模验证</a:t>
            </a:r>
          </a:p>
        </p:txBody>
      </p:sp>
      <p:sp>
        <p:nvSpPr>
          <p:cNvPr id="21" name="Line 21"/>
          <p:cNvSpPr/>
          <p:nvPr/>
        </p:nvSpPr>
        <p:spPr>
          <a:xfrm>
            <a:off x="68580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371082" y="14687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07530" y="1533525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正常人 vs AD谁更多：三层次区分</a:t>
            </a:r>
          </a:p>
        </p:txBody>
      </p:sp>
      <p:sp>
        <p:nvSpPr>
          <p:cNvPr id="24" name="Line 24"/>
          <p:cNvSpPr/>
          <p:nvPr/>
        </p:nvSpPr>
        <p:spPr>
          <a:xfrm>
            <a:off x="638175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71082" y="23450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07530" y="24098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为什么多：炎症关系与上游驱动</a:t>
            </a:r>
          </a:p>
        </p:txBody>
      </p:sp>
      <p:sp>
        <p:nvSpPr>
          <p:cNvPr id="27" name="Line 27"/>
          <p:cNvSpPr/>
          <p:nvPr/>
        </p:nvSpPr>
        <p:spPr>
          <a:xfrm>
            <a:off x="638175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71082" y="32213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07530" y="3286125"/>
            <a:ext cx="3218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抗菌肽抑制感染 vs 促进AD：双刃剑</a:t>
            </a:r>
          </a:p>
        </p:txBody>
      </p:sp>
      <p:sp>
        <p:nvSpPr>
          <p:cNvPr id="30" name="Line 30"/>
          <p:cNvSpPr/>
          <p:nvPr/>
        </p:nvSpPr>
        <p:spPr>
          <a:xfrm>
            <a:off x="638175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71082" y="40976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07530" y="4162425"/>
            <a:ext cx="35528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机制落点：AChE-PAS多文献链与H1-H3</a:t>
            </a:r>
          </a:p>
        </p:txBody>
      </p:sp>
      <p:sp>
        <p:nvSpPr>
          <p:cNvPr id="33" name="Line 33"/>
          <p:cNvSpPr/>
          <p:nvPr/>
        </p:nvSpPr>
        <p:spPr>
          <a:xfrm>
            <a:off x="638175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371082" y="49739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7530" y="50387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36" name="Line 36"/>
          <p:cNvSpPr/>
          <p:nvPr/>
        </p:nvSpPr>
        <p:spPr>
          <a:xfrm>
            <a:off x="638175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818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每环证据强度不同，待验证部分即本课题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6594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03 / 一句话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01662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总体结论：双刃剑与正反馈环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上游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400175"/>
            <a:ext cx="60992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肠道菌群失衡与肠屏障↑，LPS、P. gingivalis、HSV-1长期刺激宿主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8573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18097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中游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1809750"/>
            <a:ext cx="9254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先天免疫效应分子抗菌肽与Aβ被持续诱导，Aβ本身即抗菌肽，AD脑匀浆活性&gt;对照可被抗Aβ抗体清除[1]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22669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2193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下游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3030" y="2219325"/>
            <a:ext cx="93400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双刃剑：抑制感染（生理）vs 经AChE-PAS成核促Aβ聚集、经TLR4/NLRP3/CLIC1放大神经炎症（病理）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267652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262890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循环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3030" y="2628900"/>
            <a:ext cx="89416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形成感染—炎症—Aβ/抗菌肽聚集—AD病理正反馈环，抗菌保护假说：有益免疫在长期失衡后被放大[3]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572000"/>
            <a:ext cx="10820400" cy="1047750"/>
          </a:xfrm>
          <a:prstGeom prst="roundRect">
            <a:avLst>
              <a:gd name="adj" fmla="val 9091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85800" y="4572000"/>
            <a:ext cx="57150" cy="10477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4752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口径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5019675"/>
            <a:ext cx="793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用线索发现/假设提出，不用证明/因果；数量差异区分宿主/微生物源、局部/系统、阶段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8180" y="6172200"/>
            <a:ext cx="454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Aβ与抗菌肽同属先天免疫，双刃剑效应解释AD更多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04 / 关联拆解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七环逻辑链：每环证据强度不同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00200"/>
            <a:ext cx="51149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95474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①AD与感染相关 ②感染与炎症驱动抗菌肽/Aβ生成 ③Aβ本身是抗菌肽 ④抗菌活性可计算预测 ⑤AD组特异肽随阶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5328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段变化 ⑥双刃剑 ⑦正反馈环与AChE-PAS落点是本课题待验证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8180" y="6172200"/>
            <a:ext cx="43183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蓝=已有实验/临床，绿=计算可预测，橙=本课题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05 / 多篇文献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05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848421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抗菌肽与AD关联：Aβ本身是抗菌肽+宿主AMP上调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61781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Aβ抗菌活性具序列特异性，对8种临床菌活性≥LL-37，反向/打乱无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666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活性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038350"/>
            <a:ext cx="61188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AD脑匀浆活性&gt;对照，可被抗Aβ抗体免疫清除，说明相当部分来自A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286000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β[1]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2657475"/>
            <a:ext cx="34316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宿主AMP在AD脑内上调是独立证据链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0" y="15430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0" y="1543050"/>
            <a:ext cx="57150" cy="7810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59980" y="1666875"/>
            <a:ext cx="6203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BBF24"/>
                </a:solidFill>
                <a:latin typeface="Arial"/>
                <a:ea typeface="Arial"/>
                <a:cs typeface="Arial"/>
              </a:rPr>
              <a:t>hBD-1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1895475"/>
            <a:ext cx="4098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海马/脉络丛/颗粒空泡变性上调，mRNA P=0.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59980" y="2124075"/>
            <a:ext cx="570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02[7]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0" y="24193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239000" y="2419350"/>
            <a:ext cx="57150" cy="7810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59980" y="2543175"/>
            <a:ext cx="14806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BBF24"/>
                </a:solidFill>
                <a:latin typeface="Arial"/>
                <a:ea typeface="Arial"/>
                <a:cs typeface="Arial"/>
              </a:rPr>
              <a:t>hBD-2/HNP1-3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2771775"/>
            <a:ext cx="34238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血清/CSF升高，DEFB4拷贝数更高[8]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2956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295650"/>
            <a:ext cx="57150" cy="7810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4194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BBF24"/>
                </a:solidFill>
                <a:latin typeface="Arial"/>
                <a:ea typeface="Arial"/>
                <a:cs typeface="Arial"/>
              </a:rPr>
              <a:t>CAP37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648075"/>
            <a:ext cx="17619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锥体神经元上调[9]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1719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171950"/>
            <a:ext cx="57150" cy="7810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2957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LL-37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524375"/>
            <a:ext cx="41732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黑质/皮层/小胶质上调，经CLIC1致病[10,11]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8180" y="6172200"/>
            <a:ext cx="41023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Aβ与宿主AMP上调为微生物源研究提供参照系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33255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06 / AD-感染关联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06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07898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AD与感染关联：病毒+细菌+肠道三证据链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1600200"/>
            <a:ext cx="63150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9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病毒：HSV-1 DNA在90%斑块核心，HHV-6A/7 RNA升高，HSV-1上调β/γ分泌酶致Aβ/tau病理[4-6,36]；细菌：A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994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D脑检出LPS、P. gingivalis及gingipains，血浆LPS约3倍[13-16]；肠道：菌群失衡→屏障↑→LPS入血，果蝇/小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鼠模型证实[37,38]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多病原证据，肠道起源提供上游驱动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07 / 预测可行性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07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31862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抗菌活性为何可预测：深度学习大规模验证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1600200"/>
            <a:ext cx="62960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002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Ma 2022 Nat Biotech：LSTM+Attention+BERT 2349候选→216合成→181活性83%低同源&lt;40%[22]；Santos-Ju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880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nior 2024 Cell全球86万非冗余肽100→79活性[23]；Wan 2024综述活性/毒性/溶解度[24]；本课题三模型共识+宏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蛋白组去重+抑菌实验验证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956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从序列预测活性已被反复验证，阳性率&gt;80%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08 / 三层次区分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79575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正常人 vs AD谁更多：方向AD侧更高但需分层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4215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不能笼统说谁多，必须区分来源、部位、阶段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781175"/>
            <a:ext cx="5662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宿主证据方向一致：AD侧更高，但微生物源以本项目数据为准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152650"/>
            <a:ext cx="4936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本课题按NC/SCS/SCD/MCI/AD五阶段比较，预期AD↑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239000" y="15430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239000" y="1543050"/>
            <a:ext cx="57150" cy="7810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59980" y="16668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来源层次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9980" y="1895475"/>
            <a:ext cx="33066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宿主证据强[7-11]，微生物源待验证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239000" y="24193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239000" y="2419350"/>
            <a:ext cx="57150" cy="7810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59980" y="25431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部位层次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59980" y="2771775"/>
            <a:ext cx="35337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脑/肠腔 vs 血浆/CSF可能不同[13,14]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0" y="32956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239000" y="3295650"/>
            <a:ext cx="57150" cy="7810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59980" y="34194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阶段层次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9980" y="3648075"/>
            <a:ext cx="3332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MCI vs AD不一致[19,20]，需分阶段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39000" y="41719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39000" y="4171950"/>
            <a:ext cx="57150" cy="7810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59980" y="42957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9980" y="4524375"/>
            <a:ext cx="2790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微生物源五阶段比较，预期AD↑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8180" y="6172200"/>
            <a:ext cx="48379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宿主AMP上调，总活性AD&gt;对照，微生物源以数据为准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38613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09 / 上游驱动+中游放大+下游循环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09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为什么多：炎症关系与正反馈环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00200"/>
            <a:ext cx="51149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42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上游：促炎菌Escherichia/Shigella、Proteobacteria富集，产丁酸菌Eubacterium/Faecalibacterium降低，血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048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浆LPS约3倍[19-21]；中游：LPS与Aβ均为TLR4/CD14激动剂，经MyD88→NF-κB→IL-1β/TNF-α/IL-6，上调Aβ/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10097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抗菌肽[13,18]；下游：Aβ/抗菌肽聚集→小胶质活化NLRP3/CLIC1→更多炎症介质和Aβ[10,11]；循环：AChE-PA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44036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抗菌保护假说：有益免疫在长期失衡后被放大[3]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36443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10 / 抑菌谱+体内保护+包裹机制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10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抗菌肽如何抑制感染：生理功能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1600200"/>
            <a:ext cx="6896100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21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Aβ对8种微生物活性≥LL-37，反向/打乱无活性[1]；小鼠/线虫Aβ表达提高抗感染加倍存活，寡聚化必需且耐蛋白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999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酶[2]；Aβ抑制HSV-1复制入侵，斑块包裹病毒保护免于脑炎[4,5]；机制：可溶寡聚体经肝素结合域结合微生物碳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水化合物，抑制黏附，原纤维凝集包裹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寡聚化既是功能也是代价，解释为何聚集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6594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11 / 双路径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11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647374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抗菌肽如何促进AD：聚集+炎症双路径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600200"/>
            <a:ext cx="43719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2483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聚集：AChE的PAS是成核中心，Inestrosa 1996经典实验propidium抑制75%[27]，De Ferrari 2001疏水基序35肽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4876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Kd184μM[29]，Atanasova 2020 1μs MD 344-361稳定[32]；LL-37结合Aβ抑制长纤维但稳定更毒寡聚体[10-12]；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97684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炎症：LPS/Aβ均为TLR4激动剂，LL-37经CLIC1致小胶质过度活化、ROS、神经毒性，动物模型致Aβ↑NFT↑脑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7062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AChE-PAS与LL-37-CLIC1两条可分路径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5274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12 / 不只一篇动力学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41300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机制落点：AChE-Aβ多文献链与H1-H3假设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600200"/>
            <a:ext cx="43719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4955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文献链：Inestrosa 1996经典实验[27]→De Ferrari 2001结构基序[29]→Inestrosa 2008综述[30]→Atanasova 2020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9944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1μs MD 344-361第二界面[32]；H1竞争PAS减少成核，H2结合Aβ改变聚集路径，H3膜水平影响小胶质识别；以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37518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对接+MD给优先序，以抑菌+酶活实验验证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50720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344-361为第二可利用界面，候选肽两亲阳离子特征匹配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3104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13 / 避免过度表述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42492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证据强度分级与验证路径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12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强：Aβ具抗菌活性AD脑&gt;对照可被抗体清除[1]；Aβ保护抗感染寡聚化必需[2]；Aβ抑制HSV-1斑块包裹病毒[4,5]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657350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；AChE经PAS促聚集propidium阻断[27-31]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1145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066925"/>
            <a:ext cx="74532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中-强：AD脑hBD-1/CAP37/LL-37上调[7,9-11]；LL-37经CLIC1致AD样病理[11]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52412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7730" y="2476500"/>
            <a:ext cx="10317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中：AD血清/CSF hBD-2/HNP1-3升高[8]；AD脑LPS/P.gingivalis[13-16]；菌群失衡促炎↑产丁酸↓[19-21]；Aβ-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2733675"/>
            <a:ext cx="16773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AChE 1μs MD[32]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1908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143250"/>
            <a:ext cx="43971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强：抗菌活性可深度学习预测83%阳性率[22,23]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36004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3552825"/>
            <a:ext cx="972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待验证：微生物源抗菌肽在AD增多随阶段变化（本课题）；候选肽经AChE-Aβ界面影响成核H1-H3（本课题）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818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待验证两项即本课题要回答的问题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14 / 线索发现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309829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总结：口径与后续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600200"/>
            <a:ext cx="57150" cy="6477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总体关联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933575"/>
            <a:ext cx="6006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肠道菌群失衡→LPS长期刺激→抗菌肽/Aβ持续诱导→双刃剑→正反馈环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4003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5050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预测可行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2733675"/>
            <a:ext cx="9795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Ma 2022 83%阳性率+Santos-Junior 2024 79%活性，说明序列预测可行，本课题三模型共识+去重+实验验证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3200400"/>
            <a:ext cx="57150" cy="6477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33051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谁更多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3533775"/>
            <a:ext cx="48943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AD侧更高但分三层，宿主证据强，微生物源以数据为准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4000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41052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双刃剑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4333875"/>
            <a:ext cx="73133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抑制感染（生理）vs 促进聚集与炎症（病理），LL-37-CLIC1与AChE-PAS两路径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800600"/>
            <a:ext cx="57150" cy="6477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49053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机制落点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5133975"/>
            <a:ext cx="100693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多文献链Inestrosa1996→De Ferrari2001→Inestrosa2008→Atanasova2020，344-361第二界面，H1-H3可检验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8180" y="6172200"/>
            <a:ext cx="54776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定位为线索发现与假设提出，用H1-H3加验证路径说明下一步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BBF24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mech_M">
  <a:themeElements>
    <a:clrScheme name="svgproj_mech_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M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mech_M">
  <a:themeElements>
    <a:clrScheme name="svgproj_mech_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M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2026-09-17T07:14:52Z</dcterms:created>
  <dcterms:modified xsi:type="dcterms:W3CDTF">2026-09-17T07:14:52Z</dcterms:modified>
  <cp:category/>
  <cp:contentStatus/>
</cp:coreProperties>
</file>