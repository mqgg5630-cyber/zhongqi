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整体研究分四个层次：数据与序列层、预测层、统计与表达层、功能层，共八项工作。本次中期完成的是数据与预测这一半；另一半的实施方案已经确定，按计划在中期之后推进。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这页说明整体流程：从测序数据到候选抗菌肽清单，共十二步，输入输出都可追溯。目前前四步已完成，其余内容安排在下一阶段推进。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得到结构一致的比较亚队列。各阶段的样本量相同、性别构成相同、组间平均年龄差小于两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下一阶段先做分阶段差异分析，再引入宏蛋白组表达证据做二次去重，剔除没有表达支持的序列，筛选出健康人群特有与各疾病阶段特有的抗菌肽清单。两项工作的方案已经确定。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展开，把结论定位为线索发现；抑菌实验验证选取有代表性的候选抗菌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开题计划逐条对照：数据准备、候选肽挖掘两项已完成；分阶段差异分析与二次去重、机制关联与抑菌实验验证安排在下一阶段，方案已经确定。研究方向没有变，调整都发生在方法层面。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中期前完成数据与</a:t>
            </a:r>
          </a:p>
          <a:p>
            <a:pPr algn="l">
              <a:lnSpc>
                <a:spcPct val="130000"/>
              </a:lnSpc>
              <a:spcBef>
                <a:spcPts val="1200"/>
              </a:spcBef>
              <a:spcAft>
                <a:spcPts val="0"/>
              </a:spcAft>
            </a:pPr>
            <a:r>
              <a:rPr sz="1600" b="0">
                <a:solidFill>
                  <a:srgbClr val="777777"/>
                </a:solidFill>
                <a:latin typeface="Arial"/>
                <a:ea typeface="微软雅黑"/>
                <a:cs typeface="Arial"/>
              </a:rPr>
              <a:t>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八项工作分为两半：数据资源、参考集、短肽库与三模型共识预测四项已完成；分阶段差异分析、二次去重、特有肽筛选与机制验证四项在下一阶段推进。</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双端鸟枪法测序
质控与去宿主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序列组装与分箱
分箱提纯</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种水平去冗余
非冗余参考集</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小开放阅读框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序列级去冗余
非冗余短肽库</a:t>
            </a:r>
          </a:p>
        </p:txBody>
      </p:sp>
      <p:sp>
        <p:nvSpPr>
          <p:cNvPr id="18" name="Rectangle 17"/>
          <p:cNvSpPr/>
          <p:nvPr/>
        </p:nvSpPr>
        <p:spPr>
          <a:xfrm>
            <a:off x="8004048"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多模型独立预测
一致阳性才纳入</a:t>
            </a:r>
          </a:p>
        </p:txBody>
      </p:sp>
      <p:sp>
        <p:nvSpPr>
          <p:cNvPr id="21" name="Rectangle 20"/>
          <p:cNvSpPr/>
          <p:nvPr/>
        </p:nvSpPr>
        <p:spPr>
          <a:xfrm>
            <a:off x="9845040"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按五个认知阶段
比较组成与丰度</a:t>
            </a:r>
          </a:p>
        </p:txBody>
      </p:sp>
      <p:sp>
        <p:nvSpPr>
          <p:cNvPr id="24" name="Rectangle 23"/>
          <p:cNvSpPr/>
          <p:nvPr/>
        </p:nvSpPr>
        <p:spPr>
          <a:xfrm>
            <a:off x="64008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蛋白组二次去重
剔除无表达序列</a:t>
            </a:r>
          </a:p>
        </p:txBody>
      </p:sp>
      <p:sp>
        <p:nvSpPr>
          <p:cNvPr id="27" name="Rectangle 26"/>
          <p:cNvSpPr/>
          <p:nvPr/>
        </p:nvSpPr>
        <p:spPr>
          <a:xfrm>
            <a:off x="2481072"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对接与动力学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合成代表性肽
纸片扩散法筛查
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 个阶段</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NC · SCS · SCD · MCI · AD</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 个性别</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男女分别匹配</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30 个分层单元</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阶段 × 性别 × 年龄</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认知正常（对照）</a:t>
            </a:r>
          </a:p>
          <a:p>
            <a:pPr algn="l">
              <a:lnSpc>
                <a:spcPct val="116000"/>
              </a:lnSpc>
              <a:spcBef>
                <a:spcPts val="300"/>
              </a:spcBef>
              <a:spcAft>
                <a:spcPts val="0"/>
              </a:spcAft>
            </a:pPr>
            <a:r>
              <a:rPr sz="1500" b="0">
                <a:solidFill>
                  <a:srgbClr val="333333"/>
                </a:solidFill>
                <a:latin typeface="Arial"/>
                <a:ea typeface="微软雅黑"/>
                <a:cs typeface="Arial"/>
              </a:rPr>
              <a:t>菌群多样性最高</a:t>
            </a:r>
          </a:p>
          <a:p>
            <a:pPr algn="l">
              <a:lnSpc>
                <a:spcPct val="116000"/>
              </a:lnSpc>
              <a:spcBef>
                <a:spcPts val="300"/>
              </a:spcBef>
              <a:spcAft>
                <a:spcPts val="0"/>
              </a:spcAft>
            </a:pPr>
            <a:r>
              <a:rPr sz="1500" b="0">
                <a:solidFill>
                  <a:srgbClr val="777777"/>
                </a:solidFill>
                <a:latin typeface="Arial"/>
                <a:ea typeface="微软雅黑"/>
                <a:cs typeface="Arial"/>
              </a:rPr>
              <a:t>作为比较基线</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主观认知下降</a:t>
            </a:r>
          </a:p>
          <a:p>
            <a:pPr algn="l">
              <a:lnSpc>
                <a:spcPct val="116000"/>
              </a:lnSpc>
              <a:spcBef>
                <a:spcPts val="300"/>
              </a:spcBef>
              <a:spcAft>
                <a:spcPts val="0"/>
              </a:spcAft>
            </a:pPr>
            <a:r>
              <a:rPr sz="1500" b="0">
                <a:solidFill>
                  <a:srgbClr val="333333"/>
                </a:solidFill>
                <a:latin typeface="Arial"/>
                <a:ea typeface="微软雅黑"/>
                <a:cs typeface="Arial"/>
              </a:rPr>
              <a:t>组成已出现偏移</a:t>
            </a:r>
          </a:p>
          <a:p>
            <a:pPr algn="l">
              <a:lnSpc>
                <a:spcPct val="116000"/>
              </a:lnSpc>
              <a:spcBef>
                <a:spcPts val="300"/>
              </a:spcBef>
              <a:spcAft>
                <a:spcPts val="0"/>
              </a:spcAft>
            </a:pPr>
            <a:r>
              <a:rPr sz="1500" b="0">
                <a:solidFill>
                  <a:srgbClr val="777777"/>
                </a:solidFill>
                <a:latin typeface="Arial"/>
                <a:ea typeface="微软雅黑"/>
                <a:cs typeface="Arial"/>
              </a:rPr>
              <a:t>阶段特有菌属出现</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可疑认知障碍</a:t>
            </a:r>
          </a:p>
          <a:p>
            <a:pPr algn="l">
              <a:lnSpc>
                <a:spcPct val="116000"/>
              </a:lnSpc>
              <a:spcBef>
                <a:spcPts val="300"/>
              </a:spcBef>
              <a:spcAft>
                <a:spcPts val="0"/>
              </a:spcAft>
            </a:pPr>
            <a:r>
              <a:rPr sz="1500" b="0">
                <a:solidFill>
                  <a:srgbClr val="333333"/>
                </a:solidFill>
                <a:latin typeface="Arial"/>
                <a:ea typeface="微软雅黑"/>
                <a:cs typeface="Arial"/>
              </a:rPr>
              <a:t>肠屏障标志物升高</a:t>
            </a:r>
          </a:p>
          <a:p>
            <a:pPr algn="l">
              <a:lnSpc>
                <a:spcPct val="116000"/>
              </a:lnSpc>
              <a:spcBef>
                <a:spcPts val="300"/>
              </a:spcBef>
              <a:spcAft>
                <a:spcPts val="0"/>
              </a:spcAft>
            </a:pPr>
            <a:r>
              <a:rPr sz="1500" b="0">
                <a:solidFill>
                  <a:srgbClr val="777777"/>
                </a:solidFill>
                <a:latin typeface="Arial"/>
                <a:ea typeface="微软雅黑"/>
                <a:cs typeface="Arial"/>
              </a:rPr>
              <a:t>改变早于痴呆</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轻度认知障碍</a:t>
            </a:r>
          </a:p>
          <a:p>
            <a:pPr algn="l">
              <a:lnSpc>
                <a:spcPct val="116000"/>
              </a:lnSpc>
              <a:spcBef>
                <a:spcPts val="300"/>
              </a:spcBef>
              <a:spcAft>
                <a:spcPts val="0"/>
              </a:spcAft>
            </a:pPr>
            <a:r>
              <a:rPr sz="1500" b="0">
                <a:solidFill>
                  <a:srgbClr val="333333"/>
                </a:solidFill>
                <a:latin typeface="Arial"/>
                <a:ea typeface="微软雅黑"/>
                <a:cs typeface="Arial"/>
              </a:rPr>
              <a:t>菌群失衡最明显</a:t>
            </a:r>
          </a:p>
          <a:p>
            <a:pPr algn="l">
              <a:lnSpc>
                <a:spcPct val="116000"/>
              </a:lnSpc>
              <a:spcBef>
                <a:spcPts val="300"/>
              </a:spcBef>
              <a:spcAft>
                <a:spcPts val="0"/>
              </a:spcAft>
            </a:pPr>
            <a:r>
              <a:rPr sz="1500" b="0">
                <a:solidFill>
                  <a:srgbClr val="777777"/>
                </a:solidFill>
                <a:latin typeface="Arial"/>
                <a:ea typeface="微软雅黑"/>
                <a:cs typeface="Arial"/>
              </a:rPr>
              <a:t>与炎症指标相关</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3017520"/>
            <a:ext cx="1998878"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83280"/>
            <a:ext cx="1998878" cy="1005840"/>
          </a:xfrm>
          <a:prstGeom prst="rect">
            <a:avLst/>
          </a:prstGeom>
          <a:noFill/>
        </p:spPr>
        <p:txBody>
          <a:bodyPr wrap="square" anchor="t" lIns="27432" rIns="27432" tIns="0" bIns="0">
            <a:spAutoFit/>
          </a:bodyPr>
          <a:lstStyle/>
          <a:p>
            <a:pPr algn="l">
              <a:lnSpc>
                <a:spcPct val="116000"/>
              </a:lnSpc>
              <a:spcBef>
                <a:spcPts val="0"/>
              </a:spcBef>
              <a:spcAft>
                <a:spcPts val="0"/>
              </a:spcAft>
            </a:pPr>
            <a:r>
              <a:rPr sz="1600" b="0">
                <a:solidFill>
                  <a:srgbClr val="333333"/>
                </a:solidFill>
                <a:latin typeface="Arial"/>
                <a:ea typeface="微软雅黑"/>
                <a:cs typeface="Arial"/>
              </a:rPr>
              <a:t>阿尔茨海默症</a:t>
            </a:r>
          </a:p>
          <a:p>
            <a:pPr algn="l">
              <a:lnSpc>
                <a:spcPct val="116000"/>
              </a:lnSpc>
              <a:spcBef>
                <a:spcPts val="300"/>
              </a:spcBef>
              <a:spcAft>
                <a:spcPts val="0"/>
              </a:spcAft>
            </a:pPr>
            <a:r>
              <a:rPr sz="1500" b="0">
                <a:solidFill>
                  <a:srgbClr val="333333"/>
                </a:solidFill>
                <a:latin typeface="Arial"/>
                <a:ea typeface="微软雅黑"/>
                <a:cs typeface="Arial"/>
              </a:rPr>
              <a:t>菌群变化幅度最大</a:t>
            </a:r>
          </a:p>
          <a:p>
            <a:pPr algn="l">
              <a:lnSpc>
                <a:spcPct val="116000"/>
              </a:lnSpc>
              <a:spcBef>
                <a:spcPts val="300"/>
              </a:spcBef>
              <a:spcAft>
                <a:spcPts val="0"/>
              </a:spcAft>
            </a:pPr>
            <a:r>
              <a:rPr sz="1500" b="0">
                <a:solidFill>
                  <a:srgbClr val="777777"/>
                </a:solidFill>
                <a:latin typeface="Arial"/>
                <a:ea typeface="微软雅黑"/>
                <a:cs typeface="Arial"/>
              </a:rPr>
              <a:t>炎症—Aβ 环放大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个分层单元；每个单元内按年龄与性别匹配，得到结构一致的比较亚队列，保证阶段之间的差异不来自年龄与性别构成。</a:t>
            </a:r>
          </a:p>
        </p:txBody>
      </p:sp>
      <p:sp>
        <p:nvSpPr>
          <p:cNvPr id="31" name="TextBox 30"/>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分组与分层依据：已完成的全队列临床信息表（sources/已完成1.docx）</a:t>
            </a:r>
          </a:p>
        </p:txBody>
      </p:sp>
      <p:sp>
        <p:nvSpPr>
          <p:cNvPr id="32" name="TextBox 3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3" name="TextBox 3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三个模型相互独立地给出预测，只有三者一致判为阳性的序列进入候选集合，以降低单一模型的偏倚。该步骤下一阶段。</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988755" y="1188720"/>
            <a:ext cx="10211441"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按认知阶段比较候选抗菌肽的丰度与组成差异，再以宏蛋白组表达证据二次去重，筛选健康人群特有与各阶段特有抗菌肽；实施方案已确定。</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下一阶段开展，方案与输入数据已确定</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下一阶段开展，机制与抑菌方案已确定</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图：本项目自制（results/figures/figM2）</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