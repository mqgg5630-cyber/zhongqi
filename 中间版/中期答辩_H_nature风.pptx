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整体研究分四层：数据与序列层、预测层、统计与表达层、功能层。前三层已完成，第四层正在实施，这也是本次中期检查要说明的完成度。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这页说明整体流程：从测序数据到候选抗菌肽清单，共十二步，输入输出都可追溯。前九步已经在中期前完成，最后三步正在推进——机制关联分析、抑菌实验验证与结果整理。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得到结构一致的比较亚队列。各阶段的样本量相同、性别构成相同、组间平均年龄差小于两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三个模型分别预测，只有三者一致判为阳性的序列才纳入候选集合，目的是降低单一模型的假阳性。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序列层面去冗余解决重复；宏蛋白组表达证据解决“有预测、无表达”的假阳性。二次去重后按组内共有、组间特比较，得到健康人群特有与各疾病阶段特有的抗菌肽清单。</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展开，把结论定位为线索发现；抑菌实验验证选取有代表性的候选抗菌肽人工合成，以大肠杆菌与金黄色葡萄球菌为指示菌，先用纸片扩散法初筛，再用微量肉汤稀释法测最低抑菌浓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主体分析工作已经在中期完成，后续是机制关联的结论整理、抑菌实验验证和论文撰写，整体风险可控。我的汇报到此结束，请各位老师批评指正。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但不受双位点抑制剂的位阻。同一界面的其他实验证据包括：丙锭可阻断 AChE 诱导的聚集而催化位点抑制剂无效、PAS 负电荷触发 β-发夹构象、丁酰胆碱酯酶反向延缓纤维形成。由此提出三个假设，并用对接与动力学给出优先序。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这张表把老师提出的八个问题逐条列出，并给出答案要点与证据强度。需要说明的是：关联类结论的证据强度较高，方向类结论（谁更多、促进还是抑制）存在例外与条件依赖，因此标注为中；微生物源抗菌肽在 AD 中的变化属于待验证部分，正是本课题要补的一环。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46 条文献，覆盖 AD 与感染、宿主抗菌肽在 AD 中的变化、抗菌肽预测方法、菌群分期、AChE–Aβ 与交叉成核的分子模拟，以及作为反例的乳铁蛋白下降证据。这里列出其中十条代表性文献及其结论。</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不展开技术细节。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数据与序列、预测、统计与表达三层已完成，功能层正在实施；整体进度与开题计划一致。</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双端鸟枪法测序
质控与去宿主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序列组装与分箱
分箱提纯</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种水平去冗余
非冗余参考集</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小开放阅读框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序列级去冗余
非冗余短肽库</a:t>
            </a:r>
          </a:p>
        </p:txBody>
      </p:sp>
      <p:sp>
        <p:nvSpPr>
          <p:cNvPr id="18" name="Rectangle 17"/>
          <p:cNvSpPr/>
          <p:nvPr/>
        </p:nvSpPr>
        <p:spPr>
          <a:xfrm>
            <a:off x="8004048"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多模型独立预测
一致阳性才纳入</a:t>
            </a:r>
          </a:p>
        </p:txBody>
      </p:sp>
      <p:sp>
        <p:nvSpPr>
          <p:cNvPr id="21" name="Rectangle 20"/>
          <p:cNvSpPr/>
          <p:nvPr/>
        </p:nvSpPr>
        <p:spPr>
          <a:xfrm>
            <a:off x="984504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按五个认知阶段
比较组成与丰度</a:t>
            </a:r>
          </a:p>
        </p:txBody>
      </p:sp>
      <p:sp>
        <p:nvSpPr>
          <p:cNvPr id="24" name="Rectangle 23"/>
          <p:cNvSpPr/>
          <p:nvPr/>
        </p:nvSpPr>
        <p:spPr>
          <a:xfrm>
            <a:off x="640080"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蛋白组二次去重
剔除无表达序列</a:t>
            </a:r>
          </a:p>
        </p:txBody>
      </p:sp>
      <p:sp>
        <p:nvSpPr>
          <p:cNvPr id="27" name="Rectangle 26"/>
          <p:cNvSpPr/>
          <p:nvPr/>
        </p:nvSpPr>
        <p:spPr>
          <a:xfrm>
            <a:off x="2481072"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对接与动力学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合成代表性肽
纸片扩散法筛查
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 个阶段</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NC · SCS · SCD · MCI · AD</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 个性别</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男女分别匹配</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30 个分层单元</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阶段 × 性别 × 年龄</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认知正常（对照）</a:t>
            </a:r>
          </a:p>
          <a:p>
            <a:pPr algn="l">
              <a:lnSpc>
                <a:spcPct val="116000"/>
              </a:lnSpc>
              <a:spcBef>
                <a:spcPts val="300"/>
              </a:spcBef>
              <a:spcAft>
                <a:spcPts val="0"/>
              </a:spcAft>
            </a:pPr>
            <a:r>
              <a:rPr sz="1500" b="0">
                <a:solidFill>
                  <a:srgbClr val="333333"/>
                </a:solidFill>
                <a:latin typeface="Arial"/>
                <a:ea typeface="微软雅黑"/>
                <a:cs typeface="Arial"/>
              </a:rPr>
              <a:t>菌群多样性最高</a:t>
            </a:r>
          </a:p>
          <a:p>
            <a:pPr algn="l">
              <a:lnSpc>
                <a:spcPct val="116000"/>
              </a:lnSpc>
              <a:spcBef>
                <a:spcPts val="300"/>
              </a:spcBef>
              <a:spcAft>
                <a:spcPts val="0"/>
              </a:spcAft>
            </a:pPr>
            <a:r>
              <a:rPr sz="1500" b="0">
                <a:solidFill>
                  <a:srgbClr val="777777"/>
                </a:solidFill>
                <a:latin typeface="Arial"/>
                <a:ea typeface="微软雅黑"/>
                <a:cs typeface="Arial"/>
              </a:rPr>
              <a:t>作为比较基线</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主观认知下降</a:t>
            </a:r>
          </a:p>
          <a:p>
            <a:pPr algn="l">
              <a:lnSpc>
                <a:spcPct val="116000"/>
              </a:lnSpc>
              <a:spcBef>
                <a:spcPts val="300"/>
              </a:spcBef>
              <a:spcAft>
                <a:spcPts val="0"/>
              </a:spcAft>
            </a:pPr>
            <a:r>
              <a:rPr sz="1500" b="0">
                <a:solidFill>
                  <a:srgbClr val="333333"/>
                </a:solidFill>
                <a:latin typeface="Arial"/>
                <a:ea typeface="微软雅黑"/>
                <a:cs typeface="Arial"/>
              </a:rPr>
              <a:t>组成已出现偏移</a:t>
            </a:r>
          </a:p>
          <a:p>
            <a:pPr algn="l">
              <a:lnSpc>
                <a:spcPct val="116000"/>
              </a:lnSpc>
              <a:spcBef>
                <a:spcPts val="300"/>
              </a:spcBef>
              <a:spcAft>
                <a:spcPts val="0"/>
              </a:spcAft>
            </a:pPr>
            <a:r>
              <a:rPr sz="1500" b="0">
                <a:solidFill>
                  <a:srgbClr val="777777"/>
                </a:solidFill>
                <a:latin typeface="Arial"/>
                <a:ea typeface="微软雅黑"/>
                <a:cs typeface="Arial"/>
              </a:rPr>
              <a:t>阶段特有菌属出现</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可疑认知障碍</a:t>
            </a:r>
          </a:p>
          <a:p>
            <a:pPr algn="l">
              <a:lnSpc>
                <a:spcPct val="116000"/>
              </a:lnSpc>
              <a:spcBef>
                <a:spcPts val="300"/>
              </a:spcBef>
              <a:spcAft>
                <a:spcPts val="0"/>
              </a:spcAft>
            </a:pPr>
            <a:r>
              <a:rPr sz="1500" b="0">
                <a:solidFill>
                  <a:srgbClr val="333333"/>
                </a:solidFill>
                <a:latin typeface="Arial"/>
                <a:ea typeface="微软雅黑"/>
                <a:cs typeface="Arial"/>
              </a:rPr>
              <a:t>肠屏障标志物升高</a:t>
            </a:r>
          </a:p>
          <a:p>
            <a:pPr algn="l">
              <a:lnSpc>
                <a:spcPct val="116000"/>
              </a:lnSpc>
              <a:spcBef>
                <a:spcPts val="300"/>
              </a:spcBef>
              <a:spcAft>
                <a:spcPts val="0"/>
              </a:spcAft>
            </a:pPr>
            <a:r>
              <a:rPr sz="1500" b="0">
                <a:solidFill>
                  <a:srgbClr val="777777"/>
                </a:solidFill>
                <a:latin typeface="Arial"/>
                <a:ea typeface="微软雅黑"/>
                <a:cs typeface="Arial"/>
              </a:rPr>
              <a:t>改变早于痴呆</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轻度认知障碍</a:t>
            </a:r>
          </a:p>
          <a:p>
            <a:pPr algn="l">
              <a:lnSpc>
                <a:spcPct val="116000"/>
              </a:lnSpc>
              <a:spcBef>
                <a:spcPts val="300"/>
              </a:spcBef>
              <a:spcAft>
                <a:spcPts val="0"/>
              </a:spcAft>
            </a:pPr>
            <a:r>
              <a:rPr sz="1500" b="0">
                <a:solidFill>
                  <a:srgbClr val="333333"/>
                </a:solidFill>
                <a:latin typeface="Arial"/>
                <a:ea typeface="微软雅黑"/>
                <a:cs typeface="Arial"/>
              </a:rPr>
              <a:t>菌群失衡最明显</a:t>
            </a:r>
          </a:p>
          <a:p>
            <a:pPr algn="l">
              <a:lnSpc>
                <a:spcPct val="116000"/>
              </a:lnSpc>
              <a:spcBef>
                <a:spcPts val="300"/>
              </a:spcBef>
              <a:spcAft>
                <a:spcPts val="0"/>
              </a:spcAft>
            </a:pPr>
            <a:r>
              <a:rPr sz="1500" b="0">
                <a:solidFill>
                  <a:srgbClr val="777777"/>
                </a:solidFill>
                <a:latin typeface="Arial"/>
                <a:ea typeface="微软雅黑"/>
                <a:cs typeface="Arial"/>
              </a:rPr>
              <a:t>与炎症指标相关</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阿尔茨海默症</a:t>
            </a:r>
          </a:p>
          <a:p>
            <a:pPr algn="l">
              <a:lnSpc>
                <a:spcPct val="116000"/>
              </a:lnSpc>
              <a:spcBef>
                <a:spcPts val="300"/>
              </a:spcBef>
              <a:spcAft>
                <a:spcPts val="0"/>
              </a:spcAft>
            </a:pPr>
            <a:r>
              <a:rPr sz="1500" b="0">
                <a:solidFill>
                  <a:srgbClr val="333333"/>
                </a:solidFill>
                <a:latin typeface="Arial"/>
                <a:ea typeface="微软雅黑"/>
                <a:cs typeface="Arial"/>
              </a:rPr>
              <a:t>菌群变化幅度最大</a:t>
            </a:r>
          </a:p>
          <a:p>
            <a:pPr algn="l">
              <a:lnSpc>
                <a:spcPct val="116000"/>
              </a:lnSpc>
              <a:spcBef>
                <a:spcPts val="300"/>
              </a:spcBef>
              <a:spcAft>
                <a:spcPts val="0"/>
              </a:spcAft>
            </a:pPr>
            <a:r>
              <a:rPr sz="1500" b="0">
                <a:solidFill>
                  <a:srgbClr val="777777"/>
                </a:solidFill>
                <a:latin typeface="Arial"/>
                <a:ea typeface="微软雅黑"/>
                <a:cs typeface="Arial"/>
              </a:rPr>
              <a:t>炎症—Aβ 环放大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个分层单元；每个单元内按年龄与性别匹配，得到结构一致的比较亚队列，保证阶段之间的差异不来自年龄与性别构成。</a:t>
            </a:r>
          </a:p>
        </p:txBody>
      </p:sp>
      <p:sp>
        <p:nvSpPr>
          <p:cNvPr id="31" name="TextBox 30"/>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分组与分层依据：已完成的全队列临床信息表（sources/已完成1.docx）</a:t>
            </a:r>
          </a:p>
        </p:txBody>
      </p:sp>
      <p:sp>
        <p:nvSpPr>
          <p:cNvPr id="32" name="TextBox 3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3" name="TextBox 3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三个模型相互独立地给出预测，只有三者一致判为阳性的序列进入候选集合，以降低单一模型的偏倚。该步骤已完成。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4860498"/>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先按认知阶段比较丰度与组成差异，再引入宏蛋白组表达证据，剔除“有预测、无表达”的序列，得到健康人群特有与各阶段特有的抗菌肽清单。该步骤已完成。</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做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已完成全队列数据处理与参考集构建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模型方案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拟构建 DeepMetaAMP</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改用 Attention / LSTM / BERT 三模型协同预测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正在开展机制关联分析与抑菌实验验证</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主体分析已完成，后续安排集中在验证与撰写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已完成：数据资源与参考集、短肽库、三模型共识预测、分阶段差异分析、宏蛋白组二次去重与特有抗菌肽筛选。</a:t>
            </a:r>
          </a:p>
          <a:p>
            <a:pPr algn="l">
              <a:lnSpc>
                <a:spcPct val="134000"/>
              </a:lnSpc>
              <a:spcBef>
                <a:spcPts val="1400"/>
              </a:spcBef>
              <a:spcAft>
                <a:spcPts val="0"/>
              </a:spcAft>
            </a:pPr>
            <a:r>
              <a:rPr sz="1800" b="0">
                <a:solidFill>
                  <a:srgbClr val="333333"/>
                </a:solidFill>
                <a:latin typeface="Arial"/>
                <a:ea typeface="微软雅黑"/>
                <a:cs typeface="Arial"/>
              </a:rPr>
              <a:t>进行中：特有抗菌肽的机制关联分析、候选抗菌肽的抑菌实验验证，以及学位论文与以第一作者投稿的 SCI 论文撰写。</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时间安排：按开题计划推进，后续不依赖新的数据生产，整体风险可控。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更多与分子机制落点，是本课题要回答的部分。</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分子机制（一）：AChE–Aβ 复合物的动力学要点</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聚集的成核中心：1 μs 模拟中复合物稳定，Aβ 主要停留于 344—361 区段，不受双位点抑制剂位阻 [31]；丙锭阻断 PAS 后聚集被抑制 [33]。</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图：本项目自制（results/figures/figM2）</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促进还是抑制</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两者同时成立：低浓度抗菌，长期过量致病</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[1][3][6][20]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抑制感染证据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626864"/>
        </p:xfrm>
        <a:graphic>
          <a:graphicData uri="http://schemas.openxmlformats.org/drawingml/2006/table">
            <a:tbl>
              <a:tblPr firstRow="1" bandRow="1">
                <a:tableStyleId>{5C22544A-7EE6-4342-B048-85BDC9FD1C3A}</a:tableStyleId>
              </a:tblPr>
              <a:tblGrid>
                <a:gridCol w="2697480"/>
                <a:gridCol w="5623560"/>
                <a:gridCol w="2587752"/>
              </a:tblGrid>
              <a:tr h="420624">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