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24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  <Relationship Id="rId24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6.xml"/>
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7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本材料针对老师新增的4个问题：计算方法具体如何做、抗菌肽与AD如何结合、肠道菌群调控导致AD、血脑屏障穿透导致AD，补充具体文献与实现细节。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13项提纲，覆盖4大新增问题。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计算方法总览，说明领域演进。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Ma 2022细节，说明计算可行性。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AMPSphere规模化，说明方法普适。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本课题与文献对齐，说明实现细节。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Aβ本身抗菌，最直接结合。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LL-37与Aβ结合机制，纳摩尔亲和力。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肠道菌群失调上游驱动。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肠道调控介质，LPS关键。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BBB结构与转运，5类通路。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抗菌肽穿透BBB机制，阳离子关键。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LL-37穿透后致病，CLIC1关键。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肠-血-脑轴整合，串联4问题。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证据分级，避免夸大因果。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总结4问串联。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新增问题汇报结束。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svgproj_bbb_M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svgproj_bbb_M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df8c677ce35a03ac.png"/>
  <Relationship Id="rId3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dc9795cc5e36c372.png"/>
  <Relationship Id="rId3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598797d0418b5752.png"/>
  <Relationship Id="rId3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b7ce0bb49272eca4.png"/>
  <Relationship Id="rId3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a63171c5b5ad451e.png"/>
  <Relationship Id="rId3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b7ce0bb49272eca4.png"/>
  <Relationship Id="rId3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79f7d02b4efedf0d.png"/>
  <Relationship Id="rId3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598797d0418b5752.png"/>
  <Relationship Id="rId3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6.xml"/>
</Relationships>
</file>

<file path=ppt/slides/_rels/slide1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FBBF24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9334500" y="1047750"/>
            <a:ext cx="2095500" cy="95250"/>
          </a:xfrm>
          <a:prstGeom prst="rect">
            <a:avLst/>
          </a:prstGeom>
          <a:solidFill>
            <a:srgbClr val="FBBF24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9334500" y="1285875"/>
            <a:ext cx="1428750" cy="95250"/>
          </a:xfrm>
          <a:prstGeom prst="rect">
            <a:avLst/>
          </a:prstGeom>
          <a:solidFill>
            <a:srgbClr val="38BDF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678180" y="1171575"/>
            <a:ext cx="276395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spc="112" dirty="0">
                <a:solidFill>
                  <a:srgbClr val="FBBF24"/>
                </a:solidFill>
                <a:latin typeface="Consolas"/>
                <a:ea typeface="Microsoft YaHei"/>
                <a:cs typeface="Consolas"/>
              </a:rPr>
              <a:t>老师新增提问专项·38篇文献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67512" y="1611630"/>
            <a:ext cx="6443594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抗菌肽计算方法与AD结合机制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67512" y="2183130"/>
            <a:ext cx="9879452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新增问题专项解答·计算细节+结合+肠道+血脑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67512" y="2754630"/>
            <a:ext cx="1005840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屏障</a:t>
            </a:r>
          </a:p>
        </p:txBody>
      </p:sp>
      <p:sp>
        <p:nvSpPr>
          <p:cNvPr id="9" name="Line 9"/>
          <p:cNvSpPr/>
          <p:nvPr/>
        </p:nvSpPr>
        <p:spPr>
          <a:xfrm>
            <a:off x="685800" y="3943350"/>
            <a:ext cx="2095500" cy="9525"/>
          </a:xfrm>
          <a:custGeom>
            <a:avLst/>
            <a:gdLst/>
            <a:ahLst/>
            <a:cxnLst/>
            <a:rect l="l" t="t" r="r" b="b"/>
            <a:pathLst>
              <a:path w="2095500" h="9525">
                <a:moveTo>
                  <a:pt x="0" y="0"/>
                </a:moveTo>
                <a:lnTo>
                  <a:pt x="2095500" y="0"/>
                </a:lnTo>
              </a:path>
            </a:pathLst>
          </a:custGeom>
          <a:noFill/>
          <a:ln w="28575">
            <a:solidFill>
              <a:srgbClr val="FBBF24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678180" y="4238625"/>
            <a:ext cx="274129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文绍华　　学号：2024110316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78180" y="4562475"/>
            <a:ext cx="304419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指导教师：申亮　　生命科学学院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78180" y="4886325"/>
            <a:ext cx="304419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生物学（生物化学与分子生物学）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78180" y="5210175"/>
            <a:ext cx="97440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2026年9月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78180" y="5534025"/>
            <a:ext cx="384676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抗菌肽新增问题·计算方法+结合+肠道+BBB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721150" y="6219825"/>
            <a:ext cx="7926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8A9BB5"/>
                </a:solidFill>
                <a:latin typeface="Consolas"/>
                <a:ea typeface="Consolas"/>
                <a:cs typeface="Consolas"/>
              </a:rPr>
              <a:t>01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0"/>
                </a:moveTo>
                <a:lnTo>
                  <a:pt x="12192000" y="0"/>
                </a:lnTo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rgbClr val="1A2F5A">
                <a:alpha val="55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678180" y="542925"/>
            <a:ext cx="88313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spc="112" dirty="0">
                <a:solidFill>
                  <a:srgbClr val="FBBF24"/>
                </a:solidFill>
                <a:latin typeface="Consolas"/>
                <a:ea typeface="Consolas"/>
                <a:cs typeface="Consolas"/>
              </a:rPr>
              <a:t>// 02 /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721150" y="542925"/>
            <a:ext cx="7926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8A9BB5"/>
                </a:solidFill>
                <a:latin typeface="Consolas"/>
                <a:ea typeface="Consolas"/>
                <a:cs typeface="Consolas"/>
              </a:rPr>
              <a:t>02 / 17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2084" y="756285"/>
            <a:ext cx="387207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汇报提纲：4大新增问题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12192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4288">
            <a:solidFill>
              <a:srgbClr val="1E3A5F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676656" y="1463040"/>
            <a:ext cx="28483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BBF24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35380" y="1495425"/>
            <a:ext cx="352348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计算方法总览：传统ML到深度学习演进</a:t>
            </a:r>
          </a:p>
        </p:txBody>
      </p:sp>
      <p:sp>
        <p:nvSpPr>
          <p:cNvPr id="9" name="Line 9"/>
          <p:cNvSpPr/>
          <p:nvPr/>
        </p:nvSpPr>
        <p:spPr>
          <a:xfrm>
            <a:off x="685800" y="2019300"/>
            <a:ext cx="5124450" cy="9525"/>
          </a:xfrm>
          <a:custGeom>
            <a:avLst/>
            <a:gdLst/>
            <a:ahLst/>
            <a:cxnLst/>
            <a:rect l="l" t="t" r="r" b="b"/>
            <a:pathLst>
              <a:path w="5124450" h="9525">
                <a:moveTo>
                  <a:pt x="0" y="0"/>
                </a:moveTo>
                <a:lnTo>
                  <a:pt x="5124450" y="0"/>
                </a:lnTo>
              </a:path>
            </a:pathLst>
          </a:custGeom>
          <a:noFill/>
          <a:ln w="9525">
            <a:solidFill>
              <a:srgbClr val="1E3A5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676656" y="2205990"/>
            <a:ext cx="28483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BBF24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35380" y="2238375"/>
            <a:ext cx="376256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Ma 2022方法细节：数据+特征+模型+验证</a:t>
            </a:r>
          </a:p>
        </p:txBody>
      </p:sp>
      <p:sp>
        <p:nvSpPr>
          <p:cNvPr id="12" name="Line 12"/>
          <p:cNvSpPr/>
          <p:nvPr/>
        </p:nvSpPr>
        <p:spPr>
          <a:xfrm>
            <a:off x="685800" y="2762250"/>
            <a:ext cx="5124450" cy="9525"/>
          </a:xfrm>
          <a:custGeom>
            <a:avLst/>
            <a:gdLst/>
            <a:ahLst/>
            <a:cxnLst/>
            <a:rect l="l" t="t" r="r" b="b"/>
            <a:pathLst>
              <a:path w="5124450" h="9525">
                <a:moveTo>
                  <a:pt x="0" y="0"/>
                </a:moveTo>
                <a:lnTo>
                  <a:pt x="5124450" y="0"/>
                </a:lnTo>
              </a:path>
            </a:pathLst>
          </a:custGeom>
          <a:noFill/>
          <a:ln w="9525">
            <a:solidFill>
              <a:srgbClr val="1E3A5F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676656" y="2948940"/>
            <a:ext cx="28483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BBF24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35380" y="2981325"/>
            <a:ext cx="366818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Santos-Junior 2024 AMPSphere规模化</a:t>
            </a:r>
          </a:p>
        </p:txBody>
      </p:sp>
      <p:sp>
        <p:nvSpPr>
          <p:cNvPr id="15" name="Line 15"/>
          <p:cNvSpPr/>
          <p:nvPr/>
        </p:nvSpPr>
        <p:spPr>
          <a:xfrm>
            <a:off x="685800" y="3505200"/>
            <a:ext cx="5124450" cy="9525"/>
          </a:xfrm>
          <a:custGeom>
            <a:avLst/>
            <a:gdLst/>
            <a:ahLst/>
            <a:cxnLst/>
            <a:rect l="l" t="t" r="r" b="b"/>
            <a:pathLst>
              <a:path w="5124450" h="9525">
                <a:moveTo>
                  <a:pt x="0" y="0"/>
                </a:moveTo>
                <a:lnTo>
                  <a:pt x="5124450" y="0"/>
                </a:lnTo>
              </a:path>
            </a:pathLst>
          </a:custGeom>
          <a:noFill/>
          <a:ln w="9525">
            <a:solidFill>
              <a:srgbClr val="1E3A5F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676656" y="3691890"/>
            <a:ext cx="28483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BBF24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35380" y="3724275"/>
            <a:ext cx="264033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本课题三模型共识与文献对齐</a:t>
            </a:r>
          </a:p>
        </p:txBody>
      </p:sp>
      <p:sp>
        <p:nvSpPr>
          <p:cNvPr id="18" name="Line 18"/>
          <p:cNvSpPr/>
          <p:nvPr/>
        </p:nvSpPr>
        <p:spPr>
          <a:xfrm>
            <a:off x="685800" y="4248150"/>
            <a:ext cx="5124450" cy="9525"/>
          </a:xfrm>
          <a:custGeom>
            <a:avLst/>
            <a:gdLst/>
            <a:ahLst/>
            <a:cxnLst/>
            <a:rect l="l" t="t" r="r" b="b"/>
            <a:pathLst>
              <a:path w="5124450" h="9525">
                <a:moveTo>
                  <a:pt x="0" y="0"/>
                </a:moveTo>
                <a:lnTo>
                  <a:pt x="5124450" y="0"/>
                </a:lnTo>
              </a:path>
            </a:pathLst>
          </a:custGeom>
          <a:noFill/>
          <a:ln w="9525">
            <a:solidFill>
              <a:srgbClr val="1E3A5F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676656" y="4434840"/>
            <a:ext cx="28483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BBF24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35380" y="4467225"/>
            <a:ext cx="310343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抗菌肽与AD如何结合：Aβ本身抗菌</a:t>
            </a:r>
          </a:p>
        </p:txBody>
      </p:sp>
      <p:sp>
        <p:nvSpPr>
          <p:cNvPr id="21" name="Line 21"/>
          <p:cNvSpPr/>
          <p:nvPr/>
        </p:nvSpPr>
        <p:spPr>
          <a:xfrm>
            <a:off x="685800" y="4991100"/>
            <a:ext cx="5124450" cy="9525"/>
          </a:xfrm>
          <a:custGeom>
            <a:avLst/>
            <a:gdLst/>
            <a:ahLst/>
            <a:cxnLst/>
            <a:rect l="l" t="t" r="r" b="b"/>
            <a:pathLst>
              <a:path w="5124450" h="9525">
                <a:moveTo>
                  <a:pt x="0" y="0"/>
                </a:moveTo>
                <a:lnTo>
                  <a:pt x="5124450" y="0"/>
                </a:lnTo>
              </a:path>
            </a:pathLst>
          </a:custGeom>
          <a:noFill/>
          <a:ln w="9525">
            <a:solidFill>
              <a:srgbClr val="1E3A5F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6656" y="5177790"/>
            <a:ext cx="28483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BBF24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35380" y="5210175"/>
            <a:ext cx="374199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结合机制：LL-37纳摩尔亲和力+交叉播种</a:t>
            </a:r>
          </a:p>
        </p:txBody>
      </p:sp>
      <p:sp>
        <p:nvSpPr>
          <p:cNvPr id="24" name="Line 24"/>
          <p:cNvSpPr/>
          <p:nvPr/>
        </p:nvSpPr>
        <p:spPr>
          <a:xfrm>
            <a:off x="685800" y="5734050"/>
            <a:ext cx="5124450" cy="9525"/>
          </a:xfrm>
          <a:custGeom>
            <a:avLst/>
            <a:gdLst/>
            <a:ahLst/>
            <a:cxnLst/>
            <a:rect l="l" t="t" r="r" b="b"/>
            <a:pathLst>
              <a:path w="5124450" h="9525">
                <a:moveTo>
                  <a:pt x="0" y="0"/>
                </a:moveTo>
                <a:lnTo>
                  <a:pt x="5124450" y="0"/>
                </a:lnTo>
              </a:path>
            </a:pathLst>
          </a:custGeom>
          <a:noFill/>
          <a:ln w="9525">
            <a:solidFill>
              <a:srgbClr val="1E3A5F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6372606" y="1463040"/>
            <a:ext cx="28483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BBF24"/>
                </a:solidFill>
                <a:latin typeface="Consolas"/>
                <a:ea typeface="Consolas"/>
                <a:cs typeface="Consolas"/>
              </a:rPr>
              <a:t>08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831330" y="1495425"/>
            <a:ext cx="349453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肠道调控介质：LPS+细菌淀粉样+SCFA</a:t>
            </a:r>
          </a:p>
        </p:txBody>
      </p:sp>
      <p:sp>
        <p:nvSpPr>
          <p:cNvPr id="27" name="Line 27"/>
          <p:cNvSpPr/>
          <p:nvPr/>
        </p:nvSpPr>
        <p:spPr>
          <a:xfrm>
            <a:off x="6381750" y="2019300"/>
            <a:ext cx="5124450" cy="9525"/>
          </a:xfrm>
          <a:custGeom>
            <a:avLst/>
            <a:gdLst/>
            <a:ahLst/>
            <a:cxnLst/>
            <a:rect l="l" t="t" r="r" b="b"/>
            <a:pathLst>
              <a:path w="5124450" h="9525">
                <a:moveTo>
                  <a:pt x="0" y="0"/>
                </a:moveTo>
                <a:lnTo>
                  <a:pt x="5124450" y="0"/>
                </a:lnTo>
              </a:path>
            </a:pathLst>
          </a:custGeom>
          <a:noFill/>
          <a:ln w="9525">
            <a:solidFill>
              <a:srgbClr val="1E3A5F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6372606" y="2205990"/>
            <a:ext cx="28483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BBF24"/>
                </a:solidFill>
                <a:latin typeface="Consolas"/>
                <a:ea typeface="Consolas"/>
                <a:cs typeface="Consolas"/>
              </a:rPr>
              <a:t>09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831330" y="2238375"/>
            <a:ext cx="22364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血脑屏障结构与转运通路</a:t>
            </a:r>
          </a:p>
        </p:txBody>
      </p:sp>
      <p:sp>
        <p:nvSpPr>
          <p:cNvPr id="30" name="Line 30"/>
          <p:cNvSpPr/>
          <p:nvPr/>
        </p:nvSpPr>
        <p:spPr>
          <a:xfrm>
            <a:off x="6381750" y="2762250"/>
            <a:ext cx="5124450" cy="9525"/>
          </a:xfrm>
          <a:custGeom>
            <a:avLst/>
            <a:gdLst/>
            <a:ahLst/>
            <a:cxnLst/>
            <a:rect l="l" t="t" r="r" b="b"/>
            <a:pathLst>
              <a:path w="5124450" h="9525">
                <a:moveTo>
                  <a:pt x="0" y="0"/>
                </a:moveTo>
                <a:lnTo>
                  <a:pt x="5124450" y="0"/>
                </a:lnTo>
              </a:path>
            </a:pathLst>
          </a:custGeom>
          <a:noFill/>
          <a:ln w="9525">
            <a:solidFill>
              <a:srgbClr val="1E3A5F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6372606" y="2948940"/>
            <a:ext cx="28483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BBF24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831330" y="2981325"/>
            <a:ext cx="37528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抗菌肽穿透BBB：阳离子AMT+LRP1/RAGE</a:t>
            </a:r>
          </a:p>
        </p:txBody>
      </p:sp>
      <p:sp>
        <p:nvSpPr>
          <p:cNvPr id="33" name="Line 33"/>
          <p:cNvSpPr/>
          <p:nvPr/>
        </p:nvSpPr>
        <p:spPr>
          <a:xfrm>
            <a:off x="6381750" y="3505200"/>
            <a:ext cx="5124450" cy="9525"/>
          </a:xfrm>
          <a:custGeom>
            <a:avLst/>
            <a:gdLst/>
            <a:ahLst/>
            <a:cxnLst/>
            <a:rect l="l" t="t" r="r" b="b"/>
            <a:pathLst>
              <a:path w="5124450" h="9525">
                <a:moveTo>
                  <a:pt x="0" y="0"/>
                </a:moveTo>
                <a:lnTo>
                  <a:pt x="5124450" y="0"/>
                </a:lnTo>
              </a:path>
            </a:pathLst>
          </a:custGeom>
          <a:noFill/>
          <a:ln w="9525">
            <a:solidFill>
              <a:srgbClr val="1E3A5F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6372606" y="3691890"/>
            <a:ext cx="28483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BBF24"/>
                </a:solidFill>
                <a:latin typeface="Consolas"/>
                <a:ea typeface="Consolas"/>
                <a:cs typeface="Consolas"/>
              </a:rPr>
              <a:t>11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831330" y="3724275"/>
            <a:ext cx="327202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穿透后致病：LL-37-CLIC1神经炎症</a:t>
            </a:r>
          </a:p>
        </p:txBody>
      </p:sp>
      <p:sp>
        <p:nvSpPr>
          <p:cNvPr id="36" name="Line 36"/>
          <p:cNvSpPr/>
          <p:nvPr/>
        </p:nvSpPr>
        <p:spPr>
          <a:xfrm>
            <a:off x="6381750" y="4248150"/>
            <a:ext cx="5124450" cy="9525"/>
          </a:xfrm>
          <a:custGeom>
            <a:avLst/>
            <a:gdLst/>
            <a:ahLst/>
            <a:cxnLst/>
            <a:rect l="l" t="t" r="r" b="b"/>
            <a:pathLst>
              <a:path w="5124450" h="9525">
                <a:moveTo>
                  <a:pt x="0" y="0"/>
                </a:moveTo>
                <a:lnTo>
                  <a:pt x="5124450" y="0"/>
                </a:lnTo>
              </a:path>
            </a:pathLst>
          </a:custGeom>
          <a:noFill/>
          <a:ln w="9525">
            <a:solidFill>
              <a:srgbClr val="1E3A5F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6372606" y="4434840"/>
            <a:ext cx="28483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BBF24"/>
                </a:solidFill>
                <a:latin typeface="Consolas"/>
                <a:ea typeface="Consolas"/>
                <a:cs typeface="Consolas"/>
              </a:rPr>
              <a:t>12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831330" y="4467225"/>
            <a:ext cx="185280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肠-血-脑轴整合模型</a:t>
            </a:r>
          </a:p>
        </p:txBody>
      </p:sp>
      <p:sp>
        <p:nvSpPr>
          <p:cNvPr id="39" name="Line 39"/>
          <p:cNvSpPr/>
          <p:nvPr/>
        </p:nvSpPr>
        <p:spPr>
          <a:xfrm>
            <a:off x="6381750" y="4991100"/>
            <a:ext cx="5124450" cy="9525"/>
          </a:xfrm>
          <a:custGeom>
            <a:avLst/>
            <a:gdLst/>
            <a:ahLst/>
            <a:cxnLst/>
            <a:rect l="l" t="t" r="r" b="b"/>
            <a:pathLst>
              <a:path w="5124450" h="9525">
                <a:moveTo>
                  <a:pt x="0" y="0"/>
                </a:moveTo>
                <a:lnTo>
                  <a:pt x="5124450" y="0"/>
                </a:lnTo>
              </a:path>
            </a:pathLst>
          </a:custGeom>
          <a:noFill/>
          <a:ln w="9525">
            <a:solidFill>
              <a:srgbClr val="1E3A5F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6372606" y="5177790"/>
            <a:ext cx="28483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BBF24"/>
                </a:solidFill>
                <a:latin typeface="Consolas"/>
                <a:ea typeface="Consolas"/>
                <a:cs typeface="Consolas"/>
              </a:rPr>
              <a:t>13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831330" y="5210175"/>
            <a:ext cx="18326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证据分级与验证路径</a:t>
            </a:r>
          </a:p>
        </p:txBody>
      </p:sp>
      <p:sp>
        <p:nvSpPr>
          <p:cNvPr id="42" name="Line 42"/>
          <p:cNvSpPr/>
          <p:nvPr/>
        </p:nvSpPr>
        <p:spPr>
          <a:xfrm>
            <a:off x="6381750" y="5734050"/>
            <a:ext cx="5124450" cy="9525"/>
          </a:xfrm>
          <a:custGeom>
            <a:avLst/>
            <a:gdLst/>
            <a:ahLst/>
            <a:cxnLst/>
            <a:rect l="l" t="t" r="r" b="b"/>
            <a:pathLst>
              <a:path w="5124450" h="9525">
                <a:moveTo>
                  <a:pt x="0" y="0"/>
                </a:moveTo>
                <a:lnTo>
                  <a:pt x="5124450" y="0"/>
                </a:lnTo>
              </a:path>
            </a:pathLst>
          </a:custGeom>
          <a:noFill/>
          <a:ln w="9525">
            <a:solidFill>
              <a:srgbClr val="1E3A5F"/>
            </a:solidFill>
          </a:ln>
        </p:spPr>
      </p:sp>
      <p:sp>
        <p:nvSpPr>
          <p:cNvPr id="43" name="Rectangle 43"/>
          <p:cNvSpPr/>
          <p:nvPr/>
        </p:nvSpPr>
        <p:spPr>
          <a:xfrm>
            <a:off x="0" y="6000750"/>
            <a:ext cx="12192000" cy="571500"/>
          </a:xfrm>
          <a:prstGeom prst="rect">
            <a:avLst/>
          </a:prstGeom>
          <a:solidFill>
            <a:srgbClr val="102542"/>
          </a:solidFill>
          <a:ln>
            <a:noFill/>
          </a:ln>
        </p:spPr>
      </p:sp>
      <p:sp>
        <p:nvSpPr>
          <p:cNvPr id="44" name="Rectangle 44"/>
          <p:cNvSpPr/>
          <p:nvPr/>
        </p:nvSpPr>
        <p:spPr>
          <a:xfrm>
            <a:off x="0" y="6000750"/>
            <a:ext cx="76200" cy="571500"/>
          </a:xfrm>
          <a:prstGeom prst="rect">
            <a:avLst/>
          </a:prstGeom>
          <a:solidFill>
            <a:srgbClr val="FBBF24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678180" y="6172200"/>
            <a:ext cx="34480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每问配具体文献与实现细节，避免空泛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0"/>
                </a:moveTo>
                <a:lnTo>
                  <a:pt x="12192000" y="0"/>
                </a:lnTo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rgbClr val="1A2F5A">
                <a:alpha val="55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678180" y="542925"/>
            <a:ext cx="18764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spc="112" dirty="0">
                <a:solidFill>
                  <a:srgbClr val="FBBF24"/>
                </a:solidFill>
                <a:latin typeface="Consolas"/>
                <a:ea typeface="Microsoft YaHei"/>
                <a:cs typeface="Consolas"/>
              </a:rPr>
              <a:t>// 03 / 方法演进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721150" y="542925"/>
            <a:ext cx="7926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8A9BB5"/>
                </a:solidFill>
                <a:latin typeface="Consolas"/>
                <a:ea typeface="Consolas"/>
                <a:cs typeface="Consolas"/>
              </a:rPr>
              <a:t>03 / 17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2084" y="756285"/>
            <a:ext cx="5843016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计算方法总览：从数据库到生成模型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12192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4288">
            <a:solidFill>
              <a:srgbClr val="1E3A5F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609600" y="1466850"/>
            <a:ext cx="10972800" cy="2333625"/>
          </a:xfrm>
          <a:prstGeom prst="roundRect">
            <a:avLst>
              <a:gd name="adj" fmla="val 4082"/>
            </a:avLst>
          </a:prstGeom>
          <a:solidFill>
            <a:srgbClr val="102542"/>
          </a:solidFill>
          <a:ln w="9525">
            <a:solidFill>
              <a:srgbClr val="2A4A7A"/>
            </a:solidFill>
          </a:ln>
        </p:spPr>
      </p:sp>
      <p:pic>
        <p:nvPicPr>
          <p:cNvPr id="8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200" y="1600200"/>
            <a:ext cx="5934075" cy="2066925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678180" y="3771900"/>
            <a:ext cx="100367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Wan 2024综述六类：数据库挖掘、特征工程ML、CNN/RNN判别、注意力/Transformer、蛋白语言模型pLM、生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78180" y="4019550"/>
            <a:ext cx="1019883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成模型GAN/VAE/LLM；Ma 2022三模型LSTM+Attention+BERT属3-5类组合，Santos-Junior 2024 CNN+BiLSTM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78180" y="4276725"/>
            <a:ext cx="387508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规模化，AMPSphere 86万肽，阳性率&gt;75%</a:t>
            </a:r>
          </a:p>
        </p:txBody>
      </p:sp>
      <p:sp>
        <p:nvSpPr>
          <p:cNvPr id="12" name="Rectangle 12"/>
          <p:cNvSpPr/>
          <p:nvPr/>
        </p:nvSpPr>
        <p:spPr>
          <a:xfrm>
            <a:off x="0" y="6000750"/>
            <a:ext cx="12192000" cy="571500"/>
          </a:xfrm>
          <a:prstGeom prst="rect">
            <a:avLst/>
          </a:prstGeom>
          <a:solidFill>
            <a:srgbClr val="102542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0" y="6000750"/>
            <a:ext cx="76200" cy="571500"/>
          </a:xfrm>
          <a:prstGeom prst="rect">
            <a:avLst/>
          </a:prstGeom>
          <a:solidFill>
            <a:srgbClr val="FBBF24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78180" y="6172200"/>
            <a:ext cx="376659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本课题属判别式挖掘+表达去重，符合主流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0"/>
                </a:moveTo>
                <a:lnTo>
                  <a:pt x="12192000" y="0"/>
                </a:lnTo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rgbClr val="1A2F5A">
                <a:alpha val="55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678180" y="542925"/>
            <a:ext cx="18764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spc="112" dirty="0">
                <a:solidFill>
                  <a:srgbClr val="FBBF24"/>
                </a:solidFill>
                <a:latin typeface="Consolas"/>
                <a:ea typeface="Microsoft YaHei"/>
                <a:cs typeface="Consolas"/>
              </a:rPr>
              <a:t>// 04 / 具体实现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721150" y="542925"/>
            <a:ext cx="7926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8A9BB5"/>
                </a:solidFill>
                <a:latin typeface="Consolas"/>
                <a:ea typeface="Consolas"/>
                <a:cs typeface="Consolas"/>
              </a:rPr>
              <a:t>04 / 17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2084" y="756285"/>
            <a:ext cx="6607374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Ma 2022方法细节：人肠道宏基因组挖掘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12192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4288">
            <a:solidFill>
              <a:srgbClr val="1E3A5F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685800" y="1447800"/>
            <a:ext cx="76200" cy="76200"/>
          </a:xfrm>
          <a:prstGeom prst="rect">
            <a:avLst/>
          </a:prstGeom>
          <a:solidFill>
            <a:srgbClr val="FBBF24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887730" y="1400175"/>
            <a:ext cx="62103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8BDF8"/>
                </a:solidFill>
                <a:latin typeface="Arial"/>
                <a:ea typeface="Microsoft YaHei"/>
                <a:cs typeface="Arial"/>
              </a:rPr>
              <a:t>数据源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73530" y="1400175"/>
            <a:ext cx="634841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人肠道宏基因组组装MAGs，sORF&lt;100aa，数百万候选，与本课题同源</a:t>
            </a:r>
          </a:p>
        </p:txBody>
      </p:sp>
      <p:sp>
        <p:nvSpPr>
          <p:cNvPr id="10" name="Rectangle 10"/>
          <p:cNvSpPr/>
          <p:nvPr/>
        </p:nvSpPr>
        <p:spPr>
          <a:xfrm>
            <a:off x="685800" y="1828800"/>
            <a:ext cx="76200" cy="76200"/>
          </a:xfrm>
          <a:prstGeom prst="rect">
            <a:avLst/>
          </a:prstGeom>
          <a:solidFill>
            <a:srgbClr val="FBBF24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887730" y="1781175"/>
            <a:ext cx="4191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8BDF8"/>
                </a:solidFill>
                <a:latin typeface="Arial"/>
                <a:ea typeface="Microsoft YaHei"/>
                <a:cs typeface="Arial"/>
              </a:rPr>
              <a:t>样本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83030" y="1781175"/>
            <a:ext cx="922465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正1085条APD/DRAMP抗菌肽，负58776条UniProt非抗菌肽，CD-HIT 90%去冗余，Focal Loss解决不平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83030" y="2038350"/>
            <a:ext cx="2171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衡</a:t>
            </a:r>
          </a:p>
        </p:txBody>
      </p:sp>
      <p:sp>
        <p:nvSpPr>
          <p:cNvPr id="14" name="Rectangle 14"/>
          <p:cNvSpPr/>
          <p:nvPr/>
        </p:nvSpPr>
        <p:spPr>
          <a:xfrm>
            <a:off x="685800" y="2466975"/>
            <a:ext cx="76200" cy="76200"/>
          </a:xfrm>
          <a:prstGeom prst="rect">
            <a:avLst/>
          </a:prstGeom>
          <a:solidFill>
            <a:srgbClr val="FBBF24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887730" y="2419350"/>
            <a:ext cx="4191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8BDF8"/>
                </a:solidFill>
                <a:latin typeface="Arial"/>
                <a:ea typeface="Microsoft YaHei"/>
                <a:cs typeface="Arial"/>
              </a:rPr>
              <a:t>特征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83030" y="2419350"/>
            <a:ext cx="666773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one-hot+34维理化（电荷/疏水/等电点）+PC6向量+ProtBert嵌入三并行</a:t>
            </a:r>
          </a:p>
        </p:txBody>
      </p:sp>
      <p:sp>
        <p:nvSpPr>
          <p:cNvPr id="17" name="Rectangle 17"/>
          <p:cNvSpPr/>
          <p:nvPr/>
        </p:nvSpPr>
        <p:spPr>
          <a:xfrm>
            <a:off x="685800" y="2857500"/>
            <a:ext cx="76200" cy="76200"/>
          </a:xfrm>
          <a:prstGeom prst="rect">
            <a:avLst/>
          </a:prstGeom>
          <a:solidFill>
            <a:srgbClr val="FBBF24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87730" y="2809875"/>
            <a:ext cx="4191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8BDF8"/>
                </a:solidFill>
                <a:latin typeface="Arial"/>
                <a:ea typeface="Microsoft YaHei"/>
                <a:cs typeface="Arial"/>
              </a:rPr>
              <a:t>模型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83030" y="2809875"/>
            <a:ext cx="907191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LSTM双向+Attention关键残基+BERT上下文，每模型后接MLP，AdamW优化，5折交叉，独立集&gt;92%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85800" y="3238500"/>
            <a:ext cx="76200" cy="76200"/>
          </a:xfrm>
          <a:prstGeom prst="rect">
            <a:avLst/>
          </a:prstGeom>
          <a:solidFill>
            <a:srgbClr val="FBBF24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887730" y="3190875"/>
            <a:ext cx="4191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8BDF8"/>
                </a:solidFill>
                <a:latin typeface="Arial"/>
                <a:ea typeface="Microsoft YaHei"/>
                <a:cs typeface="Arial"/>
              </a:rPr>
              <a:t>挖掘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83030" y="3190875"/>
            <a:ext cx="912037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三模型交集阈值0.9得2349条→按电荷&gt;2等筛选216条合成→181条活性83.8%，11条对耐药革兰阴性MIC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83030" y="3438525"/>
            <a:ext cx="152971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≤8，低同源&lt;40%</a:t>
            </a:r>
          </a:p>
        </p:txBody>
      </p:sp>
      <p:sp>
        <p:nvSpPr>
          <p:cNvPr id="24" name="Rectangle 24"/>
          <p:cNvSpPr/>
          <p:nvPr/>
        </p:nvSpPr>
        <p:spPr>
          <a:xfrm>
            <a:off x="685800" y="3876675"/>
            <a:ext cx="76200" cy="76200"/>
          </a:xfrm>
          <a:prstGeom prst="rect">
            <a:avLst/>
          </a:prstGeom>
          <a:solidFill>
            <a:srgbClr val="FBBF24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887730" y="3829050"/>
            <a:ext cx="4191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8BDF8"/>
                </a:solidFill>
                <a:latin typeface="Arial"/>
                <a:ea typeface="Microsoft YaHei"/>
                <a:cs typeface="Arial"/>
              </a:rPr>
              <a:t>体内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83030" y="3829050"/>
            <a:ext cx="514128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小鼠肺感染K. pneumoniae模型，菌量降10倍，溶血&lt;10%</a:t>
            </a:r>
          </a:p>
        </p:txBody>
      </p:sp>
      <p:sp>
        <p:nvSpPr>
          <p:cNvPr id="27" name="Rectangle 27"/>
          <p:cNvSpPr/>
          <p:nvPr/>
        </p:nvSpPr>
        <p:spPr>
          <a:xfrm>
            <a:off x="0" y="6000750"/>
            <a:ext cx="12192000" cy="571500"/>
          </a:xfrm>
          <a:prstGeom prst="rect">
            <a:avLst/>
          </a:prstGeom>
          <a:solidFill>
            <a:srgbClr val="102542"/>
          </a:solidFill>
          <a:ln>
            <a:noFill/>
          </a:ln>
        </p:spPr>
      </p:sp>
      <p:sp>
        <p:nvSpPr>
          <p:cNvPr id="28" name="Rectangle 28"/>
          <p:cNvSpPr/>
          <p:nvPr/>
        </p:nvSpPr>
        <p:spPr>
          <a:xfrm>
            <a:off x="0" y="6000750"/>
            <a:ext cx="76200" cy="571500"/>
          </a:xfrm>
          <a:prstGeom prst="rect">
            <a:avLst/>
          </a:prstGeom>
          <a:solidFill>
            <a:srgbClr val="FBBF24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678180" y="6172200"/>
            <a:ext cx="274533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阳性率83%+低同源新肽是亮点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0"/>
                </a:moveTo>
                <a:lnTo>
                  <a:pt x="12192000" y="0"/>
                </a:lnTo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rgbClr val="1A2F5A">
                <a:alpha val="55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678180" y="542925"/>
            <a:ext cx="209345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spc="112" dirty="0">
                <a:solidFill>
                  <a:srgbClr val="FBBF24"/>
                </a:solidFill>
                <a:latin typeface="Consolas"/>
                <a:ea typeface="Microsoft YaHei"/>
                <a:cs typeface="Consolas"/>
              </a:rPr>
              <a:t>// 05 / 规模化验证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721150" y="542925"/>
            <a:ext cx="7926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8A9BB5"/>
                </a:solidFill>
                <a:latin typeface="Consolas"/>
                <a:ea typeface="Consolas"/>
                <a:cs typeface="Consolas"/>
              </a:rPr>
              <a:t>05 / 17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2084" y="756285"/>
            <a:ext cx="7967402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Santos-Junior 2024 AMPSphere：全球规模化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12192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4288">
            <a:solidFill>
              <a:srgbClr val="1E3A5F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609600" y="1466850"/>
            <a:ext cx="10972800" cy="2333625"/>
          </a:xfrm>
          <a:prstGeom prst="roundRect">
            <a:avLst>
              <a:gd name="adj" fmla="val 4082"/>
            </a:avLst>
          </a:prstGeom>
          <a:solidFill>
            <a:srgbClr val="102542"/>
          </a:solidFill>
          <a:ln w="9525">
            <a:solidFill>
              <a:srgbClr val="2A4A7A"/>
            </a:solidFill>
          </a:ln>
        </p:spPr>
      </p:sp>
      <p:pic>
        <p:nvPicPr>
          <p:cNvPr id="8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0525" y="1600200"/>
            <a:ext cx="3800475" cy="2066925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678180" y="3771900"/>
            <a:ext cx="976884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63,410宏基因组+87,920原核基因组→CNN+BiLSTM分类器→863,498非冗余抗菌肽，80%低同源&lt;40%→随机100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78180" y="4019550"/>
            <a:ext cx="877976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条合成79条活性63条靶向病原，SYTOX Green验证膜破坏机制，证明深度学习可系统发现新抗菌肽</a:t>
            </a:r>
          </a:p>
        </p:txBody>
      </p:sp>
      <p:sp>
        <p:nvSpPr>
          <p:cNvPr id="11" name="Rectangle 11"/>
          <p:cNvSpPr/>
          <p:nvPr/>
        </p:nvSpPr>
        <p:spPr>
          <a:xfrm>
            <a:off x="0" y="6000750"/>
            <a:ext cx="12192000" cy="571500"/>
          </a:xfrm>
          <a:prstGeom prst="rect">
            <a:avLst/>
          </a:prstGeom>
          <a:solidFill>
            <a:srgbClr val="102542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0" y="6000750"/>
            <a:ext cx="76200" cy="571500"/>
          </a:xfrm>
          <a:prstGeom prst="rect">
            <a:avLst/>
          </a:prstGeom>
          <a:solidFill>
            <a:srgbClr val="FBBF24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678180" y="6172200"/>
            <a:ext cx="254340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规模化证明预测阳性率&gt;75%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0"/>
                </a:moveTo>
                <a:lnTo>
                  <a:pt x="12192000" y="0"/>
                </a:lnTo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rgbClr val="1A2F5A">
                <a:alpha val="55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678180" y="542925"/>
            <a:ext cx="209345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spc="112" dirty="0">
                <a:solidFill>
                  <a:srgbClr val="FBBF24"/>
                </a:solidFill>
                <a:latin typeface="Consolas"/>
                <a:ea typeface="Microsoft YaHei"/>
                <a:cs typeface="Consolas"/>
              </a:rPr>
              <a:t>// 06 / 本课题实现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721150" y="542925"/>
            <a:ext cx="7926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8A9BB5"/>
                </a:solidFill>
                <a:latin typeface="Consolas"/>
                <a:ea typeface="Consolas"/>
                <a:cs typeface="Consolas"/>
              </a:rPr>
              <a:t>06 / 17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2084" y="756285"/>
            <a:ext cx="4752594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本课题三模型共识与文献对齐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12192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4288">
            <a:solidFill>
              <a:srgbClr val="1E3A5F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685800" y="1447800"/>
            <a:ext cx="76200" cy="76200"/>
          </a:xfrm>
          <a:prstGeom prst="rect">
            <a:avLst/>
          </a:prstGeom>
          <a:solidFill>
            <a:srgbClr val="FBBF24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887730" y="1400175"/>
            <a:ext cx="4191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8BDF8"/>
                </a:solidFill>
                <a:latin typeface="Arial"/>
                <a:ea typeface="Microsoft YaHei"/>
                <a:cs typeface="Arial"/>
              </a:rPr>
              <a:t>数据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83030" y="1400175"/>
            <a:ext cx="898345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476例粪便宏基因组→2.19亿原始sORF→9139万非冗余→757高质量MAGs→1971种水平代表→sORF，与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83030" y="1647825"/>
            <a:ext cx="120815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Ma 2022同源</a:t>
            </a:r>
          </a:p>
        </p:txBody>
      </p:sp>
      <p:sp>
        <p:nvSpPr>
          <p:cNvPr id="11" name="Rectangle 11"/>
          <p:cNvSpPr/>
          <p:nvPr/>
        </p:nvSpPr>
        <p:spPr>
          <a:xfrm>
            <a:off x="685800" y="2085975"/>
            <a:ext cx="76200" cy="76200"/>
          </a:xfrm>
          <a:prstGeom prst="rect">
            <a:avLst/>
          </a:prstGeom>
          <a:solidFill>
            <a:srgbClr val="FBBF24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887730" y="2038350"/>
            <a:ext cx="4191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8BDF8"/>
                </a:solidFill>
                <a:latin typeface="Arial"/>
                <a:ea typeface="Microsoft YaHei"/>
                <a:cs typeface="Arial"/>
              </a:rPr>
              <a:t>样本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83030" y="2038350"/>
            <a:ext cx="754030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同Ma 2022：1085正/58776负，CD-HIT去冗余，Focal Loss，5折交叉AUROC&gt;0.92</a:t>
            </a:r>
          </a:p>
        </p:txBody>
      </p:sp>
      <p:sp>
        <p:nvSpPr>
          <p:cNvPr id="14" name="Rectangle 14"/>
          <p:cNvSpPr/>
          <p:nvPr/>
        </p:nvSpPr>
        <p:spPr>
          <a:xfrm>
            <a:off x="685800" y="2466975"/>
            <a:ext cx="76200" cy="76200"/>
          </a:xfrm>
          <a:prstGeom prst="rect">
            <a:avLst/>
          </a:prstGeom>
          <a:solidFill>
            <a:srgbClr val="FBBF24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887730" y="2419350"/>
            <a:ext cx="4191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8BDF8"/>
                </a:solidFill>
                <a:latin typeface="Arial"/>
                <a:ea typeface="Microsoft YaHei"/>
                <a:cs typeface="Arial"/>
              </a:rPr>
              <a:t>共识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83030" y="2419350"/>
            <a:ext cx="94881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Attention/LSTM/BERT三模型独立预测，交集&gt;0.9才纳入，降低单一偏倚，特色为宏蛋白组表达二次去重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83030" y="2676525"/>
            <a:ext cx="22364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解决有预测无表达假阳性</a:t>
            </a:r>
          </a:p>
        </p:txBody>
      </p:sp>
      <p:sp>
        <p:nvSpPr>
          <p:cNvPr id="18" name="Rectangle 18"/>
          <p:cNvSpPr/>
          <p:nvPr/>
        </p:nvSpPr>
        <p:spPr>
          <a:xfrm>
            <a:off x="685800" y="3105150"/>
            <a:ext cx="76200" cy="76200"/>
          </a:xfrm>
          <a:prstGeom prst="rect">
            <a:avLst/>
          </a:prstGeom>
          <a:solidFill>
            <a:srgbClr val="FBBF24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87730" y="3057525"/>
            <a:ext cx="4191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8BDF8"/>
                </a:solidFill>
                <a:latin typeface="Arial"/>
                <a:ea typeface="Microsoft YaHei"/>
                <a:cs typeface="Arial"/>
              </a:rPr>
              <a:t>验证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83030" y="3057525"/>
            <a:ext cx="883881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纸片扩散初筛→微量肉汤稀释测MIC，阳性对照LL-37，阴性溶剂，重复3次，定位为候选肽直接验证</a:t>
            </a:r>
          </a:p>
        </p:txBody>
      </p:sp>
      <p:sp>
        <p:nvSpPr>
          <p:cNvPr id="21" name="Rectangle 21"/>
          <p:cNvSpPr/>
          <p:nvPr/>
        </p:nvSpPr>
        <p:spPr>
          <a:xfrm>
            <a:off x="685800" y="3486150"/>
            <a:ext cx="76200" cy="76200"/>
          </a:xfrm>
          <a:prstGeom prst="rect">
            <a:avLst/>
          </a:prstGeom>
          <a:solidFill>
            <a:srgbClr val="FBBF24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887730" y="3438525"/>
            <a:ext cx="102489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8BDF8"/>
                </a:solidFill>
                <a:latin typeface="Arial"/>
                <a:ea typeface="Microsoft YaHei"/>
                <a:cs typeface="Arial"/>
              </a:rPr>
              <a:t>生成式补充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954530" y="3438525"/>
            <a:ext cx="874840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HydrAMP cVAE条件生成+AM Predictor GCN回归MIC RMSE0.535，本课题暂不涉及生成但流程一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954530" y="3695700"/>
            <a:ext cx="2171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致</a:t>
            </a:r>
          </a:p>
        </p:txBody>
      </p:sp>
      <p:sp>
        <p:nvSpPr>
          <p:cNvPr id="25" name="Rectangle 25"/>
          <p:cNvSpPr/>
          <p:nvPr/>
        </p:nvSpPr>
        <p:spPr>
          <a:xfrm>
            <a:off x="0" y="6000750"/>
            <a:ext cx="12192000" cy="571500"/>
          </a:xfrm>
          <a:prstGeom prst="rect">
            <a:avLst/>
          </a:prstGeom>
          <a:solidFill>
            <a:srgbClr val="102542"/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0" y="6000750"/>
            <a:ext cx="76200" cy="571500"/>
          </a:xfrm>
          <a:prstGeom prst="rect">
            <a:avLst/>
          </a:prstGeom>
          <a:solidFill>
            <a:srgbClr val="FBBF24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678180" y="6172200"/>
            <a:ext cx="255501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三模型共识+表达去重是特色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0"/>
                </a:moveTo>
                <a:lnTo>
                  <a:pt x="12192000" y="0"/>
                </a:lnTo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rgbClr val="1A2F5A">
                <a:alpha val="55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678180" y="542925"/>
            <a:ext cx="209345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spc="112" dirty="0">
                <a:solidFill>
                  <a:srgbClr val="FBBF24"/>
                </a:solidFill>
                <a:latin typeface="Consolas"/>
                <a:ea typeface="Microsoft YaHei"/>
                <a:cs typeface="Consolas"/>
              </a:rPr>
              <a:t>// 07 / 最直接结合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721150" y="542925"/>
            <a:ext cx="7926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8A9BB5"/>
                </a:solidFill>
                <a:latin typeface="Consolas"/>
                <a:ea typeface="Consolas"/>
                <a:cs typeface="Consolas"/>
              </a:rPr>
              <a:t>07 / 17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2084" y="756285"/>
            <a:ext cx="6718285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抗菌肽与AD如何结合：Aβ本身就是抗菌肽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12192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4288">
            <a:solidFill>
              <a:srgbClr val="1E3A5F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609600" y="1466850"/>
            <a:ext cx="10972800" cy="2333625"/>
          </a:xfrm>
          <a:prstGeom prst="roundRect">
            <a:avLst>
              <a:gd name="adj" fmla="val 4082"/>
            </a:avLst>
          </a:prstGeom>
          <a:solidFill>
            <a:srgbClr val="102542"/>
          </a:solidFill>
          <a:ln w="9525">
            <a:solidFill>
              <a:srgbClr val="2A4A7A"/>
            </a:solidFill>
          </a:ln>
        </p:spPr>
      </p:sp>
      <p:pic>
        <p:nvPicPr>
          <p:cNvPr id="8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6175" y="1600200"/>
            <a:ext cx="4819650" cy="2066925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678180" y="3771900"/>
            <a:ext cx="1001144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Soscia 2010 PLoS ONE：Aβ42对8种临床菌活性≥LL-37，反向/打乱无活性，AD脑匀浆活性高24%可被抗Aβ抗体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78180" y="4019550"/>
            <a:ext cx="1034121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清除[6]；Kumar 2016 Sci Transl Med：转基因小鼠/线虫Aβ表达提高抗感染存活，寡聚化必需更耐蛋白酶[7]；Mo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78180" y="4276725"/>
            <a:ext cx="549383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ir 2018抗菌保护假说：Aβ聚集从生理抗菌到病理沉积失调[8]</a:t>
            </a:r>
          </a:p>
        </p:txBody>
      </p:sp>
      <p:sp>
        <p:nvSpPr>
          <p:cNvPr id="12" name="Rectangle 12"/>
          <p:cNvSpPr/>
          <p:nvPr/>
        </p:nvSpPr>
        <p:spPr>
          <a:xfrm>
            <a:off x="0" y="6000750"/>
            <a:ext cx="12192000" cy="571500"/>
          </a:xfrm>
          <a:prstGeom prst="rect">
            <a:avLst/>
          </a:prstGeom>
          <a:solidFill>
            <a:srgbClr val="102542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0" y="6000750"/>
            <a:ext cx="76200" cy="571500"/>
          </a:xfrm>
          <a:prstGeom prst="rect">
            <a:avLst/>
          </a:prstGeom>
          <a:solidFill>
            <a:srgbClr val="FBBF24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78180" y="6172200"/>
            <a:ext cx="312659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Aβ抗菌是核心环，解释为何AD更多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0"/>
                </a:moveTo>
                <a:lnTo>
                  <a:pt x="12192000" y="0"/>
                </a:lnTo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rgbClr val="1A2F5A">
                <a:alpha val="55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678180" y="542925"/>
            <a:ext cx="18764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spc="112" dirty="0">
                <a:solidFill>
                  <a:srgbClr val="FBBF24"/>
                </a:solidFill>
                <a:latin typeface="Consolas"/>
                <a:ea typeface="Microsoft YaHei"/>
                <a:cs typeface="Consolas"/>
              </a:rPr>
              <a:t>// 08 / 物理结合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721150" y="542925"/>
            <a:ext cx="7926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8A9BB5"/>
                </a:solidFill>
                <a:latin typeface="Consolas"/>
                <a:ea typeface="Consolas"/>
                <a:cs typeface="Consolas"/>
              </a:rPr>
              <a:t>08 / 17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2084" y="756285"/>
            <a:ext cx="6798387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结合机制：LL-37纳摩尔亲和力+交叉播种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12192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4288">
            <a:solidFill>
              <a:srgbClr val="1E3A5F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609600" y="1466850"/>
            <a:ext cx="10972800" cy="2333625"/>
          </a:xfrm>
          <a:prstGeom prst="roundRect">
            <a:avLst>
              <a:gd name="adj" fmla="val 4082"/>
            </a:avLst>
          </a:prstGeom>
          <a:solidFill>
            <a:srgbClr val="102542"/>
          </a:solidFill>
          <a:ln w="9525">
            <a:solidFill>
              <a:srgbClr val="2A4A7A"/>
            </a:solidFill>
          </a:ln>
        </p:spPr>
      </p:sp>
      <p:pic>
        <p:nvPicPr>
          <p:cNvPr id="8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600" y="1600200"/>
            <a:ext cx="4124325" cy="2066925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678180" y="3771900"/>
            <a:ext cx="991676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LL-37与Aβ纳摩尔亲和力结合：De Lorenzi 2017 SPR+CD证明Kd≈nM，抑制长纤维但稳定更毒寡聚体/异源寡聚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78180" y="4019550"/>
            <a:ext cx="1028471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体[15]；Barron 2024 Chem Soc Rev综述序列互补性交叉播种[16]；α-防御素β-丰富结构与Aβ交叉互作阻止斑块[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78180" y="4276725"/>
            <a:ext cx="1046887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综述]；AChE-PAS成核中心Inestrosa 1996 propidium抑制75%[24]，De Ferrari 2001 Site I 35肽Kd184μM[25]，</a:t>
            </a:r>
          </a:p>
        </p:txBody>
      </p:sp>
      <p:sp>
        <p:nvSpPr>
          <p:cNvPr id="12" name="Rectangle 12"/>
          <p:cNvSpPr/>
          <p:nvPr/>
        </p:nvSpPr>
        <p:spPr>
          <a:xfrm>
            <a:off x="0" y="6000750"/>
            <a:ext cx="12192000" cy="571500"/>
          </a:xfrm>
          <a:prstGeom prst="rect">
            <a:avLst/>
          </a:prstGeom>
          <a:solidFill>
            <a:srgbClr val="102542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0" y="6000750"/>
            <a:ext cx="76200" cy="571500"/>
          </a:xfrm>
          <a:prstGeom prst="rect">
            <a:avLst/>
          </a:prstGeom>
          <a:solidFill>
            <a:srgbClr val="FBBF24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78180" y="6172200"/>
            <a:ext cx="264033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结合改变聚集路径，增强毒性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0"/>
                </a:moveTo>
                <a:lnTo>
                  <a:pt x="12192000" y="0"/>
                </a:lnTo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rgbClr val="1A2F5A">
                <a:alpha val="55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678180" y="542925"/>
            <a:ext cx="18764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spc="112" dirty="0">
                <a:solidFill>
                  <a:srgbClr val="FBBF24"/>
                </a:solidFill>
                <a:latin typeface="Consolas"/>
                <a:ea typeface="Microsoft YaHei"/>
                <a:cs typeface="Consolas"/>
              </a:rPr>
              <a:t>// 09 / 菌群失调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721150" y="542925"/>
            <a:ext cx="7926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8A9BB5"/>
                </a:solidFill>
                <a:latin typeface="Consolas"/>
                <a:ea typeface="Consolas"/>
                <a:cs typeface="Consolas"/>
              </a:rPr>
              <a:t>09 / 17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2084" y="756285"/>
            <a:ext cx="511606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肠道菌群调控上游：失调是驱动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12192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4288">
            <a:solidFill>
              <a:srgbClr val="1E3A5F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678180" y="1419225"/>
            <a:ext cx="559136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61925" indent="-161925">
              <a:buClr>
                <a:srgbClr val="D1DCE8"/>
              </a:buClr>
              <a:buSzTx/>
              <a:buFontTx/>
              <a:buChar char="•"/>
            </a:pPr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AD患者菌群特征是促炎菌↑抗炎菌↓，为抗菌肽↑提供上游合理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78180" y="1666875"/>
            <a:ext cx="2171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性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8180" y="2009775"/>
            <a:ext cx="566508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61925" indent="-161925">
              <a:buClr>
                <a:srgbClr val="D1DCE8"/>
              </a:buClr>
              <a:buSzTx/>
              <a:buFontTx/>
              <a:buChar char="•"/>
            </a:pPr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本课题预期微生物源抗菌肽随NC→MCI→AD升高，与促炎菌正相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78180" y="2257425"/>
            <a:ext cx="2171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关</a:t>
            </a:r>
          </a:p>
        </p:txBody>
      </p:sp>
      <p:sp>
        <p:nvSpPr>
          <p:cNvPr id="11" name="Rectangle 11"/>
          <p:cNvSpPr/>
          <p:nvPr/>
        </p:nvSpPr>
        <p:spPr>
          <a:xfrm>
            <a:off x="7239000" y="1543050"/>
            <a:ext cx="4267200" cy="742950"/>
          </a:xfrm>
          <a:prstGeom prst="roundRect">
            <a:avLst>
              <a:gd name="adj" fmla="val 10256"/>
            </a:avLst>
          </a:prstGeom>
          <a:solidFill>
            <a:srgbClr val="122A4A"/>
          </a:solidFill>
          <a:ln w="9525">
            <a:solidFill>
              <a:srgbClr val="2A4A7A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7239000" y="1543050"/>
            <a:ext cx="57150" cy="742950"/>
          </a:xfrm>
          <a:prstGeom prst="rect">
            <a:avLst/>
          </a:prstGeom>
          <a:solidFill>
            <a:srgbClr val="FBBF24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7459980" y="1647825"/>
            <a:ext cx="102586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FBBF24"/>
                </a:solidFill>
                <a:latin typeface="Arial"/>
                <a:ea typeface="Arial"/>
                <a:cs typeface="Arial"/>
              </a:rPr>
              <a:t>Vogt 2017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459980" y="1857375"/>
            <a:ext cx="409317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dirty="0">
                <a:solidFill>
                  <a:srgbClr val="D1DCE8"/>
                </a:solidFill>
                <a:latin typeface="Arial"/>
                <a:ea typeface="Arial"/>
                <a:cs typeface="Arial"/>
              </a:rPr>
              <a:t>Firmicutes/Bifidobacterium↓ Bacteroidet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459980" y="2085975"/>
            <a:ext cx="7926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dirty="0">
                <a:solidFill>
                  <a:srgbClr val="D1DCE8"/>
                </a:solidFill>
                <a:latin typeface="Arial"/>
                <a:ea typeface="Arial"/>
                <a:cs typeface="Arial"/>
              </a:rPr>
              <a:t>es↑[18]</a:t>
            </a:r>
          </a:p>
        </p:txBody>
      </p:sp>
      <p:sp>
        <p:nvSpPr>
          <p:cNvPr id="16" name="Rectangle 16"/>
          <p:cNvSpPr/>
          <p:nvPr/>
        </p:nvSpPr>
        <p:spPr>
          <a:xfrm>
            <a:off x="7239000" y="2362200"/>
            <a:ext cx="4267200" cy="742950"/>
          </a:xfrm>
          <a:prstGeom prst="roundRect">
            <a:avLst>
              <a:gd name="adj" fmla="val 10256"/>
            </a:avLst>
          </a:prstGeom>
          <a:solidFill>
            <a:srgbClr val="122A4A"/>
          </a:solidFill>
          <a:ln w="9525">
            <a:solidFill>
              <a:srgbClr val="2A4A7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7239000" y="2362200"/>
            <a:ext cx="57150" cy="742950"/>
          </a:xfrm>
          <a:prstGeom prst="rect">
            <a:avLst/>
          </a:prstGeom>
          <a:solidFill>
            <a:srgbClr val="FBBF24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7459980" y="2466975"/>
            <a:ext cx="148857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FBBF24"/>
                </a:solidFill>
                <a:latin typeface="Arial"/>
                <a:ea typeface="Arial"/>
                <a:cs typeface="Arial"/>
              </a:rPr>
              <a:t>Cattaneo 2017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459980" y="2676525"/>
            <a:ext cx="408368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Escherichia/Shigella↑ E. rectale↓ 与IL-1β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459980" y="2905125"/>
            <a:ext cx="176936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/NLRP3正相关[19]</a:t>
            </a:r>
          </a:p>
        </p:txBody>
      </p:sp>
      <p:sp>
        <p:nvSpPr>
          <p:cNvPr id="21" name="Rectangle 21"/>
          <p:cNvSpPr/>
          <p:nvPr/>
        </p:nvSpPr>
        <p:spPr>
          <a:xfrm>
            <a:off x="7239000" y="3181350"/>
            <a:ext cx="4267200" cy="742950"/>
          </a:xfrm>
          <a:prstGeom prst="roundRect">
            <a:avLst>
              <a:gd name="adj" fmla="val 10256"/>
            </a:avLst>
          </a:prstGeom>
          <a:solidFill>
            <a:srgbClr val="122A4A"/>
          </a:solidFill>
          <a:ln w="9525">
            <a:solidFill>
              <a:srgbClr val="2A4A7A"/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7239000" y="3181350"/>
            <a:ext cx="57150" cy="742950"/>
          </a:xfrm>
          <a:prstGeom prst="rect">
            <a:avLst/>
          </a:prstGeom>
          <a:solidFill>
            <a:srgbClr val="FBBF24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7459980" y="3286125"/>
            <a:ext cx="126160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BBF24"/>
                </a:solidFill>
                <a:latin typeface="Arial"/>
                <a:ea typeface="Microsoft YaHei"/>
                <a:cs typeface="Arial"/>
              </a:rPr>
              <a:t>Liu 2020综述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459980" y="3495675"/>
            <a:ext cx="306552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肠道失调与AD关联，LPS入血[20]</a:t>
            </a:r>
          </a:p>
        </p:txBody>
      </p:sp>
      <p:sp>
        <p:nvSpPr>
          <p:cNvPr id="25" name="Rectangle 25"/>
          <p:cNvSpPr/>
          <p:nvPr/>
        </p:nvSpPr>
        <p:spPr>
          <a:xfrm>
            <a:off x="7239000" y="4000500"/>
            <a:ext cx="4267200" cy="742950"/>
          </a:xfrm>
          <a:prstGeom prst="roundRect">
            <a:avLst>
              <a:gd name="adj" fmla="val 10256"/>
            </a:avLst>
          </a:prstGeom>
          <a:solidFill>
            <a:srgbClr val="122A4A"/>
          </a:solidFill>
          <a:ln w="9525">
            <a:solidFill>
              <a:srgbClr val="2A4A7A"/>
            </a:solidFill>
          </a:ln>
        </p:spPr>
      </p:sp>
      <p:sp>
        <p:nvSpPr>
          <p:cNvPr id="26" name="Rectangle 26"/>
          <p:cNvSpPr/>
          <p:nvPr/>
        </p:nvSpPr>
        <p:spPr>
          <a:xfrm>
            <a:off x="7239000" y="4000500"/>
            <a:ext cx="57150" cy="742950"/>
          </a:xfrm>
          <a:prstGeom prst="rect">
            <a:avLst/>
          </a:prstGeom>
          <a:solidFill>
            <a:srgbClr val="38BDF8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7459980" y="4105275"/>
            <a:ext cx="62103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8BDF8"/>
                </a:solidFill>
                <a:latin typeface="Arial"/>
                <a:ea typeface="Microsoft YaHei"/>
                <a:cs typeface="Arial"/>
              </a:rPr>
              <a:t>本课题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459980" y="4314825"/>
            <a:ext cx="198272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五阶段比较，预期AD↑</a:t>
            </a:r>
          </a:p>
        </p:txBody>
      </p:sp>
      <p:sp>
        <p:nvSpPr>
          <p:cNvPr id="29" name="Rectangle 29"/>
          <p:cNvSpPr/>
          <p:nvPr/>
        </p:nvSpPr>
        <p:spPr>
          <a:xfrm>
            <a:off x="0" y="6000750"/>
            <a:ext cx="12192000" cy="571500"/>
          </a:xfrm>
          <a:prstGeom prst="rect">
            <a:avLst/>
          </a:prstGeom>
          <a:solidFill>
            <a:srgbClr val="102542"/>
          </a:solidFill>
          <a:ln>
            <a:noFill/>
          </a:ln>
        </p:spPr>
      </p:sp>
      <p:sp>
        <p:nvSpPr>
          <p:cNvPr id="30" name="Rectangle 30"/>
          <p:cNvSpPr/>
          <p:nvPr/>
        </p:nvSpPr>
        <p:spPr>
          <a:xfrm>
            <a:off x="0" y="6000750"/>
            <a:ext cx="76200" cy="571500"/>
          </a:xfrm>
          <a:prstGeom prst="rect">
            <a:avLst/>
          </a:prstGeom>
          <a:solidFill>
            <a:srgbClr val="FBBF24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678180" y="6172200"/>
            <a:ext cx="255501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菌群失调为抗菌肽↑提供驱动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0"/>
                </a:moveTo>
                <a:lnTo>
                  <a:pt x="12192000" y="0"/>
                </a:lnTo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rgbClr val="1A2F5A">
                <a:alpha val="55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678180" y="542925"/>
            <a:ext cx="209345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spc="112" dirty="0">
                <a:solidFill>
                  <a:srgbClr val="FBBF24"/>
                </a:solidFill>
                <a:latin typeface="Consolas"/>
                <a:ea typeface="Microsoft YaHei"/>
                <a:cs typeface="Consolas"/>
              </a:rPr>
              <a:t>// 10 / 介质与机制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721150" y="542925"/>
            <a:ext cx="7926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8A9BB5"/>
                </a:solidFill>
                <a:latin typeface="Consolas"/>
                <a:ea typeface="Consolas"/>
                <a:cs typeface="Consolas"/>
              </a:rPr>
              <a:t>10 / 17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2084" y="756285"/>
            <a:ext cx="6385209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肠道调控介质：LPS+细菌淀粉样+SCFA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12192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4288">
            <a:solidFill>
              <a:srgbClr val="1E3A5F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609600" y="1466850"/>
            <a:ext cx="10972800" cy="2333625"/>
          </a:xfrm>
          <a:prstGeom prst="roundRect">
            <a:avLst>
              <a:gd name="adj" fmla="val 4082"/>
            </a:avLst>
          </a:prstGeom>
          <a:solidFill>
            <a:srgbClr val="102542"/>
          </a:solidFill>
          <a:ln w="9525">
            <a:solidFill>
              <a:srgbClr val="2A4A7A"/>
            </a:solidFill>
          </a:ln>
        </p:spPr>
      </p:sp>
      <p:pic>
        <p:nvPicPr>
          <p:cNvPr id="8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4675" y="1600200"/>
            <a:ext cx="5962650" cy="2066925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678180" y="3771900"/>
            <a:ext cx="1027779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LPS与斑块共定位Zhan 2018[21]，血浆LPS 3倍Zhao 2017[22]，P. gingivalis在AD脑Dominy 2019[23]；LPS与A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78180" y="4019550"/>
            <a:ext cx="101326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β均为TLR4/CD14激动剂经MyD88→NF-κB释放IL-1β/TNF-α/IL-6上调APP/Aβ/抗菌肽形成正反馈；细菌淀粉样Cs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78180" y="4276725"/>
            <a:ext cx="988733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gA与Aβ交叉播种分子模拟；SCFA丁酸盐抗炎，AD中产丁酸菌降低；TMAO激活NLRP3；GV-971重塑菌群降苯丙</a:t>
            </a:r>
          </a:p>
        </p:txBody>
      </p:sp>
      <p:sp>
        <p:nvSpPr>
          <p:cNvPr id="12" name="Rectangle 12"/>
          <p:cNvSpPr/>
          <p:nvPr/>
        </p:nvSpPr>
        <p:spPr>
          <a:xfrm>
            <a:off x="0" y="6000750"/>
            <a:ext cx="12192000" cy="571500"/>
          </a:xfrm>
          <a:prstGeom prst="rect">
            <a:avLst/>
          </a:prstGeom>
          <a:solidFill>
            <a:srgbClr val="102542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0" y="6000750"/>
            <a:ext cx="76200" cy="571500"/>
          </a:xfrm>
          <a:prstGeom prst="rect">
            <a:avLst/>
          </a:prstGeom>
          <a:solidFill>
            <a:srgbClr val="FBBF24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78180" y="6172200"/>
            <a:ext cx="290733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LPS-TLR4是核心，SCFA是调节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0"/>
                </a:moveTo>
                <a:lnTo>
                  <a:pt x="12192000" y="0"/>
                </a:lnTo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rgbClr val="1A2F5A">
                <a:alpha val="55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678180" y="542925"/>
            <a:ext cx="189853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spc="112" dirty="0">
                <a:solidFill>
                  <a:srgbClr val="FBBF24"/>
                </a:solidFill>
                <a:latin typeface="Consolas"/>
                <a:ea typeface="Microsoft YaHei"/>
                <a:cs typeface="Consolas"/>
              </a:rPr>
              <a:t>// 11 / BBB基础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721150" y="542925"/>
            <a:ext cx="7926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8A9BB5"/>
                </a:solidFill>
                <a:latin typeface="Consolas"/>
                <a:ea typeface="Consolas"/>
                <a:cs typeface="Consolas"/>
              </a:rPr>
              <a:t>11 / 17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2084" y="756285"/>
            <a:ext cx="4025646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血脑屏障结构与转运通路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12192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4288">
            <a:solidFill>
              <a:srgbClr val="1E3A5F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609600" y="1466850"/>
            <a:ext cx="10972800" cy="2333625"/>
          </a:xfrm>
          <a:prstGeom prst="roundRect">
            <a:avLst>
              <a:gd name="adj" fmla="val 4082"/>
            </a:avLst>
          </a:prstGeom>
          <a:solidFill>
            <a:srgbClr val="102542"/>
          </a:solidFill>
          <a:ln w="9525">
            <a:solidFill>
              <a:srgbClr val="2A4A7A"/>
            </a:solidFill>
          </a:ln>
        </p:spPr>
      </p:sp>
      <p:pic>
        <p:nvPicPr>
          <p:cNvPr id="8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600" y="1600200"/>
            <a:ext cx="4124325" cy="2066925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678180" y="3771900"/>
            <a:ext cx="996905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BBB由脑微血管内皮紧密连接、基底膜、星形胶质足突构成；转运分5类：细胞旁路极受限、跨细胞亲脂扩散小分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78180" y="4019550"/>
            <a:ext cx="100163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子、载体介导、受体介导RMT（TfR、LRP1、胰岛素受体）、吸附介导AMT（阳离子与阴离子糖萼静电吸附）；B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78180" y="4276725"/>
            <a:ext cx="749410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anks 2023 Viktor Mutt讲座综述肽穿透机制：亲脂性、饱和转运、吸附转胞吞[27]</a:t>
            </a:r>
          </a:p>
        </p:txBody>
      </p:sp>
      <p:sp>
        <p:nvSpPr>
          <p:cNvPr id="12" name="Rectangle 12"/>
          <p:cNvSpPr/>
          <p:nvPr/>
        </p:nvSpPr>
        <p:spPr>
          <a:xfrm>
            <a:off x="0" y="6000750"/>
            <a:ext cx="12192000" cy="571500"/>
          </a:xfrm>
          <a:prstGeom prst="rect">
            <a:avLst/>
          </a:prstGeom>
          <a:solidFill>
            <a:srgbClr val="102542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0" y="6000750"/>
            <a:ext cx="76200" cy="571500"/>
          </a:xfrm>
          <a:prstGeom prst="rect">
            <a:avLst/>
          </a:prstGeom>
          <a:solidFill>
            <a:srgbClr val="FBBF24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78180" y="6172200"/>
            <a:ext cx="306537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RMT与AMT是抗菌肽入脑主要途径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0"/>
                </a:moveTo>
                <a:lnTo>
                  <a:pt x="12192000" y="0"/>
                </a:lnTo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rgbClr val="1A2F5A">
                <a:alpha val="55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678180" y="542925"/>
            <a:ext cx="18764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spc="112" dirty="0">
                <a:solidFill>
                  <a:srgbClr val="FBBF24"/>
                </a:solidFill>
                <a:latin typeface="Consolas"/>
                <a:ea typeface="Microsoft YaHei"/>
                <a:cs typeface="Consolas"/>
              </a:rPr>
              <a:t>// 12 / 穿透机制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721150" y="542925"/>
            <a:ext cx="7926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8A9BB5"/>
                </a:solidFill>
                <a:latin typeface="Consolas"/>
                <a:ea typeface="Consolas"/>
                <a:cs typeface="Consolas"/>
              </a:rPr>
              <a:t>12 / 17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2084" y="756285"/>
            <a:ext cx="6927952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抗菌肽穿透BBB：阳离子AMT+LRP1/RAGE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12192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4288">
            <a:solidFill>
              <a:srgbClr val="1E3A5F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685800" y="1447800"/>
            <a:ext cx="76200" cy="76200"/>
          </a:xfrm>
          <a:prstGeom prst="rect">
            <a:avLst/>
          </a:prstGeom>
          <a:solidFill>
            <a:srgbClr val="FBBF24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887730" y="1400175"/>
            <a:ext cx="103548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8BDF8"/>
                </a:solidFill>
                <a:latin typeface="Arial"/>
                <a:ea typeface="Microsoft YaHei"/>
                <a:cs typeface="Arial"/>
              </a:rPr>
              <a:t>阳离子AMT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954530" y="1400175"/>
            <a:ext cx="875880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抗菌肽+2~+9电荷与内皮阴离子硫酸乙酰肝素/唾液酸静电吸附触发吸附介导内吞，精氨酸越多穿透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954530" y="1647825"/>
            <a:ext cx="696649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越强，LL-37 37aa +6电荷符合[27,29]；Banks综述电荷是AMT关键预测因子</a:t>
            </a:r>
          </a:p>
        </p:txBody>
      </p:sp>
      <p:sp>
        <p:nvSpPr>
          <p:cNvPr id="11" name="Rectangle 11"/>
          <p:cNvSpPr/>
          <p:nvPr/>
        </p:nvSpPr>
        <p:spPr>
          <a:xfrm>
            <a:off x="685800" y="2085975"/>
            <a:ext cx="76200" cy="76200"/>
          </a:xfrm>
          <a:prstGeom prst="rect">
            <a:avLst/>
          </a:prstGeom>
          <a:solidFill>
            <a:srgbClr val="FBBF24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887730" y="2038350"/>
            <a:ext cx="8335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8BDF8"/>
                </a:solidFill>
                <a:latin typeface="Arial"/>
                <a:ea typeface="Microsoft YaHei"/>
                <a:cs typeface="Arial"/>
              </a:rPr>
              <a:t>RMT途径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73555" y="2038350"/>
            <a:ext cx="833799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Aβ经LRP1脑→血外排和RAGE血→脑内流，LRP1↓或RAGE↑致脑内蓄积[28]；抗菌肽可利用LRP1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73555" y="2286000"/>
            <a:ext cx="683521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类似配体Angiopep-2或乳铁蛋白经LRP1转运，乳铁蛋白在AD神经元胶质上调</a:t>
            </a:r>
          </a:p>
        </p:txBody>
      </p:sp>
      <p:sp>
        <p:nvSpPr>
          <p:cNvPr id="15" name="Rectangle 15"/>
          <p:cNvSpPr/>
          <p:nvPr/>
        </p:nvSpPr>
        <p:spPr>
          <a:xfrm>
            <a:off x="685800" y="2724150"/>
            <a:ext cx="76200" cy="76200"/>
          </a:xfrm>
          <a:prstGeom prst="rect">
            <a:avLst/>
          </a:prstGeom>
          <a:solidFill>
            <a:srgbClr val="FBBF24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887730" y="2676525"/>
            <a:ext cx="102489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8BDF8"/>
                </a:solidFill>
                <a:latin typeface="Arial"/>
                <a:ea typeface="Microsoft YaHei"/>
                <a:cs typeface="Arial"/>
              </a:rPr>
              <a:t>分子量亲脂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954530" y="2676525"/>
            <a:ext cx="623506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小肽&lt;5kDa更易，两亲螺旋插入脂膜形成孔道，类似抗菌机制用于穿膜</a:t>
            </a:r>
          </a:p>
        </p:txBody>
      </p:sp>
      <p:sp>
        <p:nvSpPr>
          <p:cNvPr id="18" name="Rectangle 18"/>
          <p:cNvSpPr/>
          <p:nvPr/>
        </p:nvSpPr>
        <p:spPr>
          <a:xfrm>
            <a:off x="685800" y="3105150"/>
            <a:ext cx="76200" cy="76200"/>
          </a:xfrm>
          <a:prstGeom prst="rect">
            <a:avLst/>
          </a:prstGeom>
          <a:solidFill>
            <a:srgbClr val="FBBF24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87730" y="3057525"/>
            <a:ext cx="93957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8BDF8"/>
                </a:solidFill>
                <a:latin typeface="Arial"/>
                <a:ea typeface="Microsoft YaHei"/>
                <a:cs typeface="Arial"/>
              </a:rPr>
              <a:t>病理通透↑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954530" y="3057525"/>
            <a:ext cx="854992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AD中BBB破坏claudin-5/occludin↓，LPS/炎症因子进一步↑通透，外周肽更易入脑；Braniste 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954530" y="3305175"/>
            <a:ext cx="330022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014无菌小鼠BBB通透↑，SCFA可恢复</a:t>
            </a:r>
          </a:p>
        </p:txBody>
      </p:sp>
      <p:sp>
        <p:nvSpPr>
          <p:cNvPr id="22" name="Rectangle 22"/>
          <p:cNvSpPr/>
          <p:nvPr/>
        </p:nvSpPr>
        <p:spPr>
          <a:xfrm>
            <a:off x="0" y="6000750"/>
            <a:ext cx="12192000" cy="571500"/>
          </a:xfrm>
          <a:prstGeom prst="rect">
            <a:avLst/>
          </a:prstGeom>
          <a:solidFill>
            <a:srgbClr val="102542"/>
          </a:solidFill>
          <a:ln>
            <a:noFill/>
          </a:ln>
        </p:spPr>
      </p:sp>
      <p:sp>
        <p:nvSpPr>
          <p:cNvPr id="23" name="Rectangle 23"/>
          <p:cNvSpPr/>
          <p:nvPr/>
        </p:nvSpPr>
        <p:spPr>
          <a:xfrm>
            <a:off x="0" y="6000750"/>
            <a:ext cx="76200" cy="571500"/>
          </a:xfrm>
          <a:prstGeom prst="rect">
            <a:avLst/>
          </a:prstGeom>
          <a:solidFill>
            <a:srgbClr val="FBBF24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678180" y="6172200"/>
            <a:ext cx="346923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阳离子AMT是主要，RMT是特异性补充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0"/>
                </a:moveTo>
                <a:lnTo>
                  <a:pt x="12192000" y="0"/>
                </a:lnTo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rgbClr val="1A2F5A">
                <a:alpha val="55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678180" y="542925"/>
            <a:ext cx="209345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spc="112" dirty="0">
                <a:solidFill>
                  <a:srgbClr val="FBBF24"/>
                </a:solidFill>
                <a:latin typeface="Consolas"/>
                <a:ea typeface="Microsoft YaHei"/>
                <a:cs typeface="Consolas"/>
              </a:rPr>
              <a:t>// 13 / 进入后作用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721150" y="542925"/>
            <a:ext cx="7926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8A9BB5"/>
                </a:solidFill>
                <a:latin typeface="Consolas"/>
                <a:ea typeface="Consolas"/>
                <a:cs typeface="Consolas"/>
              </a:rPr>
              <a:t>13 / 17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2084" y="756285"/>
            <a:ext cx="6001024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穿透后致病：LL-37-CLIC1神经炎症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12192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4288">
            <a:solidFill>
              <a:srgbClr val="1E3A5F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609600" y="1466850"/>
            <a:ext cx="10972800" cy="2333625"/>
          </a:xfrm>
          <a:prstGeom prst="roundRect">
            <a:avLst>
              <a:gd name="adj" fmla="val 4082"/>
            </a:avLst>
          </a:prstGeom>
          <a:solidFill>
            <a:srgbClr val="102542"/>
          </a:solidFill>
          <a:ln w="9525">
            <a:solidFill>
              <a:srgbClr val="2A4A7A"/>
            </a:solidFill>
          </a:ln>
        </p:spPr>
      </p:sp>
      <p:pic>
        <p:nvPicPr>
          <p:cNvPr id="8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7975" y="1600200"/>
            <a:ext cx="6505575" cy="2066925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678180" y="3771900"/>
            <a:ext cx="1027307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Lee 2015 Biochem Pharmacol：LL-37在人小胶质/星形胶质诱导TNF-α/IL-6释放，NF-κB核转位[13]；Chen 202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78180" y="4019550"/>
            <a:ext cx="1025363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2 Mol Psychiatry：LL-37促进CLIC1膜转位整合形成氯离子通道致小胶质过度活化ROS神经毒性，小鼠猴模型致Aβ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78180" y="4276725"/>
            <a:ext cx="990461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↑NFT↑脑萎缩侧脑室扩大突触认知受损，Clic1敲除阻断[14]；LL-37结合Aβ抑制长纤维但稳定寡聚体/异源寡聚</a:t>
            </a:r>
          </a:p>
        </p:txBody>
      </p:sp>
      <p:sp>
        <p:nvSpPr>
          <p:cNvPr id="12" name="Rectangle 12"/>
          <p:cNvSpPr/>
          <p:nvPr/>
        </p:nvSpPr>
        <p:spPr>
          <a:xfrm>
            <a:off x="0" y="6000750"/>
            <a:ext cx="12192000" cy="571500"/>
          </a:xfrm>
          <a:prstGeom prst="rect">
            <a:avLst/>
          </a:prstGeom>
          <a:solidFill>
            <a:srgbClr val="102542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0" y="6000750"/>
            <a:ext cx="76200" cy="571500"/>
          </a:xfrm>
          <a:prstGeom prst="rect">
            <a:avLst/>
          </a:prstGeom>
          <a:solidFill>
            <a:srgbClr val="FBBF24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78180" y="6172200"/>
            <a:ext cx="265061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LL-37是穿透后致病典型实例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0"/>
                </a:moveTo>
                <a:lnTo>
                  <a:pt x="12192000" y="0"/>
                </a:lnTo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rgbClr val="1A2F5A">
                <a:alpha val="55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678180" y="542925"/>
            <a:ext cx="18764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spc="112" dirty="0">
                <a:solidFill>
                  <a:srgbClr val="FBBF24"/>
                </a:solidFill>
                <a:latin typeface="Consolas"/>
                <a:ea typeface="Microsoft YaHei"/>
                <a:cs typeface="Consolas"/>
              </a:rPr>
              <a:t>// 14 / 综合模型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721150" y="542925"/>
            <a:ext cx="7926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8A9BB5"/>
                </a:solidFill>
                <a:latin typeface="Consolas"/>
                <a:ea typeface="Consolas"/>
                <a:cs typeface="Consolas"/>
              </a:rPr>
              <a:t>14 / 17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2084" y="756285"/>
            <a:ext cx="3355036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肠-血-脑轴整合模型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12192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4288">
            <a:solidFill>
              <a:srgbClr val="1E3A5F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609600" y="1466850"/>
            <a:ext cx="10972800" cy="2333625"/>
          </a:xfrm>
          <a:prstGeom prst="roundRect">
            <a:avLst>
              <a:gd name="adj" fmla="val 4082"/>
            </a:avLst>
          </a:prstGeom>
          <a:solidFill>
            <a:srgbClr val="102542"/>
          </a:solidFill>
          <a:ln w="9525">
            <a:solidFill>
              <a:srgbClr val="2A4A7A"/>
            </a:solidFill>
          </a:ln>
        </p:spPr>
      </p:sp>
      <p:pic>
        <p:nvPicPr>
          <p:cNvPr id="8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6175" y="1600200"/>
            <a:ext cx="4819650" cy="2066925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678180" y="3771900"/>
            <a:ext cx="960024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肠道菌群失调→肠屏障↑→LPS/细菌淀粉样/微生物源抗菌肽入血→BBB通透性↑（炎症因子/LPS）→抗菌肽与Aβ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78180" y="4019550"/>
            <a:ext cx="959930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经RAGE/AMT入脑→小胶质活化TLR4/NLRP3/CLIC1→释放更多Aβ/抗菌肽炎症介质→AChE-PAS促纤维化→正反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78180" y="4276725"/>
            <a:ext cx="781359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馈环→AD病理；Erny 2015菌群持续控制小胶质成熟功能，Braniste 2014 SCFA调控BBB</a:t>
            </a:r>
          </a:p>
        </p:txBody>
      </p:sp>
      <p:sp>
        <p:nvSpPr>
          <p:cNvPr id="12" name="Rectangle 12"/>
          <p:cNvSpPr/>
          <p:nvPr/>
        </p:nvSpPr>
        <p:spPr>
          <a:xfrm>
            <a:off x="0" y="6000750"/>
            <a:ext cx="12192000" cy="571500"/>
          </a:xfrm>
          <a:prstGeom prst="rect">
            <a:avLst/>
          </a:prstGeom>
          <a:solidFill>
            <a:srgbClr val="102542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0" y="6000750"/>
            <a:ext cx="76200" cy="571500"/>
          </a:xfrm>
          <a:prstGeom prst="rect">
            <a:avLst/>
          </a:prstGeom>
          <a:solidFill>
            <a:srgbClr val="FBBF24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78180" y="6172200"/>
            <a:ext cx="304419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四问题串成一条轴，解释新增提问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0"/>
                </a:moveTo>
                <a:lnTo>
                  <a:pt x="12192000" y="0"/>
                </a:lnTo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rgbClr val="1A2F5A">
                <a:alpha val="55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678180" y="542925"/>
            <a:ext cx="209345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spc="112" dirty="0">
                <a:solidFill>
                  <a:srgbClr val="FBBF24"/>
                </a:solidFill>
                <a:latin typeface="Consolas"/>
                <a:ea typeface="Microsoft YaHei"/>
                <a:cs typeface="Consolas"/>
              </a:rPr>
              <a:t>// 15 / 分级与口径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721150" y="542925"/>
            <a:ext cx="7926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8A9BB5"/>
                </a:solidFill>
                <a:latin typeface="Consolas"/>
                <a:ea typeface="Consolas"/>
                <a:cs typeface="Consolas"/>
              </a:rPr>
              <a:t>15 / 17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2084" y="756285"/>
            <a:ext cx="4025646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证据强度分级与验证路径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12192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4288">
            <a:solidFill>
              <a:srgbClr val="1E3A5F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685800" y="1447800"/>
            <a:ext cx="76200" cy="76200"/>
          </a:xfrm>
          <a:prstGeom prst="rect">
            <a:avLst/>
          </a:prstGeom>
          <a:solidFill>
            <a:srgbClr val="FBBF24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887730" y="1400175"/>
            <a:ext cx="1024394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强：Aβ抗菌活性AD脑&gt;对照可被抗体清除[6]；三模型预测83%阳性率[1,2]；Aβ经LRP1/RAGE转运失衡致蓄积[28]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87730" y="1647825"/>
            <a:ext cx="396030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；AChE经PAS促聚集propidium阻断[24,25]</a:t>
            </a:r>
          </a:p>
        </p:txBody>
      </p:sp>
      <p:sp>
        <p:nvSpPr>
          <p:cNvPr id="10" name="Rectangle 10"/>
          <p:cNvSpPr/>
          <p:nvPr/>
        </p:nvSpPr>
        <p:spPr>
          <a:xfrm>
            <a:off x="685800" y="2085975"/>
            <a:ext cx="76200" cy="76200"/>
          </a:xfrm>
          <a:prstGeom prst="rect">
            <a:avLst/>
          </a:prstGeom>
          <a:solidFill>
            <a:srgbClr val="FBBF24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887730" y="2038350"/>
            <a:ext cx="1024893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中-强：AD肠道菌群失衡促炎↑产丁酸↓[18,19]；LPS与斑块共定位血浆3倍[21,22]；P. gingivalis在AD脑[23]；L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87730" y="2286000"/>
            <a:ext cx="303980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L-37经CLIC1致AD样病理[13,14]</a:t>
            </a:r>
          </a:p>
        </p:txBody>
      </p:sp>
      <p:sp>
        <p:nvSpPr>
          <p:cNvPr id="13" name="Rectangle 13"/>
          <p:cNvSpPr/>
          <p:nvPr/>
        </p:nvSpPr>
        <p:spPr>
          <a:xfrm>
            <a:off x="685800" y="2724150"/>
            <a:ext cx="76200" cy="76200"/>
          </a:xfrm>
          <a:prstGeom prst="rect">
            <a:avLst/>
          </a:prstGeom>
          <a:solidFill>
            <a:srgbClr val="FBBF24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887730" y="2676525"/>
            <a:ext cx="1038853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中：抗菌肽经AMT穿透BBB阳离子关键[27,29]；肠道菌群调控BBB通透性SCFA[31,32]；LL-37与Aβ纳摩尔结合[15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87730" y="2924175"/>
            <a:ext cx="45948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Arial"/>
                <a:cs typeface="Arial"/>
              </a:rPr>
              <a:t>,16]</a:t>
            </a:r>
          </a:p>
        </p:txBody>
      </p:sp>
      <p:sp>
        <p:nvSpPr>
          <p:cNvPr id="16" name="Rectangle 16"/>
          <p:cNvSpPr/>
          <p:nvPr/>
        </p:nvSpPr>
        <p:spPr>
          <a:xfrm>
            <a:off x="685800" y="3352800"/>
            <a:ext cx="76200" cy="76200"/>
          </a:xfrm>
          <a:prstGeom prst="rect">
            <a:avLst/>
          </a:prstGeom>
          <a:solidFill>
            <a:srgbClr val="FBBF24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887730" y="3305175"/>
            <a:ext cx="997991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待验证：微生物源抗菌肽随AD阶段变化（本课题五阶段比较）；候选肽经BBB入脑致病H1-H3（本课题对接+MD+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87730" y="3562350"/>
            <a:ext cx="14287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细胞炎症检测）</a:t>
            </a:r>
          </a:p>
        </p:txBody>
      </p:sp>
      <p:sp>
        <p:nvSpPr>
          <p:cNvPr id="19" name="Rectangle 19"/>
          <p:cNvSpPr/>
          <p:nvPr/>
        </p:nvSpPr>
        <p:spPr>
          <a:xfrm>
            <a:off x="685800" y="3990975"/>
            <a:ext cx="76200" cy="76200"/>
          </a:xfrm>
          <a:prstGeom prst="rect">
            <a:avLst/>
          </a:prstGeom>
          <a:solidFill>
            <a:srgbClr val="FBBF24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887730" y="3943350"/>
            <a:ext cx="1000791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口径：计算方法强调三模型共识是主流阳性率&gt;80%已被验证；结合机制先讲Aβ本身抗菌生理再讲宿主AMP参照最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87730" y="4200525"/>
            <a:ext cx="1010183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后落到微生物源新层面；肠道调控用LPS-TLR4正反馈环避免直接因果；BBB穿透用AMT+RMT解释可行性LL-37-C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87730" y="4448175"/>
            <a:ext cx="103708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LIC1作实例</a:t>
            </a:r>
          </a:p>
        </p:txBody>
      </p:sp>
      <p:sp>
        <p:nvSpPr>
          <p:cNvPr id="23" name="Rectangle 23"/>
          <p:cNvSpPr/>
          <p:nvPr/>
        </p:nvSpPr>
        <p:spPr>
          <a:xfrm>
            <a:off x="0" y="6000750"/>
            <a:ext cx="12192000" cy="571500"/>
          </a:xfrm>
          <a:prstGeom prst="rect">
            <a:avLst/>
          </a:prstGeom>
          <a:solidFill>
            <a:srgbClr val="102542"/>
          </a:solidFill>
          <a:ln>
            <a:noFill/>
          </a:ln>
        </p:spPr>
      </p:sp>
      <p:sp>
        <p:nvSpPr>
          <p:cNvPr id="24" name="Rectangle 24"/>
          <p:cNvSpPr/>
          <p:nvPr/>
        </p:nvSpPr>
        <p:spPr>
          <a:xfrm>
            <a:off x="0" y="6000750"/>
            <a:ext cx="76200" cy="571500"/>
          </a:xfrm>
          <a:prstGeom prst="rect">
            <a:avLst/>
          </a:prstGeom>
          <a:solidFill>
            <a:srgbClr val="FBBF24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678180" y="6172200"/>
            <a:ext cx="24384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待验证两项即本课题要回答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0"/>
                </a:moveTo>
                <a:lnTo>
                  <a:pt x="12192000" y="0"/>
                </a:lnTo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rgbClr val="1A2F5A">
                <a:alpha val="55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678180" y="542925"/>
            <a:ext cx="144243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spc="112" dirty="0">
                <a:solidFill>
                  <a:srgbClr val="FBBF24"/>
                </a:solidFill>
                <a:latin typeface="Consolas"/>
                <a:ea typeface="Microsoft YaHei"/>
                <a:cs typeface="Consolas"/>
              </a:rPr>
              <a:t>// 16 / 总结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721150" y="542925"/>
            <a:ext cx="7926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8A9BB5"/>
                </a:solidFill>
                <a:latin typeface="Consolas"/>
                <a:ea typeface="Consolas"/>
                <a:cs typeface="Consolas"/>
              </a:rPr>
              <a:t>16 / 17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2084" y="756285"/>
            <a:ext cx="3508604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总结：4问串联与后续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12192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4288">
            <a:solidFill>
              <a:srgbClr val="1E3A5F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685800" y="1600200"/>
            <a:ext cx="57150" cy="628650"/>
          </a:xfrm>
          <a:prstGeom prst="rect">
            <a:avLst/>
          </a:prstGeom>
          <a:solidFill>
            <a:srgbClr val="FBBF24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887730" y="1685925"/>
            <a:ext cx="8229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计算方法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87730" y="1895475"/>
            <a:ext cx="1010074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Ma 2022 1085正/58776负LSTM+Attention+BERT 2349→216→181 83%+体内；Santos 2024 86万肽100→79活性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87730" y="2143125"/>
            <a:ext cx="44778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；本课题三模型共识+宏蛋白组去重+抑菌实验验证</a:t>
            </a:r>
          </a:p>
        </p:txBody>
      </p:sp>
      <p:sp>
        <p:nvSpPr>
          <p:cNvPr id="11" name="Rectangle 11"/>
          <p:cNvSpPr/>
          <p:nvPr/>
        </p:nvSpPr>
        <p:spPr>
          <a:xfrm>
            <a:off x="685800" y="2362200"/>
            <a:ext cx="57150" cy="628650"/>
          </a:xfrm>
          <a:prstGeom prst="rect">
            <a:avLst/>
          </a:prstGeom>
          <a:solidFill>
            <a:srgbClr val="38BDF8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887730" y="2447925"/>
            <a:ext cx="66553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AD结合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87730" y="2657475"/>
            <a:ext cx="1024171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Aβ本身抗菌AD脑&gt;对照抗体清除[6]；LL-37纳摩尔结合Aβ抑制纤维但稳定寡聚体[15,16]；AChE-PAS成核中心pro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87730" y="2905125"/>
            <a:ext cx="55512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pidium 75%[24] Site I Kd184μM[25] 344-361第二界面[26]</a:t>
            </a:r>
          </a:p>
        </p:txBody>
      </p:sp>
      <p:sp>
        <p:nvSpPr>
          <p:cNvPr id="15" name="Rectangle 15"/>
          <p:cNvSpPr/>
          <p:nvPr/>
        </p:nvSpPr>
        <p:spPr>
          <a:xfrm>
            <a:off x="685800" y="3124200"/>
            <a:ext cx="57150" cy="628650"/>
          </a:xfrm>
          <a:prstGeom prst="rect">
            <a:avLst/>
          </a:prstGeom>
          <a:solidFill>
            <a:srgbClr val="FBBF24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887730" y="3209925"/>
            <a:ext cx="8229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肠道调控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87730" y="3419475"/>
            <a:ext cx="986618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菌群失调促炎↑产丁酸↓[18,19]→LPS 3倍与斑块共定位[21,22]→TLR4/MyD88/NF-κB→Aβ/抗菌肽↑→细菌淀粉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87730" y="3667125"/>
            <a:ext cx="360635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样交叉播种→SCFA/TMAO调节→正反馈环</a:t>
            </a:r>
          </a:p>
        </p:txBody>
      </p:sp>
      <p:sp>
        <p:nvSpPr>
          <p:cNvPr id="19" name="Rectangle 19"/>
          <p:cNvSpPr/>
          <p:nvPr/>
        </p:nvSpPr>
        <p:spPr>
          <a:xfrm>
            <a:off x="685800" y="3886200"/>
            <a:ext cx="57150" cy="628650"/>
          </a:xfrm>
          <a:prstGeom prst="rect">
            <a:avLst/>
          </a:prstGeom>
          <a:solidFill>
            <a:srgbClr val="38BDF8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887730" y="3971925"/>
            <a:ext cx="7887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BBB穿透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87730" y="4181475"/>
            <a:ext cx="102639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BBB 5类转运RMT/AMT[27-30]；抗菌肽阳离子+2~+9利于AMT精氨酸越多越强[27]；LRP1外排RAGE内流失衡致蓄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87730" y="4429125"/>
            <a:ext cx="827718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积[28]；LL-37经CLIC1致小胶质活化Aβ↑NFT↑脑萎缩[13,14]；病理BBB通透↑外周更易入脑</a:t>
            </a:r>
          </a:p>
        </p:txBody>
      </p:sp>
      <p:sp>
        <p:nvSpPr>
          <p:cNvPr id="23" name="Rectangle 23"/>
          <p:cNvSpPr/>
          <p:nvPr/>
        </p:nvSpPr>
        <p:spPr>
          <a:xfrm>
            <a:off x="685800" y="4648200"/>
            <a:ext cx="57150" cy="628650"/>
          </a:xfrm>
          <a:prstGeom prst="rect">
            <a:avLst/>
          </a:prstGeom>
          <a:solidFill>
            <a:srgbClr val="FBBF24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887730" y="4733925"/>
            <a:ext cx="4191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整合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87730" y="4943475"/>
            <a:ext cx="922760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肠-血-脑轴：肠失调→LPS/抗菌肽入血→BBB↑→入脑→小胶质活化→Aβ/抗菌肽↑→AChE-PAS纤维化→循环；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87730" y="5191125"/>
            <a:ext cx="476154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1DCE8"/>
                </a:solidFill>
                <a:latin typeface="Arial"/>
                <a:ea typeface="Microsoft YaHei"/>
                <a:cs typeface="Arial"/>
              </a:rPr>
              <a:t>本课题五阶段比较+对接MD+炎症检测验证待验证两项</a:t>
            </a:r>
          </a:p>
        </p:txBody>
      </p:sp>
      <p:sp>
        <p:nvSpPr>
          <p:cNvPr id="27" name="Rectangle 27"/>
          <p:cNvSpPr/>
          <p:nvPr/>
        </p:nvSpPr>
        <p:spPr>
          <a:xfrm>
            <a:off x="0" y="6000750"/>
            <a:ext cx="12192000" cy="571500"/>
          </a:xfrm>
          <a:prstGeom prst="rect">
            <a:avLst/>
          </a:prstGeom>
          <a:solidFill>
            <a:srgbClr val="102542"/>
          </a:solidFill>
          <a:ln>
            <a:noFill/>
          </a:ln>
        </p:spPr>
      </p:sp>
      <p:sp>
        <p:nvSpPr>
          <p:cNvPr id="28" name="Rectangle 28"/>
          <p:cNvSpPr/>
          <p:nvPr/>
        </p:nvSpPr>
        <p:spPr>
          <a:xfrm>
            <a:off x="0" y="6000750"/>
            <a:ext cx="76200" cy="571500"/>
          </a:xfrm>
          <a:prstGeom prst="rect">
            <a:avLst/>
          </a:prstGeom>
          <a:solidFill>
            <a:srgbClr val="FBBF24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678180" y="6172200"/>
            <a:ext cx="527570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定位线索发现与假设提出，用H1-H3加验证路径说明下一步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FBBF24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69036" y="2310765"/>
            <a:ext cx="4475988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恳请各位老师批评指正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74370" y="3090862"/>
            <a:ext cx="931545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BBF24"/>
                </a:solidFill>
                <a:latin typeface="Arial"/>
                <a:ea typeface="Microsoft YaHei"/>
                <a:cs typeface="Arial"/>
              </a:rPr>
              <a:t>谢谢！</a:t>
            </a:r>
          </a:p>
        </p:txBody>
      </p:sp>
      <p:sp>
        <p:nvSpPr>
          <p:cNvPr id="5" name="Line 5"/>
          <p:cNvSpPr/>
          <p:nvPr/>
        </p:nvSpPr>
        <p:spPr>
          <a:xfrm>
            <a:off x="685800" y="3905250"/>
            <a:ext cx="2095500" cy="9525"/>
          </a:xfrm>
          <a:custGeom>
            <a:avLst/>
            <a:gdLst/>
            <a:ahLst/>
            <a:cxnLst/>
            <a:rect l="l" t="t" r="r" b="b"/>
            <a:pathLst>
              <a:path w="2095500" h="9525">
                <a:moveTo>
                  <a:pt x="0" y="0"/>
                </a:moveTo>
                <a:lnTo>
                  <a:pt x="2095500" y="0"/>
                </a:lnTo>
              </a:path>
            </a:pathLst>
          </a:custGeom>
          <a:noFill/>
          <a:ln w="28575">
            <a:solidFill>
              <a:srgbClr val="FBBF24"/>
            </a:solidFill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svgproj_bbb_M">
  <a:themeElements>
    <a:clrScheme name="svgproj_bbb_M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vgproj_bbb_M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vgproj_bbb_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svgproj_bbb_M">
  <a:themeElements>
    <a:clrScheme name="svgproj_bbb_M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vgproj_bbb_M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vgproj_bbb_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2026-09-21T02:49:25Z</dcterms:created>
  <dcterms:modified xsi:type="dcterms:W3CDTF">2026-09-21T02:49:25Z</dcterms:modified>
  <cp:category/>
  <cp:contentStatus/>
</cp:coreProperties>
</file>