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研究背景分三点：AD 与肠道微生物组的关系已有较多证据；微生物基因组编码的抗菌肽是可能的效应分子；现有研究缺少面向 AD 人群并按认知阶段分层的分析。由此提出本次研究的切入点。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整体研究分四层：数据与序列、预测、统计与表达、功能。前三层已完成，第四层正在进行，这也是本次中期检查要重点汇报的完成度。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队列按认知功能分五个阶段：NC、SCS、SCD、MCI 与 AD，样本的临床分组信息与测序数据一一对应，为后续的分阶段差异分析提供可比的基础。</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这一页是整体路线：前五项，也就是数据、短肽库、预测、分阶段差异和宏蛋白组去重，已经全部完成；后两项机制关联分析和抑菌实验验证正在推进。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三个模型分别预测，只有三者一致判为阳性的序列才纳入候选集合。这样处理的目的是降低单一模型带来的假阳性，提高候选集合的可信度；这一步已经完成。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差异分析按认知阶段分组，比较各阶段与健康人群之间候选抗菌肽的丰度与组成差异，得到一批随病程变化明显的候选抗菌肽，作为后续筛选的输入。这一步也已完成。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在序列去冗余的基础上，引入宏蛋白组的表达证据做二次去重，只保留在蛋白层面真实存在、可检出的抗菌肽；再按组内共有、组间特比较，得到健康人群特有与各疾病阶段特有的抗菌肽清单。这一步已完成。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机制关联参照乙酰胆碱酯酶—β-淀粉样肽复合物分子模拟研究的思路，从三个方向考察：与 Aβ 的相互作用及其对聚集的影响、与 AChE 外周阴离子位点结合从而干扰成核的可能性，以及经免疫与炎症通路参与神经炎症的可能性。这部分把结论定位为线索发现，不夸大因果。</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抑菌实验验证选取有代表性的候选抗菌肽进行人工合成，以大肠杆菌与金黄色葡萄球菌作为指示菌，先用纸片扩散法观察抑菌圈做初筛，再用微量肉汤稀释法测定最低抑菌浓度，并设置阳性对照与阴性对照。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进度上，前五项已经全部完成，当前集中在机制关联分析与抑菌实验验证两件事上，论文撰写同步推进，整体进度与开题安排一致。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目前识别出三个问题：预测假阳性、部分样本缺少参考基因组、机制关联证据强度有限。三者都有对应处理办法，不影响整体进度。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后续收尾分三块：机制关联分析、抑菌实验验证，以及结果整理与论文撰写。这些工作以已完成的数据与分析流程为基础，不再涉及大规模数据生产。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可复用的分析流程、特有抗菌肽清单、机制关联与抑菌活性结果，以及投稿论文与学位论文。同时说明现阶段的边界：机制关联是计算预测、抑菌实验只覆盖代表性候选肽、阶段划分依据队列既有标签，这些限定会在论文中写清楚。</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总结一下：主体分析工作已经在中期完成，剩余是机制关联的结论整理、抑菌实验验证和论文撰写，整体风险可控。我的汇报到此结束，请各位老师批评指正。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a:t>
            </a:r>
          </a:p>
          <a:p>
            <a:pPr algn="l">
              <a:lnSpc>
                <a:spcPct val="134000"/>
              </a:lnSpc>
              <a:spcBef>
                <a:spcPts val="1400"/>
              </a:spcBef>
              <a:spcAft>
                <a:spcPts val="0"/>
              </a:spcAft>
            </a:pPr>
            <a:r>
              <a:rPr sz="1800" b="0">
                <a:solidFill>
                  <a:srgbClr val="333333"/>
                </a:solidFill>
                <a:latin typeface="Arial"/>
                <a:ea typeface="微软雅黑"/>
                <a:cs typeface="Arial"/>
              </a:rPr>
              <a:t>现有抗菌肽研究多基于通用训练集与宿主来源序列，缺少面向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两个约束条件：</a:t>
            </a:r>
          </a:p>
          <a:p>
            <a:pPr algn="l">
              <a:lnSpc>
                <a:spcPct val="130000"/>
              </a:lnSpc>
              <a:spcBef>
                <a:spcPts val="1200"/>
              </a:spcBef>
              <a:spcAft>
                <a:spcPts val="0"/>
              </a:spcAft>
            </a:pPr>
            <a:r>
              <a:rPr sz="1600" b="0">
                <a:solidFill>
                  <a:srgbClr val="777777"/>
                </a:solidFill>
                <a:latin typeface="Arial"/>
                <a:ea typeface="微软雅黑"/>
                <a:cs typeface="Arial"/>
              </a:rPr>
              <a:t>① 计算预测必须有多模型与表达层面的相互印证；</a:t>
            </a:r>
          </a:p>
          <a:p>
            <a:pPr algn="l">
              <a:lnSpc>
                <a:spcPct val="130000"/>
              </a:lnSpc>
              <a:spcBef>
                <a:spcPts val="1200"/>
              </a:spcBef>
              <a:spcAft>
                <a:spcPts val="0"/>
              </a:spcAft>
            </a:pPr>
            <a:r>
              <a:rPr sz="1600" b="0">
                <a:solidFill>
                  <a:srgbClr val="777777"/>
                </a:solidFill>
                <a:latin typeface="Arial"/>
                <a:ea typeface="微软雅黑"/>
                <a:cs typeface="Arial"/>
              </a:rPr>
              <a:t>② 验证手段要在常规实验室条件下可完成。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数据与序列层：全队列宏基因组数据统一处理，构建微生物源短肽库并保留来源可追溯信息。</a:t>
            </a:r>
          </a:p>
          <a:p>
            <a:pPr algn="l">
              <a:lnSpc>
                <a:spcPct val="134000"/>
              </a:lnSpc>
              <a:spcBef>
                <a:spcPts val="1400"/>
              </a:spcBef>
              <a:spcAft>
                <a:spcPts val="0"/>
              </a:spcAft>
            </a:pPr>
            <a:r>
              <a:rPr sz="1800" b="0">
                <a:solidFill>
                  <a:srgbClr val="333333"/>
                </a:solidFill>
                <a:latin typeface="Arial"/>
                <a:ea typeface="微软雅黑"/>
                <a:cs typeface="Arial"/>
              </a:rPr>
              <a:t>预测层：三类深度学习模型独立预测，取一致阳性序列构成候选抗菌肽集合。</a:t>
            </a:r>
          </a:p>
          <a:p>
            <a:pPr algn="l">
              <a:lnSpc>
                <a:spcPct val="134000"/>
              </a:lnSpc>
              <a:spcBef>
                <a:spcPts val="1400"/>
              </a:spcBef>
              <a:spcAft>
                <a:spcPts val="0"/>
              </a:spcAft>
            </a:pPr>
            <a:r>
              <a:rPr sz="1800" b="0">
                <a:solidFill>
                  <a:srgbClr val="333333"/>
                </a:solidFill>
                <a:latin typeface="Arial"/>
                <a:ea typeface="微软雅黑"/>
                <a:cs typeface="Arial"/>
              </a:rPr>
              <a:t>统计与表达层：按认知阶段比较差异，并以宏蛋白组表达证据二次去重，筛选健康人群特有与各阶段特有抗菌肽。</a:t>
            </a:r>
          </a:p>
          <a:p>
            <a:pPr algn="l">
              <a:lnSpc>
                <a:spcPct val="134000"/>
              </a:lnSpc>
              <a:spcBef>
                <a:spcPts val="1400"/>
              </a:spcBef>
              <a:spcAft>
                <a:spcPts val="0"/>
              </a:spcAft>
            </a:pPr>
            <a:r>
              <a:rPr sz="1800" b="0">
                <a:solidFill>
                  <a:srgbClr val="333333"/>
                </a:solidFill>
                <a:latin typeface="Arial"/>
                <a:ea typeface="微软雅黑"/>
                <a:cs typeface="Arial"/>
              </a:rPr>
              <a:t>功能层：对特有抗菌肽开展发病机制关联分析与抑菌实验验证。</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当前状态：</a:t>
            </a:r>
          </a:p>
          <a:p>
            <a:pPr algn="l">
              <a:lnSpc>
                <a:spcPct val="130000"/>
              </a:lnSpc>
              <a:spcBef>
                <a:spcPts val="1200"/>
              </a:spcBef>
              <a:spcAft>
                <a:spcPts val="0"/>
              </a:spcAft>
            </a:pPr>
            <a:r>
              <a:rPr sz="1600" b="0">
                <a:solidFill>
                  <a:srgbClr val="777777"/>
                </a:solidFill>
                <a:latin typeface="Arial"/>
                <a:ea typeface="微软雅黑"/>
                <a:cs typeface="Arial"/>
              </a:rPr>
              <a:t>前四层中的前三层已完成，功能层正在实施；</a:t>
            </a:r>
          </a:p>
          <a:p>
            <a:pPr algn="l">
              <a:lnSpc>
                <a:spcPct val="130000"/>
              </a:lnSpc>
              <a:spcBef>
                <a:spcPts val="1200"/>
              </a:spcBef>
              <a:spcAft>
                <a:spcPts val="0"/>
              </a:spcAft>
            </a:pPr>
            <a:r>
              <a:rPr sz="1600" b="0">
                <a:solidFill>
                  <a:srgbClr val="777777"/>
                </a:solidFill>
                <a:latin typeface="Arial"/>
                <a:ea typeface="微软雅黑"/>
                <a:cs typeface="Arial"/>
              </a:rPr>
              <a:t>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队列按认知功能分阶段，样本与元数据一一对应</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26464"/>
            <a:ext cx="10424160" cy="1097280"/>
          </a:xfrm>
          <a:prstGeom prst="rect">
            <a:avLst/>
          </a:prstGeom>
          <a:noFill/>
        </p:spPr>
        <p:txBody>
          <a:bodyPr wrap="square" anchor="t" lIns="27432" rIns="27432" tIns="0" bIns="0">
            <a:spAutoFit/>
          </a:bodyPr>
          <a:lstStyle/>
          <a:p>
            <a:pPr algn="l">
              <a:lnSpc>
                <a:spcPct val="132000"/>
              </a:lnSpc>
              <a:spcBef>
                <a:spcPts val="0"/>
              </a:spcBef>
              <a:spcAft>
                <a:spcPts val="0"/>
              </a:spcAft>
            </a:pPr>
            <a:r>
              <a:rPr sz="1900" b="0">
                <a:solidFill>
                  <a:srgbClr val="333333"/>
                </a:solidFill>
                <a:latin typeface="Arial"/>
                <a:ea typeface="微软雅黑"/>
                <a:cs typeface="Arial"/>
              </a:rPr>
              <a:t>以公开宏基因组队列为对象，按认知功能与临床诊断把样本分为五个阶段，用于比较候选抗菌肽在病程中的变化。</a:t>
            </a:r>
          </a:p>
        </p:txBody>
      </p:sp>
      <p:sp>
        <p:nvSpPr>
          <p:cNvPr id="5" name="Rectangle 4"/>
          <p:cNvSpPr/>
          <p:nvPr/>
        </p:nvSpPr>
        <p:spPr>
          <a:xfrm>
            <a:off x="640080"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NC</a:t>
            </a:r>
          </a:p>
          <a:p>
            <a:pPr algn="l">
              <a:lnSpc>
                <a:spcPct val="120000"/>
              </a:lnSpc>
              <a:spcBef>
                <a:spcPts val="400"/>
              </a:spcBef>
              <a:spcAft>
                <a:spcPts val="0"/>
              </a:spcAft>
            </a:pPr>
            <a:r>
              <a:rPr sz="1500" b="0">
                <a:solidFill>
                  <a:srgbClr val="777777"/>
                </a:solidFill>
                <a:latin typeface="Arial"/>
                <a:ea typeface="微软雅黑"/>
                <a:cs typeface="Arial"/>
              </a:rPr>
              <a:t>认知正常对照</a:t>
            </a:r>
          </a:p>
        </p:txBody>
      </p:sp>
      <p:sp>
        <p:nvSpPr>
          <p:cNvPr id="7" name="Rectangle 6"/>
          <p:cNvSpPr/>
          <p:nvPr/>
        </p:nvSpPr>
        <p:spPr>
          <a:xfrm>
            <a:off x="286572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6572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SCS</a:t>
            </a:r>
          </a:p>
          <a:p>
            <a:pPr algn="l">
              <a:lnSpc>
                <a:spcPct val="120000"/>
              </a:lnSpc>
              <a:spcBef>
                <a:spcPts val="400"/>
              </a:spcBef>
              <a:spcAft>
                <a:spcPts val="0"/>
              </a:spcAft>
            </a:pPr>
            <a:r>
              <a:rPr sz="1500" b="0">
                <a:solidFill>
                  <a:srgbClr val="777777"/>
                </a:solidFill>
                <a:latin typeface="Arial"/>
                <a:ea typeface="微软雅黑"/>
                <a:cs typeface="Arial"/>
              </a:rPr>
              <a:t>主观认知下降</a:t>
            </a:r>
          </a:p>
        </p:txBody>
      </p:sp>
      <p:sp>
        <p:nvSpPr>
          <p:cNvPr id="9" name="Rectangle 8"/>
          <p:cNvSpPr/>
          <p:nvPr/>
        </p:nvSpPr>
        <p:spPr>
          <a:xfrm>
            <a:off x="509137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9137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SCD</a:t>
            </a:r>
          </a:p>
          <a:p>
            <a:pPr algn="l">
              <a:lnSpc>
                <a:spcPct val="120000"/>
              </a:lnSpc>
              <a:spcBef>
                <a:spcPts val="400"/>
              </a:spcBef>
              <a:spcAft>
                <a:spcPts val="0"/>
              </a:spcAft>
            </a:pPr>
            <a:r>
              <a:rPr sz="1500" b="0">
                <a:solidFill>
                  <a:srgbClr val="777777"/>
                </a:solidFill>
                <a:latin typeface="Arial"/>
                <a:ea typeface="微软雅黑"/>
                <a:cs typeface="Arial"/>
              </a:rPr>
              <a:t>可疑认知障碍</a:t>
            </a:r>
          </a:p>
        </p:txBody>
      </p:sp>
      <p:sp>
        <p:nvSpPr>
          <p:cNvPr id="11" name="Rectangle 10"/>
          <p:cNvSpPr/>
          <p:nvPr/>
        </p:nvSpPr>
        <p:spPr>
          <a:xfrm>
            <a:off x="7317028"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702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MCI</a:t>
            </a:r>
          </a:p>
          <a:p>
            <a:pPr algn="l">
              <a:lnSpc>
                <a:spcPct val="120000"/>
              </a:lnSpc>
              <a:spcBef>
                <a:spcPts val="400"/>
              </a:spcBef>
              <a:spcAft>
                <a:spcPts val="0"/>
              </a:spcAft>
            </a:pPr>
            <a:r>
              <a:rPr sz="1500" b="0">
                <a:solidFill>
                  <a:srgbClr val="777777"/>
                </a:solidFill>
                <a:latin typeface="Arial"/>
                <a:ea typeface="微软雅黑"/>
                <a:cs typeface="Arial"/>
              </a:rPr>
              <a:t>轻度认知障碍</a:t>
            </a:r>
          </a:p>
        </p:txBody>
      </p:sp>
      <p:sp>
        <p:nvSpPr>
          <p:cNvPr id="13" name="Rectangle 12"/>
          <p:cNvSpPr/>
          <p:nvPr/>
        </p:nvSpPr>
        <p:spPr>
          <a:xfrm>
            <a:off x="9542678" y="3017520"/>
            <a:ext cx="2006193"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4267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AD</a:t>
            </a:r>
          </a:p>
          <a:p>
            <a:pPr algn="l">
              <a:lnSpc>
                <a:spcPct val="120000"/>
              </a:lnSpc>
              <a:spcBef>
                <a:spcPts val="400"/>
              </a:spcBef>
              <a:spcAft>
                <a:spcPts val="0"/>
              </a:spcAft>
            </a:pPr>
            <a:r>
              <a:rPr sz="1500" b="0">
                <a:solidFill>
                  <a:srgbClr val="777777"/>
                </a:solidFill>
                <a:latin typeface="Arial"/>
                <a:ea typeface="微软雅黑"/>
                <a:cs typeface="Arial"/>
              </a:rPr>
              <a:t>阿尔茨海默症</a:t>
            </a:r>
          </a:p>
        </p:txBody>
      </p:sp>
      <p:sp>
        <p:nvSpPr>
          <p:cNvPr id="15" name="Rectangle 14"/>
          <p:cNvSpPr/>
          <p:nvPr/>
        </p:nvSpPr>
        <p:spPr>
          <a:xfrm>
            <a:off x="640080" y="444398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663440"/>
            <a:ext cx="10424160" cy="100584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333333"/>
                </a:solidFill>
                <a:latin typeface="Arial"/>
                <a:ea typeface="微软雅黑"/>
                <a:cs typeface="Arial"/>
              </a:rPr>
              <a:t>分析口径：全部样本使用同一套处理流程与参数，分组信息与测序数据一一对应。</a:t>
            </a:r>
          </a:p>
        </p:txBody>
      </p:sp>
      <p:sp>
        <p:nvSpPr>
          <p:cNvPr id="17" name="TextBox 1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8" name="TextBox 1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研究路线：前五项已完成，后两项正在推进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数据资源与参考集、短肽库、三模型共识预测、分阶段差异分析、宏蛋白组二次去重五项已完成；机制关联分析与抑菌实验验证两项正在推进。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三模型一致阳性的序列才纳入候选集合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三个模型相互独立地给出抗菌肽概率；只有三者一致判为阳性的序列才进入候选集合，以此降低单一模型的偏倚。该步骤已完成，候选名单已产出。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分阶段比较给出随病程变化的候选抗菌肽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按认知阶段分组比较候选抗菌肽的丰度与组成差异，筛选随病程变化明显的候选抗菌肽。</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序列层面去冗余解决重复；宏蛋白组表达证据解决“有预测、无表达”的假阳性。二次去重后按组内共有、组间特比较，得到健康人群特有与各疾病阶段特有的抗菌肽清单。</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机制关联从 Aβ、AChE 与炎症通路三个方向展开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借鉴乙酰胆碱酯酶—β-淀粉样肽复合物分子模拟研究的思路：考察候选肽与 Aβ 的相互作用、与 AChE 外周阴离子位点的结合，以及经免疫与炎症通路参与神经炎症的可能性。定位为线索发现。</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抑菌实验验证给出候选抗菌肽活性的直接证据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F_抑菌实验方案.png"/>
          <p:cNvPicPr>
            <a:picLocks noChangeAspect="1"/>
          </p:cNvPicPr>
          <p:nvPr/>
        </p:nvPicPr>
        <p:blipFill>
          <a:blip r:embed="rId2"/>
          <a:stretch>
            <a:fillRect/>
          </a:stretch>
        </p:blipFill>
        <p:spPr>
          <a:xfrm>
            <a:off x="640080" y="1188720"/>
            <a:ext cx="10908792" cy="3466999"/>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人工合成代表性候选肽，以大肠杆菌与金黄色葡萄球菌为指示菌，纸片扩散法初筛，微量肉汤稀释法测最低抑菌浓度。</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进度与开题计划一致：主体分析完成，进入验证与撰写阶段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G_进度甘特.png"/>
          <p:cNvPicPr>
            <a:picLocks noChangeAspect="1"/>
          </p:cNvPicPr>
          <p:nvPr/>
        </p:nvPicPr>
        <p:blipFill>
          <a:blip r:embed="rId2"/>
          <a:stretch>
            <a:fillRect/>
          </a:stretch>
        </p:blipFill>
        <p:spPr>
          <a:xfrm>
            <a:off x="640080" y="1188720"/>
            <a:ext cx="10908792" cy="3806089"/>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数据资源、短肽库、三模型共识预测、分阶段差异分析与宏蛋白组二次去重均已完成；机制关联分析与抑菌实验验证正在推进，论文撰写同步进行。</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已完成全队列数据处理与参考集构建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模型方案</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拟构建 DeepMetaAMP</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改用 Attention / LSTM / BERT 三模型协同预测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正在开展机制关联分析与抑菌实验验证</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三个已识别问题都有对应处理办法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63040"/>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预测结果的假阳性风险</a:t>
            </a:r>
          </a:p>
          <a:p>
            <a:pPr algn="l">
              <a:lnSpc>
                <a:spcPct val="126000"/>
              </a:lnSpc>
              <a:spcBef>
                <a:spcPts val="400"/>
              </a:spcBef>
              <a:spcAft>
                <a:spcPts val="0"/>
              </a:spcAft>
            </a:pPr>
            <a:r>
              <a:rPr sz="1600" b="0">
                <a:solidFill>
                  <a:srgbClr val="333333"/>
                </a:solidFill>
                <a:latin typeface="Arial"/>
                <a:ea typeface="微软雅黑"/>
                <a:cs typeface="Arial"/>
              </a:rPr>
              <a:t>以三模型共识判定提高候选集合可信度，再用宏蛋白组表达证据二次去重，最后以抑菌实验验证活性。</a:t>
            </a:r>
          </a:p>
        </p:txBody>
      </p:sp>
      <p:sp>
        <p:nvSpPr>
          <p:cNvPr id="6" name="Rectangle 5"/>
          <p:cNvSpPr/>
          <p:nvPr/>
        </p:nvSpPr>
        <p:spPr>
          <a:xfrm>
            <a:off x="640080" y="2633472"/>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944368"/>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944368"/>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部分样本缺少可用的参考基因组</a:t>
            </a:r>
          </a:p>
          <a:p>
            <a:pPr algn="l">
              <a:lnSpc>
                <a:spcPct val="126000"/>
              </a:lnSpc>
              <a:spcBef>
                <a:spcPts val="400"/>
              </a:spcBef>
              <a:spcAft>
                <a:spcPts val="0"/>
              </a:spcAft>
            </a:pPr>
            <a:r>
              <a:rPr sz="1600" b="0">
                <a:solidFill>
                  <a:srgbClr val="333333"/>
                </a:solidFill>
                <a:latin typeface="Arial"/>
                <a:ea typeface="微软雅黑"/>
                <a:cs typeface="Arial"/>
              </a:rPr>
              <a:t>在丰度分析阶段改用全量基因组回填，恢复样本覆盖，并在结果中说明数据处理口径。</a:t>
            </a:r>
          </a:p>
        </p:txBody>
      </p:sp>
      <p:sp>
        <p:nvSpPr>
          <p:cNvPr id="9" name="Rectangle 8"/>
          <p:cNvSpPr/>
          <p:nvPr/>
        </p:nvSpPr>
        <p:spPr>
          <a:xfrm>
            <a:off x="640080" y="41148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425696"/>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4425696"/>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机制关联的证据强度有限</a:t>
            </a:r>
          </a:p>
          <a:p>
            <a:pPr algn="l">
              <a:lnSpc>
                <a:spcPct val="126000"/>
              </a:lnSpc>
              <a:spcBef>
                <a:spcPts val="400"/>
              </a:spcBef>
              <a:spcAft>
                <a:spcPts val="0"/>
              </a:spcAft>
            </a:pPr>
            <a:r>
              <a:rPr sz="1600" b="0">
                <a:solidFill>
                  <a:srgbClr val="333333"/>
                </a:solidFill>
                <a:latin typeface="Arial"/>
                <a:ea typeface="微软雅黑"/>
                <a:cs typeface="Arial"/>
              </a:rPr>
              <a:t>以分子对接与分子动力学模拟、文献比对为主，把结论定位为线索发现，不夸大因果性。</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后续安排集中在机制关联、实验验证与论文撰写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机制关联分析：完成特有抗菌肽与 Aβ 聚集、AChE 结合及炎症通路的关联分析，形成候选肽清单。</a:t>
            </a:r>
          </a:p>
          <a:p>
            <a:pPr algn="l">
              <a:lnSpc>
                <a:spcPct val="134000"/>
              </a:lnSpc>
              <a:spcBef>
                <a:spcPts val="1400"/>
              </a:spcBef>
              <a:spcAft>
                <a:spcPts val="0"/>
              </a:spcAft>
            </a:pPr>
            <a:r>
              <a:rPr sz="1800" b="0">
                <a:solidFill>
                  <a:srgbClr val="333333"/>
                </a:solidFill>
                <a:latin typeface="Arial"/>
                <a:ea typeface="微软雅黑"/>
                <a:cs typeface="Arial"/>
              </a:rPr>
              <a:t>抑菌实验验证：完成候选抗菌肽的合成与抑菌实验，获得抑菌活性初筛结果。</a:t>
            </a:r>
          </a:p>
          <a:p>
            <a:pPr algn="l">
              <a:lnSpc>
                <a:spcPct val="134000"/>
              </a:lnSpc>
              <a:spcBef>
                <a:spcPts val="1400"/>
              </a:spcBef>
              <a:spcAft>
                <a:spcPts val="0"/>
              </a:spcAft>
            </a:pPr>
            <a:r>
              <a:rPr sz="1800" b="0">
                <a:solidFill>
                  <a:srgbClr val="333333"/>
                </a:solidFill>
                <a:latin typeface="Arial"/>
                <a:ea typeface="微软雅黑"/>
                <a:cs typeface="Arial"/>
              </a:rPr>
              <a:t>结果整理与论文撰写：汇总候选抗菌肽、特有肽与验证结果，完成学位论文与投稿论文准备。</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预期成果与现阶段的边界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预期成果：一套可复用的分析流程、健康人与各阶段特有的候选抗菌肽清单、机制关联与抑菌活性结果，以及以第一作者投稿的 SCI 论文与学位论文。</a:t>
            </a:r>
          </a:p>
          <a:p>
            <a:pPr algn="l">
              <a:lnSpc>
                <a:spcPct val="134000"/>
              </a:lnSpc>
              <a:spcBef>
                <a:spcPts val="1400"/>
              </a:spcBef>
              <a:spcAft>
                <a:spcPts val="0"/>
              </a:spcAft>
            </a:pPr>
            <a:r>
              <a:rPr sz="1800" b="0">
                <a:solidFill>
                  <a:srgbClr val="333333"/>
                </a:solidFill>
                <a:latin typeface="Arial"/>
                <a:ea typeface="微软雅黑"/>
                <a:cs typeface="Arial"/>
              </a:rPr>
              <a:t>现阶段的边界：机制关联属于计算预测与文献比对，尚不能给出因果关系；抑菌实验只针对代表性候选肽，覆盖范围有限；阶段划分依据队列既有临床标签，未纳入新的评分数据。</a:t>
            </a:r>
          </a:p>
          <a:p>
            <a:pPr algn="l">
              <a:lnSpc>
                <a:spcPct val="134000"/>
              </a:lnSpc>
              <a:spcBef>
                <a:spcPts val="1400"/>
              </a:spcBef>
              <a:spcAft>
                <a:spcPts val="0"/>
              </a:spcAft>
            </a:pPr>
            <a:r>
              <a:rPr sz="1800" b="0">
                <a:solidFill>
                  <a:srgbClr val="333333"/>
                </a:solidFill>
                <a:latin typeface="Arial"/>
                <a:ea typeface="微软雅黑"/>
                <a:cs typeface="Arial"/>
              </a:rPr>
              <a:t>这两点会在论文中明确说明，并在后续实验中逐步补充。</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主要分析已完成，剩余工作风险可控</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确认事实：数据资源、短肽库、三模型共识预测、分阶段差异分析与特有抗菌肽筛选均已完成。</a:t>
            </a:r>
          </a:p>
          <a:p>
            <a:pPr algn="l">
              <a:lnSpc>
                <a:spcPct val="134000"/>
              </a:lnSpc>
              <a:spcBef>
                <a:spcPts val="1400"/>
              </a:spcBef>
              <a:spcAft>
                <a:spcPts val="0"/>
              </a:spcAft>
            </a:pPr>
            <a:r>
              <a:rPr sz="1800" b="0">
                <a:solidFill>
                  <a:srgbClr val="333333"/>
                </a:solidFill>
                <a:latin typeface="Arial"/>
                <a:ea typeface="微软雅黑"/>
                <a:cs typeface="Arial"/>
              </a:rPr>
              <a:t>待完成：机制关联分析的结论整理、候选抗菌肽的抑菌实验验证，以及学位论文与投稿论文撰写。</a:t>
            </a:r>
          </a:p>
          <a:p>
            <a:pPr algn="l">
              <a:lnSpc>
                <a:spcPct val="134000"/>
              </a:lnSpc>
              <a:spcBef>
                <a:spcPts val="1400"/>
              </a:spcBef>
              <a:spcAft>
                <a:spcPts val="0"/>
              </a:spcAft>
            </a:pPr>
            <a:r>
              <a:rPr sz="1800" b="0">
                <a:solidFill>
                  <a:srgbClr val="333333"/>
                </a:solidFill>
                <a:latin typeface="Arial"/>
                <a:ea typeface="微软雅黑"/>
                <a:cs typeface="Arial"/>
              </a:rPr>
              <a:t>进度安排：按开题计划推进，后续不依赖新的数据生产。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