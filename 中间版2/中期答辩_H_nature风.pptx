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人群、按认知阶段分层的分析，这就是本课题的切入点。本次汇报重点说明研究思路和各项工作的完成程度：中期前完成数据与预测工作，其余环节按计划在下一阶段推进。</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个层次：数据与序列层、预测层、统计与表达层、功能层，共八项工作。本次中期完成的是数据与预测这一半：数据资源与参考集、微生物源短肽库、三模型共识预测；另一半是分阶段差异分析、宏蛋白组二次去重、特有抗菌肽筛选以及机制关联与验证，实施方案已经确定，按计划在中期之后推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队列按认知功能分为 NC、SCS、SCD、MCI 与 AD 五个阶段，样本的临床分组信息与测序数据一一对应。预测环节采用 Attention、LSTM、BERT 三个模型分别预测，只有三者一致判为阳性的序列才纳入候选集合，目的是降低单一模型的假阳性。这一步已经完成，候选名单已经产出。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一阶段先做分阶段差异分析：按认知阶段分组比较候选抗菌肽的丰度与组成差异，识别随病程变化的候选抗菌肽；再引入宏蛋白组表达证据做二次去重，剔除没有表达支持的序列，筛选出健康人群特有与各疾病阶段特有的抗菌肽清单。这两项工作的方案已经确定，中期之后启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机制关联参照乙酰胆碱酯酶—β-淀粉样肽复合物分子模拟研究的思路，从与 Aβ 的相互作用、与 AChE 外周阴离子位点结合、以及免疫与炎症通路三个方向展开，把结论定位为线索发现。抑菌实验验证选取有代表性的候选抗菌肽人工合成，以大肠杆菌与金黄色葡萄球菌为指示菌，先用纸片扩散法初筛，再用微量肉汤稀释法测最低抑菌浓度。这两项均已确定方案，待差异分析与特有肽清单完成后依次实施。</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两项已完成；分阶段差异分析与宏蛋白组二次去重、机制关联与抑菌实验验证安排在下一阶段，方案已经确定。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中期完成的是数据与预测这一半，候选抗菌肽名单已经形成；下一阶段推进分阶段差异分析、二次去重与特有肽筛选，随后开展机制关联分析与抑菌实验验证，论文撰写同步准备。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七环逻辑链：把抗菌肽与AD的关联拆成七环，蓝色是已有实验或临床证据，绿色是计算方法能给出候选与优先序的部分，橙色是本课题要回答或需要验证的部分。老师问任何一环都能说清证据到哪一步。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AD更多：因为存在正反馈。菌群失衡与肠屏障通透性增加使LPS长期刺激宿主，经TLR4/NF-κB升高促炎因子，促炎因子又上调Aβ与抗菌肽生成；Aβ与抗菌肽聚集激活小胶质，产生更多炎症介质，循环加强。这是抗菌保护假说的现代表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机制落点不只一篇动力学：Inestrosa 1996年首次报道AChE加速聚集可被PAS配体propidium抑制，De Ferrari 2001鉴定疏水基序，Inestrosa 2008综述，Atanasova 2020做1μs MD显示344-361区段稳定且不受双位点抑制剂位阻，由此提出H1-H3。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证据分级表说明每一环的强度，待验证一栏与本课题直接对应。抗菌活性预测部分补充文献：Ma 2022和Santos-Junior 2024的大规模验证，说明从序列预测活性是可行且被验证的路线。正常人vs AD谁更多：AD侧更高但需分层，微生物源以数据为准。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本次中期前完成数据</a:t>
            </a:r>
          </a:p>
          <a:p>
            <a:pPr algn="l">
              <a:lnSpc>
                <a:spcPct val="130000"/>
              </a:lnSpc>
              <a:spcBef>
                <a:spcPts val="1200"/>
              </a:spcBef>
              <a:spcAft>
                <a:spcPts val="0"/>
              </a:spcAft>
            </a:pPr>
            <a:r>
              <a:rPr sz="1600" b="0">
                <a:solidFill>
                  <a:srgbClr val="777777"/>
                </a:solidFill>
                <a:latin typeface="Arial"/>
                <a:ea typeface="微软雅黑"/>
                <a:cs typeface="Arial"/>
              </a:rPr>
              <a:t>与预测工作，其余按</a:t>
            </a:r>
          </a:p>
          <a:p>
            <a:pPr algn="l">
              <a:lnSpc>
                <a:spcPct val="130000"/>
              </a:lnSpc>
              <a:spcBef>
                <a:spcPts val="1200"/>
              </a:spcBef>
              <a:spcAft>
                <a:spcPts val="0"/>
              </a:spcAft>
            </a:pPr>
            <a:r>
              <a:rPr sz="1600" b="0">
                <a:solidFill>
                  <a:srgbClr val="777777"/>
                </a:solidFill>
                <a:latin typeface="Arial"/>
                <a:ea typeface="微软雅黑"/>
                <a:cs typeface="Arial"/>
              </a:rPr>
              <a:t>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研究按“数据—预测—统计—功能”四层推进，数据与预测阶段已完成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_半程.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八项工作分为两半：数据资源、参考集、短肽库与三模型共识预测四项已完成；分阶段差异分析、宏蛋白组二次去重、特有抗菌肽筛选与机制关联验证四项按计划在下一阶段推进。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队列按 NC、SCS、SCD、MCI 与 AD 五个认知阶段分组，样本与元数据一一对应；Attention、LSTM、BERT 三个模型相互独立地给出预测，只有三者一致判为阳性的序列才进入候选集合。该步骤已完成，候选抗菌肽名单已产出。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下一阶段：分阶段比较候选抗菌肽，并引入表达证据二次去重</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按认知阶段分组比较候选抗菌肽的丰度与组成差异，识别随病程变化的候选抗菌肽；再以宏蛋白组表达证据二次去重，剔除缺少蛋白层面支持的序列，并筛选健康人群特有与各阶段特有的抗菌肽。两项工作已确定实施方案，自中期后启动。</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下一阶段：机制关联分析，以及候选抗菌肽的抑菌实验验证</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进行纸片扩散法初筛，并以微量肉汤稀释法测定最低抑菌浓度。两项工作均已确定方案。</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与开题计划相比：数据与预测已完成，分析与验证在下一阶段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下一阶段开展，方案与输入数据已确定</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下一阶段开展，机制与抑菌方案已确定</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阶段目标明确，下一阶段按计划推进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已完成：全队列宏基因组数据处理与微生物基因组参考集、微生物源短肽库，以及三模型共识预测的候选抗菌肽名单。</a:t>
            </a:r>
          </a:p>
          <a:p>
            <a:pPr algn="l">
              <a:lnSpc>
                <a:spcPct val="134000"/>
              </a:lnSpc>
              <a:spcBef>
                <a:spcPts val="1400"/>
              </a:spcBef>
              <a:spcAft>
                <a:spcPts val="0"/>
              </a:spcAft>
            </a:pPr>
            <a:r>
              <a:rPr sz="1800" b="0">
                <a:solidFill>
                  <a:srgbClr val="333333"/>
                </a:solidFill>
                <a:latin typeface="Arial"/>
                <a:ea typeface="微软雅黑"/>
                <a:cs typeface="Arial"/>
              </a:rPr>
              <a:t>下一阶段：分阶段差异分析与宏蛋白组二次去重、特有抗菌肽筛选，随后开展机制关联分析与抑菌实验验证。</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时间安排：按开题计划推进，分析与验证所需数据与方案均已具备，学位论文与以第一作者投稿的 SCI 论文撰写同步准备。</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抗菌肽与AD关联可拆为七环，证据强度分层</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640080" y="1188720"/>
            <a:ext cx="8110348" cy="3474720"/>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图：本项目自制，蓝=已有实验/临床证据，绿=计算可预测，橙=本课题待验证</a:t>
            </a:r>
          </a:p>
        </p:txBody>
      </p:sp>
      <p:sp>
        <p:nvSpPr>
          <p:cNvPr id="6" name="TextBox 5"/>
          <p:cNvSpPr txBox="1"/>
          <p:nvPr/>
        </p:nvSpPr>
        <p:spPr>
          <a:xfrm>
            <a:off x="640080" y="4937760"/>
            <a:ext cx="10908792" cy="1371600"/>
          </a:xfrm>
          <a:prstGeom prst="rect">
            <a:avLst/>
          </a:prstGeom>
          <a:noFill/>
        </p:spPr>
        <p:txBody>
          <a:bodyPr wrap="square" anchor="t" lIns="27432" rIns="27432" tIns="0" bIns="0">
            <a:spAutoFit/>
          </a:bodyPr>
          <a:lstStyle/>
          <a:p>
            <a:pPr algn="l">
              <a:lnSpc>
                <a:spcPct val="125000"/>
              </a:lnSpc>
              <a:spcBef>
                <a:spcPts val="0"/>
              </a:spcBef>
              <a:spcAft>
                <a:spcPts val="0"/>
              </a:spcAft>
            </a:pPr>
            <a:r>
              <a:rPr sz="1500" b="0">
                <a:solidFill>
                  <a:srgbClr val="333333"/>
                </a:solidFill>
                <a:latin typeface="Arial"/>
                <a:ea typeface="微软雅黑"/>
                <a:cs typeface="Arial"/>
              </a:rPr>
              <a:t>① AD与感染相关 ② 感染驱动抗菌肽/Aβ生成 ③ Aβ本身是抗菌肽 ④ 活性可计算预测 ⑤ AD组特异肽随阶段变化 ⑥ 双刃剑 ⑦ 正反馈环与AChE-PAS落点</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为什么AD更多：炎症—Aβ—抗菌肽正反馈环</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6858000" cy="3657600"/>
          </a:xfrm>
          <a:prstGeom prst="rect">
            <a:avLst/>
          </a:prstGeom>
          <a:noFill/>
        </p:spPr>
        <p:txBody>
          <a:bodyPr wrap="square" anchor="t" lIns="27432" rIns="27432" tIns="0" bIns="0">
            <a:spAutoFit/>
          </a:bodyPr>
          <a:lstStyle/>
          <a:p>
            <a:pPr algn="l">
              <a:lnSpc>
                <a:spcPct val="130000"/>
              </a:lnSpc>
              <a:spcBef>
                <a:spcPts val="0"/>
              </a:spcBef>
              <a:spcAft>
                <a:spcPts val="0"/>
              </a:spcAft>
            </a:pPr>
            <a:r>
              <a:rPr sz="1700" b="1">
                <a:solidFill>
                  <a:srgbClr val="111111"/>
                </a:solidFill>
                <a:latin typeface="Arial"/>
                <a:ea typeface="微软雅黑"/>
                <a:cs typeface="Arial"/>
              </a:rPr>
              <a:t>上游驱动：菌群失衡与肠屏障↑，LPS持续入血</a:t>
            </a:r>
          </a:p>
          <a:p>
            <a:pPr algn="l">
              <a:lnSpc>
                <a:spcPct val="125000"/>
              </a:lnSpc>
              <a:spcBef>
                <a:spcPts val="600"/>
              </a:spcBef>
              <a:spcAft>
                <a:spcPts val="0"/>
              </a:spcAft>
            </a:pPr>
            <a:r>
              <a:rPr sz="1500" b="0">
                <a:solidFill>
                  <a:srgbClr val="333333"/>
                </a:solidFill>
                <a:latin typeface="Arial"/>
                <a:ea typeface="微软雅黑"/>
                <a:cs typeface="Arial"/>
              </a:rPr>
              <a:t>• 促炎菌 Escherichia/Shigella、Proteobacteria 富集</a:t>
            </a:r>
          </a:p>
          <a:p>
            <a:pPr algn="l">
              <a:lnSpc>
                <a:spcPct val="125000"/>
              </a:lnSpc>
              <a:spcBef>
                <a:spcPts val="400"/>
              </a:spcBef>
              <a:spcAft>
                <a:spcPts val="0"/>
              </a:spcAft>
            </a:pPr>
            <a:r>
              <a:rPr sz="1500" b="0">
                <a:solidFill>
                  <a:srgbClr val="333333"/>
                </a:solidFill>
                <a:latin typeface="Arial"/>
                <a:ea typeface="微软雅黑"/>
                <a:cs typeface="Arial"/>
              </a:rPr>
              <a:t>• 产丁酸菌 Eubacterium、Faecalibacterium 降低</a:t>
            </a:r>
          </a:p>
          <a:p>
            <a:pPr algn="l">
              <a:lnSpc>
                <a:spcPct val="125000"/>
              </a:lnSpc>
              <a:spcBef>
                <a:spcPts val="400"/>
              </a:spcBef>
              <a:spcAft>
                <a:spcPts val="0"/>
              </a:spcAft>
            </a:pPr>
            <a:r>
              <a:rPr sz="1500" b="0">
                <a:solidFill>
                  <a:srgbClr val="333333"/>
                </a:solidFill>
                <a:latin typeface="Arial"/>
                <a:ea typeface="微软雅黑"/>
                <a:cs typeface="Arial"/>
              </a:rPr>
              <a:t>• 血浆LPS约3倍，与单核活化正相关 [13,14]</a:t>
            </a:r>
          </a:p>
          <a:p>
            <a:pPr algn="l">
              <a:lnSpc>
                <a:spcPct val="130000"/>
              </a:lnSpc>
              <a:spcBef>
                <a:spcPts val="1400"/>
              </a:spcBef>
              <a:spcAft>
                <a:spcPts val="0"/>
              </a:spcAft>
            </a:pPr>
            <a:r>
              <a:rPr sz="1700" b="1">
                <a:solidFill>
                  <a:srgbClr val="111111"/>
                </a:solidFill>
                <a:latin typeface="Arial"/>
                <a:ea typeface="微软雅黑"/>
                <a:cs typeface="Arial"/>
              </a:rPr>
              <a:t>中游放大：TLR4/NF-κB → 促炎因子 → 上调Aβ/抗菌肽</a:t>
            </a:r>
          </a:p>
          <a:p>
            <a:pPr algn="l">
              <a:lnSpc>
                <a:spcPct val="125000"/>
              </a:lnSpc>
              <a:spcBef>
                <a:spcPts val="600"/>
              </a:spcBef>
              <a:spcAft>
                <a:spcPts val="0"/>
              </a:spcAft>
            </a:pPr>
            <a:r>
              <a:rPr sz="1500" b="0">
                <a:solidFill>
                  <a:srgbClr val="333333"/>
                </a:solidFill>
                <a:latin typeface="Arial"/>
                <a:ea typeface="微软雅黑"/>
                <a:cs typeface="Arial"/>
              </a:rPr>
              <a:t>• LPS与Aβ均为TLR4/CD14激动剂</a:t>
            </a:r>
          </a:p>
          <a:p>
            <a:pPr algn="l">
              <a:lnSpc>
                <a:spcPct val="130000"/>
              </a:lnSpc>
              <a:spcBef>
                <a:spcPts val="1400"/>
              </a:spcBef>
              <a:spcAft>
                <a:spcPts val="0"/>
              </a:spcAft>
            </a:pPr>
            <a:r>
              <a:rPr sz="1700" b="1">
                <a:solidFill>
                  <a:srgbClr val="111111"/>
                </a:solidFill>
                <a:latin typeface="Arial"/>
                <a:ea typeface="微软雅黑"/>
                <a:cs typeface="Arial"/>
              </a:rPr>
              <a:t>下游循环：Aβ/抗菌肽聚集 → 小胶质活化 → 更多炎症</a:t>
            </a:r>
          </a:p>
          <a:p>
            <a:pPr algn="l">
              <a:lnSpc>
                <a:spcPct val="125000"/>
              </a:lnSpc>
              <a:spcBef>
                <a:spcPts val="600"/>
              </a:spcBef>
              <a:spcAft>
                <a:spcPts val="0"/>
              </a:spcAft>
            </a:pPr>
            <a:r>
              <a:rPr sz="1500" b="0">
                <a:solidFill>
                  <a:srgbClr val="333333"/>
                </a:solidFill>
                <a:latin typeface="Arial"/>
                <a:ea typeface="微软雅黑"/>
                <a:cs typeface="Arial"/>
              </a:rPr>
              <a:t>• LL-37经CLIC1致ROS与神经毒性 [11]</a:t>
            </a:r>
          </a:p>
          <a:p>
            <a:pPr algn="l">
              <a:lnSpc>
                <a:spcPct val="125000"/>
              </a:lnSpc>
              <a:spcBef>
                <a:spcPts val="400"/>
              </a:spcBef>
              <a:spcAft>
                <a:spcPts val="0"/>
              </a:spcAft>
            </a:pPr>
            <a:r>
              <a:rPr sz="1500" b="0">
                <a:solidFill>
                  <a:srgbClr val="333333"/>
                </a:solidFill>
                <a:latin typeface="Arial"/>
                <a:ea typeface="微软雅黑"/>
                <a:cs typeface="Arial"/>
              </a:rPr>
              <a:t>• AChE-PAS促纤维化 [27-32]</a:t>
            </a:r>
          </a:p>
        </p:txBody>
      </p:sp>
      <p:sp>
        <p:nvSpPr>
          <p:cNvPr id="5" name="Rectangle 4"/>
          <p:cNvSpPr/>
          <p:nvPr/>
        </p:nvSpPr>
        <p:spPr>
          <a:xfrm>
            <a:off x="7863840" y="1463040"/>
            <a:ext cx="3657600" cy="3657600"/>
          </a:xfrm>
          <a:prstGeom prst="rect">
            <a:avLst/>
          </a:prstGeom>
          <a:solidFill>
            <a:srgbClr val="F7F7F5"/>
          </a:solidFill>
          <a:ln w="9525">
            <a:solidFill>
              <a:srgbClr val="DD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554480"/>
            <a:ext cx="3291840" cy="347472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B03A2E"/>
                </a:solidFill>
                <a:latin typeface="Arial"/>
                <a:ea typeface="微软雅黑"/>
                <a:cs typeface="Arial"/>
              </a:rPr>
              <a:t>抗菌保护假说</a:t>
            </a:r>
          </a:p>
          <a:p>
            <a:pPr algn="l">
              <a:lnSpc>
                <a:spcPct val="125000"/>
              </a:lnSpc>
              <a:spcBef>
                <a:spcPts val="800"/>
              </a:spcBef>
              <a:spcAft>
                <a:spcPts val="0"/>
              </a:spcAft>
            </a:pPr>
            <a:r>
              <a:rPr sz="1500" b="0">
                <a:solidFill>
                  <a:srgbClr val="333333"/>
                </a:solidFill>
                <a:latin typeface="Arial"/>
                <a:ea typeface="微软雅黑"/>
                <a:cs typeface="Arial"/>
              </a:rPr>
              <a:t>AD病理部分源于有益的先天免疫反应在长期失衡后被放大 [3]</a:t>
            </a:r>
          </a:p>
          <a:p>
            <a:pPr algn="l">
              <a:lnSpc>
                <a:spcPct val="110000"/>
              </a:lnSpc>
              <a:spcBef>
                <a:spcPts val="1400"/>
              </a:spcBef>
              <a:spcAft>
                <a:spcPts val="0"/>
              </a:spcAft>
            </a:pPr>
            <a:r>
              <a:rPr sz="1600" b="1">
                <a:solidFill>
                  <a:srgbClr val="2F5D62"/>
                </a:solidFill>
                <a:latin typeface="Arial"/>
                <a:ea typeface="微软雅黑"/>
                <a:cs typeface="Arial"/>
              </a:rPr>
              <a:t>双刃剑</a:t>
            </a:r>
          </a:p>
          <a:p>
            <a:pPr algn="l">
              <a:lnSpc>
                <a:spcPct val="125000"/>
              </a:lnSpc>
              <a:spcBef>
                <a:spcPts val="800"/>
              </a:spcBef>
              <a:spcAft>
                <a:spcPts val="0"/>
              </a:spcAft>
            </a:pPr>
            <a:r>
              <a:rPr sz="1500" b="0">
                <a:solidFill>
                  <a:srgbClr val="333333"/>
                </a:solidFill>
                <a:latin typeface="Arial"/>
                <a:ea typeface="微软雅黑"/>
                <a:cs typeface="Arial"/>
              </a:rPr>
              <a:t>抑制感染（生理）vs 促进聚集与炎症（病理）</a:t>
            </a:r>
          </a:p>
          <a:p>
            <a:pPr algn="l">
              <a:lnSpc>
                <a:spcPct val="110000"/>
              </a:lnSpc>
              <a:spcBef>
                <a:spcPts val="1400"/>
              </a:spcBef>
              <a:spcAft>
                <a:spcPts val="0"/>
              </a:spcAft>
            </a:pPr>
            <a:r>
              <a:rPr sz="1600" b="1">
                <a:solidFill>
                  <a:srgbClr val="2F5D62"/>
                </a:solidFill>
                <a:latin typeface="Arial"/>
                <a:ea typeface="微软雅黑"/>
                <a:cs typeface="Arial"/>
              </a:rPr>
              <a:t>口径</a:t>
            </a:r>
          </a:p>
          <a:p>
            <a:pPr algn="l">
              <a:lnSpc>
                <a:spcPct val="125000"/>
              </a:lnSpc>
              <a:spcBef>
                <a:spcPts val="800"/>
              </a:spcBef>
              <a:spcAft>
                <a:spcPts val="0"/>
              </a:spcAft>
            </a:pPr>
            <a:r>
              <a:rPr sz="1500" b="0">
                <a:solidFill>
                  <a:srgbClr val="777777"/>
                </a:solidFill>
                <a:latin typeface="Arial"/>
                <a:ea typeface="微软雅黑"/>
                <a:cs typeface="Arial"/>
              </a:rPr>
              <a:t>区分宿主/微生物源、局部/系统、阶段</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300" b="1">
                <a:solidFill>
                  <a:srgbClr val="111111"/>
                </a:solidFill>
                <a:latin typeface="Arial"/>
                <a:ea typeface="微软雅黑"/>
                <a:cs typeface="Arial"/>
              </a:rPr>
              <a:t>机制落点：AChE–Aβ复合物与三个可检验假设（多文献）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640080" y="1188720"/>
            <a:ext cx="6564890" cy="3291840"/>
          </a:xfrm>
          <a:prstGeom prst="rect">
            <a:avLst/>
          </a:prstGeom>
        </p:spPr>
      </p:pic>
      <p:sp>
        <p:nvSpPr>
          <p:cNvPr id="5" name="Rectangle 4"/>
          <p:cNvSpPr/>
          <p:nvPr/>
        </p:nvSpPr>
        <p:spPr>
          <a:xfrm>
            <a:off x="7863840" y="1325880"/>
            <a:ext cx="3657600" cy="1234440"/>
          </a:xfrm>
          <a:prstGeom prst="rect">
            <a:avLst/>
          </a:prstGeom>
          <a:solidFill>
            <a:srgbClr val="F7F7F5"/>
          </a:solidFill>
          <a:ln w="9525">
            <a:solidFill>
              <a:srgbClr val="2F5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37160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H1 竞争PAS</a:t>
            </a:r>
          </a:p>
          <a:p>
            <a:pPr algn="l">
              <a:lnSpc>
                <a:spcPct val="120000"/>
              </a:lnSpc>
              <a:spcBef>
                <a:spcPts val="400"/>
              </a:spcBef>
              <a:spcAft>
                <a:spcPts val="0"/>
              </a:spcAft>
            </a:pPr>
            <a:r>
              <a:rPr sz="1500" b="0">
                <a:solidFill>
                  <a:srgbClr val="333333"/>
                </a:solidFill>
                <a:latin typeface="Arial"/>
                <a:ea typeface="微软雅黑"/>
                <a:cs typeface="Arial"/>
              </a:rPr>
              <a:t>结合PAS，减少AChE诱导成核</a:t>
            </a:r>
          </a:p>
          <a:p>
            <a:pPr algn="l">
              <a:lnSpc>
                <a:spcPct val="120000"/>
              </a:lnSpc>
              <a:spcBef>
                <a:spcPts val="400"/>
              </a:spcBef>
              <a:spcAft>
                <a:spcPts val="0"/>
              </a:spcAft>
            </a:pPr>
            <a:r>
              <a:rPr sz="1500" b="0">
                <a:solidFill>
                  <a:srgbClr val="777777"/>
                </a:solidFill>
                <a:latin typeface="Arial"/>
                <a:ea typeface="微软雅黑"/>
                <a:cs typeface="Arial"/>
              </a:rPr>
              <a:t>对接+MD；propidium竞争；酶活</a:t>
            </a:r>
          </a:p>
        </p:txBody>
      </p:sp>
      <p:sp>
        <p:nvSpPr>
          <p:cNvPr id="7" name="Rectangle 6"/>
          <p:cNvSpPr/>
          <p:nvPr/>
        </p:nvSpPr>
        <p:spPr>
          <a:xfrm>
            <a:off x="7863840" y="2743200"/>
            <a:ext cx="3657600" cy="1234440"/>
          </a:xfrm>
          <a:prstGeom prst="rect">
            <a:avLst/>
          </a:prstGeom>
          <a:solidFill>
            <a:srgbClr val="F7F7F5"/>
          </a:solidFill>
          <a:ln w="9525">
            <a:solidFill>
              <a:srgbClr val="2F5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278892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H2 结合Aβ</a:t>
            </a:r>
          </a:p>
          <a:p>
            <a:pPr algn="l">
              <a:lnSpc>
                <a:spcPct val="120000"/>
              </a:lnSpc>
              <a:spcBef>
                <a:spcPts val="400"/>
              </a:spcBef>
              <a:spcAft>
                <a:spcPts val="0"/>
              </a:spcAft>
            </a:pPr>
            <a:r>
              <a:rPr sz="1500" b="0">
                <a:solidFill>
                  <a:srgbClr val="333333"/>
                </a:solidFill>
                <a:latin typeface="Arial"/>
                <a:ea typeface="微软雅黑"/>
                <a:cs typeface="Arial"/>
              </a:rPr>
              <a:t>结合Aβ，改变聚集路径</a:t>
            </a:r>
          </a:p>
          <a:p>
            <a:pPr algn="l">
              <a:lnSpc>
                <a:spcPct val="120000"/>
              </a:lnSpc>
              <a:spcBef>
                <a:spcPts val="400"/>
              </a:spcBef>
              <a:spcAft>
                <a:spcPts val="0"/>
              </a:spcAft>
            </a:pPr>
            <a:r>
              <a:rPr sz="1500" b="0">
                <a:solidFill>
                  <a:srgbClr val="777777"/>
                </a:solidFill>
                <a:latin typeface="Arial"/>
                <a:ea typeface="微软雅黑"/>
                <a:cs typeface="Arial"/>
              </a:rPr>
              <a:t>ThT+电镜/AFM；MD残基；参照[10-12]</a:t>
            </a:r>
          </a:p>
        </p:txBody>
      </p:sp>
      <p:sp>
        <p:nvSpPr>
          <p:cNvPr id="9" name="Rectangle 8"/>
          <p:cNvSpPr/>
          <p:nvPr/>
        </p:nvSpPr>
        <p:spPr>
          <a:xfrm>
            <a:off x="7863840" y="4160520"/>
            <a:ext cx="3657600" cy="1234440"/>
          </a:xfrm>
          <a:prstGeom prst="rect">
            <a:avLst/>
          </a:prstGeom>
          <a:solidFill>
            <a:srgbClr val="F7F7F5"/>
          </a:solidFill>
          <a:ln w="952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420624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H3 膜水平</a:t>
            </a:r>
          </a:p>
          <a:p>
            <a:pPr algn="l">
              <a:lnSpc>
                <a:spcPct val="120000"/>
              </a:lnSpc>
              <a:spcBef>
                <a:spcPts val="400"/>
              </a:spcBef>
              <a:spcAft>
                <a:spcPts val="0"/>
              </a:spcAft>
            </a:pPr>
            <a:r>
              <a:rPr sz="1500" b="0">
                <a:solidFill>
                  <a:srgbClr val="333333"/>
                </a:solidFill>
                <a:latin typeface="Arial"/>
                <a:ea typeface="微软雅黑"/>
                <a:cs typeface="Arial"/>
              </a:rPr>
              <a:t>影响膜互作与小胶质识别</a:t>
            </a:r>
          </a:p>
          <a:p>
            <a:pPr algn="l">
              <a:lnSpc>
                <a:spcPct val="120000"/>
              </a:lnSpc>
              <a:spcBef>
                <a:spcPts val="400"/>
              </a:spcBef>
              <a:spcAft>
                <a:spcPts val="0"/>
              </a:spcAft>
            </a:pPr>
            <a:r>
              <a:rPr sz="1500" b="0">
                <a:solidFill>
                  <a:srgbClr val="777777"/>
                </a:solidFill>
                <a:latin typeface="Arial"/>
                <a:ea typeface="微软雅黑"/>
                <a:cs typeface="Arial"/>
              </a:rPr>
              <a:t>脂膜MD+炎症因子；参照[11]</a:t>
            </a:r>
          </a:p>
        </p:txBody>
      </p:sp>
      <p:sp>
        <p:nvSpPr>
          <p:cNvPr id="11" name="TextBox 10"/>
          <p:cNvSpPr txBox="1"/>
          <p:nvPr/>
        </p:nvSpPr>
        <p:spPr>
          <a:xfrm>
            <a:off x="640080" y="4846320"/>
            <a:ext cx="10908792" cy="548640"/>
          </a:xfrm>
          <a:prstGeom prst="rect">
            <a:avLst/>
          </a:prstGeom>
          <a:noFill/>
        </p:spPr>
        <p:txBody>
          <a:bodyPr wrap="square" anchor="t" lIns="27432" rIns="27432" tIns="0" bIns="0">
            <a:spAutoFit/>
          </a:bodyPr>
          <a:lstStyle/>
          <a:p>
            <a:pPr algn="l">
              <a:lnSpc>
                <a:spcPct val="120000"/>
              </a:lnSpc>
              <a:spcBef>
                <a:spcPts val="0"/>
              </a:spcBef>
              <a:spcAft>
                <a:spcPts val="0"/>
              </a:spcAft>
            </a:pPr>
            <a:r>
              <a:rPr sz="1500" b="0">
                <a:solidFill>
                  <a:srgbClr val="777777"/>
                </a:solidFill>
                <a:latin typeface="Arial"/>
                <a:ea typeface="微软雅黑"/>
                <a:cs typeface="Arial"/>
              </a:rPr>
              <a:t>文献链：Inestrosa 1996[27] → De Ferrari 2001[29] → Inestrosa 2008[30] → Atanasova 2020 MD[32]，344-361为第二界面</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证据分级与抗菌活性预测的文献基础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80160"/>
          <a:ext cx="7132320" cy="2926080"/>
        </p:xfrm>
        <a:graphic>
          <a:graphicData uri="http://schemas.openxmlformats.org/drawingml/2006/table">
            <a:tbl>
              <a:tblPr firstRow="1" bandRow="1">
                <a:tableStyleId>{5C22544A-7EE6-4342-B048-85BDC9FD1C3A}</a:tableStyleId>
              </a:tblPr>
              <a:tblGrid>
                <a:gridCol w="3108960"/>
                <a:gridCol w="1645920"/>
                <a:gridCol w="2377440"/>
              </a:tblGrid>
              <a:tr h="418011">
                <a:tc>
                  <a:txBody>
                    <a:bodyPr/>
                    <a:lstStyle/>
                    <a:p>
                      <a:pPr algn="l">
                        <a:lnSpc>
                          <a:spcPct val="105000"/>
                        </a:lnSpc>
                        <a:spcBef>
                          <a:spcPts val="0"/>
                        </a:spcBef>
                        <a:spcAft>
                          <a:spcPts val="0"/>
                        </a:spcAft>
                      </a:pPr>
                      <a:r>
                        <a:rPr sz="1500" b="1">
                          <a:solidFill>
                            <a:srgbClr val="111111"/>
                          </a:solidFill>
                          <a:latin typeface="Arial"/>
                          <a:ea typeface="微软雅黑"/>
                          <a:cs typeface="Arial"/>
                        </a:rPr>
                        <a:t>要点</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强度</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来源</a:t>
                      </a:r>
                    </a:p>
                  </a:txBody>
                  <a:tcPr>
                    <a:solidFill>
                      <a:srgbClr val="F7F7F5"/>
                    </a:solidFill>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Aβ抗菌活性 AD脑&gt;对照</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Soscia 2010 [1]</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Aβ保护抗感染 寡聚化必需</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Kumar 2016 [2]</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宿主AMP上调 hBD-1/LL-37</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Williams 2013等</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AChE经PAS促聚集</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Inestrosa 1996 [27]</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AChE-Aβ MD稳定 344-361</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Atanasova 2020 [32]</a:t>
                      </a:r>
                    </a:p>
                  </a:txBody>
                  <a:tcPr/>
                </a:tc>
              </a:tr>
              <a:tr h="418014">
                <a:tc>
                  <a:txBody>
                    <a:bodyPr/>
                    <a:lstStyle/>
                    <a:p>
                      <a:pPr algn="l">
                        <a:lnSpc>
                          <a:spcPct val="105000"/>
                        </a:lnSpc>
                        <a:spcBef>
                          <a:spcPts val="0"/>
                        </a:spcBef>
                        <a:spcAft>
                          <a:spcPts val="0"/>
                        </a:spcAft>
                      </a:pPr>
                      <a:r>
                        <a:rPr sz="1500" b="0">
                          <a:solidFill>
                            <a:srgbClr val="333333"/>
                          </a:solidFill>
                          <a:latin typeface="Arial"/>
                          <a:ea typeface="微软雅黑"/>
                          <a:cs typeface="Arial"/>
                        </a:rPr>
                        <a:t>菌群失衡 促炎↑产丁酸↓</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Vogt 2017等</a:t>
                      </a:r>
                    </a:p>
                  </a:txBody>
                  <a:tcPr/>
                </a:tc>
              </a:tr>
            </a:tbl>
          </a:graphicData>
        </a:graphic>
      </p:graphicFrame>
      <p:sp>
        <p:nvSpPr>
          <p:cNvPr id="5" name="Rectangle 4"/>
          <p:cNvSpPr/>
          <p:nvPr/>
        </p:nvSpPr>
        <p:spPr>
          <a:xfrm>
            <a:off x="7863840" y="1280160"/>
            <a:ext cx="3657600" cy="2926080"/>
          </a:xfrm>
          <a:prstGeom prst="rect">
            <a:avLst/>
          </a:prstGeom>
          <a:solidFill>
            <a:srgbClr val="F7F7F5"/>
          </a:solidFill>
          <a:ln w="9525">
            <a:solidFill>
              <a:srgbClr val="DD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371600"/>
            <a:ext cx="3291840" cy="2743200"/>
          </a:xfrm>
          <a:prstGeom prst="rect">
            <a:avLst/>
          </a:prstGeom>
          <a:noFill/>
        </p:spPr>
        <p:txBody>
          <a:bodyPr wrap="square" anchor="t" lIns="27432" rIns="27432" tIns="0" bIns="0">
            <a:spAutoFit/>
          </a:bodyPr>
          <a:lstStyle/>
          <a:p>
            <a:pPr algn="l">
              <a:lnSpc>
                <a:spcPct val="110000"/>
              </a:lnSpc>
              <a:spcBef>
                <a:spcPts val="0"/>
              </a:spcBef>
              <a:spcAft>
                <a:spcPts val="0"/>
              </a:spcAft>
            </a:pPr>
            <a:r>
              <a:rPr sz="1500" b="1">
                <a:solidFill>
                  <a:srgbClr val="2F5D62"/>
                </a:solidFill>
                <a:latin typeface="Arial"/>
                <a:ea typeface="微软雅黑"/>
                <a:cs typeface="Arial"/>
              </a:rPr>
              <a:t>抗菌活性预测为何可行</a:t>
            </a:r>
          </a:p>
          <a:p>
            <a:pPr algn="l">
              <a:lnSpc>
                <a:spcPct val="120000"/>
              </a:lnSpc>
              <a:spcBef>
                <a:spcPts val="800"/>
              </a:spcBef>
              <a:spcAft>
                <a:spcPts val="0"/>
              </a:spcAft>
            </a:pPr>
            <a:r>
              <a:rPr sz="1500" b="0">
                <a:solidFill>
                  <a:srgbClr val="333333"/>
                </a:solidFill>
                <a:latin typeface="Arial"/>
                <a:ea typeface="微软雅黑"/>
                <a:cs typeface="Arial"/>
              </a:rPr>
              <a:t>• Ma 2022 Nat Biotech：2349候选→216合成→181活性83% [22]</a:t>
            </a:r>
          </a:p>
          <a:p>
            <a:pPr algn="l">
              <a:lnSpc>
                <a:spcPct val="120000"/>
              </a:lnSpc>
              <a:spcBef>
                <a:spcPts val="600"/>
              </a:spcBef>
              <a:spcAft>
                <a:spcPts val="0"/>
              </a:spcAft>
            </a:pPr>
            <a:r>
              <a:rPr sz="1500" b="0">
                <a:solidFill>
                  <a:srgbClr val="333333"/>
                </a:solidFill>
                <a:latin typeface="Arial"/>
                <a:ea typeface="微软雅黑"/>
                <a:cs typeface="Arial"/>
              </a:rPr>
              <a:t>• Santos-Junior 2024 Cell：86万肽，100→79活性 [23]</a:t>
            </a:r>
          </a:p>
          <a:p>
            <a:pPr algn="l">
              <a:lnSpc>
                <a:spcPct val="120000"/>
              </a:lnSpc>
              <a:spcBef>
                <a:spcPts val="600"/>
              </a:spcBef>
              <a:spcAft>
                <a:spcPts val="0"/>
              </a:spcAft>
            </a:pPr>
            <a:r>
              <a:rPr sz="1500" b="0">
                <a:solidFill>
                  <a:srgbClr val="333333"/>
                </a:solidFill>
                <a:latin typeface="Arial"/>
                <a:ea typeface="微软雅黑"/>
                <a:cs typeface="Arial"/>
              </a:rPr>
              <a:t>• Wan 2024综述 [24]</a:t>
            </a:r>
          </a:p>
          <a:p>
            <a:pPr algn="l">
              <a:lnSpc>
                <a:spcPct val="110000"/>
              </a:lnSpc>
              <a:spcBef>
                <a:spcPts val="1200"/>
              </a:spcBef>
              <a:spcAft>
                <a:spcPts val="0"/>
              </a:spcAft>
            </a:pPr>
            <a:r>
              <a:rPr sz="1500" b="1">
                <a:solidFill>
                  <a:srgbClr val="2F5D62"/>
                </a:solidFill>
                <a:latin typeface="Arial"/>
                <a:ea typeface="微软雅黑"/>
                <a:cs typeface="Arial"/>
              </a:rPr>
              <a:t>本课题：三模型共识→去重→实验验证</a:t>
            </a:r>
          </a:p>
          <a:p>
            <a:pPr algn="l">
              <a:lnSpc>
                <a:spcPct val="120000"/>
              </a:lnSpc>
              <a:spcBef>
                <a:spcPts val="600"/>
              </a:spcBef>
              <a:spcAft>
                <a:spcPts val="0"/>
              </a:spcAft>
            </a:pPr>
            <a:r>
              <a:rPr sz="1500" b="0">
                <a:solidFill>
                  <a:srgbClr val="333333"/>
                </a:solidFill>
                <a:latin typeface="Arial"/>
                <a:ea typeface="微软雅黑"/>
                <a:cs typeface="Arial"/>
              </a:rPr>
              <a:t>纸片扩散初筛+MIC，设阳性/阴性对照</a:t>
            </a:r>
          </a:p>
        </p:txBody>
      </p:sp>
      <p:sp>
        <p:nvSpPr>
          <p:cNvPr id="7" name="TextBox 6"/>
          <p:cNvSpPr txBox="1"/>
          <p:nvPr/>
        </p:nvSpPr>
        <p:spPr>
          <a:xfrm>
            <a:off x="640080" y="4572000"/>
            <a:ext cx="10908792" cy="1280160"/>
          </a:xfrm>
          <a:prstGeom prst="rect">
            <a:avLst/>
          </a:prstGeom>
          <a:noFill/>
        </p:spPr>
        <p:txBody>
          <a:bodyPr wrap="square" anchor="t" lIns="27432" rIns="27432" tIns="0" bIns="0">
            <a:spAutoFit/>
          </a:bodyPr>
          <a:lstStyle/>
          <a:p>
            <a:pPr algn="l">
              <a:lnSpc>
                <a:spcPct val="125000"/>
              </a:lnSpc>
              <a:spcBef>
                <a:spcPts val="0"/>
              </a:spcBef>
              <a:spcAft>
                <a:spcPts val="0"/>
              </a:spcAft>
            </a:pPr>
            <a:r>
              <a:rPr sz="1500" b="0">
                <a:solidFill>
                  <a:srgbClr val="333333"/>
                </a:solidFill>
                <a:latin typeface="Arial"/>
                <a:ea typeface="微软雅黑"/>
                <a:cs typeface="Arial"/>
              </a:rPr>
              <a:t>正常人 vs AD谁更多：AD侧更高，区分宿主/微生物源、局部/系统、阶段；微生物源以数据为准。为什么多：感染—炎症—Aβ/抗菌肽正反馈，促炎菌富集驱动。</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