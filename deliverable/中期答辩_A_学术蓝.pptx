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各位老师好，我汇报的题目是《基于深度学习的阿尔茨海默症患者与健康人群肠道微生物组中抗菌肽的差异性研究》。本次中期检查按导师意见，重点汇报研究思路与各项工作的完成程度。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767328" y="1975104"/>
            <a:ext cx="4657039" cy="33020"/>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969264"/>
            <a:ext cx="11057839" cy="457200"/>
          </a:xfrm>
          <a:prstGeom prst="rect">
            <a:avLst/>
          </a:prstGeom>
          <a:noFill/>
        </p:spPr>
        <p:txBody>
          <a:bodyPr wrap="square" anchor="t" lIns="36576" rIns="36576" tIns="0" bIns="0">
            <a:spAutoFit/>
          </a:bodyPr>
          <a:lstStyle/>
          <a:p>
            <a:pPr algn="ctr">
              <a:lnSpc>
                <a:spcPct val="118000"/>
              </a:lnSpc>
              <a:spcBef>
                <a:spcPts val="0"/>
              </a:spcBef>
              <a:spcAft>
                <a:spcPts val="0"/>
              </a:spcAft>
            </a:pPr>
            <a:r>
              <a:rPr sz="1900" b="1">
                <a:solidFill>
                  <a:srgbClr val="2F6FB0"/>
                </a:solidFill>
                <a:latin typeface="Arial"/>
                <a:ea typeface="微软雅黑"/>
                <a:cs typeface="Arial"/>
              </a:rPr>
              <a:t>研究生论文中期检查</a:t>
            </a:r>
          </a:p>
        </p:txBody>
      </p:sp>
      <p:sp>
        <p:nvSpPr>
          <p:cNvPr id="4" name="TextBox 3"/>
          <p:cNvSpPr txBox="1"/>
          <p:nvPr/>
        </p:nvSpPr>
        <p:spPr>
          <a:xfrm>
            <a:off x="566928" y="2249424"/>
            <a:ext cx="11057839" cy="155448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2324F"/>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2324F"/>
                </a:solidFill>
                <a:latin typeface="Arial"/>
                <a:ea typeface="微软雅黑"/>
                <a:cs typeface="Arial"/>
              </a:rPr>
              <a:t>肠道微生物组中抗菌肽的差异性研究</a:t>
            </a:r>
          </a:p>
        </p:txBody>
      </p:sp>
      <p:sp>
        <p:nvSpPr>
          <p:cNvPr id="5" name="TextBox 4"/>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18000"/>
              </a:lnSpc>
              <a:spcBef>
                <a:spcPts val="1000"/>
              </a:spcBef>
              <a:spcAft>
                <a:spcPts val="0"/>
              </a:spcAft>
            </a:pPr>
            <a:r>
              <a:rPr sz="1700" b="0">
                <a:solidFill>
                  <a:srgbClr val="12324F"/>
                </a:solidFill>
                <a:latin typeface="Arial"/>
                <a:ea typeface="微软雅黑"/>
                <a:cs typeface="Arial"/>
              </a:rPr>
              <a:t>汇报人：文绍华　　学号：2024110316</a:t>
            </a:r>
          </a:p>
          <a:p>
            <a:pPr algn="ctr">
              <a:lnSpc>
                <a:spcPct val="118000"/>
              </a:lnSpc>
              <a:spcBef>
                <a:spcPts val="1000"/>
              </a:spcBef>
              <a:spcAft>
                <a:spcPts val="0"/>
              </a:spcAft>
            </a:pPr>
            <a:r>
              <a:rPr sz="1700" b="0">
                <a:solidFill>
                  <a:srgbClr val="12324F"/>
                </a:solidFill>
                <a:latin typeface="Arial"/>
                <a:ea typeface="微软雅黑"/>
                <a:cs typeface="Arial"/>
              </a:rPr>
              <a:t>指导教师：申亮　　培养单位：生命科学学院</a:t>
            </a:r>
          </a:p>
          <a:p>
            <a:pPr algn="ctr">
              <a:lnSpc>
                <a:spcPct val="118000"/>
              </a:lnSpc>
              <a:spcBef>
                <a:spcPts val="1000"/>
              </a:spcBef>
              <a:spcAft>
                <a:spcPts val="0"/>
              </a:spcAft>
            </a:pPr>
            <a:r>
              <a:rPr sz="1700" b="0">
                <a:solidFill>
                  <a:srgbClr val="12324F"/>
                </a:solidFill>
                <a:latin typeface="Arial"/>
                <a:ea typeface="微软雅黑"/>
                <a:cs typeface="Arial"/>
              </a:rPr>
              <a:t>学科专业：生物学（生物化学与分子生物学）</a:t>
            </a:r>
          </a:p>
          <a:p>
            <a:pPr algn="ctr">
              <a:lnSpc>
                <a:spcPct val="118000"/>
              </a:lnSpc>
              <a:spcBef>
                <a:spcPts val="1000"/>
              </a:spcBef>
              <a:spcAft>
                <a:spcPts val="0"/>
              </a:spcAft>
            </a:pPr>
            <a:r>
              <a:rPr sz="1700" b="0">
                <a:solidFill>
                  <a:srgbClr val="12324F"/>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汇报提纲</a:t>
            </a:r>
          </a:p>
        </p:txBody>
      </p:sp>
      <p:sp>
        <p:nvSpPr>
          <p:cNvPr id="3" name="TextBox 2"/>
          <p:cNvSpPr txBox="1"/>
          <p:nvPr/>
        </p:nvSpPr>
        <p:spPr>
          <a:xfrm>
            <a:off x="566928" y="1435608"/>
            <a:ext cx="11057839" cy="3931920"/>
          </a:xfrm>
          <a:prstGeom prst="rect">
            <a:avLst/>
          </a:prstGeom>
          <a:noFill/>
        </p:spPr>
        <p:txBody>
          <a:bodyPr wrap="square" anchor="t" lIns="36576" rIns="36576" tIns="0" bIns="0">
            <a:spAutoFit/>
          </a:bodyPr>
          <a:lstStyle/>
          <a:p>
            <a:pPr algn="l">
              <a:lnSpc>
                <a:spcPct val="120000"/>
              </a:lnSpc>
              <a:spcBef>
                <a:spcPts val="0"/>
              </a:spcBef>
              <a:spcAft>
                <a:spcPts val="0"/>
              </a:spcAft>
            </a:pPr>
            <a:r>
              <a:rPr sz="2000" b="1">
                <a:solidFill>
                  <a:srgbClr val="2F9E8F"/>
                </a:solidFill>
                <a:latin typeface="Arial"/>
                <a:ea typeface="微软雅黑"/>
                <a:cs typeface="Arial"/>
              </a:rPr>
              <a:t>01　</a:t>
            </a:r>
            <a:r>
              <a:rPr sz="2000" b="0">
                <a:solidFill>
                  <a:srgbClr val="12324F"/>
                </a:solidFill>
                <a:latin typeface="Arial"/>
                <a:ea typeface="微软雅黑"/>
                <a:cs typeface="Arial"/>
              </a:rPr>
              <a:t>研究思路：从肠道微生物组到候选抗菌肽</a:t>
            </a:r>
          </a:p>
          <a:p>
            <a:pPr algn="l">
              <a:lnSpc>
                <a:spcPct val="120000"/>
              </a:lnSpc>
              <a:spcBef>
                <a:spcPts val="2000"/>
              </a:spcBef>
              <a:spcAft>
                <a:spcPts val="0"/>
              </a:spcAft>
            </a:pPr>
            <a:r>
              <a:rPr sz="2000" b="1">
                <a:solidFill>
                  <a:srgbClr val="2F9E8F"/>
                </a:solidFill>
                <a:latin typeface="Arial"/>
                <a:ea typeface="微软雅黑"/>
                <a:cs typeface="Arial"/>
              </a:rPr>
              <a:t>02　</a:t>
            </a:r>
            <a:r>
              <a:rPr sz="2000" b="0">
                <a:solidFill>
                  <a:srgbClr val="12324F"/>
                </a:solidFill>
                <a:latin typeface="Arial"/>
                <a:ea typeface="微软雅黑"/>
                <a:cs typeface="Arial"/>
              </a:rPr>
              <a:t>已完成：数据资源、短肽库与三模型共识预测</a:t>
            </a:r>
          </a:p>
          <a:p>
            <a:pPr algn="l">
              <a:lnSpc>
                <a:spcPct val="120000"/>
              </a:lnSpc>
              <a:spcBef>
                <a:spcPts val="2000"/>
              </a:spcBef>
              <a:spcAft>
                <a:spcPts val="0"/>
              </a:spcAft>
            </a:pPr>
            <a:r>
              <a:rPr sz="2000" b="1">
                <a:solidFill>
                  <a:srgbClr val="2F9E8F"/>
                </a:solidFill>
                <a:latin typeface="Arial"/>
                <a:ea typeface="微软雅黑"/>
                <a:cs typeface="Arial"/>
              </a:rPr>
              <a:t>03　</a:t>
            </a:r>
            <a:r>
              <a:rPr sz="2000" b="0">
                <a:solidFill>
                  <a:srgbClr val="12324F"/>
                </a:solidFill>
                <a:latin typeface="Arial"/>
                <a:ea typeface="微软雅黑"/>
                <a:cs typeface="Arial"/>
              </a:rPr>
              <a:t>已完成：分阶段差异分析与宏蛋白组二次去重</a:t>
            </a:r>
          </a:p>
          <a:p>
            <a:pPr algn="l">
              <a:lnSpc>
                <a:spcPct val="120000"/>
              </a:lnSpc>
              <a:spcBef>
                <a:spcPts val="2000"/>
              </a:spcBef>
              <a:spcAft>
                <a:spcPts val="0"/>
              </a:spcAft>
            </a:pPr>
            <a:r>
              <a:rPr sz="2000" b="1">
                <a:solidFill>
                  <a:srgbClr val="2F9E8F"/>
                </a:solidFill>
                <a:latin typeface="Arial"/>
                <a:ea typeface="微软雅黑"/>
                <a:cs typeface="Arial"/>
              </a:rPr>
              <a:t>04　</a:t>
            </a:r>
            <a:r>
              <a:rPr sz="2000" b="0">
                <a:solidFill>
                  <a:srgbClr val="12324F"/>
                </a:solidFill>
                <a:latin typeface="Arial"/>
                <a:ea typeface="微软雅黑"/>
                <a:cs typeface="Arial"/>
              </a:rPr>
              <a:t>下一步：与 AD 发病机制的关联分析</a:t>
            </a:r>
          </a:p>
          <a:p>
            <a:pPr algn="l">
              <a:lnSpc>
                <a:spcPct val="120000"/>
              </a:lnSpc>
              <a:spcBef>
                <a:spcPts val="2000"/>
              </a:spcBef>
              <a:spcAft>
                <a:spcPts val="0"/>
              </a:spcAft>
            </a:pPr>
            <a:r>
              <a:rPr sz="2000" b="1">
                <a:solidFill>
                  <a:srgbClr val="2F9E8F"/>
                </a:solidFill>
                <a:latin typeface="Arial"/>
                <a:ea typeface="微软雅黑"/>
                <a:cs typeface="Arial"/>
              </a:rPr>
              <a:t>05　</a:t>
            </a:r>
            <a:r>
              <a:rPr sz="2000" b="0">
                <a:solidFill>
                  <a:srgbClr val="12324F"/>
                </a:solidFill>
                <a:latin typeface="Arial"/>
                <a:ea typeface="微软雅黑"/>
                <a:cs typeface="Arial"/>
              </a:rPr>
              <a:t>下一步：候选抗菌肽抑菌实验验证</a:t>
            </a:r>
          </a:p>
          <a:p>
            <a:pPr algn="l">
              <a:lnSpc>
                <a:spcPct val="120000"/>
              </a:lnSpc>
              <a:spcBef>
                <a:spcPts val="2000"/>
              </a:spcBef>
              <a:spcAft>
                <a:spcPts val="0"/>
              </a:spcAft>
            </a:pPr>
            <a:r>
              <a:rPr sz="2000" b="1">
                <a:solidFill>
                  <a:srgbClr val="2F9E8F"/>
                </a:solidFill>
                <a:latin typeface="Arial"/>
                <a:ea typeface="微软雅黑"/>
                <a:cs typeface="Arial"/>
              </a:rPr>
              <a:t>06　</a:t>
            </a:r>
            <a:r>
              <a:rPr sz="2000" b="0">
                <a:solidFill>
                  <a:srgbClr val="12324F"/>
                </a:solidFill>
                <a:latin typeface="Arial"/>
                <a:ea typeface="微软雅黑"/>
                <a:cs typeface="Arial"/>
              </a:rPr>
              <a:t>工作进度与后续安排</a:t>
            </a:r>
          </a:p>
        </p:txBody>
      </p:sp>
      <p:sp>
        <p:nvSpPr>
          <p:cNvPr id="4" name="Rounded Rectangle 3"/>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按导师意见，本次汇报重点说明研究思路与各项工作的完成程度</a:t>
            </a:r>
          </a:p>
        </p:txBody>
      </p:sp>
      <p:sp>
        <p:nvSpPr>
          <p:cNvPr id="5" name="TextBox 4"/>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2 / 16</a:t>
            </a:r>
          </a:p>
        </p:txBody>
      </p:sp>
      <p:sp>
        <p:nvSpPr>
          <p:cNvPr id="6" name="TextBox 5"/>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研究思路：八步走的整体框架与完成进度</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研究思路</a:t>
            </a:r>
          </a:p>
        </p:txBody>
      </p:sp>
      <p:pic>
        <p:nvPicPr>
          <p:cNvPr id="4" name="Picture 3" descr="figA_研究思路总览.png"/>
          <p:cNvPicPr>
            <a:picLocks noChangeAspect="1"/>
          </p:cNvPicPr>
          <p:nvPr/>
        </p:nvPicPr>
        <p:blipFill>
          <a:blip r:embed="rId2"/>
          <a:stretch>
            <a:fillRect/>
          </a:stretch>
        </p:blipFill>
        <p:spPr>
          <a:xfrm>
            <a:off x="566928" y="1481328"/>
            <a:ext cx="11057839" cy="4149599"/>
          </a:xfrm>
          <a:prstGeom prst="rect">
            <a:avLst/>
          </a:prstGeom>
        </p:spPr>
      </p:pic>
      <p:sp>
        <p:nvSpPr>
          <p:cNvPr id="5" name="Rounded Rectangle 4"/>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主线：数据资源 → 短肽库 → 三模型共识预测 → 分阶段差异 → 去重筛选特有肽 → 机制关联与验证</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3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科学问题：AD 患者与健康人群的抗菌肽是否存在差异</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研究背景与科学问题</a:t>
            </a:r>
          </a:p>
        </p:txBody>
      </p:sp>
      <p:sp>
        <p:nvSpPr>
          <p:cNvPr id="4" name="TextBox 3"/>
          <p:cNvSpPr txBox="1"/>
          <p:nvPr/>
        </p:nvSpPr>
        <p:spPr>
          <a:xfrm>
            <a:off x="566928" y="1481328"/>
            <a:ext cx="11057839" cy="29260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背景　</a:t>
            </a:r>
            <a:r>
              <a:rPr sz="1700" b="0">
                <a:solidFill>
                  <a:srgbClr val="12324F"/>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700" b="1">
                <a:solidFill>
                  <a:srgbClr val="2F6FB0"/>
                </a:solidFill>
                <a:latin typeface="Arial"/>
                <a:ea typeface="微软雅黑"/>
                <a:cs typeface="Arial"/>
              </a:rPr>
              <a:t>切入点　</a:t>
            </a:r>
            <a:r>
              <a:rPr sz="1700" b="0">
                <a:solidFill>
                  <a:srgbClr val="12324F"/>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700" b="1">
                <a:solidFill>
                  <a:srgbClr val="2F6FB0"/>
                </a:solidFill>
                <a:latin typeface="Arial"/>
                <a:ea typeface="微软雅黑"/>
                <a:cs typeface="Arial"/>
              </a:rPr>
              <a:t>空白　</a:t>
            </a:r>
            <a:r>
              <a:rPr sz="1700" b="0">
                <a:solidFill>
                  <a:srgbClr val="12324F"/>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5" name="Rounded Rectangle 4"/>
          <p:cNvSpPr/>
          <p:nvPr/>
        </p:nvSpPr>
        <p:spPr>
          <a:xfrm>
            <a:off x="566928" y="4572000"/>
            <a:ext cx="11057839" cy="1060704"/>
          </a:xfrm>
          <a:prstGeom prst="roundRect">
            <a:avLst>
              <a:gd name="adj" fmla="val 8000"/>
            </a:avLst>
          </a:prstGeom>
          <a:solidFill>
            <a:srgbClr val="FDF2E3"/>
          </a:solidFill>
          <a:ln w="1587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8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2324F"/>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4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已完成：数据资源与微生物源短肽库构建</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已完成工作 · 第一步</a:t>
            </a:r>
          </a:p>
        </p:txBody>
      </p:sp>
      <p:sp>
        <p:nvSpPr>
          <p:cNvPr id="4" name="TextBox 3"/>
          <p:cNvSpPr txBox="1"/>
          <p:nvPr/>
        </p:nvSpPr>
        <p:spPr>
          <a:xfrm>
            <a:off x="566928" y="1618488"/>
            <a:ext cx="6446520" cy="4050792"/>
          </a:xfrm>
          <a:prstGeom prst="rect">
            <a:avLst/>
          </a:prstGeom>
          <a:noFill/>
        </p:spPr>
        <p:txBody>
          <a:bodyPr wrap="square" anchor="t" lIns="36576" rIns="36576" tIns="0" bIns="0">
            <a:spAutoFit/>
          </a:bodyPr>
          <a:lstStyle/>
          <a:p>
            <a:pPr algn="l">
              <a:lnSpc>
                <a:spcPct val="125000"/>
              </a:lnSpc>
              <a:spcBef>
                <a:spcPts val="0"/>
              </a:spcBef>
              <a:spcAft>
                <a:spcPts val="0"/>
              </a:spcAft>
            </a:pPr>
            <a:r>
              <a:rPr sz="1700" b="0">
                <a:solidFill>
                  <a:srgbClr val="2F6FB0"/>
                </a:solidFill>
                <a:latin typeface="Arial"/>
                <a:ea typeface="微软雅黑"/>
                <a:cs typeface="Arial"/>
              </a:rPr>
              <a:t>▪　</a:t>
            </a:r>
            <a:r>
              <a:rPr sz="1700" b="0">
                <a:solidFill>
                  <a:srgbClr val="12324F"/>
                </a:solidFill>
                <a:latin typeface="Arial"/>
                <a:ea typeface="微软雅黑"/>
                <a:cs typeface="Arial"/>
              </a:rPr>
              <a:t>完成全队列宏基因组数据的统一处理与质量评估，获得高质量的微生物基因组参考集</a:t>
            </a:r>
          </a:p>
          <a:p>
            <a:pPr algn="l">
              <a:lnSpc>
                <a:spcPct val="125000"/>
              </a:lnSpc>
              <a:spcBef>
                <a:spcPts val="1500"/>
              </a:spcBef>
              <a:spcAft>
                <a:spcPts val="0"/>
              </a:spcAft>
            </a:pPr>
            <a:r>
              <a:rPr sz="1700" b="0">
                <a:solidFill>
                  <a:srgbClr val="2F6FB0"/>
                </a:solidFill>
                <a:latin typeface="Arial"/>
                <a:ea typeface="微软雅黑"/>
                <a:cs typeface="Arial"/>
              </a:rPr>
              <a:t>▪　</a:t>
            </a:r>
            <a:r>
              <a:rPr sz="1700" b="0">
                <a:solidFill>
                  <a:srgbClr val="12324F"/>
                </a:solidFill>
                <a:latin typeface="Arial"/>
                <a:ea typeface="微软雅黑"/>
                <a:cs typeface="Arial"/>
              </a:rPr>
              <a:t>基于参考集完成小开放阅读框预测，构建覆盖全队列、非冗余的微生物源短肽库</a:t>
            </a:r>
          </a:p>
          <a:p>
            <a:pPr algn="l">
              <a:lnSpc>
                <a:spcPct val="125000"/>
              </a:lnSpc>
              <a:spcBef>
                <a:spcPts val="1500"/>
              </a:spcBef>
              <a:spcAft>
                <a:spcPts val="0"/>
              </a:spcAft>
            </a:pPr>
            <a:r>
              <a:rPr sz="1700" b="0">
                <a:solidFill>
                  <a:srgbClr val="2F6FB0"/>
                </a:solidFill>
                <a:latin typeface="Arial"/>
                <a:ea typeface="微软雅黑"/>
                <a:cs typeface="Arial"/>
              </a:rPr>
              <a:t>▪　</a:t>
            </a:r>
            <a:r>
              <a:rPr sz="1700" b="0">
                <a:solidFill>
                  <a:srgbClr val="12324F"/>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700" b="0">
                <a:solidFill>
                  <a:srgbClr val="2F6FB0"/>
                </a:solidFill>
                <a:latin typeface="Arial"/>
                <a:ea typeface="微软雅黑"/>
                <a:cs typeface="Arial"/>
              </a:rPr>
              <a:t>▪　</a:t>
            </a:r>
            <a:r>
              <a:rPr sz="1700" b="0">
                <a:solidFill>
                  <a:srgbClr val="12324F"/>
                </a:solidFill>
                <a:latin typeface="Arial"/>
                <a:ea typeface="微软雅黑"/>
                <a:cs typeface="Arial"/>
              </a:rPr>
              <a:t>参考集按物种多样性原则构建，减少因组装质量差异带来的样本偏倚</a:t>
            </a:r>
          </a:p>
        </p:txBody>
      </p:sp>
      <p:sp>
        <p:nvSpPr>
          <p:cNvPr id="5" name="Rounded Rectangle 4"/>
          <p:cNvSpPr/>
          <p:nvPr/>
        </p:nvSpPr>
        <p:spPr>
          <a:xfrm>
            <a:off x="7287768" y="1618488"/>
            <a:ext cx="4334256" cy="884681"/>
          </a:xfrm>
          <a:prstGeom prst="roundRect">
            <a:avLst>
              <a:gd name="adj" fmla="val 12000"/>
            </a:avLst>
          </a:prstGeom>
          <a:solidFill>
            <a:srgbClr val="EEF3F8"/>
          </a:solidFill>
          <a:ln w="15875">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6FB0"/>
                </a:solidFill>
                <a:latin typeface="Arial"/>
                <a:ea typeface="微软雅黑"/>
                <a:cs typeface="Arial"/>
              </a:rPr>
              <a:t>队列　</a:t>
            </a:r>
            <a:r>
              <a:rPr sz="1800" b="0">
                <a:solidFill>
                  <a:srgbClr val="12324F"/>
                </a:solidFill>
                <a:latin typeface="Arial"/>
                <a:ea typeface="微软雅黑"/>
                <a:cs typeface="Arial"/>
              </a:rPr>
              <a:t>例完整宏基因组样本</a:t>
            </a:r>
          </a:p>
        </p:txBody>
      </p:sp>
      <p:sp>
        <p:nvSpPr>
          <p:cNvPr id="6" name="Rounded Rectangle 5"/>
          <p:cNvSpPr/>
          <p:nvPr/>
        </p:nvSpPr>
        <p:spPr>
          <a:xfrm>
            <a:off x="7287768" y="2649473"/>
            <a:ext cx="4334256" cy="884681"/>
          </a:xfrm>
          <a:prstGeom prst="roundRect">
            <a:avLst>
              <a:gd name="adj" fmla="val 12000"/>
            </a:avLst>
          </a:prstGeom>
          <a:solidFill>
            <a:srgbClr val="EEF3F8"/>
          </a:solidFill>
          <a:ln w="15875">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6FB0"/>
                </a:solidFill>
                <a:latin typeface="Arial"/>
                <a:ea typeface="微软雅黑"/>
                <a:cs typeface="Arial"/>
              </a:rPr>
              <a:t>基因组　</a:t>
            </a:r>
            <a:r>
              <a:rPr sz="1800" b="0">
                <a:solidFill>
                  <a:srgbClr val="12324F"/>
                </a:solidFill>
                <a:latin typeface="Arial"/>
                <a:ea typeface="微软雅黑"/>
                <a:cs typeface="Arial"/>
              </a:rPr>
              <a:t>参考集（含高质量基因组）</a:t>
            </a:r>
          </a:p>
        </p:txBody>
      </p:sp>
      <p:sp>
        <p:nvSpPr>
          <p:cNvPr id="7" name="Rounded Rectangle 6"/>
          <p:cNvSpPr/>
          <p:nvPr/>
        </p:nvSpPr>
        <p:spPr>
          <a:xfrm>
            <a:off x="7287768" y="3680458"/>
            <a:ext cx="4334256" cy="884681"/>
          </a:xfrm>
          <a:prstGeom prst="roundRect">
            <a:avLst>
              <a:gd name="adj" fmla="val 12000"/>
            </a:avLst>
          </a:prstGeom>
          <a:solidFill>
            <a:srgbClr val="EEF3F8"/>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短肽库　</a:t>
            </a:r>
            <a:r>
              <a:rPr sz="1800" b="0">
                <a:solidFill>
                  <a:srgbClr val="12324F"/>
                </a:solidFill>
                <a:latin typeface="Arial"/>
                <a:ea typeface="微软雅黑"/>
                <a:cs typeface="Arial"/>
              </a:rPr>
              <a:t>非冗余微生物源短肽</a:t>
            </a:r>
          </a:p>
        </p:txBody>
      </p:sp>
      <p:sp>
        <p:nvSpPr>
          <p:cNvPr id="8" name="Rounded Rectangle 7"/>
          <p:cNvSpPr/>
          <p:nvPr/>
        </p:nvSpPr>
        <p:spPr>
          <a:xfrm>
            <a:off x="7287768" y="4711443"/>
            <a:ext cx="4334256" cy="884681"/>
          </a:xfrm>
          <a:prstGeom prst="roundRect">
            <a:avLst>
              <a:gd name="adj" fmla="val 12000"/>
            </a:avLst>
          </a:prstGeom>
          <a:solidFill>
            <a:srgbClr val="EEF3F8"/>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可溯源　</a:t>
            </a:r>
            <a:r>
              <a:rPr sz="1800" b="0">
                <a:solidFill>
                  <a:srgbClr val="12324F"/>
                </a:solidFill>
                <a:latin typeface="Arial"/>
                <a:ea typeface="微软雅黑"/>
                <a:cs typeface="Arial"/>
              </a:rPr>
              <a:t>每条短肽可回溯至样本</a:t>
            </a:r>
          </a:p>
        </p:txBody>
      </p:sp>
      <p:sp>
        <p:nvSpPr>
          <p:cNvPr id="9" name="Rounded Rectangle 8"/>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第一步与第二步均已完成：数据资源与短肽库已就绪，为后续预测与差异分析提供统一输入</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5 / 16</a:t>
            </a:r>
          </a:p>
        </p:txBody>
      </p:sp>
      <p:sp>
        <p:nvSpPr>
          <p:cNvPr id="11" name="TextBox 10"/>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已完成：三模型共识预测候选抗菌肽</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已完成工作 · 第三步</a:t>
            </a:r>
          </a:p>
        </p:txBody>
      </p:sp>
      <p:pic>
        <p:nvPicPr>
          <p:cNvPr id="4" name="Picture 3" descr="figB_三模型预测.png"/>
          <p:cNvPicPr>
            <a:picLocks noChangeAspect="1"/>
          </p:cNvPicPr>
          <p:nvPr/>
        </p:nvPicPr>
        <p:blipFill>
          <a:blip r:embed="rId2"/>
          <a:stretch>
            <a:fillRect/>
          </a:stretch>
        </p:blipFill>
        <p:spPr>
          <a:xfrm>
            <a:off x="1697226" y="1435608"/>
            <a:ext cx="8797242" cy="3063240"/>
          </a:xfrm>
          <a:prstGeom prst="rect">
            <a:avLst/>
          </a:prstGeom>
        </p:spPr>
      </p:pic>
      <p:sp>
        <p:nvSpPr>
          <p:cNvPr id="5" name="TextBox 4"/>
          <p:cNvSpPr txBox="1"/>
          <p:nvPr/>
        </p:nvSpPr>
        <p:spPr>
          <a:xfrm>
            <a:off x="566928" y="470916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三模型协同提高候选集合可信度；该步骤已完成，候选抗菌肽名单已产出</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6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已完成：分阶段抗菌肽差异分析</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已完成工作 · 第四步</a:t>
            </a:r>
          </a:p>
        </p:txBody>
      </p:sp>
      <p:pic>
        <p:nvPicPr>
          <p:cNvPr id="4" name="Picture 3" descr="figC_分阶段差异分析.png"/>
          <p:cNvPicPr>
            <a:picLocks noChangeAspect="1"/>
          </p:cNvPicPr>
          <p:nvPr/>
        </p:nvPicPr>
        <p:blipFill>
          <a:blip r:embed="rId2"/>
          <a:stretch>
            <a:fillRect/>
          </a:stretch>
        </p:blipFill>
        <p:spPr>
          <a:xfrm>
            <a:off x="1944351" y="1435608"/>
            <a:ext cx="8302992" cy="3063240"/>
          </a:xfrm>
          <a:prstGeom prst="rect">
            <a:avLst/>
          </a:prstGeom>
        </p:spPr>
      </p:pic>
      <p:sp>
        <p:nvSpPr>
          <p:cNvPr id="5" name="TextBox 4"/>
          <p:cNvSpPr txBox="1"/>
          <p:nvPr/>
        </p:nvSpPr>
        <p:spPr>
          <a:xfrm>
            <a:off x="566928" y="470916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按认知阶段对队列分组，比较各阶段与健康人群之间候选抗菌肽的丰度与组成差异，筛选出随病程变化明显的候选抗菌肽。</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先得到随病程变化的候选抗菌肽，再用表达证据过滤，为特有肽筛选做准备</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7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已完成：宏蛋白组二次去重，筛选特有抗菌肽</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已完成工作 · 第五步</a:t>
            </a:r>
          </a:p>
        </p:txBody>
      </p:sp>
      <p:pic>
        <p:nvPicPr>
          <p:cNvPr id="4" name="Picture 3" descr="figD_宏蛋白组去重.png"/>
          <p:cNvPicPr>
            <a:picLocks noChangeAspect="1"/>
          </p:cNvPicPr>
          <p:nvPr/>
        </p:nvPicPr>
        <p:blipFill>
          <a:blip r:embed="rId2"/>
          <a:stretch>
            <a:fillRect/>
          </a:stretch>
        </p:blipFill>
        <p:spPr>
          <a:xfrm>
            <a:off x="1356592" y="1435608"/>
            <a:ext cx="9478510" cy="3063240"/>
          </a:xfrm>
          <a:prstGeom prst="rect">
            <a:avLst/>
          </a:prstGeom>
        </p:spPr>
      </p:pic>
      <p:sp>
        <p:nvSpPr>
          <p:cNvPr id="5" name="TextBox 4"/>
          <p:cNvSpPr txBox="1"/>
          <p:nvPr/>
        </p:nvSpPr>
        <p:spPr>
          <a:xfrm>
            <a:off x="566928" y="470916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在第一层序列去冗余之后，引入宏蛋白组表达证据进行二次去重，只保留真实存在且被检出的抗菌肽，并据此区分健康人群特有与各疾病阶段特有的抗菌肽。</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二次去重解决两类问题：序列冗余，以及“有预测、无表达”的假阳性</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8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下一步：与 AD 发病机制的关联分析</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下一步计划 · 第六步</a:t>
            </a:r>
          </a:p>
        </p:txBody>
      </p:sp>
      <p:pic>
        <p:nvPicPr>
          <p:cNvPr id="4" name="Picture 3" descr="figE_机制关联.png"/>
          <p:cNvPicPr>
            <a:picLocks noChangeAspect="1"/>
          </p:cNvPicPr>
          <p:nvPr/>
        </p:nvPicPr>
        <p:blipFill>
          <a:blip r:embed="rId2"/>
          <a:stretch>
            <a:fillRect/>
          </a:stretch>
        </p:blipFill>
        <p:spPr>
          <a:xfrm>
            <a:off x="1612324" y="1435608"/>
            <a:ext cx="8967046" cy="3108959"/>
          </a:xfrm>
          <a:prstGeom prst="rect">
            <a:avLst/>
          </a:prstGeom>
        </p:spPr>
      </p:pic>
      <p:sp>
        <p:nvSpPr>
          <p:cNvPr id="5" name="TextBox 4"/>
          <p:cNvSpPr txBox="1"/>
          <p:nvPr/>
        </p:nvSpPr>
        <p:spPr>
          <a:xfrm>
            <a:off x="566928" y="4736592"/>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关联分析的落点：从“差异肽”推进到“可能与 AD 病理相关的候选肽”</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9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下一步：候选抗菌肽抑菌实验验证</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下一步计划 · 第七步</a:t>
            </a:r>
          </a:p>
        </p:txBody>
      </p:sp>
      <p:pic>
        <p:nvPicPr>
          <p:cNvPr id="4" name="Picture 3" descr="figF_抑菌实验方案.png"/>
          <p:cNvPicPr>
            <a:picLocks noChangeAspect="1"/>
          </p:cNvPicPr>
          <p:nvPr/>
        </p:nvPicPr>
        <p:blipFill>
          <a:blip r:embed="rId2"/>
          <a:stretch>
            <a:fillRect/>
          </a:stretch>
        </p:blipFill>
        <p:spPr>
          <a:xfrm>
            <a:off x="1348587" y="1463040"/>
            <a:ext cx="9494520" cy="3017520"/>
          </a:xfrm>
          <a:prstGeom prst="rect">
            <a:avLst/>
          </a:prstGeom>
        </p:spPr>
      </p:pic>
      <p:sp>
        <p:nvSpPr>
          <p:cNvPr id="5" name="TextBox 4"/>
          <p:cNvSpPr txBox="1"/>
          <p:nvPr/>
        </p:nvSpPr>
        <p:spPr>
          <a:xfrm>
            <a:off x="566928" y="475488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以通用、可及的微生物学方法，完成候选抗菌肽抑菌活性的直接验证</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10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工作进度：主要分析已完成，进入验证与撰写阶段</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工作进度</a:t>
            </a:r>
          </a:p>
        </p:txBody>
      </p:sp>
      <p:pic>
        <p:nvPicPr>
          <p:cNvPr id="4" name="Picture 3" descr="figG_进度甘特.png"/>
          <p:cNvPicPr>
            <a:picLocks noChangeAspect="1"/>
          </p:cNvPicPr>
          <p:nvPr/>
        </p:nvPicPr>
        <p:blipFill>
          <a:blip r:embed="rId2"/>
          <a:stretch>
            <a:fillRect/>
          </a:stretch>
        </p:blipFill>
        <p:spPr>
          <a:xfrm>
            <a:off x="1706007" y="1435608"/>
            <a:ext cx="8779680" cy="3063240"/>
          </a:xfrm>
          <a:prstGeom prst="rect">
            <a:avLst/>
          </a:prstGeom>
        </p:spPr>
      </p:pic>
      <p:sp>
        <p:nvSpPr>
          <p:cNvPr id="5" name="TextBox 4"/>
          <p:cNvSpPr txBox="1"/>
          <p:nvPr/>
        </p:nvSpPr>
        <p:spPr>
          <a:xfrm>
            <a:off x="566928" y="4709160"/>
            <a:ext cx="11057839" cy="91440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6" name="Rounded Rectangle 5"/>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前五项已完成，机制关联分析与抑菌实验验证正在推进，整体进度与开题计划一致</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11 / 16</a:t>
            </a:r>
          </a:p>
        </p:txBody>
      </p:sp>
      <p:sp>
        <p:nvSpPr>
          <p:cNvPr id="8" name="TextBox 7"/>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后续安排：四项收尾工作</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下一步计划</a:t>
            </a:r>
          </a:p>
        </p:txBody>
      </p:sp>
      <p:sp>
        <p:nvSpPr>
          <p:cNvPr id="4" name="TextBox 3"/>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E08A2E"/>
                </a:solidFill>
                <a:latin typeface="Arial"/>
                <a:ea typeface="微软雅黑"/>
                <a:cs typeface="Arial"/>
              </a:rPr>
              <a:t>1. 机制关联分析　</a:t>
            </a:r>
            <a:r>
              <a:rPr sz="1700" b="0">
                <a:solidFill>
                  <a:srgbClr val="12324F"/>
                </a:solidFill>
                <a:latin typeface="Arial"/>
                <a:ea typeface="微软雅黑"/>
                <a:cs typeface="Arial"/>
              </a:rPr>
              <a:t>完成特有抗菌肽与 Aβ 聚集、AChE 结合及炎症通路的关联分析，形成候选肽清单。</a:t>
            </a:r>
          </a:p>
          <a:p>
            <a:pPr algn="l">
              <a:lnSpc>
                <a:spcPct val="125000"/>
              </a:lnSpc>
              <a:spcBef>
                <a:spcPts val="1800"/>
              </a:spcBef>
              <a:spcAft>
                <a:spcPts val="0"/>
              </a:spcAft>
            </a:pPr>
            <a:r>
              <a:rPr sz="1700" b="1">
                <a:solidFill>
                  <a:srgbClr val="E08A2E"/>
                </a:solidFill>
                <a:latin typeface="Arial"/>
                <a:ea typeface="微软雅黑"/>
                <a:cs typeface="Arial"/>
              </a:rPr>
              <a:t>2. 抑菌实验验证　</a:t>
            </a:r>
            <a:r>
              <a:rPr sz="1700" b="0">
                <a:solidFill>
                  <a:srgbClr val="12324F"/>
                </a:solidFill>
                <a:latin typeface="Arial"/>
                <a:ea typeface="微软雅黑"/>
                <a:cs typeface="Arial"/>
              </a:rPr>
              <a:t>完成候选抗菌肽的合成与抑菌实验，获得抑菌活性初筛结果。</a:t>
            </a:r>
          </a:p>
          <a:p>
            <a:pPr algn="l">
              <a:lnSpc>
                <a:spcPct val="125000"/>
              </a:lnSpc>
              <a:spcBef>
                <a:spcPts val="1800"/>
              </a:spcBef>
              <a:spcAft>
                <a:spcPts val="0"/>
              </a:spcAft>
            </a:pPr>
            <a:r>
              <a:rPr sz="1700" b="1">
                <a:solidFill>
                  <a:srgbClr val="E08A2E"/>
                </a:solidFill>
                <a:latin typeface="Arial"/>
                <a:ea typeface="微软雅黑"/>
                <a:cs typeface="Arial"/>
              </a:rPr>
              <a:t>3. 结果整理　</a:t>
            </a:r>
            <a:r>
              <a:rPr sz="1700" b="0">
                <a:solidFill>
                  <a:srgbClr val="12324F"/>
                </a:solidFill>
                <a:latin typeface="Arial"/>
                <a:ea typeface="微软雅黑"/>
                <a:cs typeface="Arial"/>
              </a:rPr>
              <a:t>整理候选抗菌肽、特有肽与验证结果，形成完整的图表与结论。</a:t>
            </a:r>
          </a:p>
          <a:p>
            <a:pPr algn="l">
              <a:lnSpc>
                <a:spcPct val="125000"/>
              </a:lnSpc>
              <a:spcBef>
                <a:spcPts val="1800"/>
              </a:spcBef>
              <a:spcAft>
                <a:spcPts val="0"/>
              </a:spcAft>
            </a:pPr>
            <a:r>
              <a:rPr sz="1700" b="1">
                <a:solidFill>
                  <a:srgbClr val="E08A2E"/>
                </a:solidFill>
                <a:latin typeface="Arial"/>
                <a:ea typeface="微软雅黑"/>
                <a:cs typeface="Arial"/>
              </a:rPr>
              <a:t>4. 论文撰写　</a:t>
            </a:r>
            <a:r>
              <a:rPr sz="1700" b="0">
                <a:solidFill>
                  <a:srgbClr val="12324F"/>
                </a:solidFill>
                <a:latin typeface="Arial"/>
                <a:ea typeface="微软雅黑"/>
                <a:cs typeface="Arial"/>
              </a:rPr>
              <a:t>完成学位论文撰写与投稿论文准备，按计划申请预答辩。</a:t>
            </a:r>
          </a:p>
        </p:txBody>
      </p:sp>
      <p:sp>
        <p:nvSpPr>
          <p:cNvPr id="5" name="Rounded Rectangle 4"/>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收尾工作集中在分析结论与实验验证，不再涉及大规模数据生产</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12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与开题计划的对应关系</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工作对照</a:t>
            </a:r>
          </a:p>
        </p:txBody>
      </p:sp>
      <p:sp>
        <p:nvSpPr>
          <p:cNvPr id="4" name="TextBox 3"/>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650" b="1">
                <a:solidFill>
                  <a:srgbClr val="2F9E8F"/>
                </a:solidFill>
                <a:latin typeface="Arial"/>
                <a:ea typeface="微软雅黑"/>
                <a:cs typeface="Arial"/>
              </a:rPr>
              <a:t>数据准备　</a:t>
            </a:r>
            <a:r>
              <a:rPr sz="1650" b="0">
                <a:solidFill>
                  <a:srgbClr val="12324F"/>
                </a:solidFill>
                <a:latin typeface="Arial"/>
                <a:ea typeface="微软雅黑"/>
                <a:cs typeface="Arial"/>
              </a:rPr>
              <a:t>开题计划使用公开宏基因组数据 → 已完成全队列数据处理与参考集构建</a:t>
            </a:r>
          </a:p>
          <a:p>
            <a:pPr algn="l">
              <a:lnSpc>
                <a:spcPct val="125000"/>
              </a:lnSpc>
              <a:spcBef>
                <a:spcPts val="1600"/>
              </a:spcBef>
              <a:spcAft>
                <a:spcPts val="0"/>
              </a:spcAft>
            </a:pPr>
            <a:r>
              <a:rPr sz="1650" b="1">
                <a:solidFill>
                  <a:srgbClr val="2F9E8F"/>
                </a:solidFill>
                <a:latin typeface="Arial"/>
                <a:ea typeface="微软雅黑"/>
                <a:cs typeface="Arial"/>
              </a:rPr>
              <a:t>候选肽挖掘　</a:t>
            </a:r>
            <a:r>
              <a:rPr sz="1650" b="0">
                <a:solidFill>
                  <a:srgbClr val="12324F"/>
                </a:solidFill>
                <a:latin typeface="Arial"/>
                <a:ea typeface="微软雅黑"/>
                <a:cs typeface="Arial"/>
              </a:rPr>
              <a:t>开题计划提取 sORF 并预测抗菌肽 → 已完成短肽库构建与三模型共识预测</a:t>
            </a:r>
          </a:p>
          <a:p>
            <a:pPr algn="l">
              <a:lnSpc>
                <a:spcPct val="125000"/>
              </a:lnSpc>
              <a:spcBef>
                <a:spcPts val="1600"/>
              </a:spcBef>
              <a:spcAft>
                <a:spcPts val="0"/>
              </a:spcAft>
            </a:pPr>
            <a:r>
              <a:rPr sz="1650" b="1">
                <a:solidFill>
                  <a:srgbClr val="2F9E8F"/>
                </a:solidFill>
                <a:latin typeface="Arial"/>
                <a:ea typeface="微软雅黑"/>
                <a:cs typeface="Arial"/>
              </a:rPr>
              <a:t>差异分析　</a:t>
            </a:r>
            <a:r>
              <a:rPr sz="1650" b="0">
                <a:solidFill>
                  <a:srgbClr val="12324F"/>
                </a:solidFill>
                <a:latin typeface="Arial"/>
                <a:ea typeface="微软雅黑"/>
                <a:cs typeface="Arial"/>
              </a:rPr>
              <a:t>开题计划按病程阶段比较 → 已完成分阶段差异分析，并新增宏蛋白组二次去重</a:t>
            </a:r>
          </a:p>
          <a:p>
            <a:pPr algn="l">
              <a:lnSpc>
                <a:spcPct val="125000"/>
              </a:lnSpc>
              <a:spcBef>
                <a:spcPts val="1600"/>
              </a:spcBef>
              <a:spcAft>
                <a:spcPts val="0"/>
              </a:spcAft>
            </a:pPr>
            <a:r>
              <a:rPr sz="1650" b="1">
                <a:solidFill>
                  <a:srgbClr val="2F9E8F"/>
                </a:solidFill>
                <a:latin typeface="Arial"/>
                <a:ea typeface="微软雅黑"/>
                <a:cs typeface="Arial"/>
              </a:rPr>
              <a:t>模型方案　</a:t>
            </a:r>
            <a:r>
              <a:rPr sz="1650" b="0">
                <a:solidFill>
                  <a:srgbClr val="12324F"/>
                </a:solidFill>
                <a:latin typeface="Arial"/>
                <a:ea typeface="微软雅黑"/>
                <a:cs typeface="Arial"/>
              </a:rPr>
              <a:t>开题拟构建 DeepMetaAMP → 实际采用 Attention / LSTM / BERT 三个已发表模型协同预测</a:t>
            </a:r>
          </a:p>
          <a:p>
            <a:pPr algn="l">
              <a:lnSpc>
                <a:spcPct val="125000"/>
              </a:lnSpc>
              <a:spcBef>
                <a:spcPts val="1600"/>
              </a:spcBef>
              <a:spcAft>
                <a:spcPts val="0"/>
              </a:spcAft>
            </a:pPr>
            <a:r>
              <a:rPr sz="1650" b="1">
                <a:solidFill>
                  <a:srgbClr val="2F9E8F"/>
                </a:solidFill>
                <a:latin typeface="Arial"/>
                <a:ea typeface="微软雅黑"/>
                <a:cs typeface="Arial"/>
              </a:rPr>
              <a:t>机制与验证　</a:t>
            </a:r>
            <a:r>
              <a:rPr sz="1650" b="0">
                <a:solidFill>
                  <a:srgbClr val="12324F"/>
                </a:solidFill>
                <a:latin typeface="Arial"/>
                <a:ea typeface="微软雅黑"/>
                <a:cs typeface="Arial"/>
              </a:rPr>
              <a:t>开题拟做功能与可视化分析 → 下一步进行机制关联分析与抑菌实验验证</a:t>
            </a:r>
          </a:p>
        </p:txBody>
      </p:sp>
      <p:sp>
        <p:nvSpPr>
          <p:cNvPr id="5" name="Rounded Rectangle 4"/>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研究方向未变，仅在预测模型与去重环节做了更务实的调整</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13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存在问题与应对措施</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问题与对策</a:t>
            </a:r>
          </a:p>
        </p:txBody>
      </p:sp>
      <p:sp>
        <p:nvSpPr>
          <p:cNvPr id="4" name="Rounded Rectangle 3"/>
          <p:cNvSpPr/>
          <p:nvPr/>
        </p:nvSpPr>
        <p:spPr>
          <a:xfrm>
            <a:off x="566928" y="1527048"/>
            <a:ext cx="11057839" cy="1170432"/>
          </a:xfrm>
          <a:prstGeom prst="roundRect">
            <a:avLst>
              <a:gd name="adj" fmla="val 8000"/>
            </a:avLst>
          </a:prstGeom>
          <a:solidFill>
            <a:srgbClr val="FDF2E3"/>
          </a:solidFill>
          <a:ln w="1587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2324F"/>
                </a:solidFill>
                <a:latin typeface="Arial"/>
                <a:ea typeface="微软雅黑"/>
                <a:cs typeface="Arial"/>
              </a:rPr>
              <a:t>应对：以三模型共识判定提高候选集合可信度，再用宏蛋白组表达证据二次去重，最后以抑菌实验验证活性。</a:t>
            </a:r>
          </a:p>
        </p:txBody>
      </p:sp>
      <p:sp>
        <p:nvSpPr>
          <p:cNvPr id="5" name="Rounded Rectangle 4"/>
          <p:cNvSpPr/>
          <p:nvPr/>
        </p:nvSpPr>
        <p:spPr>
          <a:xfrm>
            <a:off x="566928" y="2825496"/>
            <a:ext cx="11057839" cy="1170432"/>
          </a:xfrm>
          <a:prstGeom prst="roundRect">
            <a:avLst>
              <a:gd name="adj" fmla="val 8000"/>
            </a:avLst>
          </a:prstGeom>
          <a:solidFill>
            <a:srgbClr val="FDF2E3"/>
          </a:solidFill>
          <a:ln w="1587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2324F"/>
                </a:solidFill>
                <a:latin typeface="Arial"/>
                <a:ea typeface="微软雅黑"/>
                <a:cs typeface="Arial"/>
              </a:rPr>
              <a:t>应对：在丰度分析阶段改用全量基因组回贴，恢复样本覆盖，避免参考集筛选造成样本缺失。</a:t>
            </a:r>
          </a:p>
        </p:txBody>
      </p:sp>
      <p:sp>
        <p:nvSpPr>
          <p:cNvPr id="6" name="Rounded Rectangle 5"/>
          <p:cNvSpPr/>
          <p:nvPr/>
        </p:nvSpPr>
        <p:spPr>
          <a:xfrm>
            <a:off x="566928" y="4123944"/>
            <a:ext cx="11057839" cy="1170432"/>
          </a:xfrm>
          <a:prstGeom prst="roundRect">
            <a:avLst>
              <a:gd name="adj" fmla="val 8000"/>
            </a:avLst>
          </a:prstGeom>
          <a:solidFill>
            <a:srgbClr val="FDF2E3"/>
          </a:solidFill>
          <a:ln w="15875">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2324F"/>
                </a:solidFill>
                <a:latin typeface="Arial"/>
                <a:ea typeface="微软雅黑"/>
                <a:cs typeface="Arial"/>
              </a:rPr>
              <a:t>应对：以对接与分子模拟、文献比对为主，明确研究定位为“线索发现”，不夸大因果结论。</a:t>
            </a:r>
          </a:p>
        </p:txBody>
      </p:sp>
      <p:sp>
        <p:nvSpPr>
          <p:cNvPr id="7" name="Rounded Rectangle 6"/>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三个问题都有具体对策，不影响整体进度</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14 / 16</a:t>
            </a:r>
          </a:p>
        </p:txBody>
      </p:sp>
      <p:sp>
        <p:nvSpPr>
          <p:cNvPr id="9" name="TextBox 8"/>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92608"/>
            <a:ext cx="11057839" cy="658368"/>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预期成果</a:t>
            </a:r>
          </a:p>
        </p:txBody>
      </p:sp>
      <p:sp>
        <p:nvSpPr>
          <p:cNvPr id="3" name="TextBox 2"/>
          <p:cNvSpPr txBox="1"/>
          <p:nvPr/>
        </p:nvSpPr>
        <p:spPr>
          <a:xfrm>
            <a:off x="566928" y="1005840"/>
            <a:ext cx="11057839" cy="329184"/>
          </a:xfrm>
          <a:prstGeom prst="rect">
            <a:avLst/>
          </a:prstGeom>
          <a:noFill/>
        </p:spPr>
        <p:txBody>
          <a:bodyPr wrap="square" anchor="t" lIns="36576" rIns="36576" tIns="0" bIns="0">
            <a:spAutoFit/>
          </a:bodyPr>
          <a:lstStyle/>
          <a:p>
            <a:pPr algn="l">
              <a:lnSpc>
                <a:spcPct val="118000"/>
              </a:lnSpc>
              <a:spcBef>
                <a:spcPts val="0"/>
              </a:spcBef>
              <a:spcAft>
                <a:spcPts val="200"/>
              </a:spcAft>
            </a:pPr>
            <a:r>
              <a:rPr sz="1600" b="0">
                <a:solidFill>
                  <a:srgbClr val="6B7C8C"/>
                </a:solidFill>
                <a:latin typeface="Arial"/>
                <a:ea typeface="微软雅黑"/>
                <a:cs typeface="Arial"/>
              </a:rPr>
              <a:t>成果形式</a:t>
            </a:r>
          </a:p>
        </p:txBody>
      </p:sp>
      <p:sp>
        <p:nvSpPr>
          <p:cNvPr id="4" name="TextBox 3"/>
          <p:cNvSpPr txBox="1"/>
          <p:nvPr/>
        </p:nvSpPr>
        <p:spPr>
          <a:xfrm>
            <a:off x="566928" y="1618488"/>
            <a:ext cx="11057839" cy="4050792"/>
          </a:xfrm>
          <a:prstGeom prst="rect">
            <a:avLst/>
          </a:prstGeom>
          <a:noFill/>
        </p:spPr>
        <p:txBody>
          <a:bodyPr wrap="square" anchor="t" lIns="36576" rIns="36576" tIns="0" bIns="0">
            <a:spAutoFit/>
          </a:bodyPr>
          <a:lstStyle/>
          <a:p>
            <a:pPr algn="l">
              <a:lnSpc>
                <a:spcPct val="125000"/>
              </a:lnSpc>
              <a:spcBef>
                <a:spcPts val="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一套完整的肠道微生物源抗菌肽挖掘分析流程，可复用于其他队列与疾病</a:t>
            </a:r>
          </a:p>
          <a:p>
            <a:pPr algn="l">
              <a:lnSpc>
                <a:spcPct val="125000"/>
              </a:lnSpc>
              <a:spcBef>
                <a:spcPts val="180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健康人群与 AD 各阶段特有的候选抗菌肽清单，作为后续研究的线索集</a:t>
            </a:r>
          </a:p>
          <a:p>
            <a:pPr algn="l">
              <a:lnSpc>
                <a:spcPct val="125000"/>
              </a:lnSpc>
              <a:spcBef>
                <a:spcPts val="180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候选抗菌肽与 AD 发病机制关联的分析结果（Aβ 聚集、AChE 结合、炎症通路）</a:t>
            </a:r>
          </a:p>
          <a:p>
            <a:pPr algn="l">
              <a:lnSpc>
                <a:spcPct val="125000"/>
              </a:lnSpc>
              <a:spcBef>
                <a:spcPts val="180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候选抗菌肽抑菌活性的初步实验证据</a:t>
            </a:r>
          </a:p>
          <a:p>
            <a:pPr algn="l">
              <a:lnSpc>
                <a:spcPct val="125000"/>
              </a:lnSpc>
              <a:spcBef>
                <a:spcPts val="1800"/>
              </a:spcBef>
              <a:spcAft>
                <a:spcPts val="0"/>
              </a:spcAft>
            </a:pPr>
            <a:r>
              <a:rPr sz="1750" b="0">
                <a:solidFill>
                  <a:srgbClr val="2F6FB0"/>
                </a:solidFill>
                <a:latin typeface="Arial"/>
                <a:ea typeface="微软雅黑"/>
                <a:cs typeface="Arial"/>
              </a:rPr>
              <a:t>▪　</a:t>
            </a:r>
            <a:r>
              <a:rPr sz="1750" b="0">
                <a:solidFill>
                  <a:srgbClr val="12324F"/>
                </a:solidFill>
                <a:latin typeface="Arial"/>
                <a:ea typeface="微软雅黑"/>
                <a:cs typeface="Arial"/>
              </a:rPr>
              <a:t>以第一作者撰写并投稿 SCI 收录论文 1 篇，完成学位论文</a:t>
            </a:r>
          </a:p>
        </p:txBody>
      </p:sp>
      <p:sp>
        <p:nvSpPr>
          <p:cNvPr id="5" name="Rounded Rectangle 4"/>
          <p:cNvSpPr/>
          <p:nvPr/>
        </p:nvSpPr>
        <p:spPr>
          <a:xfrm>
            <a:off x="566928" y="5760720"/>
            <a:ext cx="11057839" cy="548640"/>
          </a:xfrm>
          <a:prstGeom prst="roundRect">
            <a:avLst>
              <a:gd name="adj" fmla="val 8000"/>
            </a:avLst>
          </a:prstGeom>
          <a:solidFill>
            <a:srgbClr val="ECF7F4"/>
          </a:solidFill>
          <a:ln w="15875">
            <a:solidFill>
              <a:srgbClr val="2F9E8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成果既包括数据与清单，也包括机制线索与实验证据</a:t>
            </a:r>
          </a:p>
        </p:txBody>
      </p:sp>
      <p:sp>
        <p:nvSpPr>
          <p:cNvPr id="6" name="TextBox 5"/>
          <p:cNvSpPr txBox="1"/>
          <p:nvPr/>
        </p:nvSpPr>
        <p:spPr>
          <a:xfrm>
            <a:off x="10682935" y="6437376"/>
            <a:ext cx="1097280" cy="274320"/>
          </a:xfrm>
          <a:prstGeom prst="rect">
            <a:avLst/>
          </a:prstGeom>
          <a:noFill/>
        </p:spPr>
        <p:txBody>
          <a:bodyPr wrap="square" anchor="t" lIns="36576" rIns="36576" tIns="0" bIns="0">
            <a:spAutoFit/>
          </a:bodyPr>
          <a:lstStyle/>
          <a:p>
            <a:pPr algn="r">
              <a:lnSpc>
                <a:spcPct val="118000"/>
              </a:lnSpc>
              <a:spcBef>
                <a:spcPts val="0"/>
              </a:spcBef>
              <a:spcAft>
                <a:spcPts val="0"/>
              </a:spcAft>
            </a:pPr>
            <a:r>
              <a:rPr sz="1500" b="0">
                <a:solidFill>
                  <a:srgbClr val="6B7C8C"/>
                </a:solidFill>
                <a:latin typeface="Arial"/>
                <a:ea typeface="微软雅黑"/>
                <a:cs typeface="Arial"/>
              </a:rPr>
              <a:t>15 / 16</a:t>
            </a:r>
          </a:p>
        </p:txBody>
      </p:sp>
      <p:sp>
        <p:nvSpPr>
          <p:cNvPr id="7" name="TextBox 6"/>
          <p:cNvSpPr txBox="1"/>
          <p:nvPr/>
        </p:nvSpPr>
        <p:spPr>
          <a:xfrm>
            <a:off x="566928" y="6437376"/>
            <a:ext cx="7863840" cy="274320"/>
          </a:xfrm>
          <a:prstGeom prst="rect">
            <a:avLst/>
          </a:prstGeom>
          <a:noFill/>
        </p:spPr>
        <p:txBody>
          <a:bodyPr wrap="square" anchor="t" lIns="36576" rIns="36576" tIns="0" bIns="0">
            <a:spAutoFit/>
          </a:bodyPr>
          <a:lstStyle/>
          <a:p>
            <a:pPr algn="l">
              <a:lnSpc>
                <a:spcPct val="118000"/>
              </a:lnSpc>
              <a:spcBef>
                <a:spcPts val="0"/>
              </a:spcBef>
              <a:spcAft>
                <a:spcPts val="0"/>
              </a:spcAft>
            </a:pPr>
            <a:r>
              <a:rPr sz="1500" b="0">
                <a:solidFill>
                  <a:srgbClr val="6B7C8C"/>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377440"/>
            <a:ext cx="11057839" cy="1371600"/>
          </a:xfrm>
          <a:prstGeom prst="rect">
            <a:avLst/>
          </a:prstGeom>
          <a:noFill/>
        </p:spPr>
        <p:txBody>
          <a:bodyPr wrap="square" anchor="t" lIns="36576" rIns="36576" tIns="0" bIns="0">
            <a:spAutoFit/>
          </a:bodyPr>
          <a:lstStyle/>
          <a:p>
            <a:pPr algn="ctr">
              <a:lnSpc>
                <a:spcPct val="118000"/>
              </a:lnSpc>
              <a:spcBef>
                <a:spcPts val="0"/>
              </a:spcBef>
              <a:spcAft>
                <a:spcPts val="1400"/>
              </a:spcAft>
            </a:pPr>
            <a:r>
              <a:rPr sz="3400" b="1">
                <a:solidFill>
                  <a:srgbClr val="12324F"/>
                </a:solidFill>
                <a:latin typeface="Arial"/>
                <a:ea typeface="微软雅黑"/>
                <a:cs typeface="Arial"/>
              </a:rPr>
              <a:t>恳请各位老师批评指正</a:t>
            </a:r>
          </a:p>
          <a:p>
            <a:pPr algn="ctr">
              <a:lnSpc>
                <a:spcPct val="118000"/>
              </a:lnSpc>
              <a:spcBef>
                <a:spcPts val="0"/>
              </a:spcBef>
              <a:spcAft>
                <a:spcPts val="0"/>
              </a:spcAft>
            </a:pPr>
            <a:r>
              <a:rPr sz="2200" b="0">
                <a:solidFill>
                  <a:srgbClr val="2F6FB0"/>
                </a:solidFill>
                <a:latin typeface="Arial"/>
                <a:ea typeface="微软雅黑"/>
                <a:cs typeface="Arial"/>
              </a:rPr>
              <a:t>谢谢！</a:t>
            </a:r>
          </a:p>
        </p:txBody>
      </p:sp>
      <p:sp>
        <p:nvSpPr>
          <p:cNvPr id="3" name="TextBox 2"/>
          <p:cNvSpPr txBox="1"/>
          <p:nvPr/>
        </p:nvSpPr>
        <p:spPr>
          <a:xfrm>
            <a:off x="566928" y="4206240"/>
            <a:ext cx="11057839" cy="731520"/>
          </a:xfrm>
          <a:prstGeom prst="rect">
            <a:avLst/>
          </a:prstGeom>
          <a:noFill/>
        </p:spPr>
        <p:txBody>
          <a:bodyPr wrap="square" anchor="t" lIns="36576" rIns="36576" tIns="0" bIns="0">
            <a:spAutoFit/>
          </a:bodyPr>
          <a:lstStyle/>
          <a:p>
            <a:pPr algn="ctr">
              <a:lnSpc>
                <a:spcPct val="118000"/>
              </a:lnSpc>
              <a:spcBef>
                <a:spcPts val="0"/>
              </a:spcBef>
              <a:spcAft>
                <a:spcPts val="0"/>
              </a:spcAft>
            </a:pPr>
            <a:r>
              <a:rPr sz="1600" b="0">
                <a:solidFill>
                  <a:srgbClr val="6B7C8C"/>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