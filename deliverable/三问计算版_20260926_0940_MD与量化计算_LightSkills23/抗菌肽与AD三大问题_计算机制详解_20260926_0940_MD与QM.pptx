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封面。本册只回答三个问题，方法只写计算类方法：分子动力学、增强采样与自由能、量化计算、以及直接相关的组学统计与机器学习。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总览：三个问题怎么算。计算手段与输出量的一页对照；先看这张表，再进入各篇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开场先交代范围与方法边界：本册不写实验操作、不写与三问无关的 AD 流行病学与临床内容。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 ↔ 计算方法 ↔ 输出量 ↔ 判据（总览）：逐项参数见表格；讲解时先读表头，再按行说明取值与理由。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 ↔ 计算方法 ↔ 输出量 ↔ 判据（总览）：逐项参数见表格；讲解时先读表头，再按行说明取值与理由。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 ↔ 计算方法 ↔ 输出量 ↔ 判据（总览）：逐项参数见表格；讲解时先读表头，再按行说明取值与理由。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要点：计算能算的是「能量与结构」，不能替代「因果」：所有数值都必须有实验标尺对照。；三个问题的时间尺度完全不同：结合（0.1-10 μs）→ 菌群调控（日-周，用生态模型）→ 穿膜（稀有事件，必须增强采样）。；可复现是硬要求：力场/水模型/离子浓度/耦合器/时间步/随机种子/软件版本全部写清，轨迹与脚本一并归档。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问题一：抗菌肽与 Aβ 如何结合。全原子 MD + 增强采样 + MM-PBSA + DFT/QM-MM：从界面到自由能到电子结构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要点：Aβ42 生理 pH 下净电荷约 −3e（D1/E3/D7/E11/E22），AMP 净电荷 +2~+6e → 长程静电先拉近。；随后由 Aβ 的两个疏水核心（17-KLVFFA-22、30-36）与 AMP 的疏水面/芳香残基形成疏水与 π-π 堆叠。；防御素类（HD-6/HBD-1/HNP-1）以 β-折叠面与 Aβ 交叉成核，亚化学计量比即抑制纤维形成。；结果是双向的：抑制长直纤维，但可能稳定或形成新的毒性异源寡聚体（LL-37 与 Aβ 的 1:1 摩尔比可完全阻断纤维）。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把「结合」拆成五个可计算层次：逐项参数见表格；讲解时先读表头，再按行说明取值与理由。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要点：Aβ42 = DAEFRHDSGYEVHHQKLVFFAEDVGSNKGAIIGLMVGGVVIA：N 端 1-16 富极性/带电（金属配位：His6/His13/His14）；17-22 疏水核心（F19/F20）；30-42 第二疏水/β 段。；Aβ40 与 Aβ42 差两个 C 端残基（I41/A42）→ Aβ42 更疏水、更易成核。；AMP 家族：LL-37（+6e、两亲 α-螺旋）、HD-6（三对二硫键、β-折叠、纳米网）、HBD-1（+3e）、HNP-1/NP-3A、PG-1。；Aβ 本身即抗菌肽（Soscia 2010；Kumar 2016）→ 本题本质是「两个 AMP 之间的异源相互作用」。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 Aβ 交叉作用的抗菌肽成员清单：逐项参数见表格；讲解时先读表头，再按行说明取值与理由。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实验锚点：算出来的数要和谁对上：逐项参数见表格；讲解时先读表头，再按行说明取值与理由。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 建模对象与结构来源：逐项参数见表格；讲解时先读表头，再按行说明取值与理由。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力场与水模型的搭配方案：逐项参数见表格；讲解时先读表头，再按行说明取值与理由。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要点：pH 7.4：Asp/Glu 去质子化、Lys/Arg 质子化、His 中性（可做 CpHMD 或 His 两态对照）。；二硫键：防御素（HD-6/HBD-1/HNP-1）必须显式建模三对二硫键，并检查 S-S 距离。；端基：AMP 常见 C 端酰胺化（−NH₂），会改变净电荷与螺旋稳定性，必须与实验序列一致。；离子：中和后补至 0.15 M NaCl，膜体系可加 1-2 mM Ca²⁺/Mg²⁺。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标准模拟流程参数（可直接照抄进方法部分）：逐项参数见表格；讲解时先读表头，再按行说明取值与理由。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标准模拟流程参数（可直接照抄进方法部分）：逐项参数见表格；讲解时先读表头，再按行说明取值与理由。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必做轨迹分析指标：逐项参数见表格；讲解时先读表头，再按行说明取值与理由。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要点：采样是否足够：块平均（5-10 块）给出均值 ± 标准误；块间波动超过 1 个标准误即视为未收敛。；重复独立性：每体系 3-5 条独立轨迹（不同随机种子/初速度/初始构象），报告重复间标准差。；系统性误差：力场/水模型/质子化态/离子强度做敏感性分析，明确写出结论依赖哪个参数。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MM-PBSA/MM-GBSA 推荐参数：逐项参数见表格；讲解时先读表头，再按行说明取值与理由。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要点：残基分解：&amp;decomp（idecomp=2、dec_verbose=1、print_res 界面 4 Å 内残基），按 TOTAL 列排序，≥0.5 kcal/mol 才算有贡献，≥1-2 kcal/mol 且误差小才写进结论。；FEP/TI 突变扫描：12-20 个 λ 窗、每窗 5-10 ns、软核势 α≈0.5、σ≈0.3 nm、BAR/MBAR 估计，正反向检查滞后。；与实验对标：ΔG_exp = RT·ln(K_D)（300 K 下 1 kcal/mol ≈ 5.5 倍 K_D 差异）；报告排序一致性（Spearman ρ）与 MAE，而非强求绝对值相等。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伞形采样（结合/解离 PMF）参数：逐项参数见表格；讲解时先读表头，再按行说明取值与理由。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元动力学 + OPES；副本交换（REMD）；MSM；DMD（离散 MD）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要点：对接：AutoDock Vina 1.2.5（exhaustiveness 32-64，盒子 30×30×30 Å）；ClusPro 2.0（平衡/静电/疏水打分）；HADDOCK 2.4（把 MD 热点残基设为 active residues 做数据驱动对接）。；结构预测：AlphaFold2/ColabFold（单体）、AlphaFold3（肽-蛋白复合物，注意两亲螺旋与无序区偏差）、ESMFold（快速备选）。；一致性判据：不同方法给出的界面残基集合 Jaccard 重叠 ≥0.6 才认为界面可靠；单一方法支持的热点必须标注待验证。；所有预测/对接结构必须经 MD 平衡 + MM-PBSA 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推荐的四个 DFT 片段模型：逐项参数见表格；讲解时先读表头，再按行说明取值与理由。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量化计算级别推荐：逐项参数见表格；讲解时先读表头，再按行说明取值与理由。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NBO（电荷转移）；AIM / QTAIM；NCI / IRI 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要点：QM/MM（ONIOM）：界面残基 + 金属 + 桥连水划为 QM 区（50-150 原子），其余 MM；静电嵌入；链路原子用氢或伪势处理。；金属参数化：小模型 DFT 优化配位几何（B3LYP-D3/6-31G(d)）→ MCPB.py 拟合力常数与 RESP 电荷 → MD 中核对金属-配体距离与 EXAFS/NMR 一致。；AIM 分析金属-配体键：金属-咪唑氮键通常强于金属-氧键；Cu/Fe/Zn 的配位数差异会改变界面静电与聚集倾向。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要点：把体系按残基切片段，PIEDA 给出残基 i-残基 j 的相互作用能分解（静电、交换、电荷转移、色散）。；用途：把 MD 的残基分解（MM-PBSA）与 QM 的残基分解（PIEDA）并列比较，两者一致的热点残基可信度最高。；成本：按片段数线性扩展，200-600 片段体系需数千 CPU 核时，属可承受范围。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量化计算的验收标准：逐项参数见表格；讲解时先读表头，再按行说明取值与理由。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问题一的六条可检验预测：逐项参数见表格；讲解时先读表头，再按行说明取值与理由。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要点：无序体系采样：Aβ 单体本质无序 → 用 REMD + MSM + 多重复，报告构象系综而非单一结构。；力场偏差：不同力场对无序肽的 Rg 与螺旋倾向差异可达 10-20%，直接影响 ΔG_bind。；形态多态性：单体/寡聚体/纤维三种形态的结合机制不同，必须写清针对哪一种。；熵与界面水：MM-PBSA 熵项误差常 ±2-5 kcal/mol；报告有/无熵两版结果。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问题二：抗菌肽与肠道菌群调控如何导致 AD。AMP 挖掘 + 差异丰度 + 网络与因果 + 生态动力学 + 膜/LPS 的 MD 与 DFT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要点：链路 A（菌群 → AMP）：TLR/NOD2/IL-22-STAT3 轴调控宿主 AMP 表达，同时微生物自身也编码大量 AMP。；链路 B（AMP → 菌群）：AMP 通过膜裂解与膜电位改变施加选择压力，重塑菌群组成（而非总量）——α-防御素缺失/过量小鼠的菌群方向相反反转，细菌总量不变。；链路 C（菌群/AMP → AD）：LPS、SCFA、细菌淀粉样蛋白推动肠屏障损伤、系统性炎症与中枢病理。；计算三层：分子层（AMP-菌膜/LPS 的 MD 与 DFT）→ 生态层（共现网络 + Lotka-Volterra 型模型）→ 人群层（宏基因组差异丰度 + 中介分析 + MR）。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三条链路与对应计算手段：逐项参数见表格；讲解时先读表头，再按行说明取值与理由。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关键实验证据（作为计算标尺）：逐项参数见表格；讲解时先读表头，再按行说明取值与理由。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要点：设计与功效：效应量 d = 0.3-0.5、α = 0.05、功效 0.8，考虑多重检验与组成性方差膨胀后样本量再上调 1.5-2 倍；提前固定主要/次要终点与协变量。；数据与元数据：curatedMetagenomicData / MGnify / HMP2 / ENA-SRA；统一疾病分期、年龄、性别、APOE、BMI、教育、用药、饮食、批次。；QC：fastp（Q&lt;20、长度&lt;50 bp、含 N&gt;5 去除，开去重与 polyG 修剪）→ Bowtie2 去宿主（GRCh38，去掉 &gt;90% 相似度比对）→ SortMeRNA 去 rRNA → MultiQC 汇总。；分类与功能：MetaPhlAn 4（主）与 Kraken2+Bracken（交叉验证，一致性 ρ &gt; 0.7 才用）→ HUMAnN 3 通路定量；多样性用 Shannon 与 Aitchison 距离 + PERMANOVA。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分类与功能定量方案（含交叉验证）：逐项参数见表格；讲解时先读表头，再按行说明取值与理由。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 挖掘工具链与阈值（共识策略）：逐项参数见表格；讲解时先读表头，再按行说明取值与理由。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差异丰度方法选择（组成性数据）：逐项参数见表格；讲解时先读表头，再按行说明取值与理由。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要点：共现网络：SparCC 或 SPIEC-EASI + 100 次 bootstrap，只保留出现率 &gt;80%、|r| &gt; 0.4、FDR &lt; 0.05 的边；把 AMP 家族与菌属放在同一张网里找枢纽。；负相关边更有信息量：AMP 与某菌属显著负相关 → 提示抑制（需 MD/MIC 支持）；正相关 → 可能是菌群诱导 AMP 表达。；中介分析：「菌群（暴露）→ AMP/LPS/SCFA（中介）→ AD 标志物（结局）」，反事实框架估计 NIE/NDE，bootstrap 1000 次给 CI，报告中介比例。；两样本 MR：菌群 GWAS SNP 为工具变量、AD GWAS 为结局；IVW 主分析 + MR-Egger/加权中位数/MR-PRESSO/Steiger 检验；结论必须附 DAG。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要点：方程：dxᵢ/dt = xᵢ ( rᵢ + Σⱼ aᵢⱼ xⱼ − Σₖ kᵢ⁽ᵏ⁾ Pₖ )；AMP 动力学：dPₖ/dt = βₖ(菌群诱导) − δₖ Pₖ。；参数估计：横断面用稳态近似 + 贝叶斯回归；纵向数据用 ABC/MCMC；先验来自 MD 插入自由能与 MIC 数据。；分析输出：Jacobian 特征值（稳定性）、分岔分析（AMP 浓度阈值导致菌群稳态跳变）、Sobol 全局敏感性指数（找关键参数）。；意义：解释「组成改变但总量不变」的实验现象，并给出可干预的定量靶点。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AMP–细菌膜体系的建模与模拟参数：逐项参数见表格；讲解时先读表头，再按行说明取值与理由。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要点：片段模型：lipid A 的 4′-磷酸 + 葡萄糖胺环（简化）+ AMP 的 Arg/Lys 侧链；研究离子竞争时加入显式 Mg²⁺(H₂O)₄。；计算级别：B3LYP-D3(BJ)/6-31+G(d,p) 优化；M06-2X 或 ωB97X-D/def2-TZVP 单点；溶剂用 SMD 水（ε=78.4）与低介电（ε=5）双条件对照。；分析：SAPT/EDA 相互作用能分解；NBO 看「磷酸氧孤对 → 胍基 N-H 反键」电荷转移；AIM 读 P-O···H-N 的 ρ 与 ∇²ρ；比较有/无 Mg²⁺ 的结合能差。；预期结论：AMP 与 lipid A 结合以静电为主（ΔE_elst &gt;60%），并被 Mg²⁺ 显著竞争 → 解释高盐/高阳离子条件下活性下降。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机器学习建模要点：逐项参数见表格；讲解时先读表头，再按行说明取值与理由。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问题二的七条可检验预测：逐项参数见表格；讲解时先读表头，再按行说明取值与理由。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要点：因果方向：横断面数据只支持关联；AMP 与菌群是双向环，需纵向或干预证据（MR 只解决部分方向性问题）。；组成性与零膨胀：相对丰度不能直接做 t 检验，必须用 CLR/Aitchison 与专门的差异丰度方法，并做多方法敏感性分析。；AMP 预测假阳性：不同工具判别差异大 → 共识策略 + 宏蛋白组/宏转录组交叉验证（文献中 2,349 → 216 → 181，仍有约 16% 假阳性）。；时间尺度脱节：MD 纳秒-微秒 vs 菌群日-周 → MD 输出作为参数进入生态模型，不能直接解释人群差异。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问题三：抗菌肽穿过血脑屏障如何导致 AD。BBB 膜模型 + 跨膜 PMF/渗透系数 + 转运体途径 + 渗透性 ML + 穿越后动力学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要点：能不能：高正电荷两亲肽（LL-37 约 +6e）被动穿越疏水核心的势垒常 &gt;20 kcal/mol → 纯被动扩散的通量极低。；怎么：真正的通道更可能是「膜活性诱导的局部缺陷 + 转运体（PEPT2/SLC15A2）+ 受体转胞吞（LRP1/RAGE）」；炎症导致 claudin-5 下调会打开旁细胞途径，把通量放大 1-3 个数量级。；过去之后：脑内 AMP 与 Aβ 共聚集（可能稳定/形成毒性异源寡聚体）、激活微胶质 TLR4/FPR2、释放 IL-1β/IL-6，进一步破坏 BBB → 正反馈。；计算主线：膜模型 MD → PMF + ISD 得 P_app → 转运体/受体对接与 MM-PBSA → ML logBB 互证 → 信号 ODE 与分岔分析。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把「穿过 BBB」拆成三个可计算子问题：逐项参数见表格；讲解时先读表头，再按行说明取值与理由。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BBB 问题的实验标尺：逐项参数见表格；讲解时先读表头，再按行说明取值与理由。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BBB 模型膜的组成与建模参数：逐项参数见表格；讲解时先读表头，再按行说明取值与理由。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跨膜 PMF 计算参数：逐项参数见表格；讲解时先读表头，再按行说明取值与理由。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公式与解释：1 / P_app = ∫ exp[ ΔG(z) / (k_B T) ] / D(z) dz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加速与增强采样方案对照：逐项参数见表格；讲解时先读表头，再按行说明取值与理由。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要点：PEPT2（SLC15A2）：AlphaFold3 建模 → 与 LL-37 片段及已知底物（Gly-Sar）分别对接（Vina, exhaustiveness 64）→ 膜环境 MD 500 ns-1 μs → MM-PBSA 比较结合自由能（差 ≤2-3 kcal/mol 则可竞争转运）。；LRP1/RAGE：把 AMP 与 RAGE 的 V 域、LRP1 配体结合重复序列对接 + MD + MM-PBSA，检验「AMP 是否占据 Aβ 的结合位点」。；FPR2/P2X7/TLR4：重点不是穿越而是激活 → 对接找结合口袋，把结合分数输入信号动力学模型。；旁细胞途径：claudin-5 下调时紧密连接开放；用 claudin-5 胞外环片段的 MD/QM-MM 评估 AMP 是否扰动其构象；宏观可用孔隙模型 + 泊松-能斯特-普朗克方程估计通量。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渗透性预测的数据、特征与模型：逐项参数见表格；讲解时先读表头，再按行说明取值与理由。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要点：脑内共聚集 MD：脑环境 pH 7.0-7.3、含 Cu²⁺/Zn²⁺；体系为 1-4 条 AMP + 2-8 条 Aβ42（单体/寡聚体/纤维种子），1-5 μs × 3 重复，统计异源接触与 β 含量。；信号 ODE：受体激活 Hill 型方程 + 细胞因子级联（IL-1β/IL-6）+ 正反馈项（细胞因子 → BBB 通透性上升 → AMP 入脑增加）。；输出：细胞因子时间曲线、稳态 AMP 阈值、正反馈分岔点；Sobol 敏感性分析给后续实验排序。；与淀粉样通路耦合：炎症 → 小胶质吞噬下降 → Aβ 清除减少 → Aβ 累积 → 炎症加剧（耦合 ODE 的稳定性与分岔分析）。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BBB 问题的量化计算方案：逐项参数见表格；讲解时先读表头，再按行说明取值与理由。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问题三的六条可检验预测：逐项参数见表格；讲解时先读表头，再按行说明取值与理由。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要点：模型简化：真实 BBB 有内皮/周细胞/星形胶质足突 + 基膜 + 糖萼 + 多个转运体；纯脂质双层只是被动扩散的下限模型。；时间尺度：完整穿孔与转胞吞在微秒-秒量级，纯 MD 无法覆盖，必须增强采样 + 外推并标注外推误差。；浓度与寡聚态：实验常用微摩尔级，生理浓度可能低 1-2 个数量级；膜上单体/二聚/多聚会改变势垒。；生理态 vs 病理态：AD 患者 BBB 已受损，穿越门槛不同；必须分别给出两种条件下的参数（如 claudin-5 正常/下调）。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方法总表：工具、机时与可复现。软件版本、资源估算、验证策略与十条常见陷阱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三个问题涉及的软件与版本建议：逐项参数见表格；讲解时先读表头，再按行说明取值与理由。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三个问题涉及的软件与版本建议：逐项参数见表格；讲解时先读表头，再按行说明取值与理由。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典型计算任务的资源量级估计：逐项参数见表格；讲解时先读表头，再按行说明取值与理由。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要点：模拟：固定随机种子、记录软件版本、保存 .mdp/.top/.itp、写明力场与脂质/糖参数集。；分析：全部脚本化（Python/MDAnalysis/MDTraj），不做手工点选；统计报告包含均值 ± 标准误与样本量。；组学：Snakemake/Nextflow 流程 + conda 环境或容器镜像；数据与代码归档 Zenodo 附 DOI。；模型：保存模型、特征清单、交叉验证划分（按受试者）；报告超参搜索范围与选择依据。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三类计算的验证策略：逐项参数见表格；讲解时先读表头，再按行说明取值与理由。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要点：① 用 AF2 预测的无序肽当真实构象直接做对接与自由能。② 只跑一条轨迹就下结论、无误差棒。；③ MM-PBSA 用了含平衡段的全部轨迹。④ 伞形采样窗口重叠 &lt;30% 却不做收敛检验。；⑤ 混用异源力场参数（蛋白 CHARMM36m + 脂质 AMBER + 糖 GLYCAM）导致膜性质失真。；⑥ DFT 未做色散校正、未加弥散函数、未检查基组收敛。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要点：机制与实验锚点：LL-37-Aβ 结合与纤维抑制、α-防御素交叉成核、β-淀粉样蛋白的抗菌功能、LL-37 的神经炎症效应。；菌群与 AD：α-防御素调控菌群、RegIIIγ 空间隔离、AD 队列菌群差异、无菌/抗生素小鼠、SCFA/LPS 中介、脑内 LPS。；BBB：BBB 生理与病理、RAGE/LRP1 转运、PEPT2/SLC15、PAMPA-BBB 与 BB 数据集、机器学习渗透性预测。；方法与工具：MD 引擎与力场、伞形采样/元动力学/REMD/MSM/FEP、gmx_MMPBSA、DFT/SAPT/NBO/AIM/NCI/FMO、AMP 挖掘工具与统计方法。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结束页：三问对应三套计算主线，全部参数与判据见正文表格与参考文献。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08760"/>
            <a:ext cx="201168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微软雅黑"/>
              </a:rPr>
              <a:t>抗菌肽与阿尔茨海默病三大问题的计算机制详解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E2EC"/>
                </a:solidFill>
                <a:latin typeface="微软雅黑"/>
              </a:rPr>
              <a:t>分子动力学（MD）与量化计算（QM/DFT）为主的文献密集版方法学手册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D98A"/>
                </a:solidFill>
                <a:latin typeface="微软雅黑"/>
              </a:rPr>
              <a:t>只回答三个问题：① 抗菌肽与 Aβ 如何结合；② 抗菌肽与肠道菌群调控如何导致 AD；③ 抗菌肽如何穿过血脑屏障导致 AD。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生成时间（北京时间）：2026-09-26 09:40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范围：只回答三个命题；方法只含计算类（MD / 增强采样与自由能 / 对接与结构预测 / DFT-QM / 组学统计与机器学习）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引用文献：153 条（含 DOI / PMID / PMC 可核验条目）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生成脚本：code/make_triq_computational.py（模块：triq_common / triq_refs / triq_q1-q4 / triq_render / triq_render_pptx / triq_slides）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技能：Light-skills 23 项（light-literature-search / light-paper-writing / light-citation / light-figure / light-data-engineering 等） + find-skills 3.5M + docx + pptx + content-research-writer + doc-coauthoring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总览：三个问题怎么算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计算手段与输出量的一页对照；先看这张表，再进入各篇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本册范围与阅读方式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只回答三个问题；只写计算方法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只回答三个问题：① 抗菌肽与 Aβ 如何结合；② 抗菌肽与肠道菌群调控如何导致 AD；③ 抗菌肽如何穿过血脑屏障导致 AD。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只写计算方法：分子动力学（MD）、增强采样与自由能、分子对接与结构预测、量化计算（DFT/QM-MM/FMO），以及与三问直接相关的组学统计与机器学习。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实验内容只作为「标尺」：结合常数、CD/ThT/TEM 形态、菌群差异、MIC、PAMPA-BBB 通透性。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每节固定四步：命题拆解 → 实验锚点 → 计算方案与参数 → 判据与不确定性。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零基础读者：先看本页与总览表，再看术语表；已有 MD 基础者：直接看参数表与判据表。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三个问题 ↔ 计算方法 ↔ 输出量 ↔ 判据（总览）（1/3）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全部计算方案的收敛性判据与对标实验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主要计算手段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算出来的量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和什么对得上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① 抗菌肽与 Aβ 如何结合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全原子 MD（1-10 μs，多重复）；伞形采样 / 元动力学求 PMF；MM-PBSA/GBSA 与残基分解；FEP/TI 突变循环；分子对接 + AlphaFold2/3；DFT/QM-MM 片段计算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ΔG_bind（kcal/mol）、K_D 估计、界面热点残基、二级结构转变、氢键/盐桥寿命、π-π 堆叠构型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SPRi 的 K_D、CD 的 β→无规卷曲转变、TEM/AFM 纤维形态、突变实验的活性变化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三个问题 ↔ 计算方法 ↔ 输出量 ↔ 判据（总览）（2/3）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全部计算方案的收敛性判据与对标实验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主要计算手段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算出来的量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和什么对得上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② 抗菌肽-肠道菌群调控如何导致 AD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宏基因组/宏转录组 AMP 挖掘（Macrel、AMPlify、LSTM+Attention+BERT 共识）；差异丰度（ANCOM-BC2/MaAsLin2/DESeq2）；共现网络（SparCC/SPIEC-EASI）；因果（中介分析、两样本 MR）；生态动力学 ODE（Lotka-Volterra/consumer-resource）；AMP-菌膜/LPS 的 MD 与 PMF；脂质 A-肽的 DFT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家族丰度差（log2FC、CLR）、菌群-AMP 共变边、抑制系数 k_i、插入自由能 ΔG(z)、AMP 与 lipid A 的结合能、机器学习分类 AUC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队列里 AD/MCI/健康人的菌群差异、粪便/血清 LPS 与 SCFA、无菌与抗生素小鼠的表型、MIC 数据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三个问题 ↔ 计算方法 ↔ 输出量 ↔ 判据（总览）（3/3）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全部计算方案的收敛性判据与对标实验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主要计算手段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算出来的量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和什么对得上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③ 抗菌肽穿过血脑屏障如何导致 AD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生理性脑内皮膜模型（含胆固醇/鞘脂/糖萼）MD；跨膜 PMF + 非均匀溶解度-扩散（ISD）渗透系数；加速采样（高温 MD、GaMD、SMD、Milestoning）；PEPT2/LRP1/RAGE 对接与 MM-PBSA；logBB / BBB score / CNS MPO 与图神经网络、语言模型预测；穿越后共聚集 MD 与 TLR4/FPR2 信号 ODE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ΔG(z) 自由能剖面、P_app（cm/s）、logBB、转运体结合热点、微胶质激活阈值、正反馈分岔点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PAMPA-BBB 的 P_e、体内脑/血浆分配比、脑膜炎与炎症模型中 BBB 通透性变化、claudin-5 与 ICAM-1 表达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三条最关键的提醒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决定了这套计算是否站得住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计算能算的是「能量与结构」，不能替代「因果」：所有数值都必须有实验标尺对照。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三个问题的时间尺度完全不同：结合（0.1-10 μs）→ 菌群调控（日-周，用生态模型）→ 穿膜（稀有事件，必须增强采样）。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可复现是硬要求：力场/水模型/离子浓度/耦合器/时间步/随机种子/软件版本全部写清，轨迹与脚本一并归档。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问题一：抗菌肽与 Aβ 如何结合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全原子 MD + 增强采样 + MM-PBSA + DFT/QM-MM：从界面到自由能到电子结构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一句话答案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静电牵引 + 疏水锚定 + 结构互补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Aβ42 生理 pH 下净电荷约 −3e（D1/E3/D7/E11/E22），AMP 净电荷 +2~+6e → 长程静电先拉近。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随后由 Aβ 的两个疏水核心（17-KLVFFA-22、30-36）与 AMP 的疏水面/芳香残基形成疏水与 π-π 堆叠。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防御素类（HD-6/HBD-1/HNP-1）以 β-折叠面与 Aβ 交叉成核，亚化学计量比即抑制纤维形成。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结果是双向的：抑制长直纤维，但可能稳定或形成新的毒性异源寡聚体（LL-37 与 Aβ 的 1:1 摩尔比可完全阻断纤维）。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计算三件套：MD 定界面、MM-PBSA/伞形采样定自由能、DFT/QM-MM 定电子本质。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把「结合」拆成五个可计算层次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层次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要回答的物理问题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主要计算手段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① 识别与靠近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两者在溶液中如何相互靠近？是静电导向还是随机碰撞？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长时间 MD；计算电荷分布、静电势面、扩散系数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相遇速率趋势、初始接触残基、驻留时间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② 界面构象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结合界面由哪些残基组成？AMP 的螺旋/β 面朝向哪一侧？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MD（多重复）＋界面接触频率＋结构聚类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热点残基列表、接触图、代表性复合物结构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③ 结合强度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ΔG_bind 有多大？与 K_D 是否一致？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MM-PBSA/GBSA；FEP/TI；伞形采样 PMF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ΔG_bind（kcal/mol）、K_D 估计、误差棒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④ 结合后的命运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结合后 Aβ 是继续成核、被锁定为寡聚体、还是被模板封端？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多肽体系 MD（2-8 条 Aβ ＋ AMP）；二级成核动力学模型；DMD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二级成核速率常数 k₂、纤维延伸速率、异源寡聚体比例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⑤ 电子层面细节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关键氢键/盐桥/π-π 的相互作用本质是什么？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DFT 片段模型、QM/MM、SAPT/EDA、NBO、AIM、NCI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相互作用能分解、电荷转移量、键临界点性质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分子基础：Aβ 与抗菌肽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序列特征与结构要素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Aβ42 = DAEFRHDSGYEVHHQKLVFFAEDVGSNKGAIIGLMVGGVVIA：N 端 1-16 富极性/带电（金属配位：His6/His13/His14）；17-22 疏水核心（F19/F20）；30-42 第二疏水/β 段。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Aβ40 与 Aβ42 差两个 C 端残基（I41/A42）→ Aβ42 更疏水、更易成核。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AMP 家族：LL-37（+6e、两亲 α-螺旋）、HD-6（三对二硫键、β-折叠、纳米网）、HBD-1（+3e）、HNP-1/NP-3A、PG-1。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 本身即抗菌肽（Soscia 2010；Kumar 2016）→ 本题本质是「两个 AMP 之间的异源相互作用」。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与 Aβ 交叉作用的抗菌肽成员清单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4518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成员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来源/长度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结构特征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与 Aβ 的已知相互作用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计算切入点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LL-37（hCAP18 的 C 端片段）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人，37 aa，唯一的人源 cathelicidin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两亲性 α-螺旋（膜模拟环境中）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SPRi 显示与 Aβ42 特异结合；CD 显示阻止 Aβ42 转为 β 结构；TEM 显示抑制长直纤维；1:1 摩尔比可完全阻断 Aβ42 纤维形成；但可能稳定毒性寡聚体/异源寡聚体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人源最相关；MD ＋ MM-PBSA 主模型；DFT 片段研究其 F/K/R 残基与 Aβ 静电/芳香作用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HD-6（人 α-防御素 6）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人肠潘氏细胞，32 aa，三对二硫键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三股 β-折叠，可自组装成纳米网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与 Aβ、hIAPP、hCT 交叉成核，亚化学计量比即抑制聚集；保留抗菌活性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β 模板机制的理想模型；MD 研究 β-β 互补；DFT 研究二硫键约束下的界面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HBD-1（人 β-防御素 1）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人，广泛表达于黏膜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β-折叠 ＋ 三对二硫键，净电荷约 +3e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同样抑制 Aβ、hIAPP、hCT；抑制效率 Aβ &gt; hCT &gt; hIAPP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净电荷与 Aβ（−3e）的静电匹配是解释抑制差异的钥匙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HNP-1 / NP-3A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人中性粒细胞 / 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α-防御素，β-折叠富集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亚化学计量比抑制 Aβ、hIAPP、hCT 聚集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与 HD-6 对照，检验「like-interact-like」假说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Protegrin-1（PG-1）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猪白细胞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β-发夹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同时抑制 Aβ 聚集与微生物感染（体内外）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可作跨物种对照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Aβ 自身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APP 酶切产物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两亲、可形成孔道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本身具有抗菌活性（抗细菌/真菌），是先天免疫效应分子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把 Aβ 视为 AMP 的「自结合/自聚集」问题，与 AMP-Aβ 异源聚集互为镜像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细菌来源 AMP / 细菌淀粉样蛋白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肠道微生物组编码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序列多样（curli、TasA、PSM 等）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与 Aβ 交叉成核，可能促进聚集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问题二的计算对象（宏基因组挖掘）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实验锚点：算出来的数要和谁对上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实验手段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给出的量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典型量级/说明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计算对标方式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SPRi（表面等离子体共振成像）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结合常数 K_A / K_D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与 Aβ42 为微摩尔级特异结合；对不同 Aβ 形态（单体/寡聚/纤维）结合强度不同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ΔG_bind = RT·ln(K_D)，300 K 下 1 kcal/mol 对应约 5.5 倍 K_D 差异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CD（圆二色谱）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二级结构含量随时间变化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Aβ42 单独孵育 24 h 转为 β 结构（约 52%）；加入防御素后 β 含量下降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DSSP 计算的 β/无规卷曲比例应与之一致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ThT 荧光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纤维形成动力学（延迟期、生长速率）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加入 AMP 后延迟期延长、平台降低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纤维生长模型给出的 k₊、k₂ 应与 ThT 曲线一致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TEM / AFM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纤维形态（长直/短弯曲/无纤维）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使 Aβ42 无法形成长直纤维；HD-6 不拆解已成形纤维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MD 复合物结构应能解释形貌变化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NMR / EPR / 交联质谱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界面残基与距离约束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给出参与界面的残基清单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接触频率高的残基应与实验界面重叠（Jaccard 一致性）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细胞毒（LDH/MTT）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毒性变化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HD-6 可降低 Aβ 诱导的细胞毒性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异源寡聚体比例的模拟结果作定性对照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MD 建模对象与结构来源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Aβ 单体/寡聚体/纤维 + AMP + 复合物 + 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4518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对象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推荐结构来源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说明与注意点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Aβ42 单体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无单一晶体结构（本质无序）。可用 NMR 系综（如 PDB 1Z0Q 等）/ 文献构象；或用 ColabFold/AlphaFold2 生成后经 REMD 重采样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AF2 对内在无序蛋白会给出低 pLDDT 且偏塌缩的构象，不能直接当「真实单体」使用；建议以 a99SB-disp 或 CHARMM36m 的长时间采样得到系综，并报告构象多样性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Aβ42 纤维（成熟态）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PDB 2BEG（Lührs 2005）、2LMN/2LMP（Paravastu 2008）、5OQV（Gremer 2017）、5KK3（Colvin 2016）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注意纤维多态性：不同 PDB 对应不同 polymorph，结论要绑定具体构象；纤维模型放大到 3 层以上会超过百万原子，需 CM/多尺度处理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Aβ42 寡聚体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多为计算构建（二聚/三聚/四聚）：由单体经 MD 自组装、或用实验约束（交联质谱/EPR）限制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寡聚体是毒性最强也最难建模的物种；建议用多副本 + MSM 表达其构象异质性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PDB 2K6O（膜模拟胶束中的 NMR 结构）；游离态用 AlphaFold3/ColabFold 生成螺旋后再 MD 平衡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游离态 LL-37 不是单一稳定螺旋，须报告螺旋含量分布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HD-6 / HBD-1 / HNP-1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PDB 1ZMQ（HD-6）；其余在 RCSB 检索对应防御素条目后复核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务必显式建模三对二硫键，否则折叠会散架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复合物（AMP + Aβ）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先用 HADDOCK/ClusPro/Vina 生成候选界面，再 MD 精修；或用 AF3 预测复合物后 MD 验证稳定性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对接结果只作起点；最终界面必须由 MD 接触频率与 MM-PBSA 分解共同支持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膜/界面体系（可选）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POPC/POPE/POPS ＋ 胆固醇 ＋ GM1 的神经元膜模型；CHARMM-GUI Membrane Builder 构建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用于解释「膜介导的构象转变」，是问题一向问题三过渡的桥梁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力场与水模型的搭配方案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无序体系必须做力场敏感性分析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蛋白力场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水模型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离子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适用与理由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方案 A（推荐主方案）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a99SB-disp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TIP4P-D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0.15 M NaCl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专为「折叠 + 无序」平衡设计，能较好复现 Aβ 这类无序肽的尺寸与二级结构倾向；对无序体系避免过度塌缩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方案 B（对照）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CHARMM36m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TIP3P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0.15 M NaCl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膜与脂质参数成熟，便于与膜体系、与文献主体结果对接；对螺旋/膜相互作用友好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方案 C（传统对照）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AMBER ff99SB-ILDN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TIP3P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0.15 M NaCl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文献量最大、便于与既往结果比较，但无序肽易过度塌缩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膜体系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CHARMM36m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TIP3P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0.15 M NaCl ＋ 适量 Mg²⁺/Ca²⁺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脂质参数与糖脂参数兼容；膜体系通常沿用 CHARMM36m 家族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15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拓扑与质子化态（最容易忽视、最容易出错）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写进论文方法部分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pH 7.4：Asp/Glu 去质子化、Lys/Arg 质子化、His 中性（可做 CpHMD 或 His 两态对照）。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二硫键：防御素（HD-6/HBD-1/HNP-1）必须显式建模三对二硫键，并检查 S-S 距离。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端基：AMP 常见 C 端酰胺化（−NH₂），会改变净电荷与螺旋稳定性，必须与实验序列一致。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离子：中和后补至 0.15 M NaCl，膜体系可加 1-2 mM Ca²⁺/Mg²⁺。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16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标准模拟流程参数（可直接照抄进方法部分）（1/2）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系综/条件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时长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① 结构准备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缺失原子补齐（pdb2gmx/tleap）、加氢、His 状态、二硫键、N/C 端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② 能量最小化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最速下降 5000 步 → 共轭梯度 5000 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收敛判据 Fmax &lt; 1000 kJ·mol⁻¹·nm⁻¹；消除原子重叠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③ 体系构建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水盒（TIP3P/TIP4P-D），盒边距 ≥1.2 nm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离子强度 0.15 M；盒型 dodecahedron 或 cubic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④ NVT 平衡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恒温恒体积，300 K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100-500 ps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V-rescale 或 Nosé-Hoover 控温（τ = 0.1-1.0 ps）；位置约束逐步释放（1000→500→100→0 kJ·mol⁻¹·nm⁻²）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⑤ NPT 平衡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恒温恒压，1 bar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1-5 ns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Parrinello-Rahman 或 C-rescale（τ_p = 2-5 ps）；膜体系用半各向异性（semiisotropic）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⑥ 生产 MD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NPT，300 K，1 bar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1-5 μs × 3-5 重复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时间步 2 fs（LINCS 约束含 H 键）；或氢质量重分配后 4 fs；PME 实空间截断 1.0-1.2 nm；邻居列表 1.2 nm（Verlet 方案）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17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标准模拟流程参数（可直接照抄进方法部分）（2/2）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系综/条件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时长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⑦ 采样记录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每 10-20 ps 保存全坐标（.xtc）；每 1-5 ps 保存能量；随机种子固定并记录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必做轨迹分析指标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把轨迹变成数字与结论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35834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定义/阈值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工具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在本文中用来回答什么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RMSD / RMSF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相对起始或平均结构；RMSD 平台（最后 500 ns 漂移 &lt; 0.2-0.3 nm）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gmx rms / rmsf、MDTraj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体系是否平衡；哪段最柔性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回转半径 Rg、SASA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无序肽 Rg 常 1.4-2.2 nm；与实验/文献比较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gmx gyrate / sasa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结合是否引起塌缩/暴露疏水面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二级结构（DSSP）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螺旋 %、β %（无规卷曲为默认态）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DSSP / STRIDE（gmx do_dssp 替代）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「AMP 阻止 β 转变」是否在模拟中重现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接触图与界面频率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重原子距离 &lt; 4.5 Å 计为接触；统计每残基接触频率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MDAnalysis、MDTraj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确定热点残基（结合表 1-9 的能量分解）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氢键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供体-受体距离 &lt; 3.5 Å、角度 &gt; 120°；寿命 &gt; 100 ps 视为稳定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gmx hbond、VMD hbonds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界面氢键网络是否稳定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盐桥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相反电荷侧链 N/O 距离 &lt; 4.0 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VMD saltbr、自写脚本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静电牵引的具体配对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π-π / 阳离子-π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芳环质心距离 &lt; 5.5-6.5 Å，夹角判平行/垂直（T 型）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自写脚本（几何判据）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F19/F20 与 AMP 芳香残基的堆叠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构象聚类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gromos 方法，RMSD 截断 0.15-0.20 nm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gmx cluster、MDTraj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给出一张「代表性复合物」结构图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相互作用能分解（MM）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静电 vs 范德华分量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gmx energy（能量组）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解释驱动力构成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扩散系数与驻留时间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界面残基接触的持续时间分布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MDAnalysis + 自写统计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结合稳定性/动力学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收敛与误差：必须写的三句话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审稿人最关注的三点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采样是否足够：块平均（5-10 块）给出均值 ± 标准误；块间波动超过 1 个标准误即视为未收敛。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重复独立性：每体系 3-5 条独立轨迹（不同随机种子/初速度/初始构象），报告重复间标准差。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系统性误差：力场/水模型/质子化态/离子强度做敏感性分析，明确写出结论依赖哪个参数。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20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MM-PBSA/MM-GBSA 推荐参数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500-1000 帧；GB 筛选 + PB 定量；熵项单独报告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4518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推荐取值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理由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帧数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500-1000 帧（间隔 100-200 ps）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太少误差大、太多只增加耗时（熵项除外）；熵项需要更多帧但仍常不稳定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轨迹区间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仅用平衡后区间（如最后 1 μs）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避免把平衡段当取样段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GB 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igb = 5（OBC II）或 igb = 8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对蛋白-肽体系较稳；不同 igb 结果要报告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PB 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内部介电常数 1-2；盐浓度 0.15 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PB 更接近物理，但更慢；用于最终数值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非极性项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γ·SASA ＋ b（γ ≈ 0.0072 kcal·mol⁻¹·Å⁻²，b ≈ 0）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标准参数；注意不同实现默认值不同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熵项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准简谐（quasi-harmonic）/ 相互作用熵（IE）/ 正态模式（仅小体系）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熵项误差常 ±2-5 kcal/mol，必须报告是否计入；建议主表列 ΔH 与 ΔG 两版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对比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同体系用 GB 与 PB 各跑一次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两模型差异 &gt; 5 kcal/mol 时结论要谨慎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21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残基分解、FEP 与实验对标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从自由能到热点残基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残基分解：&amp;decomp（idecomp=2、dec_verbose=1、print_res 界面 4 Å 内残基），按 TOTAL 列排序，≥0.5 kcal/mol 才算有贡献，≥1-2 kcal/mol 且误差小才写进结论。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FEP/TI 突变扫描：12-20 个 λ 窗、每窗 5-10 ns、软核势 α≈0.5、σ≈0.3 nm、BAR/MBAR 估计，正反向检查滞后。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与实验对标：ΔG_exp = RT·ln(K_D)（300 K 下 1 kcal/mol ≈ 5.5 倍 K_D 差异）；报告排序一致性（Spearman ρ）与 MAE，而非强求绝对值相等。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伞形采样（结合/解离 PMF）参数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推荐设置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判据/说明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反应坐标（CV）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两肽质心距离 z（0.5 → 3.0 nm）；或「界面接触数」；或界面 RMSD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CV 必须单调、能区分结合/解离两态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初态生成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导向 MD（拉速 0.0005-0.01 nm/ps，力常数 500-1000 kJ·mol⁻¹·nm⁻²）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拉得太快会产生非物理构象，需检查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窗口设置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30-70 个窗口，间距 0.1-0.2 nm；力常数 k = 1000-5000 kJ·mol⁻¹·nm⁻²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相邻窗口直方图重叠 ≥30%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每窗时长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50-200 ns（总采样量 3-10 μs）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丢前 10-20 ns 平衡；用块平均估计收敛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估计器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WHAM 或 MBAR（后者对重叠差更稳健）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输出 PMF 曲线与误差棒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误差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bootstrap 100 次 ＋ 块平均；双方向（拉近/拉远）一致性检查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hysteresis &lt; 1-2 kcal/mol 才可信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增强采样四件套：何时用哪一个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元动力学 / 副本交换 / MSM / DMD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7178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67178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22379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元动力学 + 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223799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well-tempered（bias factor 10-15，σ = 0.05-0.1 nm）；多维 CV（距离 + 界面 RMSD + β 含量）；OPES 收敛更快。适合找界面与路径。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138" y="1371600"/>
            <a:ext cx="2567178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0138" y="1371600"/>
            <a:ext cx="2567178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4730" y="1572768"/>
            <a:ext cx="22379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副本交换（REMD）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4730" y="2240280"/>
            <a:ext cx="223799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48-64 副本、300-450 K、交换概率 20-30%、每副本 100-500 ns；用来把无序肽的构象系综采全——这是对接与自由能计算的输入。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371600"/>
            <a:ext cx="2567178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371600"/>
            <a:ext cx="2567178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6227" y="1572768"/>
            <a:ext cx="22379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MSM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227" y="2240280"/>
            <a:ext cx="223799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多段短轨迹 → tICA 降维 → 微状态 → 转移矩阵 → 速率常数；把「结合强度」升级为「结合动力学」。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3134" y="1371600"/>
            <a:ext cx="2567178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3134" y="1371600"/>
            <a:ext cx="2567178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7726" y="1572768"/>
            <a:ext cx="22379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DMD（离散 MD）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7726" y="2240280"/>
            <a:ext cx="223799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碰撞事件推进、采样效率高，适合寡聚体/纤维种子等大体系；文献用全原子 DMD 揭示了 LL-37 结合 hIAPP 单体/寡聚体/纤维并阻断延伸面的机制。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分子对接与结构预测：只用于定位，不用于下结论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三种工具 + 一致性判据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对接：AutoDock Vina 1.2.5（exhaustiveness 32-64，盒子 30×30×30 Å）；ClusPro 2.0（平衡/静电/疏水打分）；HADDOCK 2.4（把 MD 热点残基设为 active residues 做数据驱动对接）。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结构预测：AlphaFold2/ColabFold（单体）、AlphaFold3（肽-蛋白复合物，注意两亲螺旋与无序区偏差）、ESMFold（快速备选）。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一致性判据：不同方法给出的界面残基集合 Jaccard 重叠 ≥0.6 才认为界面可靠；单一方法支持的热点必须标注待验证。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所有预测/对接结构必须经 MD 平衡 + MM-PBSA 复核。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推荐的四个 DFT 片段模型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盐桥 / π-π / 主链氢键 / 金属桥连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片段构成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原子数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回答的问题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M1 盐桥模型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的 Arg/Lys 侧链（如胍基/氨基）＋ Aβ 的 Asp/Glu 侧链（乙酸根/丙酸根模拟）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20-35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盐桥的相互作用能、电荷转移量、水分子竞争效应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M2 π-π 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的 Phe/Tyr/Trp 侧链（甲苯/对甲酚/吲哚模拟）＋ Aβ 的 F19/F20 侧链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24-40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平行 vs T 型堆叠的能量差、色散占比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M3 主链氢键模型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的 β-面主链（用 N-甲基乙酰胺二聚体或三肽片段）＋ Aβ 的 β 段三肽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30-60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β-互补的氢键网络、协同性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M4 金属桥连模型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Aβ 1-16 的 His6/His13/His14 ＋ Cu²⁺/Zn²⁺（可加 AMP 的 His/Asp）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40-80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金属配位几何、配位键性质、对界面静电的影响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量化计算级别推荐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泛函 + 基组 + 溶剂 + 分解方法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基组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几何优化（含弥散）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M06-2X 或 B3LYP-D3(BJ)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6-31+G(d,p) / def2-SVP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带电侧链需要弥散函数；需色散校正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单点能（定量）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ωB97X-D 或 M06-2X-D3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def2-TZVP / def2-TZVPPD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非共价相互作用推荐 ωB97X-D 或 DLPNO-CCSD(T) 校准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基准（小模型）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DLPNO-CCSD(T)（ORCA）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def2-TZVPP/CBS 外推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对 20-30 原子模型可承受，用来校准 DFT 误差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相互作用能分解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SAPT0 / SAPT2+(3)（PSI4）或 EDA-NOCV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jun-cc-pVDZ / def2-TZVP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把总相互作用能拆成静电、交换、极化、色散、电荷转移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金属中心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B3LYP-D3 / TPSSh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6-311+G(d,p) + 对金属用 def2 系列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过渡金属体系推荐 TPSSh 或 ωB97X-D 交叉验证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QM/MM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ONIOM（QM = B3LYP-D3/6-31G(d)，MM = CHARMM36m）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机械嵌入或静电嵌入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静电嵌入更物理但边界处理更难；报告边界方案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27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三个标准量子分析：NBO、AIM、NCI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把「静电/疏水/π-π」变成电子证据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14344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1434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3185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NBO（电荷转移）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3185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二级微扰 E(2) 量化「羧基氧孤对 → 胍基 N-H 反键」等通道；E(2) &gt; 2 kcal/mol 值得报告；同时给自然电荷与键极性。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1371600"/>
            <a:ext cx="3514344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7304" y="1371600"/>
            <a:ext cx="351434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896" y="1572768"/>
            <a:ext cx="3185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AIM / QTAIM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1896" y="2240280"/>
            <a:ext cx="3185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在键临界点读 ρ、∇²ρ、H：氢键/静电作用 ρ 约 0.01-0.05 a.u. 且 ∇²ρ &gt; 0；金属配位或强共价成分时 ρ 更大、H &lt; 0。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5968" y="1371600"/>
            <a:ext cx="3514344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5968" y="1371600"/>
            <a:ext cx="351434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1572768"/>
            <a:ext cx="3185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305A"/>
                </a:solidFill>
                <a:latin typeface="微软雅黑"/>
              </a:rPr>
              <a:t>NCI / IRI 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240280"/>
            <a:ext cx="3185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把非共价作用区域可视化：疏水空腔、π-π、CH-π 的位置与强度一目了然，是最直观的机制图。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28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QM/MM 与金属中心（Cu²⁺/Zn²⁺-Aβ）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把界面放进真实环境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QM/MM（ONIOM）：界面残基 + 金属 + 桥连水划为 QM 区（50-150 原子），其余 MM；静电嵌入；链路原子用氢或伪势处理。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金属参数化：小模型 DFT 优化配位几何（B3LYP-D3/6-31G(d)）→ MCPB.py 拟合力常数与 RESP 电荷 → MD 中核对金属-配体距离与 EXAFS/NMR 一致。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AIM 分析金属-配体键：金属-咪唑氮键通常强于金属-氧键；Cu/Fe/Zn 的配位数差异会改变界面静电与聚集倾向。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片段分子轨道（FMO/PIEDA）：整条界面的量子分解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与 MM-PBSA 残基分解互相验证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把体系按残基切片段，PIEDA 给出残基 i-残基 j 的相互作用能分解（静电、交换、电荷转移、色散）。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用途：把 MD 的残基分解（MM-PBSA）与 QM 的残基分解（PIEDA）并列比较，两者一致的热点残基可信度最高。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成本：按片段数线性扩展，200-600 片段体系需数千 CPU 核时，属可承受范围。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30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量化计算的验收标准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检查项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通过标准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片段大小收敛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扩大片段后相互作用能变化 &lt;1 kcal/mol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泛函/基组收敛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换一级基组（如 def2-TZVP → def2-TZVPPD）后能量变化 &lt;1 kcal/mol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与基准方法一致性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DFT 与 DLPNO-CCSD(T) 的相互作用能偏差 &lt;2 kcal/mol（小模型）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与实验定性一致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预测的「强/弱突变体」排序与 SPR/CD/ThT 实验一致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可复现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给出优化结构坐标（.xyz）、输入文件、软件版本与收敛判据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31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问题一的六条可检验预测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编号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计算预测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验证方式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判定标准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P1-1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的 K8/R12/R19/K25 与 Aβ 的 E11/E22/D23 形成稳定盐桥（接触频率 &gt;60%，寿命 &gt;500 ps）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突变实验（K→A/R→A）＋ 我们的 FEP 计算 ΔΔG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突变后 K_D 至少变化 2 倍，ΔΔG_calc ≤ −1.5 kcal/mol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P1-2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F5/F6/F17/F27 与 F19/F20 形成 π-π/CH-π（芳环质心距离 5-6.5 Å）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NMR 化学位移扰动、突变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芳环接触频率 &gt;40%，突变后抑制活性下降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P1-3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HD-6 以 β-面与 Aβ 17-21 段互补，亚化学计量比即可抑制纤维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ThT 动力学（不同摩尔比）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抑制率随摩尔比单调上升，且拟合得到 k₂ 下降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P1-4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结合后 Aβ 的 β 含量下降、无规卷曲上升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CD/DSSP 比较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模拟 β% 与 CD 的 β% 差异 &lt;10 个百分点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存在时异源寡聚体比例上升（毒性可能不降反升）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细胞毒（LDH）＋ 交联质谱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异源寡聚体比例与毒性正相关（ρ &gt; 0.5）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P1-6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盐浓度升高（0.15 → 0.5 M）使结合自由能显著减弱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不同离子强度下的 SPR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ΔG_calc 减弱 ≥1 kcal/mol 与实验趋势一致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问题一的难点与不确定性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写作时必须一并交代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无序体系采样：Aβ 单体本质无序 → 用 REMD + MSM + 多重复，报告构象系综而非单一结构。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力场偏差：不同力场对无序肽的 Rg 与螺旋倾向差异可达 10-20%，直接影响 ΔG_bind。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形态多态性：单体/寡聚体/纤维三种形态的结合机制不同，必须写清针对哪一种。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熵与界面水：MM-PBSA 熵项误差常 ±2-5 kcal/mol；报告有/无熵两版结果。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时间尺度鸿沟：模拟 μs 级 vs 成核 ms-h 级 → 把 MD 参数喂给二级成核动力学模型外推。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33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问题二：抗菌肽与肠道菌群调控如何导致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AMP 挖掘 + 差异丰度 + 网络与因果 + 生态动力学 + 膜/LPS 的 MD 与 DFT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一句话答案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三条链路，三层计算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链路 A（菌群 → AMP）：TLR/NOD2/IL-22-STAT3 轴调控宿主 AMP 表达，同时微生物自身也编码大量 AMP。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链路 B（AMP → 菌群）：AMP 通过膜裂解与膜电位改变施加选择压力，重塑菌群组成（而非总量）——α-防御素缺失/过量小鼠的菌群方向相反反转，细菌总量不变。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链路 C（菌群/AMP → AD）：LPS、SCFA、细菌淀粉样蛋白推动肠屏障损伤、系统性炎症与中枢病理。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计算三层：分子层（AMP-菌膜/LPS 的 MD 与 DFT）→ 生态层（共现网络 + Lotka-Volterra 型模型）→ 人群层（宏基因组差异丰度 + 中介分析 + MR）。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35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三条链路与对应计算手段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链路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具体命题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链路 A：菌群 → AMP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菌群组成/代谢物调控宿主 AMP 表达（TLR/NOD2/IL-22-STAT3 轴）与微生物自身 AMP 的编码丰度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宏基因组/宏转录组的功能通路定量（HUMAnN 3）；AMP 基因与 smORF 挖掘；回归模型（AMP 丰度 ~ 菌群 + 协变量）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家族丰度、菌属-AMP 关联系数、通路活性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链路 B：AMP → 菌群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通过膜裂解/膜电位改变对菌群施加选择压力，重塑组成（而非总量）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AMP–菌膜/LPS 的全原子 MD（吸附、插入、孔道）与伞形采样 PMF；lipid A–肽的 DFT；生态动力学模型（Lotka-Volterra 型抑制项）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插入自由能 ΔG(z)、孔道形成势垒、物种特异的抑制系数 k_i、预测的菌群偏移方向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链路 C：菌群/AMP → AD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菌群产物（LPS、SCFA、淀粉样蛋白）与 AMP 共同影响肠屏障、系统性炎症与中枢病理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中介分析；两样本孟德尔随机化（MR）；炎症-淀粉样耦合 ODE；剂量-反应模型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间接效应比例、因果估计（OR/β）、临界阈值（分岔点）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36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关键实验证据（作为计算标尺）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35834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证据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体系/设计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关键结果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对计算的约束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α-防御素调控菌群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表达人 DEFA5 的小鼠 与 缺失成熟 α-防御素的小鼠（MMP7−/−）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菌群组成发生方向相反的显著变化（Bacteroidetes 与 Firmicutes 比例反转、SFB 丢失），细菌总量不变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计算必须能解释「组成改变而总量不变」——即相对丰度竞争模型，而不是总量模型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RegIIIγ 空间隔离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RegIIIγ 缺陷小鼠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细菌贴近上皮、黏膜细菌负荷上升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模型里要区分「腔内菌」与「贴壁菌」两个隔室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共生菌诱导 RegIIIγ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无菌/常规化小鼠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TLR 依赖的 RegIIIγ 表达受共生菌诱导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AMP 表达方程需含菌群丰度项（正向）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HD-6 纳米网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体外/结构研究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HD-6 自组装成纳米网捕获细菌，且与 Aβ 交叉成核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分子层要同时处理「抗菌」与「抗淀粉样」两种功能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肠道 AMP 挖掘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15 个大型宏基因组队列 ＋ 宏蛋白组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2,349 条候选 AMP，216 条合成，181 条有活性（阳性率 &gt;83%）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AMP 预测必须用深度学习共识并做宏蛋白组交叉验证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患者菌群差异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认知障碍队列（脑淀粉样蛋白阳性 vs 阴性）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促炎菌属（如 Escherichia/Shigella）丰度升高与脑淀粉样蛋白、外周炎症标志物相关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差异丰度分析必须调整炎症与协变量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菌群组成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vs 对照独立队列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菌群组成与多样性差异可重复检测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需要跨队列一致性检验与批次校正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无菌/抗生素小鼠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APPPS1、APP/PS1 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无菌或抗生素处理改变 Aβ 病理与神经炎症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支持「菌群 → 病理」的方向性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583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LPS 与 AD 病理共定位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脑组织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革兰阴性菌分子与 Aβ 斑块/血管共定位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LPS 相关量要进入中介模型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58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SCFA/LPS 作为中介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患者 CSF ＋ 血清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SCFA 与 LPS 在「菌群失衡 ↔ 淀粉样病理」之间起中介作用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中介分析的中介变量设定有文献依据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37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组学流水线（第 1-5 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从设计与功效到 MAG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设计与功效：效应量 d = 0.3-0.5、α = 0.05、功效 0.8，考虑多重检验与组成性方差膨胀后样本量再上调 1.5-2 倍；提前固定主要/次要终点与协变量。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数据与元数据：curatedMetagenomicData / MGnify / HMP2 / ENA-SRA；统一疾病分期、年龄、性别、APOE、BMI、教育、用药、饮食、批次。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QC：fastp（Q&lt;20、长度&lt;50 bp、含 N&gt;5 去除，开去重与 polyG 修剪）→ Bowtie2 去宿主（GRCh38，去掉 &gt;90% 相似度比对）→ SortMeRNA 去 rRNA → MultiQC 汇总。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分类与功能：MetaPhlAn 4（主）与 Kraken2+Bracken（交叉验证，一致性 ρ &gt; 0.7 才用）→ HUMAnN 3 通路定量；多样性用 Shannon 与 Aitchison 距离 + PERMANOVA。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组装与 MAG：MEGAHIT（--k-list 21,29,39,59,79,99,119,141）主组装、metaSPAdes 复核 → QUAST 评估 → MetaBAT2 分箱、DAS Tool/VAMB 整合 → CheckM（完整度 &gt;90%、污染 &lt;5%）、GTDB-Tk 分类。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38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分类与功能定量方案（含交叉验证）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主方法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交叉验证方法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输出与注意点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物种/菌株组成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MetaPhlAn 4（SGB 级，标志基因法）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Kraken2 ＋ Bracken（k-mer 法）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两种方法给出的一致性（Spearman ρ &gt; 0.7）才写进结论；相对丰度需做 CLR 转换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功能通路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HUMAnN 3（基因家族 → KEGG/GO 通路）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eggNOG-mapper 或 MACREL 无关的功能注释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关注 LPS 合成、SCFA 生成（丁酸激酶等）、黏蛋白降解、生物膜相关通路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多样性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Shannon/Simpson（α）、Bray-Curtis/Aitchison（β）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PERMANOVA（adonis2，999 次置换）＋ PCoA/UMAP 可视化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组成性数据必须用 Aitchison 距离而不是欧氏距离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39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AMP 挖掘工具链与阈值（共识策略）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Prodigal → CD-HIT → Macrel/AMPlify/BERT 共识 → SignalP/DeepTMHMM → 理化与新颖性过滤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环节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工具/模型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输入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阈值/参数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基因预测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Prodigal（-p meta）＋ smORF 目录（GMSC 等）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contigs/MAGs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ORF ≥ 30 aa；smORF ≥ 10 aa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候选肽序列集合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去冗余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CD-HIT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候选序列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95% 一致性聚类（家族层面再做 50%）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非冗余候选集与其家族映射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判别（共识）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Macrel（随机森林，22 个特征）＋ AMPlify（LSTM ＋ Attention）＋ deep-AmPEP30 ＋ iAMPCN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氨基酸序列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至少 2/3 工具判为 AMP；Macrel 概率 &gt;0.5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候选清单与置信区间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语言模型共识（可选）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LSTM ＋ Attention ＋ BERT 三模型集成，或 ESM-2 微调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氨基酸序列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集成投票，阳性阈值按验证集 ROC 定（Youden 指数）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高置信 AMP 与活性概率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分泌与定位过滤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SignalP 6.0（信号肽）＋ DeepTMHMM（跨膜）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有信号肽或已知分泌证据；排除多跨膜蛋白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可分泌的候选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理化过滤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自写脚本/Peptides 包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净电荷 +2 ~ +9；GRAVY 在 −0.2 ~ +0.5；螺旋轮疏水矩 μH ≥ 0.4；长度 10-50 aa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理化合格的候选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新颖性过滤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BLASTp 对 DRAMP/APD3/AMPSphere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与已知 AMP 一致性 &lt;40-90%（按研究目的设定）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新颖候选（可申请专利/做实验）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交叉验证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宏蛋白组（若有权重数据）或宏转录组表达证据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质谱/RNA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检测到肽段或转录本（FDR &lt; 1%）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表达证据支持的候选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40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差异丰度方法选择（组成性数据）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模型特点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ANCOM-BC2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偏置校正 ＋ 协变量调整 ＋ 重复测量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首选；可处理多组与纵向数据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校正协变量；FDR &lt; 0.05；报告结构零比例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MaAsLin 2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广义线性/混合模型，支持多种归一化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协变量多、样本量大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TSS/CLR 归一化；随机效应（队列/批次）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DESeq2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负二项 ＋ size factor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把基因/家族当计数处理时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需提供 size factor（否则组成性偏差）；shrinkage 估计 log2FC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零膨胀模型（ZINB）/分位数回归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处理大量零值与离群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低丰度 AMP 家族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报告零值比例；敏感性分析对比不同方法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41 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网络与因果：把关联升级为因果候选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SparCC / SPIEC-EASI / 中介分析 / 两样本 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共现网络：SparCC 或 SPIEC-EASI + 100 次 bootstrap，只保留出现率 &gt;80%、|r| &gt; 0.4、FDR &lt; 0.05 的边；把 AMP 家族与菌属放在同一张网里找枢纽。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负相关边更有信息量：AMP 与某菌属显著负相关 → 提示抑制（需 MD/MIC 支持）；正相关 → 可能是菌群诱导 AMP 表达。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中介分析：「菌群（暴露）→ AMP/LPS/SCFA（中介）→ AD 标志物（结局）」，反事实框架估计 NIE/NDE，bootstrap 1000 次给 CI，报告中介比例。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两样本 MR：菌群 GWAS SNP 为工具变量、AD GWAS 为结局；IVW 主分析 + MR-Egger/加权中位数/MR-PRESSO/Steiger 检验；结论必须附 DAG。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42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生态动力学模型：把静态差异变成动态预测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Lotka-Volterra + AMP 抑制项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方程：dxᵢ/dt = xᵢ ( rᵢ + Σⱼ aᵢⱼ xⱼ − Σₖ kᵢ⁽ᵏ⁾ Pₖ )；AMP 动力学：dPₖ/dt = βₖ(菌群诱导) − δₖ Pₖ。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参数估计：横断面用稳态近似 + 贝叶斯回归；纵向数据用 ABC/MCMC；先验来自 MD 插入自由能与 MIC 数据。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分析输出：Jacobian 特征值（稳定性）、分岔分析（AMP 浓度阈值导致菌群稳态跳变）、Sobol 全局敏感性指数（找关键参数）。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意义：解释「组成改变但总量不变」的实验现象，并给出可干预的定量靶点。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43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AMP–细菌膜体系的建模与模拟参数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外膜 LPS / 内膜 POPE-POPG / 1-5 μs / 伞形采样 PMF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设置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理由/注意点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革兰阴性外膜（OM）模型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不对称双层：外层粗糙型 LPS（Ra/Rc，含 Kdo₂-lipid A ＋ O-抗原）＋ 内层 POPE/PG；Mg²⁺/Ca²⁺ 中和磷酸基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LPS 参数由 CHARMM-GUI LPS Modeler 生成；外膜是 AMP 进入的第一道屏障，其势垒决定了后续步骤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革兰阴性内膜 / 革兰阳性膜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POPE:POPG = 3:1（或按菌种调整）；革兰阳性加 LTA/磷壁酸（可用简化阴离子脂质模拟）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不同菌种的膜脂组成决定了 AMP 的选择性（物种特异抑制系数 k_i 的分子来源）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体系规模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10 万-50 万原子（膜 12×12 nm² 以上，水层 ≥3 nm）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需 GPU 集群；小体系会产生周期性假象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力场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CHARMM36m（蛋白）＋ CHARMM36 脂质 ＋ LPS/糖参数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膜与糖参数必须同源，混用力场是常见错误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模拟流程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最小化 → NVT（300 K）→ NPT（1 bar，半各向异性）→ 生产 1-5 μs × 3 重复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时间步 2 fs（或 HMR 后 4 fs）；PME 1.2 nm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观测指标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吸附/插入深度（z 分布）、螺旋含量（DSSP）、脂链序参数 S_CD、膜厚、水通道半径（&gt;0.3 nm 视为成孔）、离子通量、脂质头基取向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把「膜裂解」拆成可量化的中间步骤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自由能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伞形采样（CV = 肽质心到膜中心距离，0.1 nm 窗宽，k = 1000-2500 kJ·mol⁻¹·nm⁻²，每窗 100 ns，WHAM/MBAR）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得到插入/穿孔 PMF；与实验 MIC 排序做相关性分析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粗粒化加速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MARTINI 3 先跑 10-50 μs 观察孔道形成与肽聚集，再把关键构型反映射回全原子精修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解决全原子无法覆盖的孔道形成时间尺度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44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AMP–LPS / lipid A 的量化计算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DFT 片段 + NBO + AIM + Mg²⁺ 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片段模型：lipid A 的 4′-磷酸 + 葡萄糖胺环（简化）+ AMP 的 Arg/Lys 侧链；研究离子竞争时加入显式 Mg²⁺(H₂O)₄。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计算级别：B3LYP-D3(BJ)/6-31+G(d,p) 优化；M06-2X 或 ωB97X-D/def2-TZVP 单点；溶剂用 SMD 水（ε=78.4）与低介电（ε=5）双条件对照。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分析：SAPT/EDA 相互作用能分解；NBO 看「磷酸氧孤对 → 胍基 N-H 反键」电荷转移；AIM 读 P-O···H-N 的 ρ 与 ∇²ρ；比较有/无 Mg²⁺ 的结合能差。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预期结论：AMP 与 lipid A 结合以静电为主（ΔE_elst &gt;60%），并被 Mg²⁺ 显著竞争 → 解释高盐/高阳离子条件下活性下降。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45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机器学习建模要点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特征 → 模型 → 评估 → 解释 → 防泄漏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环节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做法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陷阱与对策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特征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AMP：序列（one-hot/理化）、结构（螺旋含量、疏水矩）、预测活性；菌群：物种/家族丰度（CLR）；临床：年龄、性别、APOE、MMSE、BMI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先做特征选择（弹性网/LASSO）；高维小样本必须降维（PLS/稀疏 PCA）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弹性网/Logistic、随机森林、XGBoost/LightGBM、SVM、图神经网络（菌群共现图）、ESM-2 微调（肽序列）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至少比较 3 类模型；不做「只看一个模型」的结论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评估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分层 5×5 折交叉验证；外部队列验证；AUC、PR-AUC、校准曲线、决策曲线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按受试者划分（不是按样本）；严禁同一受试者的样本同时出现在训练/测试集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类别不平衡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类权重、SMOTE（谨慎）、阈值优化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报告原始类别分布与使用的处理方式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解释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SHAP、置换重要性、部分依赖图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相关特征会分摊重要性；需与领域知识交叉核对（如 LPS 通路、丁酸通路）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可复现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固定随机种子；保存模型与特征清单；用 scikit-learn 管道（Pipeline）保证预处理在交叉验证内部完成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数据泄漏最常见的来源是「先标准化再划分」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46 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问题二的七条可检验预测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4518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编号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计算预测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验证方式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判定标准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P2-1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AD 组存在若干 AMP 家族丰度显著变化（|log2FC| &gt; 1，FDR &lt; 0.05），且至少两种差异丰度方法一致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独立队列重复；qPCR/靶向质谱验证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跨队列方向一致率 ≥70%，效应量相关性 Spearman ρ &gt; 0.5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P2-2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特定 AMP 家族与促炎菌属显著负相关、与保护性菌属正相关（网络边可重复）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多队列网络比较；体外 MIC 验证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边在 ≥2 个队列中重复出现，方向一致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P2-3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对细菌膜的插入自由能与该菌的 MIC 排序一致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MIC 测定（多菌株）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ΔG 与 log(MIC) 相关性 ρ &lt; −0.5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P2-4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AMP 与 lipid A 的结合被 Mg²⁺ 显著竞争（结合能降低 ≥3 kcal/mol）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高盐/高阳离子条件下的活性测定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活性随离子强度下降的趋势与计算一致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生态模型预测：AMP 浓度上升 X% 会使 Bacteroidetes/Firmicutes 比例改变方向（与 Salzman 实验一致）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小鼠模型（DEFA5/MMP7−/−）或体外发酵体系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模型预测方向与实验一致，且总量变化 &lt;20%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P2-6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中介分析显示 LPS/SCFA 通路解释 ≥20% 的「菌群 → AD 生物标志物」关联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纵向队列验证；干预实验（益生元/抗生素）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中介比例跨队列方向一致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P2-7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机器学习模型（AMP ＋ 菌群特征）区分 AD/对照的 AUC ≥0.75，且外部队列 AUC 下降 &lt;0.10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外部独立队列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校准曲线良好，SHAP 前 10 特征与生物学通路可解释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47 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问题二的难点与不确定性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因果、组成性、假阳性、时间尺度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因果方向：横断面数据只支持关联；AMP 与菌群是双向环，需纵向或干预证据（MR 只解决部分方向性问题）。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组成性与零膨胀：相对丰度不能直接做 t 检验，必须用 CLR/Aitchison 与专门的差异丰度方法，并做多方法敏感性分析。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AMP 预测假阳性：不同工具判别差异大 → 共识策略 + 宏蛋白组/宏转录组交叉验证（文献中 2,349 → 216 → 181，仍有约 16% 假阳性）。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时间尺度脱节：MD 纳秒-微秒 vs 菌群日-周 → MD 输出作为参数进入生态模型，不能直接解释人群差异。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外膜模型简化：真实外膜有磷酸乙醇胺修饰、外排泵与胶囊多糖；简化模型需与 MIC、外膜通透性实验对照。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48 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问题三：抗菌肽穿过血脑屏障如何导致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BBB 膜模型 + 跨膜 PMF/渗透系数 + 转运体途径 + 渗透性 ML + 穿越后动力学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一句话答案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能不能过去、怎么过去、过去之后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能不能：高正电荷两亲肽（LL-37 约 +6e）被动穿越疏水核心的势垒常 &gt;20 kcal/mol → 纯被动扩散的通量极低。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怎么：真正的通道更可能是「膜活性诱导的局部缺陷 + 转运体（PEPT2/SLC15A2）+ 受体转胞吞（LRP1/RAGE）」；炎症导致 claudin-5 下调会打开旁细胞途径，把通量放大 1-3 个数量级。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过去之后：脑内 AMP 与 Aβ 共聚集（可能稳定/形成毒性异源寡聚体）、激活微胶质 TLR4/FPR2、释放 IL-1β/IL-6，进一步破坏 BBB → 正反馈。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计算主线：膜模型 MD → PMF + ISD 得 P_app → 转运体/受体对接与 MM-PBSA → ML logBB 互证 → 信号 ODE 与分岔分析。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50 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把「穿过 BBB」拆成三个可计算子问题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子问题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物理问题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计算手段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① 能不能过去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跨膜被动扩散的自由能代价有多大？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BBB 膜的 PMF（伞形采样/元动力学）＋ 非均匀溶解度-扩散模型算渗透系数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ΔG(z) 剖面、P_app（cm/s）、logP_e；与 PAMPA-BBB 对照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② 怎么过去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被动 / 转运体 / 受体 / 旁细胞，各条路的速率与选择性？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PEPT2、LRP1、RAGE 的对接 ＋ MD ＋ MM-PBSA；claudin-5 界面的 QM/MM；ML 预测 logBB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结合自由能与热点残基、转运速率估计、紧密连接破坏的分子条件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③ 过去之后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脑内 AMP 如何与 Aβ 相互作用并触发神经炎症？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脑环境下的 AMP-Aβ 共聚集 MD；TLR4/FPR2 信号 ODE；炎症-淀粉样耦合动力学与分岔分析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异源寡聚体比例、细胞因子释放曲线、系统稳态跳变的临界 AMP 浓度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51 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BBB 问题的实验标尺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4518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证据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体系/方法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关键结果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对计算的约束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在脑内表达并驱动神经炎症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人脑组织免疫染色、微胶质/星形胶质细胞培养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hCAP18/LL-37 在脑与消化道表达最高；LL-37（&gt;3 μg/mL）经 p38/NF-κB 诱导 IL-1β、IL-6、IL-8 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穿越后模型必须包含微胶质/星形胶质信号节点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cathelicidin 与 BBB 通透性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肠-脑轴与 CNS 炎症研究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炎症状态下 LL-37 上调 ICAM-1/VCAM-1、增加内皮通透性、改变 claudin-5 表达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BBB 模型要区分「生理态」与「炎症态」两种膜/蛋白条件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细菌性脑膜炎模型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CRAMP（小鼠 cathelicidin）与 BBB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LL-37/CRAMP 水平与中性粒细胞浸润、CNS 损伤相关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提示 AMP 的穿越与免疫细胞浸润耦合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BBB 生理破损随年龄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动态增强 MRI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海马区 BBB 破损随年龄增加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病理态 BBB 的旁细胞途径必须建模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RAGE / LRP1 转运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脑内皮细胞、转基因小鼠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RAGE 把 Aβ 运入脑，LRP1 把 Aβ 运出脑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AMP 与 Aβ 竞争同一转运系统是可检验假设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PEPT2（SLC15A2）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脉络丛与脑内皮表达研究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质子偶联寡肽转运体，可转运小肽类底物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片段/降解肽可能经此进入脑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PAMPA-BBB 与 logBB 数据集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体外人工膜与体内数据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给出小分子通透性基准（P_e、logBB）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计算 P_app 与 logBB 必须与这些标尺比较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52 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BBB 模型膜的组成与建模参数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胆固醇 30-45 mol%、鞘脂、糖萼；20-50 万原子；310 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推荐设置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脂质组成（腔侧/脑侧）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PC（POPC/POPE）＋ 胆固醇（30-45 mol%）＋ 鞘磷脂（SM）＋ 少量 PS/PI；脑内皮膜富含胆固醇与鞘脂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胆固醇与鞘脂决定膜的刚性、厚度与肽插入代价；缺少它们会系统性高估通透性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不对称性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外层（血液侧）富 SM/PC/胆固醇；内层富 PE/PS（可含 PIP₂）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不对称性会影响肽的初始吸附与插入路径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糖萼（可选）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在血液侧加 GM1/GD1 等糖脂与硫酸化糖链（简化糖萼）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糖萼是 AMP 到达膜面之前的第一道屏障，对高正电肽尤其重要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模型构建工具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CHARMM-GUI Membrane Builder（或 MemGen/PACKMOL-Memgen）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保证力场参数与拓扑正确；输出 GROMACS/AMBER/NAMD 输入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体系规模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膜面积 12×12 nm²-20×20 nm²，水层每侧 ≥3-4 nm（总计 20 万-50 万原子）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小于 10×10 nm² 会有周期性假象；大体系适合多肽与孔道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力场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CHARMM36m（蛋白）＋ CHARMM36 脂质；糖脂用 CHARMM36 糖参数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与问题二、问题一保持一致，便于跨章节比较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温度与离子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310 K（生理温度）；0.15 M NaCl（可加 1-2 mM Ca²⁺）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生理温度下膜的相行为与 300 K 不同，膜体系建议 310 K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平衡流程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最小化 → NVT 310 K（含位置约束释放）→ NPT 1 bar 半各向异性 → 生产 1-3 μs（至少 3 个重复）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微软雅黑"/>
                        </a:rPr>
                        <a:t>膜面积与厚度需达到平台才可进入生产段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53 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跨膜 PMF 计算参数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伞形采样（主）/元动力学（多维 CV）/高温与 GaMD（加速）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参数设置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优点/风险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伞形采样（推荐主方法）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CV = 肽质心到膜中心的 z 距离（−3.0 → +3.0 nm），窗宽 0.1 nm（共 60-70 窗），力常数 k = 1000-2500 kJ·mol⁻¹·nm⁻²，每窗 100-200 ns（总 6-14 μs），WHAM/MBAR 重构，丢前 20% 平衡段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物理清晰、可给误差棒；风险是 z 单 CV 无法处理肽的翻转/解折叠，需加限制或改多 CV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well-tempered 元动力学 / OPES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CV：z ＋ 螺旋含量/界面接触数；σ_z = 0.05 nm，bias factor 12-15（MetaD）或 OPES 默认；加 wall 防止肽进入水相远端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多维 CV 可同时观察构象与位置；风险是 CV 选择偏差，需多次重复并检查自由能收敛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加速/高温 MD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400-440 K ＋ 高温下水相稀释或加 wall；或 GaMD（Gaussian 加速，加非负高斯势）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可观察自发穿越事件；风险是高温可能熔化膜（须监控序参数与膜厚），且动力学不可直接外推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54 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从 PMF 到渗透系数：ISD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算出的 P_app 直接对标 PAMPA-BBB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99669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305A"/>
                </a:solidFill>
                <a:latin typeface="Cambria"/>
              </a:rPr>
              <a:t>1 / P_app = ∫ exp[ ΔG(z) / (k_B T) ] / D(z) dz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ΔG(z)：跨膜自由能剖面（水相为参考态）；D(z)：位置依赖扩散系数；积分沿膜厚方向。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D(z) 三种取法：① 每窗口内受约束肽的横向 MSD 斜率；② 贝叶斯推断位置依赖扩散系数；③ 由同系物数据拟合的经验模型。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物理含义：疏水核心若有 &gt;20 kcal/mol 的高原，exp(ΔG/kT) 在该层极大 → 积分被垄断 → P_app 极低（高正电肽正是如此）。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电荷效应的量级预期：中性小分子势垒 &lt;5 kcal/mol；单电荷 8-15 kcal/mol；+6e 两亲肽 &gt;20-25 kcal/mol → 必须考虑绕行途径。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与实验对标：把 P_app 换算成 logP_e，与 PAMPA-BBB 的 P_e 排序比较（Spearman ρ &gt; 0.6）。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55 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加速与增强采样方案对照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关键参数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适用与限制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高温 MD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400-440 K；监控膜厚、脂链序参数 S_CD 与面积/脂质比，确认膜未熔化（S_CD 不应整体降至 0）；用 Arrhenius 反推 310 K 速率（仅为数量级估计）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适合观察自发穿越与孔道形成；反推动力学误差大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GaMD / TAMD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GaMD：加非负高斯势，统计量（σ₀、k₀）自动更新；TAMD：提升温度于选定 CV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无需预定义 CV 即可加速；重加权需谨慎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导向 MD（SMD）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拉速 0.001-0.01 nm/ps；力常数 500-2000 kJ·mol⁻¹·nm⁻²；拉 3-10 次重复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只用于生成伞形采样初态与定性观察，不能当自由能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Milestoning / 加权系综（WE）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Milestoning：沿 CV 设里程碑，计算相邻里程碑的局部通过时间与概率，再全局拼接；WE：多副本重采样保持通量守恒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适合长时程稀有事件（如完整穿孔）；实现复杂度高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MSM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多段短轨迹（每段 50-200 ns）→ tICA 降维 → 微状态 → 转移矩阵 → 速率常数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可给出穿越速率与路径分支；需要足量采样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56 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更现实的通道：转运体与受体介导途径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PEPT2 / LRP1 / RAGE / FPR2 / 旁细胞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PEPT2（SLC15A2）：AlphaFold3 建模 → 与 LL-37 片段及已知底物（Gly-Sar）分别对接（Vina, exhaustiveness 64）→ 膜环境 MD 500 ns-1 μs → MM-PBSA 比较结合自由能（差 ≤2-3 kcal/mol 则可竞争转运）。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LRP1/RAGE：把 AMP 与 RAGE 的 V 域、LRP1 配体结合重复序列对接 + MD + MM-PBSA，检验「AMP 是否占据 Aβ 的结合位点」。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FPR2/P2X7/TLR4：重点不是穿越而是激活 → 对接找结合口袋，把结合分数输入信号动力学模型。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旁细胞途径：claudin-5 下调时紧密连接开放；用 claudin-5 胞外环片段的 MD/QM-MM 评估 AMP 是否扰动其构象；宏观可用孔隙模型 + 泊松-能斯特-普朗克方程估计通量。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57 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渗透性预测的数据、特征与模型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B3DB / PAMPA / CPPsite 2.0；ML 与 MD 互证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环节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注意点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数据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B3DB（含 3D 结构与描述符的大规模 BBB 数据集）、PAMPA-BBB 实验集、CNS 药物 logBB 集；肽类单独使用含细胞穿膜肽（CPP）的数据集（如 CPPsite 2.0）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小分子模型直接迁移到肽类会失效：肽具有更高的分子量、更多的 H 键与构象柔性，必须单独训练/微调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特征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MW、tPSA/3D-PSA、logP/logD、HBD/HBA、净电荷、疏水矩、螺旋含量、BBB score、CNS MPO、N 与 O 计数、可旋转键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3D-PSA 与净电荷对肽最关键；所有特征需在交叉验证内部标准化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弹性网、随机森林、梯度提升（XGBoost/LightGBM）、支持向量机、图神经网络（原子图）、蛋白语言模型（ESM-2 嵌入 ＋ 微调）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至少三类模型对比；报告 AUC/ACC/校准与外部测试集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评估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分层 5 折交叉验证 ＋ 独立外部测试集（按化学骨架或肽家族划分）；AUC、PR-AUC、Brier 分数、校准曲线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严禁随机划分导致的相似分子泄漏；需报告正负类比例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解释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SHAP、置换重要性、部分依赖图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把高贡献特征与 MD 的 PMF/插入深度对照，形成「两条独立证据」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与 MD 互证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比较 ML 的 logBB 排序与 MD 的 P_app 排序（Spearman ρ）；两者一致 → 结论可信度提升；不一致 → 指出可能原因（转运体途径、膜组成差异）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这是本文方法学的亮点：统计模型与物理模拟互相校验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58 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穿越之后的后果：从分子到信号网络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共聚集 MD + 信号 ODE + 分岔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脑内共聚集 MD：脑环境 pH 7.0-7.3、含 Cu²⁺/Zn²⁺；体系为 1-4 条 AMP + 2-8 条 Aβ42（单体/寡聚体/纤维种子），1-5 μs × 3 重复，统计异源接触与 β 含量。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信号 ODE：受体激活 Hill 型方程 + 细胞因子级联（IL-1β/IL-6）+ 正反馈项（细胞因子 → BBB 通透性上升 → AMP 入脑增加）。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输出：细胞因子时间曲线、稳态 AMP 阈值、正反馈分岔点；Sobol 敏感性分析给后续实验排序。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与淀粉样通路耦合：炎症 → 小胶质吞噬下降 → Aβ 清除减少 → Aβ 累积 → 炎症加剧（耦合 ODE 的稳定性与分岔分析）。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59 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BBB 问题的量化计算方案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紧密连接片段 / 糖萼糖链 / 金属桥连三元体系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切入口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片段模型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方法与基组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回答的问题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① 紧密连接（旁细胞）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claudin-5 胞外环片段（30-60 残基，取带电荷与芳香残基的一段）＋ AMP 的 Arg/Lys 侧链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QM/MM（ONIOM，QM = B3LYP-D3/6-31G(d)，MM = CHARMM36m，静电嵌入）；片段化 DFT（FMO）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 是否与胞外环形成强静电/氢键网络；炎症磷酸化或电荷改变时结合能如何变化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② 糖萼与糖链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GM1 寡糖或硫酸化糖链片段（4-8 个糖单元）＋ AMP 侧链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DFT：B3LYP-D3(BJ)/6-31G(d,p) 优化 ＋ M06-2X/def2-TZVP 单点；SMD 溶剂（水）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糖链对 AMP 的捕获强度；硫酸化程度对结合的影响（决定「能否到达膜面」）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③ 金属桥连三元体系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Aβ 的 His6/His13/His14 ＋ Cu²⁺/Zn²⁺ ＋ AMP 的 His/Asp/Glu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DFT（TPSSh 或 ωB97X-D，def2-TZVP 对金属）＋ AIM 键临界点分析 ＋ 自旋态检验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金属是否成为 AMP-Aβ 界面上的桥；金属配位如何改变界面静电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60 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问题三的六条可检验预测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编号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计算预测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验证方式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判定标准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P3-1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单体被动跨膜 P_app 极低（势垒 &gt;20 kcal/mol），而炎症态 BBB（claudin-5 下调、旁细胞途径开放）下通量提升 1-3 个数量级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PAMPA-BBB ＋ 内皮细胞共培养（TEER 测定）＋ 炎症刺激条件对照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计算排序与实验 P_e 排序一致（Spearman ρ &gt; 0.6）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P3-2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LL-37 片段可经 PEPT2 转运（ΔG_bind 与 Gly-Sar 差 ≤3 kcal/mol）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PEPT2 过表达细胞的摄取实验；底物竞争实验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摄取可被已知底物竞争抑制 ≥50%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P3-3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与 RAGE/LRP1 结合并竞争 Aβ 的结合位点（ΔΔG ≤ −2 kcal/mol）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受体结合实验；Aβ 转运的细胞模型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存在时 Aβ 转运速率变化 ≥30%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P3-4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模型预测：当脑内 AMP 浓度超过阈值 C*（由分岔分析给出）时，细胞因子释放进入持续态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微胶质培养的剂量-反应实验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实验曲线出现阈值行为，且阈值与模型预测相差 &lt;1 个数量级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脑环境（pH 7.2、含 Cu²⁺/Zn²⁺）下 AMP-Aβ 异源寡聚体比例上升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脑匀浆/CSF 体系下的聚集实验 ＋ 构象抗体检测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异源寡聚体比例与毒性/炎症指标正相关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P3-6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机器学习预测的 logBB 排序与 MD 的 P_app 排序一致（ρ &gt; 0.5）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两个独立方法互证；不一致时用转运体实验裁决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一致性达标视为可信；不一致必须在讨论中解释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61 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问题三的难点与不确定性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模型简化、时间尺度、浓度、生理态与病理态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模型简化：真实 BBB 有内皮/周细胞/星形胶质足突 + 基膜 + 糖萼 + 多个转运体；纯脂质双层只是被动扩散的下限模型。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时间尺度：完整穿孔与转胞吞在微秒-秒量级，纯 MD 无法覆盖，必须增强采样 + 外推并标注外推误差。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浓度与寡聚态：实验常用微摩尔级，生理浓度可能低 1-2 个数量级；膜上单体/二聚/多聚会改变势垒。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生理态 vs 病理态：AD 患者 BBB 已受损，穿越门槛不同；必须分别给出两种条件下的参数（如 claudin-5 正常/下调）。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跨物种差异：小鼠 CRAMP 与人 LL-37 序列与活性不同，动物结果不能直接外推；计算应明确使用人源序列。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62 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方法总表：工具、机时与可复现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软件版本、资源估算、验证策略与十条常见陷阱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三个问题涉及的软件与版本建议（1/2）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3049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软件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版本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MD 引擎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GROMACS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2023.x / 2024.x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全原子 MD、伞形采样、元动力学（配合 PLUMED）、MM-PBSA 前处理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MD 引擎（对照）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NAMD / OpenMM / Desmond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NAMD 3.0 / OpenMM 8.x / Desmond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结果交叉验证；GPU 加速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增强采样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PLUMED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2.9 / 2.10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well-tempered 元动力学、OPES、CV 定义、重加权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自由能后处理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gmx_MMPBSA / MMPBSA.py / AmberTools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1.7.x / 23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MM-PBSA、MM-GBSA、残基分解、丙氨酸扫描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轨迹分析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MDTraj / MDAnalysis / VMD / DSSP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1.10 / 2.x / 1.9.4 / 3.x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接触图、氢键、盐桥、聚类、二级结构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Markov 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PyEMMA / deeptime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2.5 / 0.4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tICA、MSM、动力学速率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建模与对接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CHARMM-GUI / AutoDock Vina / HADDOCK / ClusPro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网站在线 / 1.2.5 / 2.4 / 2.0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体系构建、分子对接、数据驱动对接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结构预测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AlphaFold3 / ColabFold / ESMFold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AF3 server / 1.5 / 在线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单体与复合物结构、短肽结构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量化计算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Gaussian 16 / ORCA / PSI4 / NBO / Multiwfn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C.01 / 5.x / 1.9 / 7.0 / 3.8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DFT 优化与单点、SAPT、NBO、AIM、NCI/IRI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片段化 QM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GAMESS / ABINIT-MP / OpenFMO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GAMESS 2023+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FMO/PIEDA 界面分解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fastp / Bowtie2 / SortMeRNA / MetaPhlAn 4 / Kraken2 / HUMAnN 3 / MEGAHIT / metaSPAdes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0.23.4 / 2.4.5 / 4.3.6 / 4.x / 2.1.x / 3.x / 1.2.9 / 3.15.5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QC、去宿主、去 rRNA、分类、功能、组装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分箱与注释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MetaBAT2 / VAMB / CheckM / GTDB-Tk / Prodigal / CD-HIT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2.15 / 4.x / 1.2.2 / 2.3+ / 2.6.3 / 4.8.1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MAG 重建、质量评估、分类、基因预测、去冗余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4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AMP 预测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Macrel / AMPlify / deep-AmPEP30 / iAMPCN / SignalP 6 / DeepTMHMM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1.6 / 1.0 / 1.0 / 1.0 / 6.0 / 1.0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判别、分泌信号、跨膜预测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64 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三个问题涉及的软件与版本建议（2/2）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软件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版本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统计与机器学习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R (ANCOM-BC2, MaAsLin2) / scikit-learn / XGBoost / PyTorch / TwoSampleMR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R 4.3+, 1.5+, 2.0+, 2.x, 0.5+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差异丰度、因果分析、分类建模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工作流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Snakemake / Nextflow / Docker / Apptainer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8.x / 23.x / 24.x / 1.x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流程编排、容器化、可复现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65 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典型计算任务的资源量级估计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A100 级别 GPU 或同等；用于论文附录与预算说明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3049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体系规模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模拟时长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估计机时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AMP-Aβ 复合物全原子 MD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6 万-10 万原子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 μs × 5 重复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每 μs 约 2-4 天/卡 → 合计 10-20 天/卡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可多卡并行不同重复（embarrassingly parallel）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伞形采样（结合/解离）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6 万-10 万原子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70 窗 × 100 ns = 7 μs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多窗并行（如 8 窗同时），合计约 7-10 天（8 卡组）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重要的是窗口重叠与收敛，不是总线长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跨膜 PMF（BBB 膜）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 万-40 万原子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60 窗 × 150 ns ≈ 9 μs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每 μs 约 8-15 天/卡 → 需集群共享，合计 2-4 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建议先粗粒化定位路径，再全原子精修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REMD（无序肽系综）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 万-4 万原子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48 副本 × 200 ns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约 2-5 天（多副本并行）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副本数按交换概率 20-30% 设定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粗粒化 MD（MARTINI 3）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 万-3 万珠子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10-50 μs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每 μs 数小时 → 1-3 天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用于孔道形成与多肽聚集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DFT 片段几何优化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20-60 原子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100-300 CPU 核时/结构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B3LYP-D3(BJ)/6-31G(d,p) 量级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DFT 单点（def2-TZVP）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20-60 原子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50-150 CPU 核时/结构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含色散校正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DLPNO-CCSD(T) 基准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20-30 原子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2000-10000 CPU 核时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仅对小模型做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FMO/PIEDA（界面分解）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200-600 片段（残基）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数千 CPU 核时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MP2/DFT 级别按片段数线性扩展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 QC ＋ 分类（476 样本 × 5 Gbp）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约 2.4 Tbp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2000-5000 CPU 核时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含去宿主与去 rRNA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宏基因组组装（同规模）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约 2.4 Tbp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 万-3 万 CPU 核时；单样本峰值内存 200-500 GB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MEGAHIT 比 metaSPAdes 省内存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AMP 预测（百万级候选，BERT 集成）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10⁶ 序列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单卡 GPU 数小时-1 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可用批处理与半精度加速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0494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机器学习建模（嵌套交叉验证）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数千样本 × 数百特征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数小时-1 天（CPU 多核）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1F2937"/>
                          </a:solidFill>
                          <a:latin typeface="微软雅黑"/>
                        </a:rPr>
                        <a:t>含超参搜索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66 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可复现性清单（逐条打勾）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写论文前自查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模拟：固定随机种子、记录软件版本、保存 .mdp/.top/.itp、写明力场与脂质/糖参数集。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分析：全部脚本化（Python/MDAnalysis/MDTraj），不做手工点选；统计报告包含均值 ± 标准误与样本量。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组学：Snakemake/Nextflow 流程 + conda 环境或容器镜像；数据与代码归档 Zenodo 附 DOI。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模型：保存模型、特征清单、交叉验证划分（按受试者）；报告超参搜索范围与选择依据。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图表：程序化生成并给出绘图脚本，保证换数据可一键重画。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67 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三类计算的验证策略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内部验证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外部验证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误差报告方式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MD / 自由能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多重复、块平均/bootstrap、双方向 PMF、力场与水模型敏感性分析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与 SPR/CD/ThT/MIC/PAMPA 等实验排序一致性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ΔG ± SEM（或 95% CI）；明确列出系统性误差来源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DFT / QM-MM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片段大小收敛、基组收敛、泛函交叉验证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与高精度基准（DLPNO-CCSD(T)）或实验（NMR、IR、结合常数排序）比较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相互作用能（含 BSSE 校正）± 方法误差（通常 1-3 kcal/mol）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组学 / 统计 / ML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交叉验证、敏感性分析（多种差异丰度方法）、置换检验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独立外部队列、实验验证（MIC、qPCR、靶向质谱）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效应量 ＋ 95% CI、FDR 校正后的 p 值、AUC ± SD（多折）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68 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十条常见陷阱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逐条自查，避免被审稿人一击致命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① 用 AF2 预测的无序肽当真实构象直接做对接与自由能。② 只跑一条轨迹就下结论、无误差棒。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③ MM-PBSA 用了含平衡段的全部轨迹。④ 伞形采样窗口重叠 &lt;30% 却不做收敛检验。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⑤ 混用异源力场参数（蛋白 CHARMM36m + 脂质 AMBER + 糖 GLYCAM）导致膜性质失真。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⑥ DFT 未做色散校正、未加弥散函数、未检查基组收敛。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⑦ 组学先标准化再划分训练/测试集（数据泄漏）导致 AUC 虚高。⑧ 对相对丰度直接做 t 检验。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⑨ 把横断面关联写成因果结论。⑩ 计算条件与实验条件（pH/离子/温度/浓度/Aβ 形态）不匹配却强行对齐数值。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69 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文献体系：本册引用的四类来源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共 130+ 条，正文按出现顺序编号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机制与实验锚点：LL-37-Aβ 结合与纤维抑制、α-防御素交叉成核、β-淀粉样蛋白的抗菌功能、LL-37 的神经炎症效应。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菌群与 AD：α-防御素调控菌群、RegIIIγ 空间隔离、AD 队列菌群差异、无菌/抗生素小鼠、SCFA/LPS 中介、脑内 LPS。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BBB：BBB 生理与病理、RAGE/LRP1 转运、PEPT2/SLC15、PAMPA-BBB 与 BB 数据集、机器学习渗透性预测。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方法与工具：MD 引擎与力场、伞形采样/元动力学/REMD/MSM/FEP、gmx_MMPBSA、DFT/SAPT/NBO/AIM/NCI/FMO、AMP 挖掘工具与统计方法。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带 DOI/PMID/PMC 的条目可直接检索核验；建议提交前用 DOI 批量校核一遍卷期页码。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70 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201168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三个问题，三条计算主线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① 结合：MD 定界面 → MM-PBSA/PMF 定自由能 → DFT/QM-MM 定电子本质；判据是与 SPR/CD/ThT 的排序一致。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② 菌群调控：宏基因组 AMP 挖掘 + 差异丰度 + 网络与因果 + 生态动力学；分子层用膜/LPS 的 MD 与 DFT 提供抑制系数。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③ 穿越 BBB：膜模型 PMF + ISD 渗透系数 + 转运体与受体途径 + 渗透性机器学习互证；穿越后用信号 ODE 与分岔分析给出阈值。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A"/>
                </a:solidFill>
                <a:latin typeface="微软雅黑"/>
              </a:rPr>
              <a:t>抗菌肽与 AD 三大问题·计算机制详解（MD + 量化计算）｜2026-09-26 09:40 北京时间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