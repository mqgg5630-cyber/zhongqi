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9E8F"/>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Rectangle 2"/>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2F9E8F"/>
                </a:solidFill>
                <a:latin typeface="Arial"/>
                <a:ea typeface="微软雅黑"/>
                <a:cs typeface="Arial"/>
              </a:rPr>
              <a:t>01　</a:t>
            </a:r>
            <a:r>
              <a:rPr sz="2200" b="0">
                <a:solidFill>
                  <a:srgbClr val="1A1F24"/>
                </a:solidFill>
                <a:latin typeface="Arial"/>
                <a:ea typeface="微软雅黑"/>
                <a:cs typeface="Arial"/>
              </a:rPr>
              <a:t>研究思路：从肠道微生物组到候选抗菌肽</a:t>
            </a:r>
          </a:p>
          <a:p>
            <a:pPr algn="l">
              <a:lnSpc>
                <a:spcPct val="125000"/>
              </a:lnSpc>
              <a:spcBef>
                <a:spcPts val="2000"/>
              </a:spcBef>
              <a:spcAft>
                <a:spcPts val="0"/>
              </a:spcAft>
            </a:pPr>
            <a:r>
              <a:rPr sz="2200" b="1">
                <a:solidFill>
                  <a:srgbClr val="2F9E8F"/>
                </a:solidFill>
                <a:latin typeface="Arial"/>
                <a:ea typeface="微软雅黑"/>
                <a:cs typeface="Arial"/>
              </a:rPr>
              <a:t>02　</a:t>
            </a:r>
            <a:r>
              <a:rPr sz="2200" b="0">
                <a:solidFill>
                  <a:srgbClr val="1A1F24"/>
                </a:solidFill>
                <a:latin typeface="Arial"/>
                <a:ea typeface="微软雅黑"/>
                <a:cs typeface="Arial"/>
              </a:rPr>
              <a:t>已完成：数据资源、短肽库与三模型共识预测</a:t>
            </a:r>
          </a:p>
          <a:p>
            <a:pPr algn="l">
              <a:lnSpc>
                <a:spcPct val="125000"/>
              </a:lnSpc>
              <a:spcBef>
                <a:spcPts val="2000"/>
              </a:spcBef>
              <a:spcAft>
                <a:spcPts val="0"/>
              </a:spcAft>
            </a:pPr>
            <a:r>
              <a:rPr sz="2200" b="1">
                <a:solidFill>
                  <a:srgbClr val="2F9E8F"/>
                </a:solidFill>
                <a:latin typeface="Arial"/>
                <a:ea typeface="微软雅黑"/>
                <a:cs typeface="Arial"/>
              </a:rPr>
              <a:t>03　</a:t>
            </a:r>
            <a:r>
              <a:rPr sz="2200" b="0">
                <a:solidFill>
                  <a:srgbClr val="1A1F24"/>
                </a:solidFill>
                <a:latin typeface="Arial"/>
                <a:ea typeface="微软雅黑"/>
                <a:cs typeface="Arial"/>
              </a:rPr>
              <a:t>已完成：分阶段差异分析与宏蛋白组二次去重</a:t>
            </a:r>
          </a:p>
          <a:p>
            <a:pPr algn="l">
              <a:lnSpc>
                <a:spcPct val="125000"/>
              </a:lnSpc>
              <a:spcBef>
                <a:spcPts val="2000"/>
              </a:spcBef>
              <a:spcAft>
                <a:spcPts val="0"/>
              </a:spcAft>
            </a:pPr>
            <a:r>
              <a:rPr sz="2200" b="1">
                <a:solidFill>
                  <a:srgbClr val="2F9E8F"/>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2F9E8F"/>
                </a:solidFill>
                <a:latin typeface="Arial"/>
                <a:ea typeface="微软雅黑"/>
                <a:cs typeface="Arial"/>
              </a:rPr>
              <a:t>05　</a:t>
            </a:r>
            <a:r>
              <a:rPr sz="2200" b="0">
                <a:solidFill>
                  <a:srgbClr val="1A1F24"/>
                </a:solidFill>
                <a:latin typeface="Arial"/>
                <a:ea typeface="微软雅黑"/>
                <a:cs typeface="Arial"/>
              </a:rPr>
              <a:t>下一步：候选抗菌肽抑菌实验验证</a:t>
            </a:r>
          </a:p>
          <a:p>
            <a:pPr algn="l">
              <a:lnSpc>
                <a:spcPct val="125000"/>
              </a:lnSpc>
              <a:spcBef>
                <a:spcPts val="2000"/>
              </a:spcBef>
              <a:spcAft>
                <a:spcPts val="0"/>
              </a:spcAft>
            </a:pPr>
            <a:r>
              <a:rPr sz="2200" b="1">
                <a:solidFill>
                  <a:srgbClr val="2F9E8F"/>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5" name="Rectangle 4"/>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本次汇报重点说明研究思路与各项工作的完成程度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研究思路</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主线：数据资源 → 短肽库 → 三模型共识预测 → 分阶段差异 → 去重筛选特有肽 → 机制关联与验证</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研究背景与科学问题</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背景　</a:t>
            </a:r>
            <a:r>
              <a:rPr sz="1700" b="0">
                <a:solidFill>
                  <a:srgbClr val="1A1F24"/>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700" b="1">
                <a:solidFill>
                  <a:srgbClr val="2F9E8F"/>
                </a:solidFill>
                <a:latin typeface="Arial"/>
                <a:ea typeface="微软雅黑"/>
                <a:cs typeface="Arial"/>
              </a:rPr>
              <a:t>切入点　</a:t>
            </a:r>
            <a:r>
              <a:rPr sz="1700" b="0">
                <a:solidFill>
                  <a:srgbClr val="1A1F24"/>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9E8F"/>
                </a:solidFill>
                <a:latin typeface="Arial"/>
                <a:ea typeface="微软雅黑"/>
                <a:cs typeface="Arial"/>
              </a:rPr>
              <a:t>空白　</a:t>
            </a:r>
            <a:r>
              <a:rPr sz="1700" b="0">
                <a:solidFill>
                  <a:srgbClr val="1A1F24"/>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6" name="Rounded Rectangle 5"/>
          <p:cNvSpPr/>
          <p:nvPr/>
        </p:nvSpPr>
        <p:spPr>
          <a:xfrm>
            <a:off x="566928" y="4553712"/>
            <a:ext cx="11057839" cy="1078992"/>
          </a:xfrm>
          <a:prstGeom prst="roundRect">
            <a:avLst>
              <a:gd name="adj" fmla="val 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4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第一步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参考集按物种多样性原则构建，减少因组装质量差异带来的样本偏倚</a:t>
            </a:r>
          </a:p>
        </p:txBody>
      </p:sp>
      <p:sp>
        <p:nvSpPr>
          <p:cNvPr id="6" name="Rounded Rectangle 5"/>
          <p:cNvSpPr/>
          <p:nvPr/>
        </p:nvSpPr>
        <p:spPr>
          <a:xfrm>
            <a:off x="7379208" y="1536192"/>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队列　</a:t>
            </a:r>
            <a:r>
              <a:rPr sz="1800" b="0">
                <a:solidFill>
                  <a:srgbClr val="1A1F24"/>
                </a:solidFill>
                <a:latin typeface="Arial"/>
                <a:ea typeface="微软雅黑"/>
                <a:cs typeface="Arial"/>
              </a:rPr>
              <a:t>完整宏基因组样本</a:t>
            </a:r>
          </a:p>
        </p:txBody>
      </p:sp>
      <p:sp>
        <p:nvSpPr>
          <p:cNvPr id="7" name="Rounded Rectangle 6"/>
          <p:cNvSpPr/>
          <p:nvPr/>
        </p:nvSpPr>
        <p:spPr>
          <a:xfrm>
            <a:off x="7379208" y="2615184"/>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基因组　</a:t>
            </a:r>
            <a:r>
              <a:rPr sz="1800" b="0">
                <a:solidFill>
                  <a:srgbClr val="1A1F24"/>
                </a:solidFill>
                <a:latin typeface="Arial"/>
                <a:ea typeface="微软雅黑"/>
                <a:cs typeface="Arial"/>
              </a:rPr>
              <a:t>参考集（含高质量基因组）</a:t>
            </a:r>
          </a:p>
        </p:txBody>
      </p:sp>
      <p:sp>
        <p:nvSpPr>
          <p:cNvPr id="8" name="Rounded Rectangle 7"/>
          <p:cNvSpPr/>
          <p:nvPr/>
        </p:nvSpPr>
        <p:spPr>
          <a:xfrm>
            <a:off x="7379208" y="3694176"/>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A1F24"/>
                </a:solidFill>
                <a:latin typeface="Arial"/>
                <a:ea typeface="微软雅黑"/>
                <a:cs typeface="Arial"/>
              </a:rPr>
              <a:t>非冗余微生物源短肽</a:t>
            </a:r>
          </a:p>
        </p:txBody>
      </p:sp>
      <p:sp>
        <p:nvSpPr>
          <p:cNvPr id="9" name="Rounded Rectangle 8"/>
          <p:cNvSpPr/>
          <p:nvPr/>
        </p:nvSpPr>
        <p:spPr>
          <a:xfrm>
            <a:off x="7379208" y="4773168"/>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A1F24"/>
                </a:solidFill>
                <a:latin typeface="Arial"/>
                <a:ea typeface="微软雅黑"/>
                <a:cs typeface="Arial"/>
              </a:rPr>
              <a:t>每条短肽可回溯至样本</a:t>
            </a:r>
          </a:p>
        </p:txBody>
      </p:sp>
      <p:sp>
        <p:nvSpPr>
          <p:cNvPr id="10" name="Rectangle 9"/>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第一步与第二步均已完成：数据资源与短肽库已就绪，为后续预测与差异分析提供统一输入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第三步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三模型协同提高候选集合可信度；该步骤已完成，候选抗菌肽名单已产出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第四步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先得到随病程变化的候选抗菌肽，再用表达证据过滤，为特有肽筛选做准备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已完成：宏蛋白组二次去重，筛选特有抗菌肽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第五步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二次去重解决两类问题：序列冗余，以及“有预测、无表达”的假阳性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下一步：与 AD 发病机制的关联分析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第六步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关联分析的落点：从“差异肽”推进到“可能与 AD 病理相关的肽”</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下一步：候选抗菌肽抑菌实验验证</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第七步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以通用、可及的微生物学方法，完成候选抗菌肽抑菌活性的直接验证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工作进度</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前五项已完成，机制关联分析与抑菌实验验证正在推进，整体进度与开题计划一致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1. 机制关联分析　</a:t>
            </a:r>
            <a:r>
              <a:rPr sz="1700" b="0">
                <a:solidFill>
                  <a:srgbClr val="1A1F24"/>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2F9E8F"/>
                </a:solidFill>
                <a:latin typeface="Arial"/>
                <a:ea typeface="微软雅黑"/>
                <a:cs typeface="Arial"/>
              </a:rPr>
              <a:t>2. 抑菌实验验证　</a:t>
            </a:r>
            <a:r>
              <a:rPr sz="1700" b="0">
                <a:solidFill>
                  <a:srgbClr val="1A1F24"/>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700" b="1">
                <a:solidFill>
                  <a:srgbClr val="2F9E8F"/>
                </a:solidFill>
                <a:latin typeface="Arial"/>
                <a:ea typeface="微软雅黑"/>
                <a:cs typeface="Arial"/>
              </a:rPr>
              <a:t>3. 结果整理　</a:t>
            </a:r>
            <a:r>
              <a:rPr sz="1700" b="0">
                <a:solidFill>
                  <a:srgbClr val="1A1F24"/>
                </a:solidFill>
                <a:latin typeface="Arial"/>
                <a:ea typeface="微软雅黑"/>
                <a:cs typeface="Arial"/>
              </a:rPr>
              <a:t>汇总候选抗菌肽、特有肽与验证结果，形成完整的图表与结论体系。</a:t>
            </a:r>
          </a:p>
          <a:p>
            <a:pPr algn="l">
              <a:lnSpc>
                <a:spcPct val="125000"/>
              </a:lnSpc>
              <a:spcBef>
                <a:spcPts val="1800"/>
              </a:spcBef>
              <a:spcAft>
                <a:spcPts val="0"/>
              </a:spcAft>
            </a:pPr>
            <a:r>
              <a:rPr sz="1700" b="1">
                <a:solidFill>
                  <a:srgbClr val="2F9E8F"/>
                </a:solidFill>
                <a:latin typeface="Arial"/>
                <a:ea typeface="微软雅黑"/>
                <a:cs typeface="Arial"/>
              </a:rPr>
              <a:t>4. 论文撰写　</a:t>
            </a:r>
            <a:r>
              <a:rPr sz="1700" b="0">
                <a:solidFill>
                  <a:srgbClr val="1A1F24"/>
                </a:solidFill>
                <a:latin typeface="Arial"/>
                <a:ea typeface="微软雅黑"/>
                <a:cs typeface="Arial"/>
              </a:rPr>
              <a:t>完成学位论文撰写与投稿论文准备，按计划申请预答辩。</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工作对照</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数据准备　</a:t>
            </a:r>
            <a:r>
              <a:rPr sz="170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9E8F"/>
                </a:solidFill>
                <a:latin typeface="Arial"/>
                <a:ea typeface="微软雅黑"/>
                <a:cs typeface="Arial"/>
              </a:rPr>
              <a:t>候选肽挖掘　</a:t>
            </a:r>
            <a:r>
              <a:rPr sz="170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9E8F"/>
                </a:solidFill>
                <a:latin typeface="Arial"/>
                <a:ea typeface="微软雅黑"/>
                <a:cs typeface="Arial"/>
              </a:rPr>
              <a:t>差异分析　</a:t>
            </a:r>
            <a:r>
              <a:rPr sz="1700" b="0">
                <a:solidFill>
                  <a:srgbClr val="1A1F24"/>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9E8F"/>
                </a:solidFill>
                <a:latin typeface="Arial"/>
                <a:ea typeface="微软雅黑"/>
                <a:cs typeface="Arial"/>
              </a:rPr>
              <a:t>模型方案　</a:t>
            </a:r>
            <a:r>
              <a:rPr sz="170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9E8F"/>
                </a:solidFill>
                <a:latin typeface="Arial"/>
                <a:ea typeface="微软雅黑"/>
                <a:cs typeface="Arial"/>
              </a:rPr>
              <a:t>机制与验证　</a:t>
            </a:r>
            <a:r>
              <a:rPr sz="1700" b="0">
                <a:solidFill>
                  <a:srgbClr val="1A1F24"/>
                </a:solidFill>
                <a:latin typeface="Arial"/>
                <a:ea typeface="微软雅黑"/>
                <a:cs typeface="Arial"/>
              </a:rPr>
              <a:t>开题拟做功能与可视化分析 → 下一步进行机制关联分析与抑菌实验验证</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问题与对策</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27048"/>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应对：以三模型共识判定提高候选集合可信度，再用宏蛋白组表达证据二次去重，最后以抑菌实验验证活性。</a:t>
            </a:r>
          </a:p>
        </p:txBody>
      </p:sp>
      <p:sp>
        <p:nvSpPr>
          <p:cNvPr id="6" name="Rounded Rectangle 5"/>
          <p:cNvSpPr/>
          <p:nvPr/>
        </p:nvSpPr>
        <p:spPr>
          <a:xfrm>
            <a:off x="566928" y="2825496"/>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7" name="Rounded Rectangle 6"/>
          <p:cNvSpPr/>
          <p:nvPr/>
        </p:nvSpPr>
        <p:spPr>
          <a:xfrm>
            <a:off x="566928" y="4123944"/>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应对：以分子对接与动力学模拟、文献比对为主，将研究定位为“线索发现”，不夸大因果结论。</a:t>
            </a:r>
          </a:p>
        </p:txBody>
      </p:sp>
      <p:sp>
        <p:nvSpPr>
          <p:cNvPr id="8" name="Rectangle 7"/>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成果形式</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以第一作者撰写并投稿 SCI 收录论文 1 篇，并完成学位论文</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2F9E8F"/>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707A85"/>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