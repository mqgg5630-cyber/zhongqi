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各位老师好，我汇报的题目是《基于深度学习的阿尔茨海默症患者与健康人群肠道微生物组中抗菌肽的差异性研究》。本次中期检查重点汇报研究思路与各项工作的完成程度。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汇报分六部分：先说整体研究思路，再依次说明已完成的数据与预测工作、差异分析与去重工作，然后是下一步的机制关联分析与抑菌实验验证，最后是工作进度与后续安排。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第一步与第二步已经完成：全队列的宏基因组数据完成了统一处理，得到微生物基因组参考集，并据此完成短开放阅读框预测，构建了覆盖全队列、可追溯的非冗余短肽库。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第三个环节是候选抗菌肽预测。这里采用 Attention、LSTM、BERT 三个深度学习模型分别预测，只有三者一致判为阳性的序列才纳入候选集合，以提高候选集的可信度。这一步骤已经完成。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第四个环节是分阶段差异分析：把队列按认知阶段分组，比较各阶段与健康人群之间候选抗菌肽的丰度与组成差异，得到一批随病程变化的候选抗菌肽。这一步骤也已经完成。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从进度上看，前五项任务已经全部完成，目前集中在机制关联分析与抑菌实验验证两件事上，论文撰写同步推进，整体进度与开题安排一致。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后续收尾分四块：机制关联分析、抑菌实验验证、结果整理，以及论文撰写与预答辩准备。这些工作不再涉及大规模数据生产。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与开题计划对照：数据准备、候选肽挖掘、差异分析都已按计划完成，差异分析还增加了宏蛋白组去重；模型方案由自建模型调整为三个已发表模型协同预测；机制与验证部分即将开展。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目前存在的问题有三点：预测的假阳性风险、部分样本缺少参考基因组、机制关联的证据强度有限，各自都有对应的处理办法，不影响整体进度。</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预期成果包括：一套可复用的分析流程、健康人与各阶段特有的候选抗菌肽清单、机制关联的分析结果、抑菌活性的初步证据，以及一篇投稿论文与学位论文。</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我的汇报到此结束，恳请各位老师批评指正，谢谢！</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990e766897fa55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ca316827037906.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0d94756e4467f52.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f7d02b4efedf0d.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a32fb3ea7ccd3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91440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Line 3"/>
          <p:cNvSpPr/>
          <p:nvPr/>
        </p:nvSpPr>
        <p:spPr>
          <a:xfrm>
            <a:off x="685800" y="990600"/>
            <a:ext cx="10820400" cy="9525"/>
          </a:xfrm>
          <a:custGeom>
            <a:avLst/>
            <a:gdLst/>
            <a:ahLst/>
            <a:cxnLst/>
            <a:rect l="l" t="t" r="r" b="b"/>
            <a:pathLst>
              <a:path w="10820400" h="9525">
                <a:moveTo>
                  <a:pt x="0" y="0"/>
                </a:moveTo>
                <a:lnTo>
                  <a:pt x="10820400" y="0"/>
                </a:lnTo>
              </a:path>
            </a:pathLst>
          </a:custGeom>
          <a:noFill/>
          <a:ln w="9525">
            <a:solidFill>
              <a:srgbClr val="DEDCD7"/>
            </a:solidFill>
          </a:ln>
        </p:spPr>
      </p:sp>
      <p:sp>
        <p:nvSpPr>
          <p:cNvPr id="4" name="TextBox 4"/>
          <p:cNvSpPr txBox="1"/>
          <p:nvPr/>
        </p:nvSpPr>
        <p:spPr>
          <a:xfrm>
            <a:off x="677418" y="1250632"/>
            <a:ext cx="2299716" cy="322707"/>
          </a:xfrm>
          <a:prstGeom prst="rect">
            <a:avLst/>
          </a:prstGeom>
          <a:noFill/>
          <a:ln>
            <a:noFill/>
          </a:ln>
        </p:spPr>
        <p:txBody>
          <a:bodyPr wrap="none" lIns="0" tIns="0" rIns="0" bIns="0" anchor="t" anchorCtr="0">
            <a:spAutoFit/>
          </a:bodyPr>
          <a:lstStyle/>
          <a:p>
            <a:pPr algn="l"/>
            <a:r>
              <a:rPr lang="zh-CN" sz="1650" b="1" spc="150" dirty="0">
                <a:solidFill>
                  <a:srgbClr val="B03A2E"/>
                </a:solidFill>
                <a:latin typeface="Georgia"/>
                <a:ea typeface="SimSun"/>
                <a:cs typeface="Georgia"/>
              </a:rPr>
              <a:t>研究生论文中期检查</a:t>
            </a:r>
          </a:p>
        </p:txBody>
      </p:sp>
      <p:sp>
        <p:nvSpPr>
          <p:cNvPr id="5" name="TextBox 5"/>
          <p:cNvSpPr txBox="1"/>
          <p:nvPr/>
        </p:nvSpPr>
        <p:spPr>
          <a:xfrm>
            <a:off x="667512" y="1954530"/>
            <a:ext cx="10277856" cy="704088"/>
          </a:xfrm>
          <a:prstGeom prst="rect">
            <a:avLst/>
          </a:prstGeom>
          <a:noFill/>
          <a:ln>
            <a:noFill/>
          </a:ln>
        </p:spPr>
        <p:txBody>
          <a:bodyPr wrap="none" lIns="0" tIns="0" rIns="0" bIns="0" anchor="t" anchorCtr="0">
            <a:spAutoFit/>
          </a:bodyPr>
          <a:lstStyle/>
          <a:p>
            <a:pPr algn="l"/>
            <a:r>
              <a:rPr lang="zh-CN" sz="3600" b="1" dirty="0">
                <a:solidFill>
                  <a:srgbClr val="141414"/>
                </a:solidFill>
                <a:latin typeface="Georgia"/>
                <a:ea typeface="SimSun"/>
                <a:cs typeface="Georgia"/>
              </a:rPr>
              <a:t>基于深度学习的阿尔茨海默症患者与健康人群</a:t>
            </a:r>
          </a:p>
        </p:txBody>
      </p:sp>
      <p:sp>
        <p:nvSpPr>
          <p:cNvPr id="6" name="TextBox 6"/>
          <p:cNvSpPr txBox="1"/>
          <p:nvPr/>
        </p:nvSpPr>
        <p:spPr>
          <a:xfrm>
            <a:off x="667512" y="2526030"/>
            <a:ext cx="8229600" cy="704088"/>
          </a:xfrm>
          <a:prstGeom prst="rect">
            <a:avLst/>
          </a:prstGeom>
          <a:noFill/>
          <a:ln>
            <a:noFill/>
          </a:ln>
        </p:spPr>
        <p:txBody>
          <a:bodyPr wrap="none" lIns="0" tIns="0" rIns="0" bIns="0" anchor="t" anchorCtr="0">
            <a:spAutoFit/>
          </a:bodyPr>
          <a:lstStyle/>
          <a:p>
            <a:pPr algn="l"/>
            <a:r>
              <a:rPr lang="zh-CN" sz="3600" b="1" dirty="0">
                <a:solidFill>
                  <a:srgbClr val="141414"/>
                </a:solidFill>
                <a:latin typeface="Georgia"/>
                <a:ea typeface="SimSun"/>
                <a:cs typeface="Georgia"/>
              </a:rPr>
              <a:t>肠道微生物组中抗菌肽的差异性研究</a:t>
            </a:r>
          </a:p>
        </p:txBody>
      </p:sp>
      <p:sp>
        <p:nvSpPr>
          <p:cNvPr id="7" name="Line 7"/>
          <p:cNvSpPr/>
          <p:nvPr/>
        </p:nvSpPr>
        <p:spPr>
          <a:xfrm>
            <a:off x="685800" y="3781425"/>
            <a:ext cx="2095500" cy="9525"/>
          </a:xfrm>
          <a:custGeom>
            <a:avLst/>
            <a:gdLst/>
            <a:ahLst/>
            <a:cxnLst/>
            <a:rect l="l" t="t" r="r" b="b"/>
            <a:pathLst>
              <a:path w="2095500" h="9525">
                <a:moveTo>
                  <a:pt x="0" y="0"/>
                </a:moveTo>
                <a:lnTo>
                  <a:pt x="2095500" y="0"/>
                </a:lnTo>
              </a:path>
            </a:pathLst>
          </a:custGeom>
          <a:noFill/>
          <a:ln w="28575">
            <a:solidFill>
              <a:srgbClr val="B03A2E"/>
            </a:solidFill>
          </a:ln>
        </p:spPr>
      </p:sp>
      <p:sp>
        <p:nvSpPr>
          <p:cNvPr id="8" name="TextBox 8"/>
          <p:cNvSpPr txBox="1"/>
          <p:nvPr/>
        </p:nvSpPr>
        <p:spPr>
          <a:xfrm>
            <a:off x="677418" y="4193858"/>
            <a:ext cx="301542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文绍华　　学号：2024110316</a:t>
            </a:r>
          </a:p>
        </p:txBody>
      </p:sp>
      <p:sp>
        <p:nvSpPr>
          <p:cNvPr id="9" name="TextBox 9"/>
          <p:cNvSpPr txBox="1"/>
          <p:nvPr/>
        </p:nvSpPr>
        <p:spPr>
          <a:xfrm>
            <a:off x="677418" y="4593908"/>
            <a:ext cx="445922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指导教师：申亮　　培养单位：生命科学学院</a:t>
            </a:r>
          </a:p>
        </p:txBody>
      </p:sp>
      <p:sp>
        <p:nvSpPr>
          <p:cNvPr id="10" name="TextBox 10"/>
          <p:cNvSpPr txBox="1"/>
          <p:nvPr/>
        </p:nvSpPr>
        <p:spPr>
          <a:xfrm>
            <a:off x="677418" y="4993958"/>
            <a:ext cx="445922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学科专业：生物学（生物化学与分子生物学）</a:t>
            </a:r>
          </a:p>
        </p:txBody>
      </p:sp>
      <p:sp>
        <p:nvSpPr>
          <p:cNvPr id="11" name="TextBox 11"/>
          <p:cNvSpPr txBox="1"/>
          <p:nvPr/>
        </p:nvSpPr>
        <p:spPr>
          <a:xfrm>
            <a:off x="677418" y="5394008"/>
            <a:ext cx="1271759"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2026 年 9 月</a:t>
            </a:r>
          </a:p>
        </p:txBody>
      </p:sp>
      <p:sp>
        <p:nvSpPr>
          <p:cNvPr id="12" name="TextBox 12"/>
          <p:cNvSpPr txBox="1"/>
          <p:nvPr/>
        </p:nvSpPr>
        <p:spPr>
          <a:xfrm>
            <a:off x="10679306" y="615457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01 / 16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02 / 16</a:t>
            </a:r>
          </a:p>
        </p:txBody>
      </p:sp>
      <p:sp>
        <p:nvSpPr>
          <p:cNvPr id="4" name="TextBox 4"/>
          <p:cNvSpPr txBox="1"/>
          <p:nvPr/>
        </p:nvSpPr>
        <p:spPr>
          <a:xfrm>
            <a:off x="670560" y="800100"/>
            <a:ext cx="17373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汇报提纲</a:t>
            </a:r>
          </a:p>
        </p:txBody>
      </p:sp>
      <p:sp>
        <p:nvSpPr>
          <p:cNvPr id="5" name="Line 5"/>
          <p:cNvSpPr/>
          <p:nvPr/>
        </p:nvSpPr>
        <p:spPr>
          <a:xfrm>
            <a:off x="685800" y="13144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6" name="TextBox 6"/>
          <p:cNvSpPr txBox="1"/>
          <p:nvPr/>
        </p:nvSpPr>
        <p:spPr>
          <a:xfrm>
            <a:off x="674370" y="1643062"/>
            <a:ext cx="40402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01</a:t>
            </a:r>
          </a:p>
        </p:txBody>
      </p:sp>
      <p:sp>
        <p:nvSpPr>
          <p:cNvPr id="7" name="TextBox 7"/>
          <p:cNvSpPr txBox="1"/>
          <p:nvPr/>
        </p:nvSpPr>
        <p:spPr>
          <a:xfrm>
            <a:off x="1305687" y="1699736"/>
            <a:ext cx="4185361"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研究思路：从肠道微生物组到候选抗菌肽</a:t>
            </a:r>
          </a:p>
        </p:txBody>
      </p:sp>
      <p:sp>
        <p:nvSpPr>
          <p:cNvPr id="8" name="Line 8"/>
          <p:cNvSpPr/>
          <p:nvPr/>
        </p:nvSpPr>
        <p:spPr>
          <a:xfrm>
            <a:off x="685800" y="2324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9" name="TextBox 9"/>
          <p:cNvSpPr txBox="1"/>
          <p:nvPr/>
        </p:nvSpPr>
        <p:spPr>
          <a:xfrm>
            <a:off x="674370" y="2519362"/>
            <a:ext cx="447777"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02</a:t>
            </a:r>
          </a:p>
        </p:txBody>
      </p:sp>
      <p:sp>
        <p:nvSpPr>
          <p:cNvPr id="10" name="TextBox 10"/>
          <p:cNvSpPr txBox="1"/>
          <p:nvPr/>
        </p:nvSpPr>
        <p:spPr>
          <a:xfrm>
            <a:off x="1305687" y="2576036"/>
            <a:ext cx="464845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已完成：数据资源、短肽库与三模型共识预测</a:t>
            </a:r>
          </a:p>
        </p:txBody>
      </p:sp>
      <p:sp>
        <p:nvSpPr>
          <p:cNvPr id="11" name="Line 11"/>
          <p:cNvSpPr/>
          <p:nvPr/>
        </p:nvSpPr>
        <p:spPr>
          <a:xfrm>
            <a:off x="685800" y="32004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2" name="TextBox 12"/>
          <p:cNvSpPr txBox="1"/>
          <p:nvPr/>
        </p:nvSpPr>
        <p:spPr>
          <a:xfrm>
            <a:off x="674370" y="3395662"/>
            <a:ext cx="447137"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03</a:t>
            </a:r>
          </a:p>
        </p:txBody>
      </p:sp>
      <p:sp>
        <p:nvSpPr>
          <p:cNvPr id="13" name="TextBox 13"/>
          <p:cNvSpPr txBox="1"/>
          <p:nvPr/>
        </p:nvSpPr>
        <p:spPr>
          <a:xfrm>
            <a:off x="1305687" y="3452336"/>
            <a:ext cx="464845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已完成：分阶段差异分析与宏蛋白组二次去重</a:t>
            </a:r>
          </a:p>
        </p:txBody>
      </p:sp>
      <p:sp>
        <p:nvSpPr>
          <p:cNvPr id="14" name="Line 14"/>
          <p:cNvSpPr/>
          <p:nvPr/>
        </p:nvSpPr>
        <p:spPr>
          <a:xfrm>
            <a:off x="685800" y="40767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5" name="TextBox 15"/>
          <p:cNvSpPr txBox="1"/>
          <p:nvPr/>
        </p:nvSpPr>
        <p:spPr>
          <a:xfrm>
            <a:off x="6370320" y="1643062"/>
            <a:ext cx="455106"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04</a:t>
            </a:r>
          </a:p>
        </p:txBody>
      </p:sp>
      <p:sp>
        <p:nvSpPr>
          <p:cNvPr id="16" name="TextBox 16"/>
          <p:cNvSpPr txBox="1"/>
          <p:nvPr/>
        </p:nvSpPr>
        <p:spPr>
          <a:xfrm>
            <a:off x="7001637" y="1699736"/>
            <a:ext cx="3675085"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下一步：与 AD 发病机制的关联分析</a:t>
            </a:r>
          </a:p>
        </p:txBody>
      </p:sp>
      <p:sp>
        <p:nvSpPr>
          <p:cNvPr id="17" name="Line 17"/>
          <p:cNvSpPr/>
          <p:nvPr/>
        </p:nvSpPr>
        <p:spPr>
          <a:xfrm>
            <a:off x="6381750" y="2324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8" name="TextBox 18"/>
          <p:cNvSpPr txBox="1"/>
          <p:nvPr/>
        </p:nvSpPr>
        <p:spPr>
          <a:xfrm>
            <a:off x="6370320" y="2519362"/>
            <a:ext cx="43900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05</a:t>
            </a:r>
          </a:p>
        </p:txBody>
      </p:sp>
      <p:sp>
        <p:nvSpPr>
          <p:cNvPr id="19" name="TextBox 19"/>
          <p:cNvSpPr txBox="1"/>
          <p:nvPr/>
        </p:nvSpPr>
        <p:spPr>
          <a:xfrm>
            <a:off x="7001637" y="2576036"/>
            <a:ext cx="3490722"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下一步：候选抗菌肽抑菌实验验证</a:t>
            </a:r>
          </a:p>
        </p:txBody>
      </p:sp>
      <p:sp>
        <p:nvSpPr>
          <p:cNvPr id="20" name="Line 20"/>
          <p:cNvSpPr/>
          <p:nvPr/>
        </p:nvSpPr>
        <p:spPr>
          <a:xfrm>
            <a:off x="6381750" y="32004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1" name="TextBox 21"/>
          <p:cNvSpPr txBox="1"/>
          <p:nvPr/>
        </p:nvSpPr>
        <p:spPr>
          <a:xfrm>
            <a:off x="6370320" y="3395662"/>
            <a:ext cx="454658"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Georgia"/>
                <a:cs typeface="Georgia"/>
              </a:rPr>
              <a:t>06</a:t>
            </a:r>
          </a:p>
        </p:txBody>
      </p:sp>
      <p:sp>
        <p:nvSpPr>
          <p:cNvPr id="22" name="TextBox 22"/>
          <p:cNvSpPr txBox="1"/>
          <p:nvPr/>
        </p:nvSpPr>
        <p:spPr>
          <a:xfrm>
            <a:off x="7001637" y="3452336"/>
            <a:ext cx="2101444" cy="337376"/>
          </a:xfrm>
          <a:prstGeom prst="rect">
            <a:avLst/>
          </a:prstGeom>
          <a:noFill/>
          <a:ln>
            <a:noFill/>
          </a:ln>
        </p:spPr>
        <p:txBody>
          <a:bodyPr wrap="none" lIns="0" tIns="0" rIns="0" bIns="0" anchor="t" anchorCtr="0">
            <a:spAutoFit/>
          </a:bodyPr>
          <a:lstStyle/>
          <a:p>
            <a:pPr algn="l"/>
            <a:r>
              <a:rPr lang="zh-CN" sz="1720" dirty="0">
                <a:solidFill>
                  <a:srgbClr val="2B2B2B"/>
                </a:solidFill>
                <a:latin typeface="Arial"/>
                <a:ea typeface="Microsoft YaHei"/>
                <a:cs typeface="Arial"/>
              </a:rPr>
              <a:t>工作进度与后续安排</a:t>
            </a:r>
          </a:p>
        </p:txBody>
      </p:sp>
      <p:sp>
        <p:nvSpPr>
          <p:cNvPr id="23" name="Line 23"/>
          <p:cNvSpPr/>
          <p:nvPr/>
        </p:nvSpPr>
        <p:spPr>
          <a:xfrm>
            <a:off x="6381750" y="40767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4" name="Line 24"/>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5" name="Rectangle 25"/>
          <p:cNvSpPr/>
          <p:nvPr/>
        </p:nvSpPr>
        <p:spPr>
          <a:xfrm>
            <a:off x="685800" y="6305550"/>
            <a:ext cx="133350" cy="133350"/>
          </a:xfrm>
          <a:prstGeom prst="rect">
            <a:avLst/>
          </a:prstGeom>
          <a:solidFill>
            <a:srgbClr val="B03A2E"/>
          </a:solidFill>
          <a:ln>
            <a:noFill/>
          </a:ln>
        </p:spPr>
      </p:sp>
      <p:sp>
        <p:nvSpPr>
          <p:cNvPr id="26" name="TextBox 26"/>
          <p:cNvSpPr txBox="1"/>
          <p:nvPr/>
        </p:nvSpPr>
        <p:spPr>
          <a:xfrm>
            <a:off x="963168" y="6270308"/>
            <a:ext cx="4903470"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本次汇报重点说明研究思路与各项工作的完成程度</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03 / 16</a:t>
            </a:r>
          </a:p>
        </p:txBody>
      </p:sp>
      <p:sp>
        <p:nvSpPr>
          <p:cNvPr id="4" name="TextBox 4"/>
          <p:cNvSpPr txBox="1"/>
          <p:nvPr/>
        </p:nvSpPr>
        <p:spPr>
          <a:xfrm>
            <a:off x="670560" y="800100"/>
            <a:ext cx="771144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研究思路：八步走的整体框架与完成进度</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研究思路</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810000"/>
          </a:xfrm>
          <a:prstGeom prst="roundRect">
            <a:avLst>
              <a:gd name="adj" fmla="val 2500"/>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371600" y="2038350"/>
            <a:ext cx="9439275" cy="3543300"/>
          </a:xfrm>
          <a:prstGeom prst="rect">
            <a:avLst/>
          </a:prstGeom>
        </p:spPr>
      </p:pic>
      <p:sp>
        <p:nvSpPr>
          <p:cNvPr id="9" name="Line 9"/>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0" name="Rectangle 10"/>
          <p:cNvSpPr/>
          <p:nvPr/>
        </p:nvSpPr>
        <p:spPr>
          <a:xfrm>
            <a:off x="685800" y="6305550"/>
            <a:ext cx="133350" cy="133350"/>
          </a:xfrm>
          <a:prstGeom prst="rect">
            <a:avLst/>
          </a:prstGeom>
          <a:solidFill>
            <a:srgbClr val="B03A2E"/>
          </a:solidFill>
          <a:ln>
            <a:noFill/>
          </a:ln>
        </p:spPr>
      </p:sp>
      <p:sp>
        <p:nvSpPr>
          <p:cNvPr id="11" name="TextBox 11"/>
          <p:cNvSpPr txBox="1"/>
          <p:nvPr/>
        </p:nvSpPr>
        <p:spPr>
          <a:xfrm>
            <a:off x="963168" y="6270308"/>
            <a:ext cx="9354260"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主线：数据资源 → 短肽库 → 三模型共识预测 → 分阶段差异 → 去重筛选特有肽 → 机制关联与验证</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04 / 16</a:t>
            </a:r>
          </a:p>
        </p:txBody>
      </p:sp>
      <p:sp>
        <p:nvSpPr>
          <p:cNvPr id="4" name="TextBox 4"/>
          <p:cNvSpPr txBox="1"/>
          <p:nvPr/>
        </p:nvSpPr>
        <p:spPr>
          <a:xfrm>
            <a:off x="670560" y="800100"/>
            <a:ext cx="10374947"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科学问题：AD 患者与健康人群的抗菌肽是否存在差异</a:t>
            </a:r>
          </a:p>
        </p:txBody>
      </p:sp>
      <p:sp>
        <p:nvSpPr>
          <p:cNvPr id="5" name="TextBox 5"/>
          <p:cNvSpPr txBox="1"/>
          <p:nvPr/>
        </p:nvSpPr>
        <p:spPr>
          <a:xfrm>
            <a:off x="677418" y="1269682"/>
            <a:ext cx="212902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研究背景与科学问题</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885950"/>
            <a:ext cx="95250" cy="95250"/>
          </a:xfrm>
          <a:prstGeom prst="rect">
            <a:avLst/>
          </a:prstGeom>
          <a:solidFill>
            <a:srgbClr val="B03A2E"/>
          </a:solidFill>
          <a:ln>
            <a:noFill/>
          </a:ln>
        </p:spPr>
      </p:sp>
      <p:sp>
        <p:nvSpPr>
          <p:cNvPr id="8" name="TextBox 8"/>
          <p:cNvSpPr txBox="1"/>
          <p:nvPr/>
        </p:nvSpPr>
        <p:spPr>
          <a:xfrm>
            <a:off x="906018" y="1841182"/>
            <a:ext cx="461010"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背景</a:t>
            </a:r>
          </a:p>
        </p:txBody>
      </p:sp>
      <p:sp>
        <p:nvSpPr>
          <p:cNvPr id="9" name="TextBox 9"/>
          <p:cNvSpPr txBox="1"/>
          <p:nvPr/>
        </p:nvSpPr>
        <p:spPr>
          <a:xfrm>
            <a:off x="1477518" y="1841182"/>
            <a:ext cx="10347369"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的发生发展与肠—脑轴介导的慢性神经炎症密切相关，AD 患者与健康人群的肠道微生物组在组成与功能</a:t>
            </a:r>
          </a:p>
        </p:txBody>
      </p:sp>
      <p:sp>
        <p:nvSpPr>
          <p:cNvPr id="10" name="TextBox 10"/>
          <p:cNvSpPr txBox="1"/>
          <p:nvPr/>
        </p:nvSpPr>
        <p:spPr>
          <a:xfrm>
            <a:off x="1477518" y="2136458"/>
            <a:ext cx="157162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上均存在差异。</a:t>
            </a:r>
          </a:p>
        </p:txBody>
      </p:sp>
      <p:sp>
        <p:nvSpPr>
          <p:cNvPr id="11" name="Rectangle 11"/>
          <p:cNvSpPr/>
          <p:nvPr/>
        </p:nvSpPr>
        <p:spPr>
          <a:xfrm>
            <a:off x="685800" y="2686050"/>
            <a:ext cx="95250" cy="95250"/>
          </a:xfrm>
          <a:prstGeom prst="rect">
            <a:avLst/>
          </a:prstGeom>
          <a:solidFill>
            <a:srgbClr val="B03A2E"/>
          </a:solidFill>
          <a:ln>
            <a:noFill/>
          </a:ln>
        </p:spPr>
      </p:sp>
      <p:sp>
        <p:nvSpPr>
          <p:cNvPr id="12" name="TextBox 12"/>
          <p:cNvSpPr txBox="1"/>
          <p:nvPr/>
        </p:nvSpPr>
        <p:spPr>
          <a:xfrm>
            <a:off x="906018" y="264128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切入点</a:t>
            </a:r>
          </a:p>
        </p:txBody>
      </p:sp>
      <p:sp>
        <p:nvSpPr>
          <p:cNvPr id="13" name="TextBox 13"/>
          <p:cNvSpPr txBox="1"/>
          <p:nvPr/>
        </p:nvSpPr>
        <p:spPr>
          <a:xfrm>
            <a:off x="1687068" y="2641282"/>
            <a:ext cx="1023442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微生物基因组中的小开放阅读框可编码短肽，其中包含具有抗菌与免疫调节功能的抗菌肽，可能是连接微</a:t>
            </a:r>
          </a:p>
        </p:txBody>
      </p:sp>
      <p:sp>
        <p:nvSpPr>
          <p:cNvPr id="14" name="TextBox 14"/>
          <p:cNvSpPr txBox="1"/>
          <p:nvPr/>
        </p:nvSpPr>
        <p:spPr>
          <a:xfrm>
            <a:off x="1687068" y="2946082"/>
            <a:ext cx="379285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生物刺激与神经炎症的潜在效应分子。</a:t>
            </a:r>
          </a:p>
        </p:txBody>
      </p:sp>
      <p:sp>
        <p:nvSpPr>
          <p:cNvPr id="15" name="Rectangle 15"/>
          <p:cNvSpPr/>
          <p:nvPr/>
        </p:nvSpPr>
        <p:spPr>
          <a:xfrm>
            <a:off x="685800" y="3495675"/>
            <a:ext cx="95250" cy="95250"/>
          </a:xfrm>
          <a:prstGeom prst="rect">
            <a:avLst/>
          </a:prstGeom>
          <a:solidFill>
            <a:srgbClr val="B03A2E"/>
          </a:solidFill>
          <a:ln>
            <a:noFill/>
          </a:ln>
        </p:spPr>
      </p:sp>
      <p:sp>
        <p:nvSpPr>
          <p:cNvPr id="16" name="TextBox 16"/>
          <p:cNvSpPr txBox="1"/>
          <p:nvPr/>
        </p:nvSpPr>
        <p:spPr>
          <a:xfrm>
            <a:off x="906018" y="3450908"/>
            <a:ext cx="461010"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空白</a:t>
            </a:r>
          </a:p>
        </p:txBody>
      </p:sp>
      <p:sp>
        <p:nvSpPr>
          <p:cNvPr id="17" name="TextBox 17"/>
          <p:cNvSpPr txBox="1"/>
          <p:nvPr/>
        </p:nvSpPr>
        <p:spPr>
          <a:xfrm>
            <a:off x="1477518" y="3450908"/>
            <a:ext cx="10633405"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已有抗菌肽研究多基于通用训练集与宿主来源序列，尚缺少面向 AD 人群、并按认知功能阶段分层比较的微生</a:t>
            </a:r>
          </a:p>
        </p:txBody>
      </p:sp>
      <p:sp>
        <p:nvSpPr>
          <p:cNvPr id="18" name="TextBox 18"/>
          <p:cNvSpPr txBox="1"/>
          <p:nvPr/>
        </p:nvSpPr>
        <p:spPr>
          <a:xfrm>
            <a:off x="1477518" y="3746182"/>
            <a:ext cx="1793748"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物源抗菌肽研究。</a:t>
            </a:r>
          </a:p>
        </p:txBody>
      </p:sp>
      <p:sp>
        <p:nvSpPr>
          <p:cNvPr id="19" name="Rectangle 19"/>
          <p:cNvSpPr/>
          <p:nvPr/>
        </p:nvSpPr>
        <p:spPr>
          <a:xfrm>
            <a:off x="685800" y="4762500"/>
            <a:ext cx="10820400" cy="1143000"/>
          </a:xfrm>
          <a:prstGeom prst="roundRect">
            <a:avLst>
              <a:gd name="adj" fmla="val 8333"/>
            </a:avLst>
          </a:prstGeom>
          <a:solidFill>
            <a:srgbClr val="FBF6F5"/>
          </a:solidFill>
          <a:ln w="9525">
            <a:solidFill>
              <a:srgbClr val="EADCD9"/>
            </a:solidFill>
          </a:ln>
        </p:spPr>
      </p:sp>
      <p:sp>
        <p:nvSpPr>
          <p:cNvPr id="20" name="Rectangle 20"/>
          <p:cNvSpPr/>
          <p:nvPr/>
        </p:nvSpPr>
        <p:spPr>
          <a:xfrm>
            <a:off x="685800" y="4762500"/>
            <a:ext cx="57150" cy="1143000"/>
          </a:xfrm>
          <a:prstGeom prst="rect">
            <a:avLst/>
          </a:prstGeom>
          <a:solidFill>
            <a:srgbClr val="B03A2E"/>
          </a:solidFill>
          <a:ln>
            <a:noFill/>
          </a:ln>
        </p:spPr>
      </p:sp>
      <p:sp>
        <p:nvSpPr>
          <p:cNvPr id="21" name="TextBox 21"/>
          <p:cNvSpPr txBox="1"/>
          <p:nvPr/>
        </p:nvSpPr>
        <p:spPr>
          <a:xfrm>
            <a:off x="925449" y="4973479"/>
            <a:ext cx="866800" cy="308039"/>
          </a:xfrm>
          <a:prstGeom prst="rect">
            <a:avLst/>
          </a:prstGeom>
          <a:noFill/>
          <a:ln>
            <a:noFill/>
          </a:ln>
        </p:spPr>
        <p:txBody>
          <a:bodyPr wrap="none" lIns="0" tIns="0" rIns="0" bIns="0" anchor="t" anchorCtr="0">
            <a:spAutoFit/>
          </a:bodyPr>
          <a:lstStyle/>
          <a:p>
            <a:pPr algn="l"/>
            <a:r>
              <a:rPr lang="zh-CN" sz="1580" b="1" dirty="0">
                <a:solidFill>
                  <a:srgbClr val="2F5D62"/>
                </a:solidFill>
                <a:latin typeface="Arial"/>
                <a:ea typeface="Microsoft YaHei"/>
                <a:cs typeface="Arial"/>
              </a:rPr>
              <a:t>科学问题</a:t>
            </a:r>
          </a:p>
        </p:txBody>
      </p:sp>
      <p:sp>
        <p:nvSpPr>
          <p:cNvPr id="22" name="TextBox 22"/>
          <p:cNvSpPr txBox="1"/>
          <p:nvPr/>
        </p:nvSpPr>
        <p:spPr>
          <a:xfrm>
            <a:off x="925068" y="5308282"/>
            <a:ext cx="10961980"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AD 患者与健康人群肠道微生物组所编码的抗菌肽是否存在差异？能否筛选出各阶段特有的抗菌肽，并与 AD 的发</a:t>
            </a:r>
          </a:p>
        </p:txBody>
      </p:sp>
      <p:sp>
        <p:nvSpPr>
          <p:cNvPr id="23" name="TextBox 23"/>
          <p:cNvSpPr txBox="1"/>
          <p:nvPr/>
        </p:nvSpPr>
        <p:spPr>
          <a:xfrm>
            <a:off x="925068" y="5594032"/>
            <a:ext cx="1793748"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病机制建立联系？</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05 / 16</a:t>
            </a:r>
          </a:p>
        </p:txBody>
      </p:sp>
      <p:sp>
        <p:nvSpPr>
          <p:cNvPr id="4" name="TextBox 4"/>
          <p:cNvSpPr txBox="1"/>
          <p:nvPr/>
        </p:nvSpPr>
        <p:spPr>
          <a:xfrm>
            <a:off x="670560" y="800100"/>
            <a:ext cx="771144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已完成：数据资源与微生物源短肽库构建</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第一步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TextBox 7"/>
          <p:cNvSpPr txBox="1"/>
          <p:nvPr/>
        </p:nvSpPr>
        <p:spPr>
          <a:xfrm>
            <a:off x="677799" y="188737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完成全队列宏基因组数据的统一处理与质量评估，获得高质量的</a:t>
            </a:r>
          </a:p>
        </p:txBody>
      </p:sp>
      <p:sp>
        <p:nvSpPr>
          <p:cNvPr id="8" name="TextBox 8"/>
          <p:cNvSpPr txBox="1"/>
          <p:nvPr/>
        </p:nvSpPr>
        <p:spPr>
          <a:xfrm>
            <a:off x="677799" y="2163604"/>
            <a:ext cx="1930298"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微生物基因组参考集</a:t>
            </a:r>
          </a:p>
        </p:txBody>
      </p:sp>
      <p:sp>
        <p:nvSpPr>
          <p:cNvPr id="9" name="TextBox 9"/>
          <p:cNvSpPr txBox="1"/>
          <p:nvPr/>
        </p:nvSpPr>
        <p:spPr>
          <a:xfrm>
            <a:off x="677799" y="2601754"/>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基于参考集完成小开放阅读框预测，构建覆盖全队列、非冗余的</a:t>
            </a:r>
          </a:p>
        </p:txBody>
      </p:sp>
      <p:sp>
        <p:nvSpPr>
          <p:cNvPr id="10" name="TextBox 10"/>
          <p:cNvSpPr txBox="1"/>
          <p:nvPr/>
        </p:nvSpPr>
        <p:spPr>
          <a:xfrm>
            <a:off x="677799" y="2877979"/>
            <a:ext cx="1504899"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微生物源短肽库</a:t>
            </a:r>
          </a:p>
        </p:txBody>
      </p:sp>
      <p:sp>
        <p:nvSpPr>
          <p:cNvPr id="11" name="TextBox 11"/>
          <p:cNvSpPr txBox="1"/>
          <p:nvPr/>
        </p:nvSpPr>
        <p:spPr>
          <a:xfrm>
            <a:off x="677799" y="331612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短肽库保留完整溯源信息，每条短肽均可回溯到对应基因组与临</a:t>
            </a:r>
          </a:p>
        </p:txBody>
      </p:sp>
      <p:sp>
        <p:nvSpPr>
          <p:cNvPr id="12" name="TextBox 12"/>
          <p:cNvSpPr txBox="1"/>
          <p:nvPr/>
        </p:nvSpPr>
        <p:spPr>
          <a:xfrm>
            <a:off x="677799" y="3592354"/>
            <a:ext cx="65410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床样本</a:t>
            </a:r>
          </a:p>
        </p:txBody>
      </p:sp>
      <p:sp>
        <p:nvSpPr>
          <p:cNvPr id="13" name="TextBox 13"/>
          <p:cNvSpPr txBox="1"/>
          <p:nvPr/>
        </p:nvSpPr>
        <p:spPr>
          <a:xfrm>
            <a:off x="677799" y="4020979"/>
            <a:ext cx="6142152" cy="308039"/>
          </a:xfrm>
          <a:prstGeom prst="rect">
            <a:avLst/>
          </a:prstGeom>
          <a:noFill/>
          <a:ln>
            <a:noFill/>
          </a:ln>
        </p:spPr>
        <p:txBody>
          <a:bodyPr wrap="none" lIns="0" tIns="0" rIns="0" bIns="0" anchor="t" anchorCtr="0">
            <a:spAutoFit/>
          </a:bodyPr>
          <a:lstStyle/>
          <a:p>
            <a:pPr algn="l" marL="170561" indent="-170561">
              <a:buClr>
                <a:srgbClr val="2B2B2B"/>
              </a:buClr>
              <a:buSzTx/>
              <a:buFontTx/>
              <a:buChar char="•"/>
            </a:pPr>
            <a:r>
              <a:rPr lang="zh-CN" sz="1580" dirty="0">
                <a:solidFill>
                  <a:srgbClr val="2B2B2B"/>
                </a:solidFill>
                <a:latin typeface="Arial"/>
                <a:ea typeface="Microsoft YaHei"/>
                <a:cs typeface="Arial"/>
              </a:rPr>
              <a:t>参考集按物种多样性原则构建，减少因组装质量差异带来的样本</a:t>
            </a:r>
          </a:p>
        </p:txBody>
      </p:sp>
      <p:sp>
        <p:nvSpPr>
          <p:cNvPr id="14" name="TextBox 14"/>
          <p:cNvSpPr txBox="1"/>
          <p:nvPr/>
        </p:nvSpPr>
        <p:spPr>
          <a:xfrm>
            <a:off x="677799" y="4306729"/>
            <a:ext cx="44140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偏倚</a:t>
            </a:r>
          </a:p>
        </p:txBody>
      </p:sp>
      <p:sp>
        <p:nvSpPr>
          <p:cNvPr id="15" name="Rectangle 15"/>
          <p:cNvSpPr/>
          <p:nvPr/>
        </p:nvSpPr>
        <p:spPr>
          <a:xfrm>
            <a:off x="7239000" y="2019300"/>
            <a:ext cx="4267200" cy="914400"/>
          </a:xfrm>
          <a:prstGeom prst="roundRect">
            <a:avLst>
              <a:gd name="adj" fmla="val 8333"/>
            </a:avLst>
          </a:prstGeom>
          <a:solidFill>
            <a:srgbClr val="FBF6F5"/>
          </a:solidFill>
          <a:ln w="9525">
            <a:solidFill>
              <a:srgbClr val="EADCD9"/>
            </a:solidFill>
          </a:ln>
        </p:spPr>
      </p:sp>
      <p:sp>
        <p:nvSpPr>
          <p:cNvPr id="16" name="Rectangle 16"/>
          <p:cNvSpPr/>
          <p:nvPr/>
        </p:nvSpPr>
        <p:spPr>
          <a:xfrm>
            <a:off x="7239000" y="2019300"/>
            <a:ext cx="57150" cy="914400"/>
          </a:xfrm>
          <a:prstGeom prst="rect">
            <a:avLst/>
          </a:prstGeom>
          <a:solidFill>
            <a:srgbClr val="B03A2E"/>
          </a:solidFill>
          <a:ln>
            <a:noFill/>
          </a:ln>
        </p:spPr>
      </p:sp>
      <p:sp>
        <p:nvSpPr>
          <p:cNvPr id="17" name="TextBox 17"/>
          <p:cNvSpPr txBox="1"/>
          <p:nvPr/>
        </p:nvSpPr>
        <p:spPr>
          <a:xfrm>
            <a:off x="7478268" y="2222182"/>
            <a:ext cx="461010" cy="322707"/>
          </a:xfrm>
          <a:prstGeom prst="rect">
            <a:avLst/>
          </a:prstGeom>
          <a:noFill/>
          <a:ln>
            <a:noFill/>
          </a:ln>
        </p:spPr>
        <p:txBody>
          <a:bodyPr wrap="none" lIns="0" tIns="0" rIns="0" bIns="0" anchor="t" anchorCtr="0">
            <a:spAutoFit/>
          </a:bodyPr>
          <a:lstStyle/>
          <a:p>
            <a:pPr algn="l"/>
            <a:r>
              <a:rPr lang="zh-CN" sz="1650" b="1" dirty="0">
                <a:solidFill>
                  <a:srgbClr val="B03A2E"/>
                </a:solidFill>
                <a:latin typeface="Arial"/>
                <a:ea typeface="Microsoft YaHei"/>
                <a:cs typeface="Arial"/>
              </a:rPr>
              <a:t>队列</a:t>
            </a:r>
          </a:p>
        </p:txBody>
      </p:sp>
      <p:sp>
        <p:nvSpPr>
          <p:cNvPr id="18" name="TextBox 18"/>
          <p:cNvSpPr txBox="1"/>
          <p:nvPr/>
        </p:nvSpPr>
        <p:spPr>
          <a:xfrm>
            <a:off x="7479030" y="2543175"/>
            <a:ext cx="163068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完整宏基因组样本</a:t>
            </a:r>
          </a:p>
        </p:txBody>
      </p:sp>
      <p:sp>
        <p:nvSpPr>
          <p:cNvPr id="19" name="Rectangle 19"/>
          <p:cNvSpPr/>
          <p:nvPr/>
        </p:nvSpPr>
        <p:spPr>
          <a:xfrm>
            <a:off x="7239000" y="3067050"/>
            <a:ext cx="4267200" cy="914400"/>
          </a:xfrm>
          <a:prstGeom prst="roundRect">
            <a:avLst>
              <a:gd name="adj" fmla="val 8333"/>
            </a:avLst>
          </a:prstGeom>
          <a:solidFill>
            <a:srgbClr val="FBF6F5"/>
          </a:solidFill>
          <a:ln w="9525">
            <a:solidFill>
              <a:srgbClr val="EADCD9"/>
            </a:solidFill>
          </a:ln>
        </p:spPr>
      </p:sp>
      <p:sp>
        <p:nvSpPr>
          <p:cNvPr id="20" name="Rectangle 20"/>
          <p:cNvSpPr/>
          <p:nvPr/>
        </p:nvSpPr>
        <p:spPr>
          <a:xfrm>
            <a:off x="7239000" y="3067050"/>
            <a:ext cx="57150" cy="914400"/>
          </a:xfrm>
          <a:prstGeom prst="rect">
            <a:avLst/>
          </a:prstGeom>
          <a:solidFill>
            <a:srgbClr val="B03A2E"/>
          </a:solidFill>
          <a:ln>
            <a:noFill/>
          </a:ln>
        </p:spPr>
      </p:sp>
      <p:sp>
        <p:nvSpPr>
          <p:cNvPr id="21" name="TextBox 21"/>
          <p:cNvSpPr txBox="1"/>
          <p:nvPr/>
        </p:nvSpPr>
        <p:spPr>
          <a:xfrm>
            <a:off x="7478268" y="3269932"/>
            <a:ext cx="683133" cy="322707"/>
          </a:xfrm>
          <a:prstGeom prst="rect">
            <a:avLst/>
          </a:prstGeom>
          <a:noFill/>
          <a:ln>
            <a:noFill/>
          </a:ln>
        </p:spPr>
        <p:txBody>
          <a:bodyPr wrap="none" lIns="0" tIns="0" rIns="0" bIns="0" anchor="t" anchorCtr="0">
            <a:spAutoFit/>
          </a:bodyPr>
          <a:lstStyle/>
          <a:p>
            <a:pPr algn="l"/>
            <a:r>
              <a:rPr lang="zh-CN" sz="1650" b="1" dirty="0">
                <a:solidFill>
                  <a:srgbClr val="B03A2E"/>
                </a:solidFill>
                <a:latin typeface="Arial"/>
                <a:ea typeface="Microsoft YaHei"/>
                <a:cs typeface="Arial"/>
              </a:rPr>
              <a:t>基因组</a:t>
            </a:r>
          </a:p>
        </p:txBody>
      </p:sp>
      <p:sp>
        <p:nvSpPr>
          <p:cNvPr id="22" name="TextBox 22"/>
          <p:cNvSpPr txBox="1"/>
          <p:nvPr/>
        </p:nvSpPr>
        <p:spPr>
          <a:xfrm>
            <a:off x="7479030" y="3590925"/>
            <a:ext cx="243840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参考集（含高质量基因组）</a:t>
            </a:r>
          </a:p>
        </p:txBody>
      </p:sp>
      <p:sp>
        <p:nvSpPr>
          <p:cNvPr id="23" name="Rectangle 23"/>
          <p:cNvSpPr/>
          <p:nvPr/>
        </p:nvSpPr>
        <p:spPr>
          <a:xfrm>
            <a:off x="7239000" y="4114800"/>
            <a:ext cx="4267200" cy="914400"/>
          </a:xfrm>
          <a:prstGeom prst="roundRect">
            <a:avLst>
              <a:gd name="adj" fmla="val 8333"/>
            </a:avLst>
          </a:prstGeom>
          <a:solidFill>
            <a:srgbClr val="FBF6F5"/>
          </a:solidFill>
          <a:ln w="9525">
            <a:solidFill>
              <a:srgbClr val="EADCD9"/>
            </a:solidFill>
          </a:ln>
        </p:spPr>
      </p:sp>
      <p:sp>
        <p:nvSpPr>
          <p:cNvPr id="24" name="Rectangle 24"/>
          <p:cNvSpPr/>
          <p:nvPr/>
        </p:nvSpPr>
        <p:spPr>
          <a:xfrm>
            <a:off x="7239000" y="4114800"/>
            <a:ext cx="57150" cy="914400"/>
          </a:xfrm>
          <a:prstGeom prst="rect">
            <a:avLst/>
          </a:prstGeom>
          <a:solidFill>
            <a:srgbClr val="2F5D62"/>
          </a:solidFill>
          <a:ln>
            <a:noFill/>
          </a:ln>
        </p:spPr>
      </p:sp>
      <p:sp>
        <p:nvSpPr>
          <p:cNvPr id="25" name="TextBox 25"/>
          <p:cNvSpPr txBox="1"/>
          <p:nvPr/>
        </p:nvSpPr>
        <p:spPr>
          <a:xfrm>
            <a:off x="7478268" y="431768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短肽库</a:t>
            </a:r>
          </a:p>
        </p:txBody>
      </p:sp>
      <p:sp>
        <p:nvSpPr>
          <p:cNvPr id="26" name="TextBox 26"/>
          <p:cNvSpPr txBox="1"/>
          <p:nvPr/>
        </p:nvSpPr>
        <p:spPr>
          <a:xfrm>
            <a:off x="7479030" y="4638675"/>
            <a:ext cx="183261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非冗余微生物源短肽</a:t>
            </a:r>
          </a:p>
        </p:txBody>
      </p:sp>
      <p:sp>
        <p:nvSpPr>
          <p:cNvPr id="27" name="Rectangle 27"/>
          <p:cNvSpPr/>
          <p:nvPr/>
        </p:nvSpPr>
        <p:spPr>
          <a:xfrm>
            <a:off x="7239000" y="5162550"/>
            <a:ext cx="4267200" cy="914400"/>
          </a:xfrm>
          <a:prstGeom prst="roundRect">
            <a:avLst>
              <a:gd name="adj" fmla="val 8333"/>
            </a:avLst>
          </a:prstGeom>
          <a:solidFill>
            <a:srgbClr val="FBF6F5"/>
          </a:solidFill>
          <a:ln w="9525">
            <a:solidFill>
              <a:srgbClr val="EADCD9"/>
            </a:solidFill>
          </a:ln>
        </p:spPr>
      </p:sp>
      <p:sp>
        <p:nvSpPr>
          <p:cNvPr id="28" name="Rectangle 28"/>
          <p:cNvSpPr/>
          <p:nvPr/>
        </p:nvSpPr>
        <p:spPr>
          <a:xfrm>
            <a:off x="7239000" y="5162550"/>
            <a:ext cx="57150" cy="914400"/>
          </a:xfrm>
          <a:prstGeom prst="rect">
            <a:avLst/>
          </a:prstGeom>
          <a:solidFill>
            <a:srgbClr val="2F5D62"/>
          </a:solidFill>
          <a:ln>
            <a:noFill/>
          </a:ln>
        </p:spPr>
      </p:sp>
      <p:sp>
        <p:nvSpPr>
          <p:cNvPr id="29" name="TextBox 29"/>
          <p:cNvSpPr txBox="1"/>
          <p:nvPr/>
        </p:nvSpPr>
        <p:spPr>
          <a:xfrm>
            <a:off x="7478268" y="5365432"/>
            <a:ext cx="683133" cy="322707"/>
          </a:xfrm>
          <a:prstGeom prst="rect">
            <a:avLst/>
          </a:prstGeom>
          <a:noFill/>
          <a:ln>
            <a:noFill/>
          </a:ln>
        </p:spPr>
        <p:txBody>
          <a:bodyPr wrap="none" lIns="0" tIns="0" rIns="0" bIns="0" anchor="t" anchorCtr="0">
            <a:spAutoFit/>
          </a:bodyPr>
          <a:lstStyle/>
          <a:p>
            <a:pPr algn="l"/>
            <a:r>
              <a:rPr lang="zh-CN" sz="1650" b="1" dirty="0">
                <a:solidFill>
                  <a:srgbClr val="2F5D62"/>
                </a:solidFill>
                <a:latin typeface="Arial"/>
                <a:ea typeface="Microsoft YaHei"/>
                <a:cs typeface="Arial"/>
              </a:rPr>
              <a:t>可溯源</a:t>
            </a:r>
          </a:p>
        </p:txBody>
      </p:sp>
      <p:sp>
        <p:nvSpPr>
          <p:cNvPr id="30" name="TextBox 30"/>
          <p:cNvSpPr txBox="1"/>
          <p:nvPr/>
        </p:nvSpPr>
        <p:spPr>
          <a:xfrm>
            <a:off x="7479030" y="5686425"/>
            <a:ext cx="20345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每条短肽可回溯至样本</a:t>
            </a:r>
          </a:p>
        </p:txBody>
      </p:sp>
      <p:sp>
        <p:nvSpPr>
          <p:cNvPr id="31" name="Line 3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32" name="Rectangle 32"/>
          <p:cNvSpPr/>
          <p:nvPr/>
        </p:nvSpPr>
        <p:spPr>
          <a:xfrm>
            <a:off x="685800" y="6305550"/>
            <a:ext cx="133350" cy="133350"/>
          </a:xfrm>
          <a:prstGeom prst="rect">
            <a:avLst/>
          </a:prstGeom>
          <a:solidFill>
            <a:srgbClr val="B03A2E"/>
          </a:solidFill>
          <a:ln>
            <a:noFill/>
          </a:ln>
        </p:spPr>
      </p:sp>
      <p:sp>
        <p:nvSpPr>
          <p:cNvPr id="33" name="TextBox 33"/>
          <p:cNvSpPr txBox="1"/>
          <p:nvPr/>
        </p:nvSpPr>
        <p:spPr>
          <a:xfrm>
            <a:off x="963168" y="6270308"/>
            <a:ext cx="8901684"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第一步与第二步均已完成：数据资源与短肽库已就绪，为后续预测与差异分析提供统一输入</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06 / 16</a:t>
            </a:r>
          </a:p>
        </p:txBody>
      </p:sp>
      <p:sp>
        <p:nvSpPr>
          <p:cNvPr id="4" name="TextBox 4"/>
          <p:cNvSpPr txBox="1"/>
          <p:nvPr/>
        </p:nvSpPr>
        <p:spPr>
          <a:xfrm>
            <a:off x="670560" y="800100"/>
            <a:ext cx="685800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已完成：三模型共识预测候选抗菌肽</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第三步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105025" y="2038350"/>
            <a:ext cx="7991475" cy="2781300"/>
          </a:xfrm>
          <a:prstGeom prst="rect">
            <a:avLst/>
          </a:prstGeom>
        </p:spPr>
      </p:pic>
      <p:sp>
        <p:nvSpPr>
          <p:cNvPr id="9" name="TextBox 9"/>
          <p:cNvSpPr txBox="1"/>
          <p:nvPr/>
        </p:nvSpPr>
        <p:spPr>
          <a:xfrm>
            <a:off x="677418" y="5213032"/>
            <a:ext cx="1139141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采用 Attention、LSTM、BERT 三个模型对短肽库进行独立预测，三者一致判为阳性的序列才纳入候选抗菌肽集合；</a:t>
            </a:r>
          </a:p>
        </p:txBody>
      </p:sp>
      <p:sp>
        <p:nvSpPr>
          <p:cNvPr id="10" name="TextBox 10"/>
          <p:cNvSpPr txBox="1"/>
          <p:nvPr/>
        </p:nvSpPr>
        <p:spPr>
          <a:xfrm>
            <a:off x="677418" y="5508308"/>
            <a:ext cx="468134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该步骤已在本阶段完成，得到候选抗菌肽名单。</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7124700"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三模型协同提高候选集合可信度；该步骤已完成，候选抗菌肽名单已产出</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07 / 16</a:t>
            </a:r>
          </a:p>
        </p:txBody>
      </p:sp>
      <p:sp>
        <p:nvSpPr>
          <p:cNvPr id="4" name="TextBox 4"/>
          <p:cNvSpPr txBox="1"/>
          <p:nvPr/>
        </p:nvSpPr>
        <p:spPr>
          <a:xfrm>
            <a:off x="670560" y="800100"/>
            <a:ext cx="60045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已完成：分阶段抗菌肽差异分析</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第四步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324100" y="2038350"/>
            <a:ext cx="7534275"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按认知阶段对队列分组，比较各阶段与健康人群之间候选抗菌肽的丰度与组成差异，筛选出随病程变化明显的候选抗</a:t>
            </a:r>
          </a:p>
        </p:txBody>
      </p:sp>
      <p:sp>
        <p:nvSpPr>
          <p:cNvPr id="10" name="TextBox 10"/>
          <p:cNvSpPr txBox="1"/>
          <p:nvPr/>
        </p:nvSpPr>
        <p:spPr>
          <a:xfrm>
            <a:off x="677418" y="5508308"/>
            <a:ext cx="683133"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菌肽。</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7346823"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先得到随病程变化的候选抗菌肽，再用表达证据过滤，为特有肽筛选做准备</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08 / 16</a:t>
            </a:r>
          </a:p>
        </p:txBody>
      </p:sp>
      <p:sp>
        <p:nvSpPr>
          <p:cNvPr id="4" name="TextBox 4"/>
          <p:cNvSpPr txBox="1"/>
          <p:nvPr/>
        </p:nvSpPr>
        <p:spPr>
          <a:xfrm>
            <a:off x="670560" y="800100"/>
            <a:ext cx="856488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已完成：宏蛋白组二次去重，筛选特有抗菌肽</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已完成工作 · 第五步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790700" y="2038350"/>
            <a:ext cx="8610600"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在序列层面去冗余的基础上，引入宏蛋白组表达证据进行二次去重，只保留真实存在且被检出的抗菌肽，并据此区分</a:t>
            </a:r>
          </a:p>
        </p:txBody>
      </p:sp>
      <p:sp>
        <p:nvSpPr>
          <p:cNvPr id="10" name="TextBox 10"/>
          <p:cNvSpPr txBox="1"/>
          <p:nvPr/>
        </p:nvSpPr>
        <p:spPr>
          <a:xfrm>
            <a:off x="677418" y="5508308"/>
            <a:ext cx="4237101"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健康人群特有与各疾病阶段特有的抗菌肽。</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6714883"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二次去重解决两类问题：序列冗余，以及“有预测、无表达”的假阳性</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09 / 16</a:t>
            </a:r>
          </a:p>
        </p:txBody>
      </p:sp>
      <p:sp>
        <p:nvSpPr>
          <p:cNvPr id="4" name="TextBox 4"/>
          <p:cNvSpPr txBox="1"/>
          <p:nvPr/>
        </p:nvSpPr>
        <p:spPr>
          <a:xfrm>
            <a:off x="670560" y="800100"/>
            <a:ext cx="7092748"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下一步：与 AD 发病机制的关联分析</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 · 第六步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085975" y="2038350"/>
            <a:ext cx="8020050" cy="2781300"/>
          </a:xfrm>
          <a:prstGeom prst="rect">
            <a:avLst/>
          </a:prstGeom>
        </p:spPr>
      </p:pic>
      <p:sp>
        <p:nvSpPr>
          <p:cNvPr id="9" name="TextBox 9"/>
          <p:cNvSpPr txBox="1"/>
          <p:nvPr/>
        </p:nvSpPr>
        <p:spPr>
          <a:xfrm>
            <a:off x="677418" y="5213032"/>
            <a:ext cx="11421523"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参照乙酰胆碱酯酶—β-淀粉样肽复合物分子模拟研究的思路，从三个方向考察特有抗菌肽与 AD 发病机制的关联：与 A</a:t>
            </a:r>
          </a:p>
        </p:txBody>
      </p:sp>
      <p:sp>
        <p:nvSpPr>
          <p:cNvPr id="10" name="TextBox 10"/>
          <p:cNvSpPr txBox="1"/>
          <p:nvPr/>
        </p:nvSpPr>
        <p:spPr>
          <a:xfrm>
            <a:off x="677418" y="5508308"/>
            <a:ext cx="7517606"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β 的相互作用、与 AChE 外周阴离子位点的结合、以及免疫与炎症调节通路。</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6279752"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关联分析的落点：从“差异肽”推进到“可能与 AD 病理相关的肽”</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10 / 16</a:t>
            </a:r>
          </a:p>
        </p:txBody>
      </p:sp>
      <p:sp>
        <p:nvSpPr>
          <p:cNvPr id="4" name="TextBox 4"/>
          <p:cNvSpPr txBox="1"/>
          <p:nvPr/>
        </p:nvSpPr>
        <p:spPr>
          <a:xfrm>
            <a:off x="670560" y="800100"/>
            <a:ext cx="643128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下一步：候选抗菌肽抑菌实验验证</a:t>
            </a:r>
          </a:p>
        </p:txBody>
      </p:sp>
      <p:sp>
        <p:nvSpPr>
          <p:cNvPr id="5" name="TextBox 5"/>
          <p:cNvSpPr txBox="1"/>
          <p:nvPr/>
        </p:nvSpPr>
        <p:spPr>
          <a:xfrm>
            <a:off x="677418" y="1269682"/>
            <a:ext cx="2073100"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 · 第七步</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1724025" y="2038350"/>
            <a:ext cx="8753475"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选取有代表性的候选抗菌肽进行人工合成，以大肠杆菌与金黄色葡萄球菌作为指示菌，先以纸片扩散法观察抑菌圈进</a:t>
            </a:r>
          </a:p>
        </p:txBody>
      </p:sp>
      <p:sp>
        <p:nvSpPr>
          <p:cNvPr id="10" name="TextBox 10"/>
          <p:cNvSpPr txBox="1"/>
          <p:nvPr/>
        </p:nvSpPr>
        <p:spPr>
          <a:xfrm>
            <a:off x="677418" y="5508308"/>
            <a:ext cx="1023442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行初筛，再以微量肉汤稀释法测定最低抑菌浓度，并设置阳性与阴性对照，以获得抑菌活性的直接证据。</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6680454"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以通用、可及的微生物学方法，完成候选抗菌肽抑菌活性的直接验证</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11 / 16</a:t>
            </a:r>
          </a:p>
        </p:txBody>
      </p:sp>
      <p:sp>
        <p:nvSpPr>
          <p:cNvPr id="4" name="TextBox 4"/>
          <p:cNvSpPr txBox="1"/>
          <p:nvPr/>
        </p:nvSpPr>
        <p:spPr>
          <a:xfrm>
            <a:off x="670560" y="800100"/>
            <a:ext cx="941832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工作进度：主要分析已完成，进入验证与撰写阶段</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工作进度</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905000"/>
            <a:ext cx="10972800" cy="3048000"/>
          </a:xfrm>
          <a:prstGeom prst="roundRect">
            <a:avLst>
              <a:gd name="adj" fmla="val 312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2114550" y="2038350"/>
            <a:ext cx="7972425" cy="2781300"/>
          </a:xfrm>
          <a:prstGeom prst="rect">
            <a:avLst/>
          </a:prstGeom>
        </p:spPr>
      </p:pic>
      <p:sp>
        <p:nvSpPr>
          <p:cNvPr id="9" name="TextBox 9"/>
          <p:cNvSpPr txBox="1"/>
          <p:nvPr/>
        </p:nvSpPr>
        <p:spPr>
          <a:xfrm>
            <a:off x="677418" y="5213032"/>
            <a:ext cx="11345037"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数据资源、短肽库、三模型共识预测、分阶段差异分析与宏蛋白组去重均已完成；当前处于机制关联与抑菌实验验证</a:t>
            </a:r>
          </a:p>
        </p:txBody>
      </p:sp>
      <p:sp>
        <p:nvSpPr>
          <p:cNvPr id="10" name="TextBox 10"/>
          <p:cNvSpPr txBox="1"/>
          <p:nvPr/>
        </p:nvSpPr>
        <p:spPr>
          <a:xfrm>
            <a:off x="677418" y="5508308"/>
            <a:ext cx="2682240"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阶段，论文撰写同步推进。</a:t>
            </a:r>
          </a:p>
        </p:txBody>
      </p:sp>
      <p:sp>
        <p:nvSpPr>
          <p:cNvPr id="11" name="Line 11"/>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2" name="Rectangle 12"/>
          <p:cNvSpPr/>
          <p:nvPr/>
        </p:nvSpPr>
        <p:spPr>
          <a:xfrm>
            <a:off x="685800" y="6305550"/>
            <a:ext cx="133350" cy="133350"/>
          </a:xfrm>
          <a:prstGeom prst="rect">
            <a:avLst/>
          </a:prstGeom>
          <a:solidFill>
            <a:srgbClr val="B03A2E"/>
          </a:solidFill>
          <a:ln>
            <a:noFill/>
          </a:ln>
        </p:spPr>
      </p:sp>
      <p:sp>
        <p:nvSpPr>
          <p:cNvPr id="13" name="TextBox 13"/>
          <p:cNvSpPr txBox="1"/>
          <p:nvPr/>
        </p:nvSpPr>
        <p:spPr>
          <a:xfrm>
            <a:off x="963168" y="6270308"/>
            <a:ext cx="8013192"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前五项已完成，机制关联分析与抑菌实验验证正在推进，整体进度与开题计划一致</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12 / 16</a:t>
            </a:r>
          </a:p>
        </p:txBody>
      </p:sp>
      <p:sp>
        <p:nvSpPr>
          <p:cNvPr id="4" name="TextBox 4"/>
          <p:cNvSpPr txBox="1"/>
          <p:nvPr/>
        </p:nvSpPr>
        <p:spPr>
          <a:xfrm>
            <a:off x="670560" y="800100"/>
            <a:ext cx="472440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后续安排：四项收尾工作</a:t>
            </a:r>
          </a:p>
        </p:txBody>
      </p:sp>
      <p:sp>
        <p:nvSpPr>
          <p:cNvPr id="5" name="TextBox 5"/>
          <p:cNvSpPr txBox="1"/>
          <p:nvPr/>
        </p:nvSpPr>
        <p:spPr>
          <a:xfrm>
            <a:off x="677418" y="1269682"/>
            <a:ext cx="1190244"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下一步计划</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76450"/>
            <a:ext cx="57150" cy="704850"/>
          </a:xfrm>
          <a:prstGeom prst="rect">
            <a:avLst/>
          </a:prstGeom>
          <a:solidFill>
            <a:srgbClr val="B03A2E"/>
          </a:solidFill>
          <a:ln>
            <a:noFill/>
          </a:ln>
        </p:spPr>
      </p:sp>
      <p:sp>
        <p:nvSpPr>
          <p:cNvPr id="8" name="TextBox 8"/>
          <p:cNvSpPr txBox="1"/>
          <p:nvPr/>
        </p:nvSpPr>
        <p:spPr>
          <a:xfrm>
            <a:off x="924687" y="2195036"/>
            <a:ext cx="174717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1. 机制关联分析</a:t>
            </a:r>
          </a:p>
        </p:txBody>
      </p:sp>
      <p:sp>
        <p:nvSpPr>
          <p:cNvPr id="9" name="TextBox 9"/>
          <p:cNvSpPr txBox="1"/>
          <p:nvPr/>
        </p:nvSpPr>
        <p:spPr>
          <a:xfrm>
            <a:off x="925449" y="2535079"/>
            <a:ext cx="774853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完成特有抗菌肽与 Aβ 聚集、AChE 结合及炎症通路的关联分析，形成候选肽清单。</a:t>
            </a:r>
          </a:p>
        </p:txBody>
      </p:sp>
      <p:sp>
        <p:nvSpPr>
          <p:cNvPr id="10" name="Rectangle 10"/>
          <p:cNvSpPr/>
          <p:nvPr/>
        </p:nvSpPr>
        <p:spPr>
          <a:xfrm>
            <a:off x="685800" y="2952750"/>
            <a:ext cx="57150" cy="704850"/>
          </a:xfrm>
          <a:prstGeom prst="rect">
            <a:avLst/>
          </a:prstGeom>
          <a:solidFill>
            <a:srgbClr val="2F5D62"/>
          </a:solidFill>
          <a:ln>
            <a:noFill/>
          </a:ln>
        </p:spPr>
      </p:sp>
      <p:sp>
        <p:nvSpPr>
          <p:cNvPr id="11" name="TextBox 11"/>
          <p:cNvSpPr txBox="1"/>
          <p:nvPr/>
        </p:nvSpPr>
        <p:spPr>
          <a:xfrm>
            <a:off x="924687" y="3071336"/>
            <a:ext cx="174717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2. 抑菌实验验证</a:t>
            </a:r>
          </a:p>
        </p:txBody>
      </p:sp>
      <p:sp>
        <p:nvSpPr>
          <p:cNvPr id="12" name="TextBox 12"/>
          <p:cNvSpPr txBox="1"/>
          <p:nvPr/>
        </p:nvSpPr>
        <p:spPr>
          <a:xfrm>
            <a:off x="925449" y="3411379"/>
            <a:ext cx="575889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完成候选抗菌肽的合成与抑菌实验，获得抑菌活性初筛结果。</a:t>
            </a:r>
          </a:p>
        </p:txBody>
      </p:sp>
      <p:sp>
        <p:nvSpPr>
          <p:cNvPr id="13" name="Rectangle 13"/>
          <p:cNvSpPr/>
          <p:nvPr/>
        </p:nvSpPr>
        <p:spPr>
          <a:xfrm>
            <a:off x="685800" y="3829050"/>
            <a:ext cx="57150" cy="704850"/>
          </a:xfrm>
          <a:prstGeom prst="rect">
            <a:avLst/>
          </a:prstGeom>
          <a:solidFill>
            <a:srgbClr val="B03A2E"/>
          </a:solidFill>
          <a:ln>
            <a:noFill/>
          </a:ln>
        </p:spPr>
      </p:sp>
      <p:sp>
        <p:nvSpPr>
          <p:cNvPr id="14" name="TextBox 14"/>
          <p:cNvSpPr txBox="1"/>
          <p:nvPr/>
        </p:nvSpPr>
        <p:spPr>
          <a:xfrm>
            <a:off x="924687" y="3947636"/>
            <a:ext cx="1284085"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3. 结果整理</a:t>
            </a:r>
          </a:p>
        </p:txBody>
      </p:sp>
      <p:sp>
        <p:nvSpPr>
          <p:cNvPr id="15" name="TextBox 15"/>
          <p:cNvSpPr txBox="1"/>
          <p:nvPr/>
        </p:nvSpPr>
        <p:spPr>
          <a:xfrm>
            <a:off x="925449" y="4287679"/>
            <a:ext cx="6396990"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汇总候选抗菌肽、特有肽与验证结果，形成完整的图表与结论体系。</a:t>
            </a:r>
          </a:p>
        </p:txBody>
      </p:sp>
      <p:sp>
        <p:nvSpPr>
          <p:cNvPr id="16" name="Rectangle 16"/>
          <p:cNvSpPr/>
          <p:nvPr/>
        </p:nvSpPr>
        <p:spPr>
          <a:xfrm>
            <a:off x="685800" y="4705350"/>
            <a:ext cx="57150" cy="704850"/>
          </a:xfrm>
          <a:prstGeom prst="rect">
            <a:avLst/>
          </a:prstGeom>
          <a:solidFill>
            <a:srgbClr val="2F5D62"/>
          </a:solidFill>
          <a:ln>
            <a:noFill/>
          </a:ln>
        </p:spPr>
      </p:sp>
      <p:sp>
        <p:nvSpPr>
          <p:cNvPr id="17" name="TextBox 17"/>
          <p:cNvSpPr txBox="1"/>
          <p:nvPr/>
        </p:nvSpPr>
        <p:spPr>
          <a:xfrm>
            <a:off x="924687" y="4823936"/>
            <a:ext cx="1284085"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4. 论文撰写</a:t>
            </a:r>
          </a:p>
        </p:txBody>
      </p:sp>
      <p:sp>
        <p:nvSpPr>
          <p:cNvPr id="18" name="TextBox 18"/>
          <p:cNvSpPr txBox="1"/>
          <p:nvPr/>
        </p:nvSpPr>
        <p:spPr>
          <a:xfrm>
            <a:off x="925449" y="5163979"/>
            <a:ext cx="5333492"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完成学位论文撰写与投稿论文准备，按计划申请预答辩。</a:t>
            </a:r>
          </a:p>
        </p:txBody>
      </p:sp>
      <p:sp>
        <p:nvSpPr>
          <p:cNvPr id="19" name="Line 19"/>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0" name="Rectangle 20"/>
          <p:cNvSpPr/>
          <p:nvPr/>
        </p:nvSpPr>
        <p:spPr>
          <a:xfrm>
            <a:off x="685800" y="6305550"/>
            <a:ext cx="133350" cy="133350"/>
          </a:xfrm>
          <a:prstGeom prst="rect">
            <a:avLst/>
          </a:prstGeom>
          <a:solidFill>
            <a:srgbClr val="B03A2E"/>
          </a:solidFill>
          <a:ln>
            <a:noFill/>
          </a:ln>
        </p:spPr>
      </p:sp>
      <p:sp>
        <p:nvSpPr>
          <p:cNvPr id="21" name="TextBox 21"/>
          <p:cNvSpPr txBox="1"/>
          <p:nvPr/>
        </p:nvSpPr>
        <p:spPr>
          <a:xfrm>
            <a:off x="963168" y="6270308"/>
            <a:ext cx="6236208"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收尾工作集中在分析结论与实验验证，不再涉及大规模数据生产</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13 / 16</a:t>
            </a:r>
          </a:p>
        </p:txBody>
      </p:sp>
      <p:sp>
        <p:nvSpPr>
          <p:cNvPr id="4" name="TextBox 4"/>
          <p:cNvSpPr txBox="1"/>
          <p:nvPr/>
        </p:nvSpPr>
        <p:spPr>
          <a:xfrm>
            <a:off x="670560" y="800100"/>
            <a:ext cx="429768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与开题计划的对应关系</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工作对照</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76450"/>
            <a:ext cx="57150" cy="704850"/>
          </a:xfrm>
          <a:prstGeom prst="rect">
            <a:avLst/>
          </a:prstGeom>
          <a:solidFill>
            <a:srgbClr val="B03A2E"/>
          </a:solidFill>
          <a:ln>
            <a:noFill/>
          </a:ln>
        </p:spPr>
      </p:sp>
      <p:sp>
        <p:nvSpPr>
          <p:cNvPr id="8" name="TextBox 8"/>
          <p:cNvSpPr txBox="1"/>
          <p:nvPr/>
        </p:nvSpPr>
        <p:spPr>
          <a:xfrm>
            <a:off x="924687" y="21950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数据准备</a:t>
            </a:r>
          </a:p>
        </p:txBody>
      </p:sp>
      <p:sp>
        <p:nvSpPr>
          <p:cNvPr id="9" name="TextBox 9"/>
          <p:cNvSpPr txBox="1"/>
          <p:nvPr/>
        </p:nvSpPr>
        <p:spPr>
          <a:xfrm>
            <a:off x="925449" y="2535079"/>
            <a:ext cx="664159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开题计划使用公开宏基因组数据 → 已完成全队列数据处理与参考集构建</a:t>
            </a:r>
          </a:p>
        </p:txBody>
      </p:sp>
      <p:sp>
        <p:nvSpPr>
          <p:cNvPr id="10" name="Rectangle 10"/>
          <p:cNvSpPr/>
          <p:nvPr/>
        </p:nvSpPr>
        <p:spPr>
          <a:xfrm>
            <a:off x="685800" y="2952750"/>
            <a:ext cx="57150" cy="704850"/>
          </a:xfrm>
          <a:prstGeom prst="rect">
            <a:avLst/>
          </a:prstGeom>
          <a:solidFill>
            <a:srgbClr val="2F5D62"/>
          </a:solidFill>
          <a:ln>
            <a:noFill/>
          </a:ln>
        </p:spPr>
      </p:sp>
      <p:sp>
        <p:nvSpPr>
          <p:cNvPr id="11" name="TextBox 11"/>
          <p:cNvSpPr txBox="1"/>
          <p:nvPr/>
        </p:nvSpPr>
        <p:spPr>
          <a:xfrm>
            <a:off x="924687" y="3071336"/>
            <a:ext cx="117525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候选肽挖掘</a:t>
            </a:r>
          </a:p>
        </p:txBody>
      </p:sp>
      <p:sp>
        <p:nvSpPr>
          <p:cNvPr id="12" name="TextBox 12"/>
          <p:cNvSpPr txBox="1"/>
          <p:nvPr/>
        </p:nvSpPr>
        <p:spPr>
          <a:xfrm>
            <a:off x="925449" y="3411379"/>
            <a:ext cx="688138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开题计划提取 sORF 并预测抗菌肽 → 已完成短肽库构建与三模型共识预测</a:t>
            </a:r>
          </a:p>
        </p:txBody>
      </p:sp>
      <p:sp>
        <p:nvSpPr>
          <p:cNvPr id="13" name="Rectangle 13"/>
          <p:cNvSpPr/>
          <p:nvPr/>
        </p:nvSpPr>
        <p:spPr>
          <a:xfrm>
            <a:off x="685800" y="3829050"/>
            <a:ext cx="57150" cy="704850"/>
          </a:xfrm>
          <a:prstGeom prst="rect">
            <a:avLst/>
          </a:prstGeom>
          <a:solidFill>
            <a:srgbClr val="B03A2E"/>
          </a:solidFill>
          <a:ln>
            <a:noFill/>
          </a:ln>
        </p:spPr>
      </p:sp>
      <p:sp>
        <p:nvSpPr>
          <p:cNvPr id="14" name="TextBox 14"/>
          <p:cNvSpPr txBox="1"/>
          <p:nvPr/>
        </p:nvSpPr>
        <p:spPr>
          <a:xfrm>
            <a:off x="924687" y="39476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差异分析</a:t>
            </a:r>
          </a:p>
        </p:txBody>
      </p:sp>
      <p:sp>
        <p:nvSpPr>
          <p:cNvPr id="15" name="TextBox 15"/>
          <p:cNvSpPr txBox="1"/>
          <p:nvPr/>
        </p:nvSpPr>
        <p:spPr>
          <a:xfrm>
            <a:off x="925449" y="4287679"/>
            <a:ext cx="727969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开题计划按病程阶段比较 → 已完成分阶段差异分析，并新增宏蛋白组二次去重</a:t>
            </a:r>
          </a:p>
        </p:txBody>
      </p:sp>
      <p:sp>
        <p:nvSpPr>
          <p:cNvPr id="16" name="Rectangle 16"/>
          <p:cNvSpPr/>
          <p:nvPr/>
        </p:nvSpPr>
        <p:spPr>
          <a:xfrm>
            <a:off x="685800" y="4705350"/>
            <a:ext cx="57150" cy="704850"/>
          </a:xfrm>
          <a:prstGeom prst="rect">
            <a:avLst/>
          </a:prstGeom>
          <a:solidFill>
            <a:srgbClr val="2F5D62"/>
          </a:solidFill>
          <a:ln>
            <a:noFill/>
          </a:ln>
        </p:spPr>
      </p:sp>
      <p:sp>
        <p:nvSpPr>
          <p:cNvPr id="17" name="TextBox 17"/>
          <p:cNvSpPr txBox="1"/>
          <p:nvPr/>
        </p:nvSpPr>
        <p:spPr>
          <a:xfrm>
            <a:off x="924687" y="4823936"/>
            <a:ext cx="943712"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模型方案</a:t>
            </a:r>
          </a:p>
        </p:txBody>
      </p:sp>
      <p:sp>
        <p:nvSpPr>
          <p:cNvPr id="18" name="TextBox 18"/>
          <p:cNvSpPr txBox="1"/>
          <p:nvPr/>
        </p:nvSpPr>
        <p:spPr>
          <a:xfrm>
            <a:off x="925449" y="5163979"/>
            <a:ext cx="8666251"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开题拟构建 DeepMetaAMP → 实际采用 Attention / LSTM / BERT 三个已发表模型协同预测</a:t>
            </a:r>
          </a:p>
        </p:txBody>
      </p:sp>
      <p:sp>
        <p:nvSpPr>
          <p:cNvPr id="19" name="Rectangle 19"/>
          <p:cNvSpPr/>
          <p:nvPr/>
        </p:nvSpPr>
        <p:spPr>
          <a:xfrm>
            <a:off x="685800" y="5581650"/>
            <a:ext cx="57150" cy="704850"/>
          </a:xfrm>
          <a:prstGeom prst="rect">
            <a:avLst/>
          </a:prstGeom>
          <a:solidFill>
            <a:srgbClr val="B03A2E"/>
          </a:solidFill>
          <a:ln>
            <a:noFill/>
          </a:ln>
        </p:spPr>
      </p:sp>
      <p:sp>
        <p:nvSpPr>
          <p:cNvPr id="20" name="TextBox 20"/>
          <p:cNvSpPr txBox="1"/>
          <p:nvPr/>
        </p:nvSpPr>
        <p:spPr>
          <a:xfrm>
            <a:off x="924687" y="5700236"/>
            <a:ext cx="1175258"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机制与验证</a:t>
            </a:r>
          </a:p>
        </p:txBody>
      </p:sp>
      <p:sp>
        <p:nvSpPr>
          <p:cNvPr id="21" name="TextBox 21"/>
          <p:cNvSpPr txBox="1"/>
          <p:nvPr/>
        </p:nvSpPr>
        <p:spPr>
          <a:xfrm>
            <a:off x="925449" y="6040279"/>
            <a:ext cx="664159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开题拟做功能与可视化分析 → 下一步进行机制关联分析与抑菌实验验证</a:t>
            </a:r>
          </a:p>
        </p:txBody>
      </p:sp>
      <p:sp>
        <p:nvSpPr>
          <p:cNvPr id="22" name="Line 22"/>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305550"/>
            <a:ext cx="133350" cy="133350"/>
          </a:xfrm>
          <a:prstGeom prst="rect">
            <a:avLst/>
          </a:prstGeom>
          <a:solidFill>
            <a:srgbClr val="B03A2E"/>
          </a:solidFill>
          <a:ln>
            <a:noFill/>
          </a:ln>
        </p:spPr>
      </p:sp>
      <p:sp>
        <p:nvSpPr>
          <p:cNvPr id="24" name="TextBox 24"/>
          <p:cNvSpPr txBox="1"/>
          <p:nvPr/>
        </p:nvSpPr>
        <p:spPr>
          <a:xfrm>
            <a:off x="963168" y="6270308"/>
            <a:ext cx="5791962"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研究方向未变，仅在预测模型与去重环节做了更务实的调整</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14 / 16</a:t>
            </a:r>
          </a:p>
        </p:txBody>
      </p:sp>
      <p:sp>
        <p:nvSpPr>
          <p:cNvPr id="4" name="TextBox 4"/>
          <p:cNvSpPr txBox="1"/>
          <p:nvPr/>
        </p:nvSpPr>
        <p:spPr>
          <a:xfrm>
            <a:off x="670560" y="800100"/>
            <a:ext cx="38709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存在问题与应对措施</a:t>
            </a:r>
          </a:p>
        </p:txBody>
      </p:sp>
      <p:sp>
        <p:nvSpPr>
          <p:cNvPr id="5" name="TextBox 5"/>
          <p:cNvSpPr txBox="1"/>
          <p:nvPr/>
        </p:nvSpPr>
        <p:spPr>
          <a:xfrm>
            <a:off x="677418" y="1269682"/>
            <a:ext cx="1190244"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问题与对策</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2038350"/>
            <a:ext cx="10820400" cy="1123950"/>
          </a:xfrm>
          <a:prstGeom prst="roundRect">
            <a:avLst>
              <a:gd name="adj" fmla="val 6780"/>
            </a:avLst>
          </a:prstGeom>
          <a:solidFill>
            <a:srgbClr val="FBF6F5"/>
          </a:solidFill>
          <a:ln w="9525">
            <a:solidFill>
              <a:srgbClr val="EADCD9"/>
            </a:solidFill>
          </a:ln>
        </p:spPr>
      </p:sp>
      <p:sp>
        <p:nvSpPr>
          <p:cNvPr id="8" name="Rectangle 8"/>
          <p:cNvSpPr/>
          <p:nvPr/>
        </p:nvSpPr>
        <p:spPr>
          <a:xfrm>
            <a:off x="685800" y="2038350"/>
            <a:ext cx="57150" cy="1123950"/>
          </a:xfrm>
          <a:prstGeom prst="rect">
            <a:avLst/>
          </a:prstGeom>
          <a:solidFill>
            <a:srgbClr val="B03A2E"/>
          </a:solidFill>
          <a:ln>
            <a:noFill/>
          </a:ln>
        </p:spPr>
      </p:sp>
      <p:sp>
        <p:nvSpPr>
          <p:cNvPr id="9" name="TextBox 9"/>
          <p:cNvSpPr txBox="1"/>
          <p:nvPr/>
        </p:nvSpPr>
        <p:spPr>
          <a:xfrm>
            <a:off x="925830" y="2219325"/>
            <a:ext cx="600636"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1</a:t>
            </a:r>
          </a:p>
        </p:txBody>
      </p:sp>
      <p:sp>
        <p:nvSpPr>
          <p:cNvPr id="10" name="TextBox 10"/>
          <p:cNvSpPr txBox="1"/>
          <p:nvPr/>
        </p:nvSpPr>
        <p:spPr>
          <a:xfrm>
            <a:off x="1620012" y="2195036"/>
            <a:ext cx="256453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预测结果存在假阳性风险</a:t>
            </a:r>
          </a:p>
        </p:txBody>
      </p:sp>
      <p:sp>
        <p:nvSpPr>
          <p:cNvPr id="11" name="TextBox 11"/>
          <p:cNvSpPr txBox="1"/>
          <p:nvPr/>
        </p:nvSpPr>
        <p:spPr>
          <a:xfrm>
            <a:off x="925449" y="2592229"/>
            <a:ext cx="10225583"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应对：以三模型共识判定提高候选集合可信度，再用宏蛋白组表达证据二次去重，最后以抑菌实验验证活性。</a:t>
            </a:r>
          </a:p>
        </p:txBody>
      </p:sp>
      <p:sp>
        <p:nvSpPr>
          <p:cNvPr id="12" name="Rectangle 12"/>
          <p:cNvSpPr/>
          <p:nvPr/>
        </p:nvSpPr>
        <p:spPr>
          <a:xfrm>
            <a:off x="685800" y="3314700"/>
            <a:ext cx="10820400" cy="1123950"/>
          </a:xfrm>
          <a:prstGeom prst="roundRect">
            <a:avLst>
              <a:gd name="adj" fmla="val 6780"/>
            </a:avLst>
          </a:prstGeom>
          <a:solidFill>
            <a:srgbClr val="FBF6F5"/>
          </a:solidFill>
          <a:ln w="9525">
            <a:solidFill>
              <a:srgbClr val="EADCD9"/>
            </a:solidFill>
          </a:ln>
        </p:spPr>
      </p:sp>
      <p:sp>
        <p:nvSpPr>
          <p:cNvPr id="13" name="Rectangle 13"/>
          <p:cNvSpPr/>
          <p:nvPr/>
        </p:nvSpPr>
        <p:spPr>
          <a:xfrm>
            <a:off x="685800" y="3314700"/>
            <a:ext cx="57150" cy="1123950"/>
          </a:xfrm>
          <a:prstGeom prst="rect">
            <a:avLst/>
          </a:prstGeom>
          <a:solidFill>
            <a:srgbClr val="B03A2E"/>
          </a:solidFill>
          <a:ln>
            <a:noFill/>
          </a:ln>
        </p:spPr>
      </p:sp>
      <p:sp>
        <p:nvSpPr>
          <p:cNvPr id="14" name="TextBox 14"/>
          <p:cNvSpPr txBox="1"/>
          <p:nvPr/>
        </p:nvSpPr>
        <p:spPr>
          <a:xfrm>
            <a:off x="925830" y="3495675"/>
            <a:ext cx="629802"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2</a:t>
            </a:r>
          </a:p>
        </p:txBody>
      </p:sp>
      <p:sp>
        <p:nvSpPr>
          <p:cNvPr id="15" name="TextBox 15"/>
          <p:cNvSpPr txBox="1"/>
          <p:nvPr/>
        </p:nvSpPr>
        <p:spPr>
          <a:xfrm>
            <a:off x="1620012" y="3471386"/>
            <a:ext cx="325917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部分样本缺少可用的参考基因组</a:t>
            </a:r>
          </a:p>
        </p:txBody>
      </p:sp>
      <p:sp>
        <p:nvSpPr>
          <p:cNvPr id="16" name="TextBox 16"/>
          <p:cNvSpPr txBox="1"/>
          <p:nvPr/>
        </p:nvSpPr>
        <p:spPr>
          <a:xfrm>
            <a:off x="925449" y="3868579"/>
            <a:ext cx="8736686"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应对：在丰度分析阶段改用全量基因组回填，恢复样本覆盖，避免参考集筛选造成样本缺失。</a:t>
            </a:r>
          </a:p>
        </p:txBody>
      </p:sp>
      <p:sp>
        <p:nvSpPr>
          <p:cNvPr id="17" name="Rectangle 17"/>
          <p:cNvSpPr/>
          <p:nvPr/>
        </p:nvSpPr>
        <p:spPr>
          <a:xfrm>
            <a:off x="685800" y="4591050"/>
            <a:ext cx="10820400" cy="1123950"/>
          </a:xfrm>
          <a:prstGeom prst="roundRect">
            <a:avLst>
              <a:gd name="adj" fmla="val 6780"/>
            </a:avLst>
          </a:prstGeom>
          <a:solidFill>
            <a:srgbClr val="FBF6F5"/>
          </a:solidFill>
          <a:ln w="9525">
            <a:solidFill>
              <a:srgbClr val="EADCD9"/>
            </a:solidFill>
          </a:ln>
        </p:spPr>
      </p:sp>
      <p:sp>
        <p:nvSpPr>
          <p:cNvPr id="18" name="Rectangle 18"/>
          <p:cNvSpPr/>
          <p:nvPr/>
        </p:nvSpPr>
        <p:spPr>
          <a:xfrm>
            <a:off x="685800" y="4591050"/>
            <a:ext cx="57150" cy="1123950"/>
          </a:xfrm>
          <a:prstGeom prst="rect">
            <a:avLst/>
          </a:prstGeom>
          <a:solidFill>
            <a:srgbClr val="B03A2E"/>
          </a:solidFill>
          <a:ln>
            <a:noFill/>
          </a:ln>
        </p:spPr>
      </p:sp>
      <p:sp>
        <p:nvSpPr>
          <p:cNvPr id="19" name="TextBox 19"/>
          <p:cNvSpPr txBox="1"/>
          <p:nvPr/>
        </p:nvSpPr>
        <p:spPr>
          <a:xfrm>
            <a:off x="925830" y="4772025"/>
            <a:ext cx="629375" cy="293370"/>
          </a:xfrm>
          <a:prstGeom prst="rect">
            <a:avLst/>
          </a:prstGeom>
          <a:noFill/>
          <a:ln>
            <a:noFill/>
          </a:ln>
        </p:spPr>
        <p:txBody>
          <a:bodyPr wrap="none" lIns="0" tIns="0" rIns="0" bIns="0" anchor="t" anchorCtr="0">
            <a:spAutoFit/>
          </a:bodyPr>
          <a:lstStyle/>
          <a:p>
            <a:pPr algn="l"/>
            <a:r>
              <a:rPr lang="zh-CN" sz="1500" b="1" dirty="0">
                <a:solidFill>
                  <a:srgbClr val="B03A2E"/>
                </a:solidFill>
                <a:latin typeface="Georgia"/>
                <a:ea typeface="SimSun"/>
                <a:cs typeface="Georgia"/>
              </a:rPr>
              <a:t>问题 3</a:t>
            </a:r>
          </a:p>
        </p:txBody>
      </p:sp>
      <p:sp>
        <p:nvSpPr>
          <p:cNvPr id="20" name="TextBox 20"/>
          <p:cNvSpPr txBox="1"/>
          <p:nvPr/>
        </p:nvSpPr>
        <p:spPr>
          <a:xfrm>
            <a:off x="1620012" y="4747736"/>
            <a:ext cx="2564536" cy="337376"/>
          </a:xfrm>
          <a:prstGeom prst="rect">
            <a:avLst/>
          </a:prstGeom>
          <a:noFill/>
          <a:ln>
            <a:noFill/>
          </a:ln>
        </p:spPr>
        <p:txBody>
          <a:bodyPr wrap="none" lIns="0" tIns="0" rIns="0" bIns="0" anchor="t" anchorCtr="0">
            <a:spAutoFit/>
          </a:bodyPr>
          <a:lstStyle/>
          <a:p>
            <a:pPr algn="l"/>
            <a:r>
              <a:rPr lang="zh-CN" sz="1720" b="1" dirty="0">
                <a:solidFill>
                  <a:srgbClr val="141414"/>
                </a:solidFill>
                <a:latin typeface="Arial"/>
                <a:ea typeface="Microsoft YaHei"/>
                <a:cs typeface="Arial"/>
              </a:rPr>
              <a:t>机制关联的证据强度有限</a:t>
            </a:r>
          </a:p>
        </p:txBody>
      </p:sp>
      <p:sp>
        <p:nvSpPr>
          <p:cNvPr id="21" name="TextBox 21"/>
          <p:cNvSpPr txBox="1"/>
          <p:nvPr/>
        </p:nvSpPr>
        <p:spPr>
          <a:xfrm>
            <a:off x="925449" y="5144929"/>
            <a:ext cx="8970655" cy="308039"/>
          </a:xfrm>
          <a:prstGeom prst="rect">
            <a:avLst/>
          </a:prstGeom>
          <a:noFill/>
          <a:ln>
            <a:noFill/>
          </a:ln>
        </p:spPr>
        <p:txBody>
          <a:bodyPr wrap="none" lIns="0" tIns="0" rIns="0" bIns="0" anchor="t" anchorCtr="0">
            <a:spAutoFit/>
          </a:bodyPr>
          <a:lstStyle/>
          <a:p>
            <a:pPr algn="l"/>
            <a:r>
              <a:rPr lang="zh-CN" sz="1580" dirty="0">
                <a:solidFill>
                  <a:srgbClr val="2B2B2B"/>
                </a:solidFill>
                <a:latin typeface="Arial"/>
                <a:ea typeface="Microsoft YaHei"/>
                <a:cs typeface="Arial"/>
              </a:rPr>
              <a:t>应对：以分子对接与动力学模拟、文献比对为主，将研究定位为“线索发现”，不夸大因果结论。</a:t>
            </a:r>
          </a:p>
        </p:txBody>
      </p:sp>
      <p:sp>
        <p:nvSpPr>
          <p:cNvPr id="22" name="Line 22"/>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305550"/>
            <a:ext cx="133350" cy="133350"/>
          </a:xfrm>
          <a:prstGeom prst="rect">
            <a:avLst/>
          </a:prstGeom>
          <a:solidFill>
            <a:srgbClr val="B03A2E"/>
          </a:solidFill>
          <a:ln>
            <a:noFill/>
          </a:ln>
        </p:spPr>
      </p:sp>
      <p:sp>
        <p:nvSpPr>
          <p:cNvPr id="24" name="TextBox 24"/>
          <p:cNvSpPr txBox="1"/>
          <p:nvPr/>
        </p:nvSpPr>
        <p:spPr>
          <a:xfrm>
            <a:off x="963168" y="6270308"/>
            <a:ext cx="4014978"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三个问题都有具体对策，不影响整体进度</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679306" y="534829"/>
            <a:ext cx="834895" cy="308039"/>
          </a:xfrm>
          <a:prstGeom prst="rect">
            <a:avLst/>
          </a:prstGeom>
          <a:noFill/>
          <a:ln>
            <a:noFill/>
          </a:ln>
        </p:spPr>
        <p:txBody>
          <a:bodyPr wrap="none" lIns="0" tIns="0" rIns="0" bIns="0" anchor="t" anchorCtr="0">
            <a:spAutoFit/>
          </a:bodyPr>
          <a:lstStyle/>
          <a:p>
            <a:pPr algn="r"/>
            <a:r>
              <a:rPr lang="zh-CN" sz="1580" dirty="0">
                <a:solidFill>
                  <a:srgbClr val="767472"/>
                </a:solidFill>
                <a:latin typeface="Consolas"/>
                <a:ea typeface="Consolas"/>
                <a:cs typeface="Consolas"/>
              </a:rPr>
              <a:t>15 / 16</a:t>
            </a:r>
          </a:p>
        </p:txBody>
      </p:sp>
      <p:sp>
        <p:nvSpPr>
          <p:cNvPr id="4" name="TextBox 4"/>
          <p:cNvSpPr txBox="1"/>
          <p:nvPr/>
        </p:nvSpPr>
        <p:spPr>
          <a:xfrm>
            <a:off x="670560" y="800100"/>
            <a:ext cx="1737360" cy="586740"/>
          </a:xfrm>
          <a:prstGeom prst="rect">
            <a:avLst/>
          </a:prstGeom>
          <a:noFill/>
          <a:ln>
            <a:noFill/>
          </a:ln>
        </p:spPr>
        <p:txBody>
          <a:bodyPr wrap="none" lIns="0" tIns="0" rIns="0" bIns="0" anchor="t" anchorCtr="0">
            <a:spAutoFit/>
          </a:bodyPr>
          <a:lstStyle/>
          <a:p>
            <a:pPr algn="l"/>
            <a:r>
              <a:rPr lang="zh-CN" sz="3000" b="1" dirty="0">
                <a:solidFill>
                  <a:srgbClr val="141414"/>
                </a:solidFill>
                <a:latin typeface="Georgia"/>
                <a:ea typeface="SimSun"/>
                <a:cs typeface="Georgia"/>
              </a:rPr>
              <a:t>预期成果</a:t>
            </a:r>
          </a:p>
        </p:txBody>
      </p:sp>
      <p:sp>
        <p:nvSpPr>
          <p:cNvPr id="5" name="TextBox 5"/>
          <p:cNvSpPr txBox="1"/>
          <p:nvPr/>
        </p:nvSpPr>
        <p:spPr>
          <a:xfrm>
            <a:off x="677418" y="1269682"/>
            <a:ext cx="955548" cy="322707"/>
          </a:xfrm>
          <a:prstGeom prst="rect">
            <a:avLst/>
          </a:prstGeom>
          <a:noFill/>
          <a:ln>
            <a:noFill/>
          </a:ln>
        </p:spPr>
        <p:txBody>
          <a:bodyPr wrap="none" lIns="0" tIns="0" rIns="0" bIns="0" anchor="t" anchorCtr="0">
            <a:spAutoFit/>
          </a:bodyPr>
          <a:lstStyle/>
          <a:p>
            <a:pPr algn="l"/>
            <a:r>
              <a:rPr lang="zh-CN" sz="1650" dirty="0">
                <a:solidFill>
                  <a:srgbClr val="2F5D62"/>
                </a:solidFill>
                <a:latin typeface="Georgia"/>
                <a:ea typeface="SimSun"/>
                <a:cs typeface="Georgia"/>
              </a:rPr>
              <a:t>成果形式</a:t>
            </a:r>
          </a:p>
        </p:txBody>
      </p:sp>
      <p:sp>
        <p:nvSpPr>
          <p:cNvPr id="6" name="Line 6"/>
          <p:cNvSpPr/>
          <p:nvPr/>
        </p:nvSpPr>
        <p:spPr>
          <a:xfrm>
            <a:off x="685800" y="16383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885950"/>
            <a:ext cx="95250" cy="95250"/>
          </a:xfrm>
          <a:prstGeom prst="rect">
            <a:avLst/>
          </a:prstGeom>
          <a:solidFill>
            <a:srgbClr val="B03A2E"/>
          </a:solidFill>
          <a:ln>
            <a:noFill/>
          </a:ln>
        </p:spPr>
      </p:sp>
      <p:sp>
        <p:nvSpPr>
          <p:cNvPr id="8" name="TextBox 8"/>
          <p:cNvSpPr txBox="1"/>
          <p:nvPr/>
        </p:nvSpPr>
        <p:spPr>
          <a:xfrm>
            <a:off x="906018" y="1841182"/>
            <a:ext cx="7124700"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一套完整的肠道微生物源抗菌肽挖掘分析流程，可复用于其他队列与疾病</a:t>
            </a:r>
          </a:p>
        </p:txBody>
      </p:sp>
      <p:sp>
        <p:nvSpPr>
          <p:cNvPr id="9" name="Rectangle 9"/>
          <p:cNvSpPr/>
          <p:nvPr/>
        </p:nvSpPr>
        <p:spPr>
          <a:xfrm>
            <a:off x="685800" y="2390775"/>
            <a:ext cx="95250" cy="95250"/>
          </a:xfrm>
          <a:prstGeom prst="rect">
            <a:avLst/>
          </a:prstGeom>
          <a:solidFill>
            <a:srgbClr val="B03A2E"/>
          </a:solidFill>
          <a:ln>
            <a:noFill/>
          </a:ln>
        </p:spPr>
      </p:sp>
      <p:sp>
        <p:nvSpPr>
          <p:cNvPr id="10" name="TextBox 10"/>
          <p:cNvSpPr txBox="1"/>
          <p:nvPr/>
        </p:nvSpPr>
        <p:spPr>
          <a:xfrm>
            <a:off x="906018" y="2346008"/>
            <a:ext cx="6857314"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健康人群与 AD 各阶段特有的候选抗菌肽清单，作为后续研究的线索集</a:t>
            </a:r>
          </a:p>
        </p:txBody>
      </p:sp>
      <p:sp>
        <p:nvSpPr>
          <p:cNvPr id="11" name="Rectangle 11"/>
          <p:cNvSpPr/>
          <p:nvPr/>
        </p:nvSpPr>
        <p:spPr>
          <a:xfrm>
            <a:off x="685800" y="2895600"/>
            <a:ext cx="95250" cy="95250"/>
          </a:xfrm>
          <a:prstGeom prst="rect">
            <a:avLst/>
          </a:prstGeom>
          <a:solidFill>
            <a:srgbClr val="B03A2E"/>
          </a:solidFill>
          <a:ln>
            <a:noFill/>
          </a:ln>
        </p:spPr>
      </p:sp>
      <p:sp>
        <p:nvSpPr>
          <p:cNvPr id="12" name="TextBox 12"/>
          <p:cNvSpPr txBox="1"/>
          <p:nvPr/>
        </p:nvSpPr>
        <p:spPr>
          <a:xfrm>
            <a:off x="906018" y="2850832"/>
            <a:ext cx="7755969"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候选抗菌肽与 AD 发病机制关联的分析结果（Aβ 聚集、AChE 结合、炎症通路）</a:t>
            </a:r>
          </a:p>
        </p:txBody>
      </p:sp>
      <p:sp>
        <p:nvSpPr>
          <p:cNvPr id="13" name="Rectangle 13"/>
          <p:cNvSpPr/>
          <p:nvPr/>
        </p:nvSpPr>
        <p:spPr>
          <a:xfrm>
            <a:off x="685800" y="3409950"/>
            <a:ext cx="95250" cy="95250"/>
          </a:xfrm>
          <a:prstGeom prst="rect">
            <a:avLst/>
          </a:prstGeom>
          <a:solidFill>
            <a:srgbClr val="B03A2E"/>
          </a:solidFill>
          <a:ln>
            <a:noFill/>
          </a:ln>
        </p:spPr>
      </p:sp>
      <p:sp>
        <p:nvSpPr>
          <p:cNvPr id="14" name="TextBox 14"/>
          <p:cNvSpPr txBox="1"/>
          <p:nvPr/>
        </p:nvSpPr>
        <p:spPr>
          <a:xfrm>
            <a:off x="906018" y="3365182"/>
            <a:ext cx="3570732"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候选抗菌肽抑菌活性的初步实验证据</a:t>
            </a:r>
          </a:p>
        </p:txBody>
      </p:sp>
      <p:sp>
        <p:nvSpPr>
          <p:cNvPr id="15" name="Rectangle 15"/>
          <p:cNvSpPr/>
          <p:nvPr/>
        </p:nvSpPr>
        <p:spPr>
          <a:xfrm>
            <a:off x="685800" y="3914775"/>
            <a:ext cx="95250" cy="95250"/>
          </a:xfrm>
          <a:prstGeom prst="rect">
            <a:avLst/>
          </a:prstGeom>
          <a:solidFill>
            <a:srgbClr val="B03A2E"/>
          </a:solidFill>
          <a:ln>
            <a:noFill/>
          </a:ln>
        </p:spPr>
      </p:sp>
      <p:sp>
        <p:nvSpPr>
          <p:cNvPr id="16" name="TextBox 16"/>
          <p:cNvSpPr txBox="1"/>
          <p:nvPr/>
        </p:nvSpPr>
        <p:spPr>
          <a:xfrm>
            <a:off x="906018" y="3870008"/>
            <a:ext cx="5850426" cy="322707"/>
          </a:xfrm>
          <a:prstGeom prst="rect">
            <a:avLst/>
          </a:prstGeom>
          <a:noFill/>
          <a:ln>
            <a:noFill/>
          </a:ln>
        </p:spPr>
        <p:txBody>
          <a:bodyPr wrap="none" lIns="0" tIns="0" rIns="0" bIns="0" anchor="t" anchorCtr="0">
            <a:spAutoFit/>
          </a:bodyPr>
          <a:lstStyle/>
          <a:p>
            <a:pPr algn="l"/>
            <a:r>
              <a:rPr lang="zh-CN" sz="1650" dirty="0">
                <a:solidFill>
                  <a:srgbClr val="2B2B2B"/>
                </a:solidFill>
                <a:latin typeface="Arial"/>
                <a:ea typeface="Microsoft YaHei"/>
                <a:cs typeface="Arial"/>
              </a:rPr>
              <a:t>以第一作者撰写并投稿 SCI 收录论文 1 篇，并完成学位论文</a:t>
            </a:r>
          </a:p>
        </p:txBody>
      </p:sp>
      <p:sp>
        <p:nvSpPr>
          <p:cNvPr id="17" name="Line 17"/>
          <p:cNvSpPr/>
          <p:nvPr/>
        </p:nvSpPr>
        <p:spPr>
          <a:xfrm>
            <a:off x="685800" y="6096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8" name="Rectangle 18"/>
          <p:cNvSpPr/>
          <p:nvPr/>
        </p:nvSpPr>
        <p:spPr>
          <a:xfrm>
            <a:off x="685800" y="6305550"/>
            <a:ext cx="133350" cy="133350"/>
          </a:xfrm>
          <a:prstGeom prst="rect">
            <a:avLst/>
          </a:prstGeom>
          <a:solidFill>
            <a:srgbClr val="B03A2E"/>
          </a:solidFill>
          <a:ln>
            <a:noFill/>
          </a:ln>
        </p:spPr>
      </p:sp>
      <p:sp>
        <p:nvSpPr>
          <p:cNvPr id="19" name="TextBox 19"/>
          <p:cNvSpPr txBox="1"/>
          <p:nvPr/>
        </p:nvSpPr>
        <p:spPr>
          <a:xfrm>
            <a:off x="963168" y="6270308"/>
            <a:ext cx="5125593" cy="322707"/>
          </a:xfrm>
          <a:prstGeom prst="rect">
            <a:avLst/>
          </a:prstGeom>
          <a:noFill/>
          <a:ln>
            <a:noFill/>
          </a:ln>
        </p:spPr>
        <p:txBody>
          <a:bodyPr wrap="none" lIns="0" tIns="0" rIns="0" bIns="0" anchor="t" anchorCtr="0">
            <a:spAutoFit/>
          </a:bodyPr>
          <a:lstStyle/>
          <a:p>
            <a:pPr algn="l"/>
            <a:r>
              <a:rPr lang="zh-CN" sz="1650" b="1" dirty="0">
                <a:solidFill>
                  <a:srgbClr val="2B2B2B"/>
                </a:solidFill>
                <a:latin typeface="Arial"/>
                <a:ea typeface="Microsoft YaHei"/>
                <a:cs typeface="Arial"/>
              </a:rPr>
              <a:t>成果既包括数据与清单，也包括机制线索与实验证据</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91440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TextBox 3"/>
          <p:cNvSpPr txBox="1"/>
          <p:nvPr/>
        </p:nvSpPr>
        <p:spPr>
          <a:xfrm>
            <a:off x="668274" y="2485072"/>
            <a:ext cx="4942332" cy="674751"/>
          </a:xfrm>
          <a:prstGeom prst="rect">
            <a:avLst/>
          </a:prstGeom>
          <a:noFill/>
          <a:ln>
            <a:noFill/>
          </a:ln>
        </p:spPr>
        <p:txBody>
          <a:bodyPr wrap="none" lIns="0" tIns="0" rIns="0" bIns="0" anchor="t" anchorCtr="0">
            <a:spAutoFit/>
          </a:bodyPr>
          <a:lstStyle/>
          <a:p>
            <a:pPr algn="l"/>
            <a:r>
              <a:rPr lang="zh-CN" sz="3450" b="1" dirty="0">
                <a:solidFill>
                  <a:srgbClr val="141414"/>
                </a:solidFill>
                <a:latin typeface="Georgia"/>
                <a:ea typeface="SimSun"/>
                <a:cs typeface="Georgia"/>
              </a:rPr>
              <a:t>恳请各位老师批评指正</a:t>
            </a:r>
          </a:p>
        </p:txBody>
      </p:sp>
      <p:sp>
        <p:nvSpPr>
          <p:cNvPr id="4" name="TextBox 4"/>
          <p:cNvSpPr txBox="1"/>
          <p:nvPr/>
        </p:nvSpPr>
        <p:spPr>
          <a:xfrm>
            <a:off x="673608" y="3284220"/>
            <a:ext cx="1048512" cy="469392"/>
          </a:xfrm>
          <a:prstGeom prst="rect">
            <a:avLst/>
          </a:prstGeom>
          <a:noFill/>
          <a:ln>
            <a:noFill/>
          </a:ln>
        </p:spPr>
        <p:txBody>
          <a:bodyPr wrap="none" lIns="0" tIns="0" rIns="0" bIns="0" anchor="t" anchorCtr="0">
            <a:spAutoFit/>
          </a:bodyPr>
          <a:lstStyle/>
          <a:p>
            <a:pPr algn="l"/>
            <a:r>
              <a:rPr lang="zh-CN" sz="2400" b="1" dirty="0">
                <a:solidFill>
                  <a:srgbClr val="B03A2E"/>
                </a:solidFill>
                <a:latin typeface="Georgia"/>
                <a:ea typeface="SimSun"/>
                <a:cs typeface="Georgia"/>
              </a:rPr>
              <a:t>谢谢！</a:t>
            </a:r>
          </a:p>
        </p:txBody>
      </p:sp>
      <p:sp>
        <p:nvSpPr>
          <p:cNvPr id="5" name="Line 5"/>
          <p:cNvSpPr/>
          <p:nvPr/>
        </p:nvSpPr>
        <p:spPr>
          <a:xfrm>
            <a:off x="685800" y="4095750"/>
            <a:ext cx="2095500" cy="9525"/>
          </a:xfrm>
          <a:custGeom>
            <a:avLst/>
            <a:gdLst/>
            <a:ahLst/>
            <a:cxnLst/>
            <a:rect l="l" t="t" r="r" b="b"/>
            <a:pathLst>
              <a:path w="2095500" h="9525">
                <a:moveTo>
                  <a:pt x="0" y="0"/>
                </a:moveTo>
                <a:lnTo>
                  <a:pt x="2095500" y="0"/>
                </a:lnTo>
              </a:path>
            </a:pathLst>
          </a:custGeom>
          <a:noFill/>
          <a:ln w="28575">
            <a:solidFill>
              <a:srgbClr val="B03A2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G">
  <a:themeElements>
    <a:clrScheme name="svgproj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G">
  <a:themeElements>
    <a:clrScheme name="svgproj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2026-09-14T07:19:21Z</dcterms:created>
  <dcterms:modified xsi:type="dcterms:W3CDTF">2026-09-14T07:19:21Z</dcterms:modified>
  <cp:category/>
  <cp:contentStatus/>
</cp:coreProperties>
</file>