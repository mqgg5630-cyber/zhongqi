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767328" y="1975104"/>
            <a:ext cx="4657039" cy="330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9264"/>
            <a:ext cx="110578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研究生论文中期检查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9424"/>
            <a:ext cx="11057839" cy="1554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基于深度学习的阿尔茨海默症患者与健康人群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肠道微生物组中抗菌肽的差异性研究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97680"/>
            <a:ext cx="11057839" cy="1645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/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汇报人：【姓名】　　学号：【学号】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指导教师：【导师姓名】　　培养单位：【学院】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3560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01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研究背景与科学问题：AD—肠—脑轴—抗菌肽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02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研究目标与技术路线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03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已完成工作：476 例宏基因组 → 9 139.2 万条非冗余多肽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04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阶段性结果：四个队列的 sORF 数量层面比较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05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下一步计划：DeepMetaAMP 模型与候选抗菌肽差异分析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06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研究进度、存在问题与应对措施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汇报重点：已完成的数据资源与阶段性结果，以及下一步的技术方案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与肠道微生物组通过“肠—脑轴”双向关联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研究背景与科学问题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3017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现状 1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患者肠道微生物组存在菌群失调：短链脂肪酸产生菌减少、炎症相关菌增多，伴随肠屏障功能下降与系统性炎症升高。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现状 2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抗菌肽（AMPs）兼具直接抗菌与免疫调节功能，是连接微生物刺激与神经炎症的潜在效应分子；微生物基因组中的小开放阅读框（sORF）可编码此类短肽。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现状 3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现有 AMPs 研究多依赖宿主来源数据库与通用预测模型，缺乏面向 AD 患者、覆盖病程各阶段、且基于微生物组序列空间的疾病特异性系统分析。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科学问题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患者与健康人群肠道微生物组所编码的候选抗菌肽是否存在差异？若存在，是否随认知功能下降的病程阶段呈现连续演变？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研究目标：构建无偏多肽库并识别 AD 相关候选抗菌肽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研究目标与技术路线</a:t>
            </a:r>
          </a:p>
        </p:txBody>
      </p:sp>
      <p:pic>
        <p:nvPicPr>
          <p:cNvPr id="4" name="Picture 3" descr="fig1_技术路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72299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技术路线两端已打通：左侧数据处理与多肽库构建已完成，右侧模型与差异分析正在进行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 ①：22 582 个 MAGs，1 971 个代表基因组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数据资源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91056"/>
            <a:ext cx="6537960" cy="407822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476 例粪便双端鸟枪法数据：fastp 质控 + KneadData/Bowtie2 去宿主（hg38）→ MEGAHIT 从头组装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</a:pPr>
            <a:r>
              <a:rPr sz="16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MetaBAT2 / MaxBin2 / CONCOCT 三算法独立分箱，metaWRAP bin_refinement 提纯（完整度 ≥50%、污染度 ≤10%）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</a:pPr>
            <a:r>
              <a:rPr sz="16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CheckM 谱系标记基因 + barrnap + tRNAscan-SE 按 MIMAG 标准分级，757 个达到高质量标准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</a:pPr>
            <a:r>
              <a:rPr sz="16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dRep 在 95% ANI 阈值下去冗余得到 1 971 个种水平代表基因组，覆盖 459/476 例样本（96.4%）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</a:pPr>
            <a:r>
              <a:rPr sz="16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参考集不用 757 个高质量基因组：那样去重后仅剩 80 个物种、98 例样本无基因组入选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79208" y="1591056"/>
            <a:ext cx="4242816" cy="896112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476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例粪便宏基因组样本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79208" y="2633472"/>
            <a:ext cx="4242816" cy="896112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22 582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个组装基因组（MAGs）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79208" y="3675888"/>
            <a:ext cx="4242816" cy="896112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757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个 MIMAG 高质量基因组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79208" y="4718304"/>
            <a:ext cx="4242816" cy="896112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1 971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个种水平代表基因组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参考集以物种多样性为准：1 971 个代表基因组对应 459 例样本，保证下游分析无系统性偏倚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5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 ②：9 139.2 万条非冗余微生物源多肽库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多肽库构建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36192"/>
            <a:ext cx="6355080" cy="418795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预测工具：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EMBOSS getorf v6.6.0.0（-find 0 -table 11 -minsize 15 -maxsize 150）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长度说明：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长度参数以核苷酸计，15—150 nt 即 5—50 aa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产出规模：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2.19 亿条原始 sORF → 精确去冗余后 9 139.2 万条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无偏性：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未引入抗菌肽数据库过滤或分类器，序列空间无偏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可溯源性：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序列头含 MAG 标识，可回溯至来源代表基因组与样本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基因组间差异：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1.99 万—42.5 万条/基因组，极差约 21.3 倍</a:t>
            </a:r>
          </a:p>
        </p:txBody>
      </p:sp>
      <p:pic>
        <p:nvPicPr>
          <p:cNvPr id="5" name="Picture 4" descr="fig2_产出规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27048"/>
            <a:ext cx="4160520" cy="2265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3813048"/>
            <a:ext cx="4297680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该多肽库覆盖队列中全部 459 例有效样本，是后续抗菌肽预测与组间差异分析的统一输入。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以无偏方式构建的多肽库是本研究的核心数据资源，规模与可溯源性均满足下游模型需求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6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 ③：严格匹配亚队列与四个平行分析队列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队列设计</a:t>
            </a:r>
          </a:p>
        </p:txBody>
      </p:sp>
      <p:pic>
        <p:nvPicPr>
          <p:cNvPr id="4" name="Picture 3" descr="fig3_队列设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898" y="1481328"/>
            <a:ext cx="9949899" cy="418795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匹配亚队列各阶段均 53 例、性别构成一致、平均年龄最大差 1.8 岁，可分离病程效应与增龄效应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阶段性结果 ①：sORF 数量指标无统计学差异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阶段性结果 · 数量层面</a:t>
            </a:r>
          </a:p>
        </p:txBody>
      </p:sp>
      <p:pic>
        <p:nvPicPr>
          <p:cNvPr id="4" name="Picture 3" descr="fig4_sORF数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460" y="1481328"/>
            <a:ext cx="8988775" cy="418795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主要结局 sORF_per_MAG 的 P 值为 0.7344（匹配队列）与 0.8359（全队列），组间差异均不显著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阶段性结果 ②：12 项检验均未达显著水平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阶段性结果 · 检验汇总</a:t>
            </a:r>
          </a:p>
        </p:txBody>
      </p:sp>
      <p:pic>
        <p:nvPicPr>
          <p:cNvPr id="4" name="Picture 3" descr="fig5_P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786" y="1481328"/>
            <a:ext cx="8596122" cy="418795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五个阶段与 NC-AD 二元比较在匹配队列和全队列中结论一致，提示结果稳健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结果解读：组间波动源于组装质量差异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阶段性结果 · 解读与启示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3291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波动来源：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Total_sORF 的组间波动与代表基因组数 N_MAG 同向变化（匹配队列中 MCI 均值 3.5、AD 均值 4.7），提示由贡献基因组数量驱动。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方向不一致：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sORF_per_MAG 在匹配队列中 AD 略高于 NC（114 555.0 vs 113 306.7），在全队列中则相反（111 582.5 vs 114 529.3），支持组间无真实差异。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效应量对比：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组间相对差异为 9.4%（匹配队列）与 5.5%（全队列），远小于单个基因组间 sORF 产出量的固有差异（约 21.3 倍）。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研究启示：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病程中微生物源 sORF 的总体编码容量保持稳定；差异若存在，更可能体现于序列组成与功能亚类，因此后续分析须转向候选抗菌肽层面。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阴性结果明确了技术方向：下一步聚焦候选抗菌肽的组成差异与阶段演变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 ①：构建 DeepMetaAMP 抗菌肽预测模型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模型构建</a:t>
            </a:r>
          </a:p>
        </p:txBody>
      </p:sp>
      <p:pic>
        <p:nvPicPr>
          <p:cNvPr id="4" name="Picture 3" descr="fig7_模型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6326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模型以 ESM-2 序列表征为核心，结合注意力池化与 Focal Loss 应对正负样本不平衡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 ②：全量推理与四队列差异分析方案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分析方案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3840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1. 批量推理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对 9 139.2 万条多肽分批预测，按验证集阈值筛选高置信度候选；与 DRAMP / APD3 / AMPSphere 比对剔除已知家族，保留新颖候选。</a:t>
            </a:r>
          </a:p>
          <a:p>
            <a:pPr algn="l">
              <a:lnSpc>
                <a:spcPct val="122000"/>
              </a:lnSpc>
              <a:spcBef>
                <a:spcPts val="1500"/>
              </a:spcBef>
              <a:spcAft>
                <a:spcPts val="0"/>
              </a:spcAft>
            </a:pPr>
            <a:r>
              <a:rPr sz="165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2. 丰度定量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 Bowtie2/BWA 将各样本 clean reads 回贴至 1 971 个代表基因组，CoverM 计算候选 sORF 覆盖度与丰度，构建样本 × 候选多肽矩阵并做 CLR 变换。</a:t>
            </a:r>
          </a:p>
          <a:p>
            <a:pPr algn="l">
              <a:lnSpc>
                <a:spcPct val="122000"/>
              </a:lnSpc>
              <a:spcBef>
                <a:spcPts val="1500"/>
              </a:spcBef>
              <a:spcAft>
                <a:spcPts val="0"/>
              </a:spcAft>
            </a:pPr>
            <a:r>
              <a:rPr sz="165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3. 组间差异分析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四个队列分别用 Kruskal-Wallis H（五阶段）与 Mann-Whitney U（NC-AD）检验，以 BH 法控制错误发现率（FDR），以 Cliff's delta 报告效应量；PCoA 与 PERMANOVA 评估整体组成差异，随机森林评估判别能力。</a:t>
            </a:r>
          </a:p>
          <a:p>
            <a:pPr algn="l">
              <a:lnSpc>
                <a:spcPct val="122000"/>
              </a:lnSpc>
              <a:spcBef>
                <a:spcPts val="1500"/>
              </a:spcBef>
              <a:spcAft>
                <a:spcPts val="0"/>
              </a:spcAft>
            </a:pPr>
            <a:r>
              <a:rPr sz="165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4. 趋势与可解释性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Jonckheere-Terpstra 检验评估随病程的单调趋势；与 MMSE、MoCA 评分做偏相关（校正年龄、性别、BMI 与用药）；注意力权重与 SHAP 定位关键位点，MEME 挖掘保守基序。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沿用已完成的数据资源与统计框架，无需重复数据生产，剩余工作量可控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研究进度：整体约 65%，与开题计划一致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研究进度与工作量</a:t>
            </a:r>
          </a:p>
        </p:txBody>
      </p:sp>
      <p:pic>
        <p:nvPicPr>
          <p:cNvPr id="4" name="Picture 3" descr="fig6_进度甘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8479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前 5 项任务全部完成（100%）；模型训练已完成数据集整理与框架搭建，完成度约 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剩余约 35% 工作的安排与交付物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</a:t>
            </a:r>
          </a:p>
        </p:txBody>
      </p:sp>
      <p:pic>
        <p:nvPicPr>
          <p:cNvPr id="4" name="Picture 3" descr="fig8_下一步计划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35250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论文撰写与预答辩安排在最后阶段，计划 2027 年 1—3 月完成学位论文初稿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存在问题与应对措施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问题与对策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27048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1　去冗余后 17 例受试者无代表基因组入选（覆盖 459/476 例）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应对：丰度层面改用全量 22 582 个 MAGs 回贴，恢复样本覆盖，避免参考集筛选造成样本缺失。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825496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2　候选抗菌肽存在假阳性风险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应对：同源过滤 + 理化性质一致性评估 + 外部独立测试集三重策略控制，并尽可能辅以体外抑菌实验验证。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23944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3　深度学习模型在宏基因组长尾序列上的泛化能力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应对：多次随机种子重复训练与独立数据集验证，报告性能的不确定性区间；必要时以集成策略提升稳健性。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问题均有明确的技术对策，可通过在研工作按期解决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0"/>
            <a:ext cx="11057839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恳请各位老师批评指正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206240"/>
            <a:ext cx="11057839" cy="731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汇报人：【姓名】　指导教师：【导师姓名】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