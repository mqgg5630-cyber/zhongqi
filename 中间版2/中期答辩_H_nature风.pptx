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整体研究分四个层次：数据与序列层、预测层、统计与表达层、功能层，共八项工作。本次中期完成的是数据与预测这一半；另一半的实施方案已经确定，按计划在中期之后推进。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这页说明整体流程：从测序数据到候选抗菌肽清单，共十二步。工具链是 fastp 与 KneadData 质控去宿主、MEGAHIT 组装、MetaBAT2 / MaxBin2 / CONCOCT 联合分箱、metaWRAP 提纯、dRep 去冗余、EMBOSS getorf 预测 sORF、三模型一致阳性判定、CoverM 定量与 Kruskal-Wallis / Mann-Whitney U 检验。目前前四步已完成，其余内容安排在下一阶段推进。</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分组方式是这页的重点：五个认知阶段，每阶段内再按性别与三个年龄段分层，共三十个分层单元；每个单元内按年龄与性别匹配，最终选出 265 例匹配亚队列——各阶段 53 例、每组 35 女 / 18 男，组间平均年龄最大差 1.8 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三个模型分别预测，只有三者一致判为阳性的序列才纳入候选集合，目的是降低单一模型的假阳性。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下一阶段先做分阶段差异分析，再引入宏蛋白组表达证据做二次去重，剔除没有表达支持的序列，筛选出健康人群特有与各疾病阶段特有的抗菌肽清单。两项工作的方案已经确定。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展开，把结论定位为线索发现；抑菌实验验证选取有代表性的候选抗菌肽人工合成，以大肠杆菌与金黄色葡萄球菌为指示菌，先用纸片扩散法初筛，再用微量肉汤稀释法测最低抑菌浓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开题计划逐条对照：数据准备、候选肽挖掘两项已完成；分阶段差异分析与二次去重、机制关联与抑菌实验验证安排在下一阶段，方案已经确定。研究方向没有变，调整都发生在方法层面。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但不受双位点抑制剂的位阻。同一界面的其他实验证据包括：丙锭可阻断 AChE 诱导的聚集而催化位点抑制剂无效、PAS 负电荷触发 β-发夹构象、丁酰胆碱酯酶反向延缓纤维形成。由此提出三个假设，并用对接与动力学给出优先序。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这张表把老师提出的八个问题逐条列出，并给出答案要点与证据强度。需要说明的是：关联类结论的证据强度较高，方向类结论（谁更多、促进还是抑制）存在例外与条件依赖，因此标注为中；微生物源抗菌肽在 AD 中的变化属于待验证部分，正是本课题要补的一环。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46 条文献，覆盖 AD 与感染、宿主抗菌肽在 AD 中的变化、抗菌肽预测方法、菌群分期、AChE–Aβ 与交叉成核的分子模拟，以及作为反例的乳铁蛋白下降证据。这里列出其中十条代表性文献及其结论。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期完成的是数据与预测这一半，候选抗菌肽名单已经形成；下一阶段推进分阶段差异分析、二次去重与特有肽筛选，随后开展机制关联分析与抑菌实验验证，论文撰写同步准备。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中期前完成数据与</a:t>
            </a:r>
          </a:p>
          <a:p>
            <a:pPr algn="l">
              <a:lnSpc>
                <a:spcPct val="130000"/>
              </a:lnSpc>
              <a:spcBef>
                <a:spcPts val="1200"/>
              </a:spcBef>
              <a:spcAft>
                <a:spcPts val="0"/>
              </a:spcAft>
            </a:pPr>
            <a:r>
              <a:rPr sz="1600" b="0">
                <a:solidFill>
                  <a:srgbClr val="777777"/>
                </a:solidFill>
                <a:latin typeface="Arial"/>
                <a:ea typeface="微软雅黑"/>
                <a:cs typeface="Arial"/>
              </a:rPr>
              <a:t>预测工作，其余按</a:t>
            </a:r>
          </a:p>
          <a:p>
            <a:pPr algn="l">
              <a:lnSpc>
                <a:spcPct val="130000"/>
              </a:lnSpc>
              <a:spcBef>
                <a:spcPts val="1200"/>
              </a:spcBef>
              <a:spcAft>
                <a:spcPts val="0"/>
              </a:spcAft>
            </a:pPr>
            <a:r>
              <a:rPr sz="1600" b="0">
                <a:solidFill>
                  <a:srgbClr val="777777"/>
                </a:solidFill>
                <a:latin typeface="Arial"/>
                <a:ea typeface="微软雅黑"/>
                <a:cs typeface="Arial"/>
              </a:rPr>
              <a:t>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研究按“数据—预测—统计—功能”四层推进，数据与预测阶段已完成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_半程.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八项工作分为两半：数据资源、参考集、短肽库与三模型共识预测四项已完成；分阶段差异分析、二次去重、特有肽筛选与机制验证四项在下一阶段推进。</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fastp 质控
KneadData 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MEGAHIT 组装
MetaBAT2 分箱
CONCOCT 分箱</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metaWRAP 提纯
dRep 去冗余</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EMBOSS getorf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序列级精确去冗余
非冗余短肽库</a:t>
            </a:r>
          </a:p>
        </p:txBody>
      </p:sp>
      <p:sp>
        <p:nvSpPr>
          <p:cNvPr id="18" name="Rectangle 17"/>
          <p:cNvSpPr/>
          <p:nvPr/>
        </p:nvSpPr>
        <p:spPr>
          <a:xfrm>
            <a:off x="8004048" y="1335024"/>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Attention / LSTM
/ BERT 一致阳性</a:t>
            </a:r>
          </a:p>
        </p:txBody>
      </p:sp>
      <p:sp>
        <p:nvSpPr>
          <p:cNvPr id="21" name="Rectangle 20"/>
          <p:cNvSpPr/>
          <p:nvPr/>
        </p:nvSpPr>
        <p:spPr>
          <a:xfrm>
            <a:off x="9845040" y="1335024"/>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CoverM 定量
CLR 变换
Kruskal-Wallis</a:t>
            </a:r>
          </a:p>
        </p:txBody>
      </p:sp>
      <p:sp>
        <p:nvSpPr>
          <p:cNvPr id="24" name="Rectangle 23"/>
          <p:cNvSpPr/>
          <p:nvPr/>
        </p:nvSpPr>
        <p:spPr>
          <a:xfrm>
            <a:off x="64008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宏蛋白组二次去重
剔除无表达序列</a:t>
            </a:r>
          </a:p>
        </p:txBody>
      </p:sp>
      <p:sp>
        <p:nvSpPr>
          <p:cNvPr id="27" name="Rectangle 26"/>
          <p:cNvSpPr/>
          <p:nvPr/>
        </p:nvSpPr>
        <p:spPr>
          <a:xfrm>
            <a:off x="2481072"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分子对接 + 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纸片扩散法筛查
微量肉汤稀释法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265 例</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匹配亚队列 · 各阶段 53 例</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53 例</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每阶段样本量 · 每组 35 女 / 18 男</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68.2—70.0 岁</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各阶段平均年龄 · 组间差 ≤1.8 岁</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认知正常（对照）</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68.4 岁 · 多样性最高</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主观认知下降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68.2 岁 · 组成偏移</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可疑认知障碍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69.1 岁 · 屏障标志↑</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轻度认知障碍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68.8 岁 · 失衡最明显</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阿尔茨海默症</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70.0 岁 · 变化幅度最大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个分层单元；每个单元内按年龄与性别匹配，最终选出 265 例匹配亚队列——各阶段 53 例、每组 35 女 / 18 男，组间平均年龄最大差 1.8 岁，保证阶段之间的差异不来自年龄与性别构成。</a:t>
            </a:r>
          </a:p>
        </p:txBody>
      </p:sp>
      <p:sp>
        <p:nvSpPr>
          <p:cNvPr id="31" name="TextBox 30"/>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2" name="TextBox 31"/>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三个模型相互独立地给出预测，只有三者一致判为阳性的序列进入候选集合，以降低单一模型的偏倚。该步骤下一阶段。</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下一阶段：分阶段比较候选抗菌肽，并引入表达证据二次去重</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988755" y="1188720"/>
            <a:ext cx="10211441"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按认知阶段比较候选抗菌肽的丰度与组成差异，再以宏蛋白组表达证据二次去重，筛选健康人群特有与各阶段特有抗菌肽；实施方案已确定。</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做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与开题计划相比：数据与预测已完成，分析与验证在下一阶段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下一阶段开展，方案与输入数据已确定</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下一阶段开展，机制与抑菌方案已确定</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更多与分子机制落点，是本课题要回答的部分。</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分子机制（一）：AChE–Aβ 复合物的动力学要点</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聚集的成核中心：1 μs 模拟中复合物稳定，Aβ 主要停留于 344—361 区段，不受双位点抑制剂位阻 [31]；丙锭阻断 PAS 后聚集被抑制 [33]。</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促进还是抑制</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两者同时成立：低浓度抗菌，长期过量致病</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[1][3][6][20]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抑制感染证据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626864"/>
        </p:xfrm>
        <a:graphic>
          <a:graphicData uri="http://schemas.openxmlformats.org/drawingml/2006/table">
            <a:tbl>
              <a:tblPr firstRow="1" bandRow="1">
                <a:tableStyleId>{5C22544A-7EE6-4342-B048-85BDC9FD1C3A}</a:tableStyleId>
              </a:tblPr>
              <a:tblGrid>
                <a:gridCol w="2697480"/>
                <a:gridCol w="5623560"/>
                <a:gridCol w="2587752"/>
              </a:tblGrid>
              <a:tr h="420624">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阶段目标明确，下一阶段按计划推进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已完成：全队列宏基因组数据处理与微生物基因组参考集、微生物源短肽库，以及三模型共识预测的候选抗菌肽名单。</a:t>
            </a:r>
          </a:p>
          <a:p>
            <a:pPr algn="l">
              <a:lnSpc>
                <a:spcPct val="134000"/>
              </a:lnSpc>
              <a:spcBef>
                <a:spcPts val="1400"/>
              </a:spcBef>
              <a:spcAft>
                <a:spcPts val="0"/>
              </a:spcAft>
            </a:pPr>
            <a:r>
              <a:rPr sz="1800" b="0">
                <a:solidFill>
                  <a:srgbClr val="333333"/>
                </a:solidFill>
                <a:latin typeface="Arial"/>
                <a:ea typeface="微软雅黑"/>
                <a:cs typeface="Arial"/>
              </a:rPr>
              <a:t>下一阶段：分阶段差异分析与宏蛋白组二次去重、特有抗菌肽筛选，随后开展机制关联分析与抑菌实验验证。</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时间安排：按开题计划推进，分析与验证所需数据与方案均已具备，学位论文与以第一作者投稿的 SCI 论文撰写同步准备。</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