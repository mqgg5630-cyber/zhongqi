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差异分析之后，引入宏蛋白组的表达证据做二次去重：只保留在蛋白层面真实存在并可检出的抗菌肽，再通过组内共有、组间特有的比较，筛出 AD 组特有（AD 特异性）的抗菌肽清单。这一步同样已经完成。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 AD 特有肽与 AD 的关联分析。参照乙酰胆碱酯酶与 β-淀粉样肽复合物分子模拟研究的思路，按致病方向考察：是否促进 Aβ 成核与聚集、是否经 AChE 外周阴离子位点推动成核、是否经免疫与炎症通路放大神经炎症。这一步正在进行。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 AD 特有肽与 AD 的关联分析和抑菌实验验证两件事上，论文撰写同步推进，整体进度与开题安排一致。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预期成果包括：一套可复用的分析流程、AD 特异性特有的候选抗菌肽清单、AD 特有肽与 AD 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2F9E8F"/>
                </a:solidFill>
                <a:latin typeface="Arial"/>
                <a:ea typeface="微软雅黑"/>
                <a:cs typeface="Arial"/>
              </a:rPr>
              <a:t>研究生论文中期检查</a:t>
            </a:r>
          </a:p>
        </p:txBody>
      </p:sp>
      <p:sp>
        <p:nvSpPr>
          <p:cNvPr id="3" name="TextBox 2"/>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A1F24"/>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A1F24"/>
                </a:solidFill>
                <a:latin typeface="Arial"/>
                <a:ea typeface="微软雅黑"/>
                <a:cs typeface="Arial"/>
              </a:rPr>
              <a:t>肠道微生物组中抗菌肽的差异性研究</a:t>
            </a:r>
          </a:p>
        </p:txBody>
      </p:sp>
      <p:sp>
        <p:nvSpPr>
          <p:cNvPr id="4" name="TextBox 3"/>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A1F24"/>
                </a:solidFill>
                <a:latin typeface="Arial"/>
                <a:ea typeface="微软雅黑"/>
                <a:cs typeface="Arial"/>
              </a:rPr>
              <a:t>文绍华　　学号：2024110316</a:t>
            </a:r>
          </a:p>
          <a:p>
            <a:pPr algn="ctr">
              <a:lnSpc>
                <a:spcPct val="122000"/>
              </a:lnSpc>
              <a:spcBef>
                <a:spcPts val="1000"/>
              </a:spcBef>
              <a:spcAft>
                <a:spcPts val="0"/>
              </a:spcAft>
            </a:pPr>
            <a:r>
              <a:rPr sz="1700" b="0">
                <a:solidFill>
                  <a:srgbClr val="1A1F24"/>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A1F24"/>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A1F24"/>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汇报提纲</a:t>
            </a:r>
          </a:p>
        </p:txBody>
      </p:sp>
      <p:sp>
        <p:nvSpPr>
          <p:cNvPr id="3" name="Rectangle 2"/>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2F9E8F"/>
                </a:solidFill>
                <a:latin typeface="Arial"/>
                <a:ea typeface="微软雅黑"/>
                <a:cs typeface="Arial"/>
              </a:rPr>
              <a:t>01　</a:t>
            </a:r>
            <a:r>
              <a:rPr sz="2200" b="0">
                <a:solidFill>
                  <a:srgbClr val="1A1F24"/>
                </a:solidFill>
                <a:latin typeface="Arial"/>
                <a:ea typeface="微软雅黑"/>
                <a:cs typeface="Arial"/>
              </a:rPr>
              <a:t>研究思路：从肠道微生物组到候选抗菌肽</a:t>
            </a:r>
          </a:p>
          <a:p>
            <a:pPr algn="l">
              <a:lnSpc>
                <a:spcPct val="125000"/>
              </a:lnSpc>
              <a:spcBef>
                <a:spcPts val="2000"/>
              </a:spcBef>
              <a:spcAft>
                <a:spcPts val="0"/>
              </a:spcAft>
            </a:pPr>
            <a:r>
              <a:rPr sz="2200" b="1">
                <a:solidFill>
                  <a:srgbClr val="2F9E8F"/>
                </a:solidFill>
                <a:latin typeface="Arial"/>
                <a:ea typeface="微软雅黑"/>
                <a:cs typeface="Arial"/>
              </a:rPr>
              <a:t>02　</a:t>
            </a:r>
            <a:r>
              <a:rPr sz="2200" b="0">
                <a:solidFill>
                  <a:srgbClr val="1A1F24"/>
                </a:solidFill>
                <a:latin typeface="Arial"/>
                <a:ea typeface="微软雅黑"/>
                <a:cs typeface="Arial"/>
              </a:rPr>
              <a:t>已完成：数据资源、短肽库与三模型共识预测</a:t>
            </a:r>
          </a:p>
          <a:p>
            <a:pPr algn="l">
              <a:lnSpc>
                <a:spcPct val="125000"/>
              </a:lnSpc>
              <a:spcBef>
                <a:spcPts val="2000"/>
              </a:spcBef>
              <a:spcAft>
                <a:spcPts val="0"/>
              </a:spcAft>
            </a:pPr>
            <a:r>
              <a:rPr sz="2200" b="1">
                <a:solidFill>
                  <a:srgbClr val="2F9E8F"/>
                </a:solidFill>
                <a:latin typeface="Arial"/>
                <a:ea typeface="微软雅黑"/>
                <a:cs typeface="Arial"/>
              </a:rPr>
              <a:t>03　</a:t>
            </a:r>
            <a:r>
              <a:rPr sz="2200" b="0">
                <a:solidFill>
                  <a:srgbClr val="1A1F24"/>
                </a:solidFill>
                <a:latin typeface="Arial"/>
                <a:ea typeface="微软雅黑"/>
                <a:cs typeface="Arial"/>
              </a:rPr>
              <a:t>已完成：分阶段差异分析与宏蛋白组二次去重</a:t>
            </a:r>
          </a:p>
          <a:p>
            <a:pPr algn="l">
              <a:lnSpc>
                <a:spcPct val="125000"/>
              </a:lnSpc>
              <a:spcBef>
                <a:spcPts val="2000"/>
              </a:spcBef>
              <a:spcAft>
                <a:spcPts val="0"/>
              </a:spcAft>
            </a:pPr>
            <a:r>
              <a:rPr sz="2200" b="1">
                <a:solidFill>
                  <a:srgbClr val="2F9E8F"/>
                </a:solidFill>
                <a:latin typeface="Arial"/>
                <a:ea typeface="微软雅黑"/>
                <a:cs typeface="Arial"/>
              </a:rPr>
              <a:t>04　</a:t>
            </a:r>
            <a:r>
              <a:rPr sz="2200" b="0">
                <a:solidFill>
                  <a:srgbClr val="1A1F24"/>
                </a:solidFill>
                <a:latin typeface="Arial"/>
                <a:ea typeface="微软雅黑"/>
                <a:cs typeface="Arial"/>
              </a:rPr>
              <a:t>下一步：与 AD 发病机制的关联分析</a:t>
            </a:r>
          </a:p>
          <a:p>
            <a:pPr algn="l">
              <a:lnSpc>
                <a:spcPct val="125000"/>
              </a:lnSpc>
              <a:spcBef>
                <a:spcPts val="2000"/>
              </a:spcBef>
              <a:spcAft>
                <a:spcPts val="0"/>
              </a:spcAft>
            </a:pPr>
            <a:r>
              <a:rPr sz="2200" b="1">
                <a:solidFill>
                  <a:srgbClr val="2F9E8F"/>
                </a:solidFill>
                <a:latin typeface="Arial"/>
                <a:ea typeface="微软雅黑"/>
                <a:cs typeface="Arial"/>
              </a:rPr>
              <a:t>05　</a:t>
            </a:r>
            <a:r>
              <a:rPr sz="2200" b="0">
                <a:solidFill>
                  <a:srgbClr val="1A1F24"/>
                </a:solidFill>
                <a:latin typeface="Arial"/>
                <a:ea typeface="微软雅黑"/>
                <a:cs typeface="Arial"/>
              </a:rPr>
              <a:t>下一步：候选抗菌肽抑菌实验验证</a:t>
            </a:r>
          </a:p>
          <a:p>
            <a:pPr algn="l">
              <a:lnSpc>
                <a:spcPct val="125000"/>
              </a:lnSpc>
              <a:spcBef>
                <a:spcPts val="2000"/>
              </a:spcBef>
              <a:spcAft>
                <a:spcPts val="0"/>
              </a:spcAft>
            </a:pPr>
            <a:r>
              <a:rPr sz="2200" b="1">
                <a:solidFill>
                  <a:srgbClr val="2F9E8F"/>
                </a:solidFill>
                <a:latin typeface="Arial"/>
                <a:ea typeface="微软雅黑"/>
                <a:cs typeface="Arial"/>
              </a:rPr>
              <a:t>06　</a:t>
            </a:r>
            <a:r>
              <a:rPr sz="2200" b="0">
                <a:solidFill>
                  <a:srgbClr val="1A1F24"/>
                </a:solidFill>
                <a:latin typeface="Arial"/>
                <a:ea typeface="微软雅黑"/>
                <a:cs typeface="Arial"/>
              </a:rPr>
              <a:t>工作进度与后续安排</a:t>
            </a:r>
          </a:p>
        </p:txBody>
      </p:sp>
      <p:sp>
        <p:nvSpPr>
          <p:cNvPr id="5" name="Rectangle 4"/>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本次汇报重点说明研究思路与各项工作的完成程度</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2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研究思路：八步走的整体框架与完成进度</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研究思路</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主线：数据资源 → 短肽库 → 三模型共识预测 → 分阶段差异 → 去重筛选 AD 特有肽 → AD 特有肽与 AD 的关联分析</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科学问题：AD 患者与健康人群的抗菌肽是否存在差异</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研究背景与科学问题</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背景　</a:t>
            </a:r>
            <a:r>
              <a:rPr sz="1700" b="0">
                <a:solidFill>
                  <a:srgbClr val="1A1F24"/>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700" b="1">
                <a:solidFill>
                  <a:srgbClr val="2F9E8F"/>
                </a:solidFill>
                <a:latin typeface="Arial"/>
                <a:ea typeface="微软雅黑"/>
                <a:cs typeface="Arial"/>
              </a:rPr>
              <a:t>切入点　</a:t>
            </a:r>
            <a:r>
              <a:rPr sz="1700" b="0">
                <a:solidFill>
                  <a:srgbClr val="1A1F24"/>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9E8F"/>
                </a:solidFill>
                <a:latin typeface="Arial"/>
                <a:ea typeface="微软雅黑"/>
                <a:cs typeface="Arial"/>
              </a:rPr>
              <a:t>空白　</a:t>
            </a:r>
            <a:r>
              <a:rPr sz="1700" b="0">
                <a:solidFill>
                  <a:srgbClr val="1A1F24"/>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6" name="Rounded Rectangle 5"/>
          <p:cNvSpPr/>
          <p:nvPr/>
        </p:nvSpPr>
        <p:spPr>
          <a:xfrm>
            <a:off x="566928" y="4553712"/>
            <a:ext cx="11057839" cy="1078992"/>
          </a:xfrm>
          <a:prstGeom prst="roundRect">
            <a:avLst>
              <a:gd name="adj" fmla="val 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A1F24"/>
                </a:solidFill>
                <a:latin typeface="Arial"/>
                <a:ea typeface="微软雅黑"/>
                <a:cs typeface="Arial"/>
              </a:rPr>
              <a:t>AD 患者与健康人群肠道微生物组所编码的抗菌肽是否存在差异？能否筛出 AD 组特有的抗菌肽，并与 AD 的发病机制建立联系？</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4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已完成：数据资源与微生物源短肽库构建</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第一步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完成全队列宏基因组数据的统一处理与质量评估，获得高质量的微生物基因组参考集（MetaBAT2 / MaxBin2 / CONCOCT 分箱，metaWRAP 提纯）</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参考集按物种多样性原则构建，减少因组装质量差异带来的样本偏倚</a:t>
            </a:r>
          </a:p>
        </p:txBody>
      </p:sp>
      <p:sp>
        <p:nvSpPr>
          <p:cNvPr id="6" name="Rounded Rectangle 5"/>
          <p:cNvSpPr/>
          <p:nvPr/>
        </p:nvSpPr>
        <p:spPr>
          <a:xfrm>
            <a:off x="7379208" y="1536192"/>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队列　</a:t>
            </a:r>
            <a:r>
              <a:rPr sz="1800" b="0">
                <a:solidFill>
                  <a:srgbClr val="1A1F24"/>
                </a:solidFill>
                <a:latin typeface="Arial"/>
                <a:ea typeface="微软雅黑"/>
                <a:cs typeface="Arial"/>
              </a:rPr>
              <a:t>完整宏基因组样本</a:t>
            </a:r>
          </a:p>
        </p:txBody>
      </p:sp>
      <p:sp>
        <p:nvSpPr>
          <p:cNvPr id="7" name="Rounded Rectangle 6"/>
          <p:cNvSpPr/>
          <p:nvPr/>
        </p:nvSpPr>
        <p:spPr>
          <a:xfrm>
            <a:off x="7379208" y="2615184"/>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基因组　</a:t>
            </a:r>
            <a:r>
              <a:rPr sz="1800" b="0">
                <a:solidFill>
                  <a:srgbClr val="1A1F24"/>
                </a:solidFill>
                <a:latin typeface="Arial"/>
                <a:ea typeface="微软雅黑"/>
                <a:cs typeface="Arial"/>
              </a:rPr>
              <a:t>参考集（含高质量基因组）</a:t>
            </a:r>
          </a:p>
        </p:txBody>
      </p:sp>
      <p:sp>
        <p:nvSpPr>
          <p:cNvPr id="8" name="Rounded Rectangle 7"/>
          <p:cNvSpPr/>
          <p:nvPr/>
        </p:nvSpPr>
        <p:spPr>
          <a:xfrm>
            <a:off x="7379208" y="3694176"/>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短肽库　</a:t>
            </a:r>
            <a:r>
              <a:rPr sz="1800" b="0">
                <a:solidFill>
                  <a:srgbClr val="1A1F24"/>
                </a:solidFill>
                <a:latin typeface="Arial"/>
                <a:ea typeface="微软雅黑"/>
                <a:cs typeface="Arial"/>
              </a:rPr>
              <a:t>非冗余微生物源短肽</a:t>
            </a:r>
          </a:p>
        </p:txBody>
      </p:sp>
      <p:sp>
        <p:nvSpPr>
          <p:cNvPr id="9" name="Rounded Rectangle 8"/>
          <p:cNvSpPr/>
          <p:nvPr/>
        </p:nvSpPr>
        <p:spPr>
          <a:xfrm>
            <a:off x="7379208" y="4773168"/>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可溯源　</a:t>
            </a:r>
            <a:r>
              <a:rPr sz="1800" b="0">
                <a:solidFill>
                  <a:srgbClr val="1A1F24"/>
                </a:solidFill>
                <a:latin typeface="Arial"/>
                <a:ea typeface="微软雅黑"/>
                <a:cs typeface="Arial"/>
              </a:rPr>
              <a:t>每条短肽可回溯至样本</a:t>
            </a:r>
          </a:p>
        </p:txBody>
      </p:sp>
      <p:sp>
        <p:nvSpPr>
          <p:cNvPr id="10" name="Rectangle 9"/>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第一步与第二步均已完成：数据资源与短肽库已就绪，为后续预测与差异分析提供统一输入</a:t>
            </a:r>
          </a:p>
        </p:txBody>
      </p:sp>
      <p:sp>
        <p:nvSpPr>
          <p:cNvPr id="12" name="TextBox 11"/>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5 / 16</a:t>
            </a:r>
          </a:p>
        </p:txBody>
      </p:sp>
      <p:sp>
        <p:nvSpPr>
          <p:cNvPr id="13" name="TextBox 12"/>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已完成：三模型共识预测候选抗菌肽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第三步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三模型协同提高候选集合可信度；该步骤已完成，候选抗菌肽名单已产出</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6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已完成：分阶段抗菌肽差异分析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第四步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按认知阶段对队列分组，比较各阶段与健康人群之间候选抗菌肽的丰度与组成差异，筛选出随病程变化明显的候选抗菌肽。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先得到随病程变化的候选抗菌肽，再用表达证据过滤，为 AD 特异性特有肽筛选做准备</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7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已完成：宏蛋白组二次去重，筛选 AD 特异性特有抗菌肽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第五步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在序列层面去冗余的基础上，引入宏蛋白组表达证据进行二次去重，只保留真实存在且被检出的抗菌肽，并据此筛出 AD 组特有（AD 特异性）的抗菌肽。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二次去重解决两类问题：序列冗余，以及“有预测、无表达”的假阳性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8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下一步：AD 特有肽与 AD 的关联分析（致病方向）</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第六步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参照乙酰胆碱酯酶—β-淀粉样肽复合物分子模拟研究的思路，按致病方向考察 AD 特异性特有肽：与 Aβ 的相互作用是否促进成核与聚集、与 AChE 外周阴离子位点的结合是否推动成核、以及免疫与炎症通路。</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关联分析的落点：判断 AD 特有肽是否推动 Aβ 聚集与神经炎症，而不是去证明它抑制 AD</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9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下一步：候选抗菌肽抑菌实验验证</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第七步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以通用、可及的微生物学方法，完成候选抗菌肽抑菌活性的直接验证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10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工作进度：主要分析已完成，进入验证与撰写阶段</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工作进度</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数据资源、短肽库、三模型共识预测、分阶段差异分析与宏蛋白组去重均已完成；当前处于 AD 特有肽与 AD 的关联分析、抑菌实验验证阶段，论文撰写同步推进。</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前五项已完成，AD 特有肽与 AD 的关联分析与抑菌实验验证正在推进，整体进度与开题计划一致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11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后续安排：四项收尾工作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1. 机制关联分析　</a:t>
            </a:r>
            <a:r>
              <a:rPr sz="1700" b="0">
                <a:solidFill>
                  <a:srgbClr val="1A1F24"/>
                </a:solidFill>
                <a:latin typeface="Arial"/>
                <a:ea typeface="微软雅黑"/>
                <a:cs typeface="Arial"/>
              </a:rPr>
              <a:t>完成 AD 特有肽与 Aβ 聚集、AChE 结合及炎症通路的关联分析。</a:t>
            </a:r>
          </a:p>
          <a:p>
            <a:pPr algn="l">
              <a:lnSpc>
                <a:spcPct val="125000"/>
              </a:lnSpc>
              <a:spcBef>
                <a:spcPts val="1800"/>
              </a:spcBef>
              <a:spcAft>
                <a:spcPts val="0"/>
              </a:spcAft>
            </a:pPr>
            <a:r>
              <a:rPr sz="1700" b="1">
                <a:solidFill>
                  <a:srgbClr val="2F9E8F"/>
                </a:solidFill>
                <a:latin typeface="Arial"/>
                <a:ea typeface="微软雅黑"/>
                <a:cs typeface="Arial"/>
              </a:rPr>
              <a:t>2. 抑菌实验验证　</a:t>
            </a:r>
            <a:r>
              <a:rPr sz="1700" b="0">
                <a:solidFill>
                  <a:srgbClr val="1A1F24"/>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700" b="1">
                <a:solidFill>
                  <a:srgbClr val="2F9E8F"/>
                </a:solidFill>
                <a:latin typeface="Arial"/>
                <a:ea typeface="微软雅黑"/>
                <a:cs typeface="Arial"/>
              </a:rPr>
              <a:t>3. 结果整理　</a:t>
            </a:r>
            <a:r>
              <a:rPr sz="1700" b="0">
                <a:solidFill>
                  <a:srgbClr val="1A1F24"/>
                </a:solidFill>
                <a:latin typeface="Arial"/>
                <a:ea typeface="微软雅黑"/>
                <a:cs typeface="Arial"/>
              </a:rPr>
              <a:t>汇总 AD 特有肽、关联分析与验证结果，形成完整的图表与结论体系。</a:t>
            </a:r>
          </a:p>
          <a:p>
            <a:pPr algn="l">
              <a:lnSpc>
                <a:spcPct val="125000"/>
              </a:lnSpc>
              <a:spcBef>
                <a:spcPts val="1800"/>
              </a:spcBef>
              <a:spcAft>
                <a:spcPts val="0"/>
              </a:spcAft>
            </a:pPr>
            <a:r>
              <a:rPr sz="1700" b="1">
                <a:solidFill>
                  <a:srgbClr val="2F9E8F"/>
                </a:solidFill>
                <a:latin typeface="Arial"/>
                <a:ea typeface="微软雅黑"/>
                <a:cs typeface="Arial"/>
              </a:rPr>
              <a:t>4. 论文撰写　</a:t>
            </a:r>
            <a:r>
              <a:rPr sz="1700" b="0">
                <a:solidFill>
                  <a:srgbClr val="1A1F24"/>
                </a:solidFill>
                <a:latin typeface="Arial"/>
                <a:ea typeface="微软雅黑"/>
                <a:cs typeface="Arial"/>
              </a:rPr>
              <a:t>完成学位论文撰写与投稿论文准备，按计划申请预答辩。</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收尾工作集中在分析结论与实验验证，不再涉及大规模数据生产</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与开题计划的对应关系</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工作对照</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数据准备　</a:t>
            </a:r>
            <a:r>
              <a:rPr sz="1700" b="0">
                <a:solidFill>
                  <a:srgbClr val="1A1F24"/>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700" b="1">
                <a:solidFill>
                  <a:srgbClr val="2F9E8F"/>
                </a:solidFill>
                <a:latin typeface="Arial"/>
                <a:ea typeface="微软雅黑"/>
                <a:cs typeface="Arial"/>
              </a:rPr>
              <a:t>候选肽挖掘　</a:t>
            </a:r>
            <a:r>
              <a:rPr sz="1700" b="0">
                <a:solidFill>
                  <a:srgbClr val="1A1F24"/>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700" b="1">
                <a:solidFill>
                  <a:srgbClr val="2F9E8F"/>
                </a:solidFill>
                <a:latin typeface="Arial"/>
                <a:ea typeface="微软雅黑"/>
                <a:cs typeface="Arial"/>
              </a:rPr>
              <a:t>差异分析　</a:t>
            </a:r>
            <a:r>
              <a:rPr sz="1700" b="0">
                <a:solidFill>
                  <a:srgbClr val="1A1F24"/>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700" b="1">
                <a:solidFill>
                  <a:srgbClr val="2F9E8F"/>
                </a:solidFill>
                <a:latin typeface="Arial"/>
                <a:ea typeface="微软雅黑"/>
                <a:cs typeface="Arial"/>
              </a:rPr>
              <a:t>模型方案　</a:t>
            </a:r>
            <a:r>
              <a:rPr sz="1700" b="0">
                <a:solidFill>
                  <a:srgbClr val="1A1F24"/>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700" b="1">
                <a:solidFill>
                  <a:srgbClr val="2F9E8F"/>
                </a:solidFill>
                <a:latin typeface="Arial"/>
                <a:ea typeface="微软雅黑"/>
                <a:cs typeface="Arial"/>
              </a:rPr>
              <a:t>机制与验证　</a:t>
            </a:r>
            <a:r>
              <a:rPr sz="1700" b="0">
                <a:solidFill>
                  <a:srgbClr val="1A1F24"/>
                </a:solidFill>
                <a:latin typeface="Arial"/>
                <a:ea typeface="微软雅黑"/>
                <a:cs typeface="Arial"/>
              </a:rPr>
              <a:t>开题拟做功能与可视化分析 → 下一步做 AD 特有肽与 AD 的关联分析与抑菌实验验证</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研究方向未变，仅在预测模型与去重环节做了更务实的调整</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存在问题与应对措施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问题与对策</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27048"/>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A1F24"/>
                </a:solidFill>
                <a:latin typeface="Arial"/>
                <a:ea typeface="微软雅黑"/>
                <a:cs typeface="Arial"/>
              </a:rPr>
              <a:t>应对：以三模型共识判定提高候选集合可信度，再用宏蛋白组表达证据二次去重，最后以抑菌实验验证活性。</a:t>
            </a:r>
          </a:p>
        </p:txBody>
      </p:sp>
      <p:sp>
        <p:nvSpPr>
          <p:cNvPr id="6" name="Rounded Rectangle 5"/>
          <p:cNvSpPr/>
          <p:nvPr/>
        </p:nvSpPr>
        <p:spPr>
          <a:xfrm>
            <a:off x="566928" y="2825496"/>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A1F24"/>
                </a:solidFill>
                <a:latin typeface="Arial"/>
                <a:ea typeface="微软雅黑"/>
                <a:cs typeface="Arial"/>
              </a:rPr>
              <a:t>应对：在丰度分析阶段改用全量基因组回填，恢复样本覆盖，避免参考集筛选造成样本缺失。</a:t>
            </a:r>
          </a:p>
        </p:txBody>
      </p:sp>
      <p:sp>
        <p:nvSpPr>
          <p:cNvPr id="7" name="Rounded Rectangle 6"/>
          <p:cNvSpPr/>
          <p:nvPr/>
        </p:nvSpPr>
        <p:spPr>
          <a:xfrm>
            <a:off x="566928" y="4123944"/>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A1F24"/>
                </a:solidFill>
                <a:latin typeface="Arial"/>
                <a:ea typeface="微软雅黑"/>
                <a:cs typeface="Arial"/>
              </a:rPr>
              <a:t>应对：以分子对接与动力学模拟、文献比对为主，按致病方向检验 AD 特有肽是否推动 Aβ 聚集与神经炎症，将研究定位为“线索发现”，不夸大因果结论。</a:t>
            </a:r>
          </a:p>
        </p:txBody>
      </p:sp>
      <p:sp>
        <p:nvSpPr>
          <p:cNvPr id="8" name="Rectangle 7"/>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三个问题都有具体对策，不影响整体进度</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14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预期成果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成果形式</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AD 特异性特有的候选抗菌肽清单，作为后续研究的线索集</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AD 特有肽与 AD 发病机制关联的分析结果（Aβ 聚集、AChE 结合、炎症通路）</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候选抗菌肽抑菌活性的初步实验证据</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以第一作者撰写并投稿 SCI 收录论文 1 篇，并完成学位论文</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成果既包括数据与清单，也包括机制线索与实验证据</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15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A1F24"/>
                </a:solidFill>
                <a:latin typeface="Arial"/>
                <a:ea typeface="微软雅黑"/>
                <a:cs typeface="Arial"/>
              </a:rPr>
              <a:t>恳请各位老师批评指正</a:t>
            </a:r>
          </a:p>
          <a:p>
            <a:pPr algn="ctr">
              <a:lnSpc>
                <a:spcPct val="122000"/>
              </a:lnSpc>
              <a:spcBef>
                <a:spcPts val="0"/>
              </a:spcBef>
              <a:spcAft>
                <a:spcPts val="0"/>
              </a:spcAft>
            </a:pPr>
            <a:r>
              <a:rPr sz="2200" b="0">
                <a:solidFill>
                  <a:srgbClr val="2F9E8F"/>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707A85"/>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